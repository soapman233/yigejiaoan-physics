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vml" ContentType="application/vnd.openxmlformats-officedocument.vmlDrawing"/>
  <Default Extension="bin" ContentType="application/vnd.openxmlformats-officedocument.oleObject"/>
  <Default Extension="fntdata" ContentType="application/x-fontdata"/>
  <Default Extension="png" ContentType="image/png"/>
  <Default Extension="wmf" ContentType="image/x-wmf"/>
  <Default Extension="mp4" ContentType="video/mp4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Java 23.3-->
<p:presentation xmlns:r="http://schemas.openxmlformats.org/officeDocument/2006/relationships" xmlns:a="http://schemas.openxmlformats.org/drawingml/2006/main" xmlns:p="http://schemas.openxmlformats.org/presentationml/2006/main" embedTrueTypeFonts="1">
  <p:sldMasterIdLst>
    <p:sldMasterId id="2147483648" r:id="rId2"/>
  </p:sldMasterIdLst>
  <p:notesMasterIdLst>
    <p:notesMasterId r:id="rId3"/>
  </p:notesMasterIdLst>
  <p:handoutMasterIdLst>
    <p:handoutMasterId r:id="rId4"/>
  </p:handoutMasterIdLst>
  <p:sldIdLst>
    <p:sldId id="256" r:id="rId5"/>
    <p:sldId id="260" r:id="rId6"/>
    <p:sldId id="282" r:id="rId7"/>
    <p:sldId id="414" r:id="rId8"/>
    <p:sldId id="428" r:id="rId9"/>
    <p:sldId id="468" r:id="rId10"/>
    <p:sldId id="429" r:id="rId11"/>
    <p:sldId id="495" r:id="rId12"/>
    <p:sldId id="496" r:id="rId13"/>
    <p:sldId id="469" r:id="rId14"/>
    <p:sldId id="430" r:id="rId15"/>
    <p:sldId id="431" r:id="rId16"/>
    <p:sldId id="432" r:id="rId17"/>
    <p:sldId id="470" r:id="rId18"/>
    <p:sldId id="433" r:id="rId19"/>
    <p:sldId id="434" r:id="rId20"/>
    <p:sldId id="435" r:id="rId21"/>
    <p:sldId id="471" r:id="rId22"/>
    <p:sldId id="436" r:id="rId23"/>
    <p:sldId id="437" r:id="rId24"/>
    <p:sldId id="438" r:id="rId25"/>
    <p:sldId id="439" r:id="rId26"/>
    <p:sldId id="301" r:id="rId27"/>
    <p:sldId id="335" r:id="rId28"/>
    <p:sldId id="336" r:id="rId29"/>
    <p:sldId id="318" r:id="rId30"/>
    <p:sldId id="334" r:id="rId31"/>
    <p:sldId id="337" r:id="rId32"/>
    <p:sldId id="338" r:id="rId33"/>
    <p:sldId id="339" r:id="rId34"/>
    <p:sldId id="380" r:id="rId35"/>
    <p:sldId id="276" r:id="rId36"/>
  </p:sldIdLst>
  <p:sldSz cx="12192000" cy="6858000"/>
  <p:notesSz cx="6858000" cy="9144000"/>
  <p:embeddedFontLst>
    <p:embeddedFont>
      <p:font typeface="汉仪宋韵朗黑W" panose="02010600030101010101" charset="-122"/>
      <p:regular r:id="rId38"/>
    </p:embeddedFont>
    <p:embeddedFont>
      <p:font typeface="黑体" panose="02010609060101010101" pitchFamily="49" charset="-122"/>
      <p:regular r:id="rId39"/>
    </p:embeddedFont>
  </p:embeddedFontLst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1" userDrawn="1">
          <p15:clr>
            <a:srgbClr val="A4A3A4"/>
          </p15:clr>
        </p15:guide>
        <p15:guide id="2" pos="37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p="http://schemas.openxmlformats.org/presentationml/2006/main">
  <p:cmAuthor id="1" name="HD" initials="H" lastIdx="0" clrIdx="0"/>
</p:cmAuthorLst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3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96" y="504"/>
      </p:cViewPr>
      <p:guideLst>
        <p:guide orient="horz" pos="2061"/>
        <p:guide pos="377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commentAuthors" Target="commentAuthors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slide" Target="slides/slide9.xml" /><Relationship Id="rId14" Type="http://schemas.openxmlformats.org/officeDocument/2006/relationships/slide" Target="slides/slide10.xml" /><Relationship Id="rId15" Type="http://schemas.openxmlformats.org/officeDocument/2006/relationships/slide" Target="slides/slide11.xml" /><Relationship Id="rId16" Type="http://schemas.openxmlformats.org/officeDocument/2006/relationships/slide" Target="slides/slide12.xml" /><Relationship Id="rId17" Type="http://schemas.openxmlformats.org/officeDocument/2006/relationships/slide" Target="slides/slide13.xml" /><Relationship Id="rId18" Type="http://schemas.openxmlformats.org/officeDocument/2006/relationships/slide" Target="slides/slide14.xml" /><Relationship Id="rId19" Type="http://schemas.openxmlformats.org/officeDocument/2006/relationships/slide" Target="slides/slide15.xml" /><Relationship Id="rId2" Type="http://schemas.openxmlformats.org/officeDocument/2006/relationships/slideMaster" Target="slideMasters/slideMaster1.xml" /><Relationship Id="rId20" Type="http://schemas.openxmlformats.org/officeDocument/2006/relationships/slide" Target="slides/slide16.xml" /><Relationship Id="rId21" Type="http://schemas.openxmlformats.org/officeDocument/2006/relationships/slide" Target="slides/slide17.xml" /><Relationship Id="rId22" Type="http://schemas.openxmlformats.org/officeDocument/2006/relationships/slide" Target="slides/slide18.xml" /><Relationship Id="rId23" Type="http://schemas.openxmlformats.org/officeDocument/2006/relationships/slide" Target="slides/slide19.xml" /><Relationship Id="rId24" Type="http://schemas.openxmlformats.org/officeDocument/2006/relationships/slide" Target="slides/slide20.xml" /><Relationship Id="rId25" Type="http://schemas.openxmlformats.org/officeDocument/2006/relationships/slide" Target="slides/slide21.xml" /><Relationship Id="rId26" Type="http://schemas.openxmlformats.org/officeDocument/2006/relationships/slide" Target="slides/slide22.xml" /><Relationship Id="rId27" Type="http://schemas.openxmlformats.org/officeDocument/2006/relationships/slide" Target="slides/slide23.xml" /><Relationship Id="rId28" Type="http://schemas.openxmlformats.org/officeDocument/2006/relationships/slide" Target="slides/slide24.xml" /><Relationship Id="rId29" Type="http://schemas.openxmlformats.org/officeDocument/2006/relationships/slide" Target="slides/slide25.xml" /><Relationship Id="rId3" Type="http://schemas.openxmlformats.org/officeDocument/2006/relationships/notesMaster" Target="notesMasters/notesMaster1.xml" /><Relationship Id="rId30" Type="http://schemas.openxmlformats.org/officeDocument/2006/relationships/slide" Target="slides/slide26.xml" /><Relationship Id="rId31" Type="http://schemas.openxmlformats.org/officeDocument/2006/relationships/slide" Target="slides/slide27.xml" /><Relationship Id="rId32" Type="http://schemas.openxmlformats.org/officeDocument/2006/relationships/slide" Target="slides/slide28.xml" /><Relationship Id="rId33" Type="http://schemas.openxmlformats.org/officeDocument/2006/relationships/slide" Target="slides/slide29.xml" /><Relationship Id="rId34" Type="http://schemas.openxmlformats.org/officeDocument/2006/relationships/slide" Target="slides/slide30.xml" /><Relationship Id="rId35" Type="http://schemas.openxmlformats.org/officeDocument/2006/relationships/slide" Target="slides/slide31.xml" /><Relationship Id="rId36" Type="http://schemas.openxmlformats.org/officeDocument/2006/relationships/slide" Target="slides/slide32.xml" /><Relationship Id="rId37" Type="http://schemas.openxmlformats.org/officeDocument/2006/relationships/tags" Target="tags/tag354.xml" /><Relationship Id="rId38" Type="http://schemas.openxmlformats.org/officeDocument/2006/relationships/font" Target="fonts/font1.fntdata" /><Relationship Id="rId39" Type="http://schemas.openxmlformats.org/officeDocument/2006/relationships/font" Target="fonts/font2.fntdata" /><Relationship Id="rId4" Type="http://schemas.openxmlformats.org/officeDocument/2006/relationships/handoutMaster" Target="handoutMasters/handoutMaster1.xml" /><Relationship Id="rId40" Type="http://schemas.openxmlformats.org/officeDocument/2006/relationships/presProps" Target="presProps.xml" /><Relationship Id="rId41" Type="http://schemas.openxmlformats.org/officeDocument/2006/relationships/viewProps" Target="viewProps.xml" /><Relationship Id="rId42" Type="http://schemas.openxmlformats.org/officeDocument/2006/relationships/theme" Target="theme/theme1.xml" /><Relationship Id="rId43" Type="http://schemas.openxmlformats.org/officeDocument/2006/relationships/tableStyles" Target="tableStyles.xml" /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/Relationships>
</file>

<file path=ppt/drawings/_rels/vmlDrawing1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2.wmf" /></Relationships>
</file>

<file path=ppt/drawings/_rels/vmlDrawing2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8.wmf" /></Relationships>
</file>

<file path=ppt/handoutMasters/_rels/handout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宋韵朗黑W"/>
              <a:ea typeface="汉仪宋韵朗黑W"/>
              <a:cs typeface="汉仪宋韵朗黑W" panose="0002060004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汉仪宋韵朗黑W" panose="00020600040101010101" charset="-122"/>
              </a:rPr>
              <a:t>2024/7/15</a:t>
            </a:fld>
            <a:endParaRPr lang="zh-CN" altLang="en-US">
              <a:cs typeface="汉仪宋韵朗黑W" panose="0002060004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宋韵朗黑W"/>
              <a:ea typeface="汉仪宋韵朗黑W"/>
              <a:cs typeface="汉仪宋韵朗黑W" panose="0002060004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汉仪宋韵朗黑W" panose="00020600040101010101" charset="-122"/>
              </a:rPr>
              <a:t>‹#›</a:t>
            </a:fld>
            <a:endParaRPr lang="zh-CN" altLang="en-US">
              <a:cs typeface="汉仪宋韵朗黑W" panose="0002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宋韵朗黑W"/>
                <a:ea typeface="汉仪宋韵朗黑W"/>
                <a:cs typeface="汉仪宋韵朗黑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宋韵朗黑W"/>
                <a:ea typeface="汉仪宋韵朗黑W"/>
                <a:cs typeface="汉仪宋韵朗黑W" panose="00020600040101010101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2024/7/15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宋韵朗黑W"/>
                <a:ea typeface="汉仪宋韵朗黑W"/>
                <a:cs typeface="汉仪宋韵朗黑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宋韵朗黑W"/>
                <a:ea typeface="汉仪宋韵朗黑W"/>
                <a:cs typeface="汉仪宋韵朗黑W" panose="00020600040101010101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宋韵朗黑W"/>
        <a:ea typeface="汉仪宋韵朗黑W"/>
        <a:cs typeface="汉仪宋韵朗黑W" panose="0002060004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宋韵朗黑W"/>
        <a:ea typeface="汉仪宋韵朗黑W"/>
        <a:cs typeface="汉仪宋韵朗黑W" panose="000206000401010101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宋韵朗黑W"/>
        <a:ea typeface="汉仪宋韵朗黑W"/>
        <a:cs typeface="汉仪宋韵朗黑W" panose="000206000401010101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宋韵朗黑W"/>
        <a:ea typeface="汉仪宋韵朗黑W"/>
        <a:cs typeface="汉仪宋韵朗黑W" panose="000206000401010101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宋韵朗黑W"/>
        <a:ea typeface="汉仪宋韵朗黑W"/>
        <a:cs typeface="汉仪宋韵朗黑W" panose="0002060004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1" name="组合 20"/>
          <p:cNvGrpSpPr/>
          <p:nvPr userDrawn="1"/>
        </p:nvGrpSpPr>
        <p:grpSpPr>
          <a:xfrm>
            <a:off x="0" y="2541905"/>
            <a:ext cx="4665980" cy="4316095"/>
            <a:chOff x="0" y="5348"/>
            <a:chExt cx="5894" cy="5452"/>
          </a:xfrm>
        </p:grpSpPr>
        <p:sp>
          <p:nvSpPr>
            <p:cNvPr id="22" name="直角三角形 21"/>
            <p:cNvSpPr/>
            <p:nvPr userDrawn="1"/>
          </p:nvSpPr>
          <p:spPr>
            <a:xfrm>
              <a:off x="0" y="5348"/>
              <a:ext cx="2960" cy="5452"/>
            </a:xfrm>
            <a:prstGeom prst="rtTriangle">
              <a:avLst/>
            </a:prstGeom>
            <a:solidFill>
              <a:srgbClr val="0299D8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3" name="直角三角形 22"/>
            <p:cNvSpPr/>
            <p:nvPr userDrawn="1"/>
          </p:nvSpPr>
          <p:spPr>
            <a:xfrm>
              <a:off x="0" y="7695"/>
              <a:ext cx="5895" cy="3105"/>
            </a:xfrm>
            <a:prstGeom prst="rtTriangle">
              <a:avLst/>
            </a:prstGeom>
            <a:solidFill>
              <a:srgbClr val="0299D8">
                <a:alpha val="1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4" name="直角三角形 23"/>
            <p:cNvSpPr/>
            <p:nvPr userDrawn="1"/>
          </p:nvSpPr>
          <p:spPr>
            <a:xfrm>
              <a:off x="0" y="6496"/>
              <a:ext cx="2960" cy="4304"/>
            </a:xfrm>
            <a:prstGeom prst="rtTriangle">
              <a:avLst/>
            </a:prstGeom>
            <a:solidFill>
              <a:srgbClr val="95E1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5" name="直角三角形 24"/>
            <p:cNvSpPr/>
            <p:nvPr userDrawn="1"/>
          </p:nvSpPr>
          <p:spPr>
            <a:xfrm>
              <a:off x="0" y="8180"/>
              <a:ext cx="4567" cy="2620"/>
            </a:xfrm>
            <a:prstGeom prst="rtTriangle">
              <a:avLst/>
            </a:prstGeom>
            <a:solidFill>
              <a:schemeClr val="accent2">
                <a:lumMod val="75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6" name="直角三角形 25"/>
            <p:cNvSpPr/>
            <p:nvPr userDrawn="1"/>
          </p:nvSpPr>
          <p:spPr>
            <a:xfrm>
              <a:off x="0" y="7287"/>
              <a:ext cx="2471" cy="3513"/>
            </a:xfrm>
            <a:prstGeom prst="rtTriangle">
              <a:avLst/>
            </a:prstGeom>
            <a:solidFill>
              <a:srgbClr val="029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7" name="直角三角形 26"/>
            <p:cNvSpPr/>
            <p:nvPr userDrawn="1"/>
          </p:nvSpPr>
          <p:spPr>
            <a:xfrm>
              <a:off x="0" y="8599"/>
              <a:ext cx="2959" cy="2201"/>
            </a:xfrm>
            <a:prstGeom prst="rtTriangle">
              <a:avLst/>
            </a:prstGeom>
            <a:solidFill>
              <a:srgbClr val="0C76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</p:grpSp>
      <p:grpSp>
        <p:nvGrpSpPr>
          <p:cNvPr id="28" name="组合 27"/>
          <p:cNvGrpSpPr/>
          <p:nvPr userDrawn="1"/>
        </p:nvGrpSpPr>
        <p:grpSpPr>
          <a:xfrm flipH="1" flipV="1">
            <a:off x="7526020" y="0"/>
            <a:ext cx="4665980" cy="4316095"/>
            <a:chOff x="0" y="5348"/>
            <a:chExt cx="5894" cy="5452"/>
          </a:xfrm>
        </p:grpSpPr>
        <p:sp>
          <p:nvSpPr>
            <p:cNvPr id="29" name="直角三角形 28"/>
            <p:cNvSpPr/>
            <p:nvPr userDrawn="1"/>
          </p:nvSpPr>
          <p:spPr>
            <a:xfrm>
              <a:off x="0" y="5348"/>
              <a:ext cx="2960" cy="5452"/>
            </a:xfrm>
            <a:prstGeom prst="rtTriangle">
              <a:avLst/>
            </a:prstGeom>
            <a:solidFill>
              <a:srgbClr val="0299D8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0" name="直角三角形 29"/>
            <p:cNvSpPr/>
            <p:nvPr userDrawn="1"/>
          </p:nvSpPr>
          <p:spPr>
            <a:xfrm>
              <a:off x="0" y="7695"/>
              <a:ext cx="5895" cy="3105"/>
            </a:xfrm>
            <a:prstGeom prst="rtTriangle">
              <a:avLst/>
            </a:prstGeom>
            <a:solidFill>
              <a:srgbClr val="0299D8">
                <a:alpha val="1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1" name="直角三角形 30"/>
            <p:cNvSpPr/>
            <p:nvPr userDrawn="1"/>
          </p:nvSpPr>
          <p:spPr>
            <a:xfrm>
              <a:off x="0" y="6496"/>
              <a:ext cx="2960" cy="4304"/>
            </a:xfrm>
            <a:prstGeom prst="rtTriangle">
              <a:avLst/>
            </a:prstGeom>
            <a:solidFill>
              <a:srgbClr val="95E1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2" name="直角三角形 31"/>
            <p:cNvSpPr/>
            <p:nvPr userDrawn="1"/>
          </p:nvSpPr>
          <p:spPr>
            <a:xfrm>
              <a:off x="0" y="8180"/>
              <a:ext cx="4567" cy="2620"/>
            </a:xfrm>
            <a:prstGeom prst="rtTriangle">
              <a:avLst/>
            </a:prstGeom>
            <a:solidFill>
              <a:schemeClr val="accent2">
                <a:lumMod val="75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3" name="直角三角形 32"/>
            <p:cNvSpPr/>
            <p:nvPr userDrawn="1"/>
          </p:nvSpPr>
          <p:spPr>
            <a:xfrm>
              <a:off x="0" y="7287"/>
              <a:ext cx="2471" cy="3513"/>
            </a:xfrm>
            <a:prstGeom prst="rtTriangle">
              <a:avLst/>
            </a:prstGeom>
            <a:solidFill>
              <a:srgbClr val="029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4" name="直角三角形 33"/>
            <p:cNvSpPr/>
            <p:nvPr userDrawn="1"/>
          </p:nvSpPr>
          <p:spPr>
            <a:xfrm>
              <a:off x="0" y="8599"/>
              <a:ext cx="2959" cy="2201"/>
            </a:xfrm>
            <a:prstGeom prst="rtTriangle">
              <a:avLst/>
            </a:prstGeom>
            <a:solidFill>
              <a:srgbClr val="0C76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1" name="组合 20"/>
          <p:cNvGrpSpPr/>
          <p:nvPr userDrawn="1"/>
        </p:nvGrpSpPr>
        <p:grpSpPr>
          <a:xfrm>
            <a:off x="0" y="3395980"/>
            <a:ext cx="3742690" cy="3462020"/>
            <a:chOff x="0" y="5348"/>
            <a:chExt cx="5894" cy="5452"/>
          </a:xfrm>
        </p:grpSpPr>
        <p:sp>
          <p:nvSpPr>
            <p:cNvPr id="22" name="直角三角形 21"/>
            <p:cNvSpPr/>
            <p:nvPr userDrawn="1"/>
          </p:nvSpPr>
          <p:spPr>
            <a:xfrm>
              <a:off x="0" y="5348"/>
              <a:ext cx="2960" cy="5452"/>
            </a:xfrm>
            <a:prstGeom prst="rtTriangle">
              <a:avLst/>
            </a:prstGeom>
            <a:solidFill>
              <a:srgbClr val="0299D8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3" name="直角三角形 22"/>
            <p:cNvSpPr/>
            <p:nvPr userDrawn="1"/>
          </p:nvSpPr>
          <p:spPr>
            <a:xfrm>
              <a:off x="0" y="7695"/>
              <a:ext cx="5895" cy="3105"/>
            </a:xfrm>
            <a:prstGeom prst="rtTriangle">
              <a:avLst/>
            </a:prstGeom>
            <a:solidFill>
              <a:srgbClr val="0299D8">
                <a:alpha val="1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4" name="直角三角形 23"/>
            <p:cNvSpPr/>
            <p:nvPr userDrawn="1"/>
          </p:nvSpPr>
          <p:spPr>
            <a:xfrm>
              <a:off x="0" y="6496"/>
              <a:ext cx="2960" cy="4304"/>
            </a:xfrm>
            <a:prstGeom prst="rtTriangle">
              <a:avLst/>
            </a:prstGeom>
            <a:solidFill>
              <a:srgbClr val="95E1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5" name="直角三角形 24"/>
            <p:cNvSpPr/>
            <p:nvPr userDrawn="1"/>
          </p:nvSpPr>
          <p:spPr>
            <a:xfrm>
              <a:off x="0" y="8180"/>
              <a:ext cx="4567" cy="2620"/>
            </a:xfrm>
            <a:prstGeom prst="rtTriangle">
              <a:avLst/>
            </a:prstGeom>
            <a:solidFill>
              <a:schemeClr val="accent2">
                <a:lumMod val="75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6" name="直角三角形 25"/>
            <p:cNvSpPr/>
            <p:nvPr userDrawn="1"/>
          </p:nvSpPr>
          <p:spPr>
            <a:xfrm>
              <a:off x="0" y="7287"/>
              <a:ext cx="2471" cy="3513"/>
            </a:xfrm>
            <a:prstGeom prst="rtTriangle">
              <a:avLst/>
            </a:prstGeom>
            <a:solidFill>
              <a:srgbClr val="029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7" name="直角三角形 26"/>
            <p:cNvSpPr/>
            <p:nvPr userDrawn="1"/>
          </p:nvSpPr>
          <p:spPr>
            <a:xfrm>
              <a:off x="0" y="8599"/>
              <a:ext cx="2959" cy="2201"/>
            </a:xfrm>
            <a:prstGeom prst="rtTriangle">
              <a:avLst/>
            </a:prstGeom>
            <a:solidFill>
              <a:srgbClr val="0C76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</p:grpSp>
      <p:grpSp>
        <p:nvGrpSpPr>
          <p:cNvPr id="28" name="组合 27"/>
          <p:cNvGrpSpPr/>
          <p:nvPr userDrawn="1"/>
        </p:nvGrpSpPr>
        <p:grpSpPr>
          <a:xfrm flipH="1" flipV="1">
            <a:off x="8449310" y="0"/>
            <a:ext cx="3742690" cy="3462020"/>
            <a:chOff x="0" y="5348"/>
            <a:chExt cx="5894" cy="5452"/>
          </a:xfrm>
        </p:grpSpPr>
        <p:sp>
          <p:nvSpPr>
            <p:cNvPr id="29" name="直角三角形 28"/>
            <p:cNvSpPr/>
            <p:nvPr userDrawn="1"/>
          </p:nvSpPr>
          <p:spPr>
            <a:xfrm>
              <a:off x="0" y="5348"/>
              <a:ext cx="2960" cy="5452"/>
            </a:xfrm>
            <a:prstGeom prst="rtTriangle">
              <a:avLst/>
            </a:prstGeom>
            <a:solidFill>
              <a:srgbClr val="0299D8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0" name="直角三角形 29"/>
            <p:cNvSpPr/>
            <p:nvPr userDrawn="1"/>
          </p:nvSpPr>
          <p:spPr>
            <a:xfrm>
              <a:off x="0" y="7695"/>
              <a:ext cx="5895" cy="3105"/>
            </a:xfrm>
            <a:prstGeom prst="rtTriangle">
              <a:avLst/>
            </a:prstGeom>
            <a:solidFill>
              <a:srgbClr val="0299D8">
                <a:alpha val="1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1" name="直角三角形 30"/>
            <p:cNvSpPr/>
            <p:nvPr userDrawn="1"/>
          </p:nvSpPr>
          <p:spPr>
            <a:xfrm>
              <a:off x="0" y="6496"/>
              <a:ext cx="2960" cy="4304"/>
            </a:xfrm>
            <a:prstGeom prst="rtTriangle">
              <a:avLst/>
            </a:prstGeom>
            <a:solidFill>
              <a:srgbClr val="95E1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2" name="直角三角形 31"/>
            <p:cNvSpPr/>
            <p:nvPr userDrawn="1"/>
          </p:nvSpPr>
          <p:spPr>
            <a:xfrm>
              <a:off x="0" y="8180"/>
              <a:ext cx="4567" cy="2620"/>
            </a:xfrm>
            <a:prstGeom prst="rtTriangle">
              <a:avLst/>
            </a:prstGeom>
            <a:solidFill>
              <a:schemeClr val="accent2">
                <a:lumMod val="75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3" name="直角三角形 32"/>
            <p:cNvSpPr/>
            <p:nvPr userDrawn="1"/>
          </p:nvSpPr>
          <p:spPr>
            <a:xfrm>
              <a:off x="0" y="7287"/>
              <a:ext cx="2471" cy="3513"/>
            </a:xfrm>
            <a:prstGeom prst="rtTriangle">
              <a:avLst/>
            </a:prstGeom>
            <a:solidFill>
              <a:srgbClr val="029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4" name="直角三角形 33"/>
            <p:cNvSpPr/>
            <p:nvPr userDrawn="1"/>
          </p:nvSpPr>
          <p:spPr>
            <a:xfrm>
              <a:off x="0" y="8599"/>
              <a:ext cx="2959" cy="2201"/>
            </a:xfrm>
            <a:prstGeom prst="rtTriangle">
              <a:avLst/>
            </a:prstGeom>
            <a:solidFill>
              <a:srgbClr val="0C76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10" name="组合 9"/>
          <p:cNvGrpSpPr/>
          <p:nvPr userDrawn="1"/>
        </p:nvGrpSpPr>
        <p:grpSpPr>
          <a:xfrm>
            <a:off x="0" y="4622800"/>
            <a:ext cx="2414905" cy="2235200"/>
            <a:chOff x="0" y="5348"/>
            <a:chExt cx="5894" cy="5452"/>
          </a:xfrm>
        </p:grpSpPr>
        <p:sp>
          <p:nvSpPr>
            <p:cNvPr id="9" name="直角三角形 8"/>
            <p:cNvSpPr/>
            <p:nvPr userDrawn="1"/>
          </p:nvSpPr>
          <p:spPr>
            <a:xfrm>
              <a:off x="0" y="5348"/>
              <a:ext cx="2960" cy="5452"/>
            </a:xfrm>
            <a:prstGeom prst="rtTriangle">
              <a:avLst/>
            </a:prstGeom>
            <a:solidFill>
              <a:srgbClr val="0299D8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8" name="直角三角形 7"/>
            <p:cNvSpPr/>
            <p:nvPr userDrawn="1"/>
          </p:nvSpPr>
          <p:spPr>
            <a:xfrm>
              <a:off x="0" y="7695"/>
              <a:ext cx="5895" cy="3105"/>
            </a:xfrm>
            <a:prstGeom prst="rtTriangle">
              <a:avLst/>
            </a:prstGeom>
            <a:solidFill>
              <a:srgbClr val="0299D8">
                <a:alpha val="1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7" name="直角三角形 6"/>
            <p:cNvSpPr/>
            <p:nvPr userDrawn="1"/>
          </p:nvSpPr>
          <p:spPr>
            <a:xfrm>
              <a:off x="0" y="6496"/>
              <a:ext cx="2960" cy="4304"/>
            </a:xfrm>
            <a:prstGeom prst="rtTriangle">
              <a:avLst/>
            </a:prstGeom>
            <a:solidFill>
              <a:srgbClr val="95E1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11" name="直角三角形 10"/>
            <p:cNvSpPr/>
            <p:nvPr userDrawn="1"/>
          </p:nvSpPr>
          <p:spPr>
            <a:xfrm>
              <a:off x="0" y="8180"/>
              <a:ext cx="4567" cy="2620"/>
            </a:xfrm>
            <a:prstGeom prst="rtTriangle">
              <a:avLst/>
            </a:prstGeom>
            <a:solidFill>
              <a:schemeClr val="accent2">
                <a:lumMod val="75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12" name="直角三角形 11"/>
            <p:cNvSpPr/>
            <p:nvPr userDrawn="1"/>
          </p:nvSpPr>
          <p:spPr>
            <a:xfrm>
              <a:off x="0" y="7287"/>
              <a:ext cx="2471" cy="3513"/>
            </a:xfrm>
            <a:prstGeom prst="rtTriangle">
              <a:avLst/>
            </a:prstGeom>
            <a:solidFill>
              <a:srgbClr val="029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13" name="直角三角形 12"/>
            <p:cNvSpPr/>
            <p:nvPr userDrawn="1"/>
          </p:nvSpPr>
          <p:spPr>
            <a:xfrm>
              <a:off x="0" y="8599"/>
              <a:ext cx="2959" cy="2201"/>
            </a:xfrm>
            <a:prstGeom prst="rtTriangle">
              <a:avLst/>
            </a:prstGeom>
            <a:solidFill>
              <a:srgbClr val="0C76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 flipH="1" flipV="1">
            <a:off x="9777095" y="0"/>
            <a:ext cx="2414905" cy="2235200"/>
            <a:chOff x="0" y="5348"/>
            <a:chExt cx="5894" cy="5452"/>
          </a:xfrm>
        </p:grpSpPr>
        <p:sp>
          <p:nvSpPr>
            <p:cNvPr id="15" name="直角三角形 14"/>
            <p:cNvSpPr/>
            <p:nvPr userDrawn="1"/>
          </p:nvSpPr>
          <p:spPr>
            <a:xfrm>
              <a:off x="0" y="5348"/>
              <a:ext cx="2960" cy="5452"/>
            </a:xfrm>
            <a:prstGeom prst="rtTriangle">
              <a:avLst/>
            </a:prstGeom>
            <a:solidFill>
              <a:srgbClr val="0299D8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16" name="直角三角形 15"/>
            <p:cNvSpPr/>
            <p:nvPr userDrawn="1"/>
          </p:nvSpPr>
          <p:spPr>
            <a:xfrm>
              <a:off x="0" y="7695"/>
              <a:ext cx="5895" cy="3105"/>
            </a:xfrm>
            <a:prstGeom prst="rtTriangle">
              <a:avLst/>
            </a:prstGeom>
            <a:solidFill>
              <a:srgbClr val="0299D8">
                <a:alpha val="1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17" name="直角三角形 16"/>
            <p:cNvSpPr/>
            <p:nvPr userDrawn="1"/>
          </p:nvSpPr>
          <p:spPr>
            <a:xfrm>
              <a:off x="0" y="6496"/>
              <a:ext cx="2960" cy="4304"/>
            </a:xfrm>
            <a:prstGeom prst="rtTriangle">
              <a:avLst/>
            </a:prstGeom>
            <a:solidFill>
              <a:srgbClr val="95E1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18" name="直角三角形 17"/>
            <p:cNvSpPr/>
            <p:nvPr userDrawn="1"/>
          </p:nvSpPr>
          <p:spPr>
            <a:xfrm>
              <a:off x="0" y="8180"/>
              <a:ext cx="4567" cy="2620"/>
            </a:xfrm>
            <a:prstGeom prst="rtTriangle">
              <a:avLst/>
            </a:prstGeom>
            <a:solidFill>
              <a:schemeClr val="accent2">
                <a:lumMod val="75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19" name="直角三角形 18"/>
            <p:cNvSpPr/>
            <p:nvPr userDrawn="1"/>
          </p:nvSpPr>
          <p:spPr>
            <a:xfrm>
              <a:off x="0" y="7287"/>
              <a:ext cx="2471" cy="3513"/>
            </a:xfrm>
            <a:prstGeom prst="rtTriangle">
              <a:avLst/>
            </a:prstGeom>
            <a:solidFill>
              <a:srgbClr val="029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0" name="直角三角形 19"/>
            <p:cNvSpPr/>
            <p:nvPr userDrawn="1"/>
          </p:nvSpPr>
          <p:spPr>
            <a:xfrm>
              <a:off x="0" y="8599"/>
              <a:ext cx="2959" cy="2201"/>
            </a:xfrm>
            <a:prstGeom prst="rtTriangle">
              <a:avLst/>
            </a:prstGeom>
            <a:solidFill>
              <a:srgbClr val="0C76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</p:grp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image" Target="file:///D:\qq&#25991;&#20214;\712321467\Image\C2C\Image2\%7b75232B38-A165-1FB7-499C-2E1C792CACB5%7d.png" TargetMode="External" /><Relationship Id="rId5" Type="http://schemas.openxmlformats.org/officeDocument/2006/relationships/image" Target="../media/image1.png" /><Relationship Id="rId6" Type="http://schemas.openxmlformats.org/officeDocument/2006/relationships/tags" Target="../tags/tag1.xml" /><Relationship Id="rId7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 1073743875" descr="学科网 zxxk.com" title=""/>
          <p:cNvPicPr>
            <a:picLocks noChangeAspect="1"/>
          </p:cNvPicPr>
          <p:nvPr/>
        </p:nvPicPr>
        <p:blipFill>
          <a:blip r:embed="rId5" r:link="rId4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  <p:custDataLst>
      <p:tags r:id="rId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/>
  <p:timing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2.xml" /><Relationship Id="rId3" Type="http://schemas.openxmlformats.org/officeDocument/2006/relationships/tags" Target="../tags/tag3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10" Type="http://schemas.openxmlformats.org/officeDocument/2006/relationships/tags" Target="../tags/tag12.xml" /><Relationship Id="rId11" Type="http://schemas.openxmlformats.org/officeDocument/2006/relationships/tags" Target="../tags/tag13.xml" /><Relationship Id="rId12" Type="http://schemas.openxmlformats.org/officeDocument/2006/relationships/tags" Target="../tags/tag14.xml" /><Relationship Id="rId13" Type="http://schemas.openxmlformats.org/officeDocument/2006/relationships/tags" Target="../tags/tag15.xml" /><Relationship Id="rId14" Type="http://schemas.openxmlformats.org/officeDocument/2006/relationships/tags" Target="../tags/tag16.xml" /><Relationship Id="rId15" Type="http://schemas.openxmlformats.org/officeDocument/2006/relationships/tags" Target="../tags/tag17.xml" /><Relationship Id="rId16" Type="http://schemas.openxmlformats.org/officeDocument/2006/relationships/tags" Target="../tags/tag18.xml" /><Relationship Id="rId17" Type="http://schemas.openxmlformats.org/officeDocument/2006/relationships/tags" Target="../tags/tag19.xml" /><Relationship Id="rId18" Type="http://schemas.openxmlformats.org/officeDocument/2006/relationships/tags" Target="../tags/tag20.xml" /><Relationship Id="rId19" Type="http://schemas.openxmlformats.org/officeDocument/2006/relationships/tags" Target="../tags/tag21.xml" /><Relationship Id="rId2" Type="http://schemas.openxmlformats.org/officeDocument/2006/relationships/tags" Target="../tags/tag4.xml" /><Relationship Id="rId20" Type="http://schemas.openxmlformats.org/officeDocument/2006/relationships/tags" Target="../tags/tag22.xml" /><Relationship Id="rId3" Type="http://schemas.openxmlformats.org/officeDocument/2006/relationships/tags" Target="../tags/tag5.xml" /><Relationship Id="rId4" Type="http://schemas.openxmlformats.org/officeDocument/2006/relationships/tags" Target="../tags/tag6.xml" /><Relationship Id="rId5" Type="http://schemas.openxmlformats.org/officeDocument/2006/relationships/tags" Target="../tags/tag7.xml" /><Relationship Id="rId6" Type="http://schemas.openxmlformats.org/officeDocument/2006/relationships/tags" Target="../tags/tag8.xml" /><Relationship Id="rId7" Type="http://schemas.openxmlformats.org/officeDocument/2006/relationships/tags" Target="../tags/tag9.xml" /><Relationship Id="rId8" Type="http://schemas.openxmlformats.org/officeDocument/2006/relationships/tags" Target="../tags/tag10.xml" /><Relationship Id="rId9" Type="http://schemas.openxmlformats.org/officeDocument/2006/relationships/tags" Target="../tags/tag11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ags" Target="../tags/tag2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ags" Target="../tags/tag24.xml" /><Relationship Id="rId3" Type="http://schemas.openxmlformats.org/officeDocument/2006/relationships/image" Target="../media/image2.png" /><Relationship Id="rId4" Type="http://schemas.openxmlformats.org/officeDocument/2006/relationships/video" Target="../media/media1.mp4" /><Relationship Id="rId5" Type="http://schemas.microsoft.com/office/2007/relationships/media" Target="../media/media1.mp4" /><Relationship Id="rId6" Type="http://schemas.openxmlformats.org/officeDocument/2006/relationships/tags" Target="../tags/tag25.xml" /><Relationship Id="rId7" Type="http://schemas.openxmlformats.org/officeDocument/2006/relationships/tags" Target="../tags/tag26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ags" Target="../tags/tag27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ags" Target="../tags/tag28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10" Type="http://schemas.openxmlformats.org/officeDocument/2006/relationships/tags" Target="../tags/tag37.xml" /><Relationship Id="rId11" Type="http://schemas.openxmlformats.org/officeDocument/2006/relationships/tags" Target="../tags/tag38.xml" /><Relationship Id="rId12" Type="http://schemas.openxmlformats.org/officeDocument/2006/relationships/tags" Target="../tags/tag39.xml" /><Relationship Id="rId13" Type="http://schemas.openxmlformats.org/officeDocument/2006/relationships/tags" Target="../tags/tag40.xml" /><Relationship Id="rId14" Type="http://schemas.openxmlformats.org/officeDocument/2006/relationships/tags" Target="../tags/tag41.xml" /><Relationship Id="rId15" Type="http://schemas.openxmlformats.org/officeDocument/2006/relationships/tags" Target="../tags/tag42.xml" /><Relationship Id="rId16" Type="http://schemas.openxmlformats.org/officeDocument/2006/relationships/tags" Target="../tags/tag43.xml" /><Relationship Id="rId17" Type="http://schemas.openxmlformats.org/officeDocument/2006/relationships/tags" Target="../tags/tag44.xml" /><Relationship Id="rId2" Type="http://schemas.openxmlformats.org/officeDocument/2006/relationships/tags" Target="../tags/tag29.xml" /><Relationship Id="rId3" Type="http://schemas.openxmlformats.org/officeDocument/2006/relationships/tags" Target="../tags/tag30.xml" /><Relationship Id="rId4" Type="http://schemas.openxmlformats.org/officeDocument/2006/relationships/tags" Target="../tags/tag31.xml" /><Relationship Id="rId5" Type="http://schemas.openxmlformats.org/officeDocument/2006/relationships/tags" Target="../tags/tag32.xml" /><Relationship Id="rId6" Type="http://schemas.openxmlformats.org/officeDocument/2006/relationships/tags" Target="../tags/tag33.xml" /><Relationship Id="rId7" Type="http://schemas.openxmlformats.org/officeDocument/2006/relationships/tags" Target="../tags/tag34.xml" /><Relationship Id="rId8" Type="http://schemas.openxmlformats.org/officeDocument/2006/relationships/tags" Target="../tags/tag35.xml" /><Relationship Id="rId9" Type="http://schemas.openxmlformats.org/officeDocument/2006/relationships/tags" Target="../tags/tag36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ags" Target="../tags/tag45.xml" /><Relationship Id="rId3" Type="http://schemas.openxmlformats.org/officeDocument/2006/relationships/tags" Target="../tags/tag46.xml" /><Relationship Id="rId4" Type="http://schemas.openxmlformats.org/officeDocument/2006/relationships/tags" Target="../tags/tag47.xml" /><Relationship Id="rId5" Type="http://schemas.openxmlformats.org/officeDocument/2006/relationships/tags" Target="../tags/tag4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10" Type="http://schemas.openxmlformats.org/officeDocument/2006/relationships/tags" Target="../tags/tag57.xml" /><Relationship Id="rId11" Type="http://schemas.openxmlformats.org/officeDocument/2006/relationships/tags" Target="../tags/tag58.xml" /><Relationship Id="rId2" Type="http://schemas.openxmlformats.org/officeDocument/2006/relationships/tags" Target="../tags/tag49.xml" /><Relationship Id="rId3" Type="http://schemas.openxmlformats.org/officeDocument/2006/relationships/tags" Target="../tags/tag50.xml" /><Relationship Id="rId4" Type="http://schemas.openxmlformats.org/officeDocument/2006/relationships/tags" Target="../tags/tag51.xml" /><Relationship Id="rId5" Type="http://schemas.openxmlformats.org/officeDocument/2006/relationships/tags" Target="../tags/tag52.xml" /><Relationship Id="rId6" Type="http://schemas.openxmlformats.org/officeDocument/2006/relationships/tags" Target="../tags/tag53.xml" /><Relationship Id="rId7" Type="http://schemas.openxmlformats.org/officeDocument/2006/relationships/tags" Target="../tags/tag54.xml" /><Relationship Id="rId8" Type="http://schemas.openxmlformats.org/officeDocument/2006/relationships/tags" Target="../tags/tag55.xml" /><Relationship Id="rId9" Type="http://schemas.openxmlformats.org/officeDocument/2006/relationships/tags" Target="../tags/tag56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ags" Target="../tags/tag59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10" Type="http://schemas.openxmlformats.org/officeDocument/2006/relationships/tags" Target="../tags/tag68.xml" /><Relationship Id="rId11" Type="http://schemas.openxmlformats.org/officeDocument/2006/relationships/tags" Target="../tags/tag69.xml" /><Relationship Id="rId12" Type="http://schemas.openxmlformats.org/officeDocument/2006/relationships/tags" Target="../tags/tag70.xml" /><Relationship Id="rId13" Type="http://schemas.openxmlformats.org/officeDocument/2006/relationships/tags" Target="../tags/tag71.xml" /><Relationship Id="rId2" Type="http://schemas.openxmlformats.org/officeDocument/2006/relationships/tags" Target="../tags/tag60.xml" /><Relationship Id="rId3" Type="http://schemas.openxmlformats.org/officeDocument/2006/relationships/tags" Target="../tags/tag61.xml" /><Relationship Id="rId4" Type="http://schemas.openxmlformats.org/officeDocument/2006/relationships/tags" Target="../tags/tag62.xml" /><Relationship Id="rId5" Type="http://schemas.openxmlformats.org/officeDocument/2006/relationships/tags" Target="../tags/tag63.xml" /><Relationship Id="rId6" Type="http://schemas.openxmlformats.org/officeDocument/2006/relationships/tags" Target="../tags/tag64.xml" /><Relationship Id="rId7" Type="http://schemas.openxmlformats.org/officeDocument/2006/relationships/tags" Target="../tags/tag65.xml" /><Relationship Id="rId8" Type="http://schemas.openxmlformats.org/officeDocument/2006/relationships/tags" Target="../tags/tag66.xml" /><Relationship Id="rId9" Type="http://schemas.openxmlformats.org/officeDocument/2006/relationships/tags" Target="../tags/tag67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10" Type="http://schemas.openxmlformats.org/officeDocument/2006/relationships/tags" Target="../tags/tag80.xml" /><Relationship Id="rId11" Type="http://schemas.openxmlformats.org/officeDocument/2006/relationships/tags" Target="../tags/tag81.xml" /><Relationship Id="rId12" Type="http://schemas.openxmlformats.org/officeDocument/2006/relationships/tags" Target="../tags/tag82.xml" /><Relationship Id="rId13" Type="http://schemas.openxmlformats.org/officeDocument/2006/relationships/tags" Target="../tags/tag83.xml" /><Relationship Id="rId14" Type="http://schemas.openxmlformats.org/officeDocument/2006/relationships/tags" Target="../tags/tag84.xml" /><Relationship Id="rId15" Type="http://schemas.openxmlformats.org/officeDocument/2006/relationships/tags" Target="../tags/tag85.xml" /><Relationship Id="rId16" Type="http://schemas.openxmlformats.org/officeDocument/2006/relationships/tags" Target="../tags/tag86.xml" /><Relationship Id="rId17" Type="http://schemas.openxmlformats.org/officeDocument/2006/relationships/tags" Target="../tags/tag87.xml" /><Relationship Id="rId18" Type="http://schemas.openxmlformats.org/officeDocument/2006/relationships/tags" Target="../tags/tag88.xml" /><Relationship Id="rId19" Type="http://schemas.openxmlformats.org/officeDocument/2006/relationships/tags" Target="../tags/tag89.xml" /><Relationship Id="rId2" Type="http://schemas.openxmlformats.org/officeDocument/2006/relationships/tags" Target="../tags/tag72.xml" /><Relationship Id="rId20" Type="http://schemas.openxmlformats.org/officeDocument/2006/relationships/tags" Target="../tags/tag90.xml" /><Relationship Id="rId21" Type="http://schemas.openxmlformats.org/officeDocument/2006/relationships/tags" Target="../tags/tag91.xml" /><Relationship Id="rId22" Type="http://schemas.openxmlformats.org/officeDocument/2006/relationships/tags" Target="../tags/tag92.xml" /><Relationship Id="rId23" Type="http://schemas.openxmlformats.org/officeDocument/2006/relationships/tags" Target="../tags/tag93.xml" /><Relationship Id="rId24" Type="http://schemas.openxmlformats.org/officeDocument/2006/relationships/tags" Target="../tags/tag94.xml" /><Relationship Id="rId25" Type="http://schemas.openxmlformats.org/officeDocument/2006/relationships/tags" Target="../tags/tag95.xml" /><Relationship Id="rId26" Type="http://schemas.openxmlformats.org/officeDocument/2006/relationships/tags" Target="../tags/tag96.xml" /><Relationship Id="rId27" Type="http://schemas.openxmlformats.org/officeDocument/2006/relationships/tags" Target="../tags/tag97.xml" /><Relationship Id="rId28" Type="http://schemas.openxmlformats.org/officeDocument/2006/relationships/tags" Target="../tags/tag98.xml" /><Relationship Id="rId29" Type="http://schemas.openxmlformats.org/officeDocument/2006/relationships/tags" Target="../tags/tag99.xml" /><Relationship Id="rId3" Type="http://schemas.openxmlformats.org/officeDocument/2006/relationships/tags" Target="../tags/tag73.xml" /><Relationship Id="rId30" Type="http://schemas.openxmlformats.org/officeDocument/2006/relationships/tags" Target="../tags/tag100.xml" /><Relationship Id="rId31" Type="http://schemas.openxmlformats.org/officeDocument/2006/relationships/tags" Target="../tags/tag101.xml" /><Relationship Id="rId32" Type="http://schemas.openxmlformats.org/officeDocument/2006/relationships/tags" Target="../tags/tag102.xml" /><Relationship Id="rId33" Type="http://schemas.openxmlformats.org/officeDocument/2006/relationships/tags" Target="../tags/tag103.xml" /><Relationship Id="rId4" Type="http://schemas.openxmlformats.org/officeDocument/2006/relationships/tags" Target="../tags/tag74.xml" /><Relationship Id="rId5" Type="http://schemas.openxmlformats.org/officeDocument/2006/relationships/tags" Target="../tags/tag75.xml" /><Relationship Id="rId6" Type="http://schemas.openxmlformats.org/officeDocument/2006/relationships/tags" Target="../tags/tag76.xml" /><Relationship Id="rId7" Type="http://schemas.openxmlformats.org/officeDocument/2006/relationships/tags" Target="../tags/tag77.xml" /><Relationship Id="rId8" Type="http://schemas.openxmlformats.org/officeDocument/2006/relationships/tags" Target="../tags/tag78.xml" /><Relationship Id="rId9" Type="http://schemas.openxmlformats.org/officeDocument/2006/relationships/tags" Target="../tags/tag79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10" Type="http://schemas.openxmlformats.org/officeDocument/2006/relationships/tags" Target="../tags/tag112.xml" /><Relationship Id="rId11" Type="http://schemas.openxmlformats.org/officeDocument/2006/relationships/tags" Target="../tags/tag113.xml" /><Relationship Id="rId12" Type="http://schemas.openxmlformats.org/officeDocument/2006/relationships/tags" Target="../tags/tag114.xml" /><Relationship Id="rId2" Type="http://schemas.openxmlformats.org/officeDocument/2006/relationships/tags" Target="../tags/tag104.xml" /><Relationship Id="rId3" Type="http://schemas.openxmlformats.org/officeDocument/2006/relationships/tags" Target="../tags/tag105.xml" /><Relationship Id="rId4" Type="http://schemas.openxmlformats.org/officeDocument/2006/relationships/tags" Target="../tags/tag106.xml" /><Relationship Id="rId5" Type="http://schemas.openxmlformats.org/officeDocument/2006/relationships/tags" Target="../tags/tag107.xml" /><Relationship Id="rId6" Type="http://schemas.openxmlformats.org/officeDocument/2006/relationships/tags" Target="../tags/tag108.xml" /><Relationship Id="rId7" Type="http://schemas.openxmlformats.org/officeDocument/2006/relationships/tags" Target="../tags/tag109.xml" /><Relationship Id="rId8" Type="http://schemas.openxmlformats.org/officeDocument/2006/relationships/tags" Target="../tags/tag110.xml" /><Relationship Id="rId9" Type="http://schemas.openxmlformats.org/officeDocument/2006/relationships/tags" Target="../tags/tag111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ags" Target="../tags/tag115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ags" Target="../tags/tag116.xml" /><Relationship Id="rId3" Type="http://schemas.openxmlformats.org/officeDocument/2006/relationships/tags" Target="../tags/tag117.xml" /><Relationship Id="rId4" Type="http://schemas.openxmlformats.org/officeDocument/2006/relationships/image" Target="NULL" TargetMode="External" /><Relationship Id="rId5" Type="http://schemas.openxmlformats.org/officeDocument/2006/relationships/image" Target="../media/image3.png" /><Relationship Id="rId6" Type="http://schemas.openxmlformats.org/officeDocument/2006/relationships/tags" Target="../tags/tag118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10" Type="http://schemas.openxmlformats.org/officeDocument/2006/relationships/tags" Target="../tags/tag125.xml" /><Relationship Id="rId11" Type="http://schemas.openxmlformats.org/officeDocument/2006/relationships/tags" Target="../tags/tag126.xml" /><Relationship Id="rId12" Type="http://schemas.openxmlformats.org/officeDocument/2006/relationships/tags" Target="../tags/tag127.xml" /><Relationship Id="rId13" Type="http://schemas.openxmlformats.org/officeDocument/2006/relationships/tags" Target="../tags/tag128.xml" /><Relationship Id="rId14" Type="http://schemas.openxmlformats.org/officeDocument/2006/relationships/tags" Target="../tags/tag129.xml" /><Relationship Id="rId15" Type="http://schemas.openxmlformats.org/officeDocument/2006/relationships/tags" Target="../tags/tag130.xml" /><Relationship Id="rId16" Type="http://schemas.openxmlformats.org/officeDocument/2006/relationships/tags" Target="../tags/tag131.xml" /><Relationship Id="rId17" Type="http://schemas.openxmlformats.org/officeDocument/2006/relationships/tags" Target="../tags/tag132.xml" /><Relationship Id="rId18" Type="http://schemas.openxmlformats.org/officeDocument/2006/relationships/tags" Target="../tags/tag133.xml" /><Relationship Id="rId19" Type="http://schemas.openxmlformats.org/officeDocument/2006/relationships/tags" Target="../tags/tag134.xml" /><Relationship Id="rId2" Type="http://schemas.openxmlformats.org/officeDocument/2006/relationships/tags" Target="../tags/tag119.xml" /><Relationship Id="rId20" Type="http://schemas.openxmlformats.org/officeDocument/2006/relationships/tags" Target="../tags/tag135.xml" /><Relationship Id="rId21" Type="http://schemas.openxmlformats.org/officeDocument/2006/relationships/tags" Target="../tags/tag136.xml" /><Relationship Id="rId22" Type="http://schemas.openxmlformats.org/officeDocument/2006/relationships/tags" Target="../tags/tag137.xml" /><Relationship Id="rId23" Type="http://schemas.openxmlformats.org/officeDocument/2006/relationships/tags" Target="../tags/tag138.xml" /><Relationship Id="rId24" Type="http://schemas.openxmlformats.org/officeDocument/2006/relationships/tags" Target="../tags/tag139.xml" /><Relationship Id="rId25" Type="http://schemas.openxmlformats.org/officeDocument/2006/relationships/tags" Target="../tags/tag140.xml" /><Relationship Id="rId26" Type="http://schemas.openxmlformats.org/officeDocument/2006/relationships/tags" Target="../tags/tag141.xml" /><Relationship Id="rId27" Type="http://schemas.openxmlformats.org/officeDocument/2006/relationships/tags" Target="../tags/tag142.xml" /><Relationship Id="rId28" Type="http://schemas.openxmlformats.org/officeDocument/2006/relationships/tags" Target="../tags/tag143.xml" /><Relationship Id="rId29" Type="http://schemas.openxmlformats.org/officeDocument/2006/relationships/tags" Target="../tags/tag144.xml" /><Relationship Id="rId3" Type="http://schemas.openxmlformats.org/officeDocument/2006/relationships/image" Target="NULL" TargetMode="External" /><Relationship Id="rId30" Type="http://schemas.openxmlformats.org/officeDocument/2006/relationships/tags" Target="../tags/tag145.xml" /><Relationship Id="rId31" Type="http://schemas.openxmlformats.org/officeDocument/2006/relationships/tags" Target="../tags/tag146.xml" /><Relationship Id="rId32" Type="http://schemas.openxmlformats.org/officeDocument/2006/relationships/tags" Target="../tags/tag147.xml" /><Relationship Id="rId33" Type="http://schemas.openxmlformats.org/officeDocument/2006/relationships/tags" Target="../tags/tag148.xml" /><Relationship Id="rId34" Type="http://schemas.openxmlformats.org/officeDocument/2006/relationships/tags" Target="../tags/tag149.xml" /><Relationship Id="rId35" Type="http://schemas.openxmlformats.org/officeDocument/2006/relationships/tags" Target="../tags/tag150.xml" /><Relationship Id="rId36" Type="http://schemas.openxmlformats.org/officeDocument/2006/relationships/tags" Target="../tags/tag151.xml" /><Relationship Id="rId37" Type="http://schemas.openxmlformats.org/officeDocument/2006/relationships/tags" Target="../tags/tag152.xml" /><Relationship Id="rId38" Type="http://schemas.openxmlformats.org/officeDocument/2006/relationships/tags" Target="../tags/tag153.xml" /><Relationship Id="rId4" Type="http://schemas.openxmlformats.org/officeDocument/2006/relationships/image" Target="../media/image3.png" /><Relationship Id="rId5" Type="http://schemas.openxmlformats.org/officeDocument/2006/relationships/tags" Target="../tags/tag120.xml" /><Relationship Id="rId6" Type="http://schemas.openxmlformats.org/officeDocument/2006/relationships/tags" Target="../tags/tag121.xml" /><Relationship Id="rId7" Type="http://schemas.openxmlformats.org/officeDocument/2006/relationships/tags" Target="../tags/tag122.xml" /><Relationship Id="rId8" Type="http://schemas.openxmlformats.org/officeDocument/2006/relationships/tags" Target="../tags/tag123.xml" /><Relationship Id="rId9" Type="http://schemas.openxmlformats.org/officeDocument/2006/relationships/tags" Target="../tags/tag124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10" Type="http://schemas.openxmlformats.org/officeDocument/2006/relationships/tags" Target="../tags/tag162.xml" /><Relationship Id="rId11" Type="http://schemas.openxmlformats.org/officeDocument/2006/relationships/tags" Target="../tags/tag163.xml" /><Relationship Id="rId12" Type="http://schemas.openxmlformats.org/officeDocument/2006/relationships/tags" Target="../tags/tag164.xml" /><Relationship Id="rId2" Type="http://schemas.openxmlformats.org/officeDocument/2006/relationships/tags" Target="../tags/tag154.xml" /><Relationship Id="rId3" Type="http://schemas.openxmlformats.org/officeDocument/2006/relationships/tags" Target="../tags/tag155.xml" /><Relationship Id="rId4" Type="http://schemas.openxmlformats.org/officeDocument/2006/relationships/tags" Target="../tags/tag156.xml" /><Relationship Id="rId5" Type="http://schemas.openxmlformats.org/officeDocument/2006/relationships/tags" Target="../tags/tag157.xml" /><Relationship Id="rId6" Type="http://schemas.openxmlformats.org/officeDocument/2006/relationships/tags" Target="../tags/tag158.xml" /><Relationship Id="rId7" Type="http://schemas.openxmlformats.org/officeDocument/2006/relationships/tags" Target="../tags/tag159.xml" /><Relationship Id="rId8" Type="http://schemas.openxmlformats.org/officeDocument/2006/relationships/tags" Target="../tags/tag160.xml" /><Relationship Id="rId9" Type="http://schemas.openxmlformats.org/officeDocument/2006/relationships/tags" Target="../tags/tag161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ags" Target="../tags/tag165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10" Type="http://schemas.openxmlformats.org/officeDocument/2006/relationships/tags" Target="../tags/tag174.xml" /><Relationship Id="rId11" Type="http://schemas.openxmlformats.org/officeDocument/2006/relationships/tags" Target="../tags/tag175.xml" /><Relationship Id="rId12" Type="http://schemas.openxmlformats.org/officeDocument/2006/relationships/tags" Target="../tags/tag176.xml" /><Relationship Id="rId2" Type="http://schemas.openxmlformats.org/officeDocument/2006/relationships/tags" Target="../tags/tag166.xml" /><Relationship Id="rId3" Type="http://schemas.openxmlformats.org/officeDocument/2006/relationships/tags" Target="../tags/tag167.xml" /><Relationship Id="rId4" Type="http://schemas.openxmlformats.org/officeDocument/2006/relationships/tags" Target="../tags/tag168.xml" /><Relationship Id="rId5" Type="http://schemas.openxmlformats.org/officeDocument/2006/relationships/tags" Target="../tags/tag169.xml" /><Relationship Id="rId6" Type="http://schemas.openxmlformats.org/officeDocument/2006/relationships/tags" Target="../tags/tag170.xml" /><Relationship Id="rId7" Type="http://schemas.openxmlformats.org/officeDocument/2006/relationships/tags" Target="../tags/tag171.xml" /><Relationship Id="rId8" Type="http://schemas.openxmlformats.org/officeDocument/2006/relationships/tags" Target="../tags/tag172.xml" /><Relationship Id="rId9" Type="http://schemas.openxmlformats.org/officeDocument/2006/relationships/tags" Target="../tags/tag173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10" Type="http://schemas.openxmlformats.org/officeDocument/2006/relationships/tags" Target="../tags/tag185.xml" /><Relationship Id="rId100" Type="http://schemas.openxmlformats.org/officeDocument/2006/relationships/tags" Target="../tags/tag269.xml" /><Relationship Id="rId101" Type="http://schemas.openxmlformats.org/officeDocument/2006/relationships/tags" Target="../tags/tag270.xml" /><Relationship Id="rId102" Type="http://schemas.openxmlformats.org/officeDocument/2006/relationships/tags" Target="../tags/tag271.xml" /><Relationship Id="rId11" Type="http://schemas.openxmlformats.org/officeDocument/2006/relationships/tags" Target="../tags/tag186.xml" /><Relationship Id="rId12" Type="http://schemas.openxmlformats.org/officeDocument/2006/relationships/tags" Target="../tags/tag187.xml" /><Relationship Id="rId13" Type="http://schemas.openxmlformats.org/officeDocument/2006/relationships/tags" Target="../tags/tag188.xml" /><Relationship Id="rId14" Type="http://schemas.openxmlformats.org/officeDocument/2006/relationships/tags" Target="../tags/tag189.xml" /><Relationship Id="rId15" Type="http://schemas.openxmlformats.org/officeDocument/2006/relationships/tags" Target="../tags/tag190.xml" /><Relationship Id="rId16" Type="http://schemas.openxmlformats.org/officeDocument/2006/relationships/tags" Target="../tags/tag191.xml" /><Relationship Id="rId17" Type="http://schemas.openxmlformats.org/officeDocument/2006/relationships/tags" Target="../tags/tag192.xml" /><Relationship Id="rId18" Type="http://schemas.openxmlformats.org/officeDocument/2006/relationships/tags" Target="../tags/tag193.xml" /><Relationship Id="rId19" Type="http://schemas.openxmlformats.org/officeDocument/2006/relationships/tags" Target="../tags/tag194.xml" /><Relationship Id="rId2" Type="http://schemas.openxmlformats.org/officeDocument/2006/relationships/tags" Target="../tags/tag177.xml" /><Relationship Id="rId20" Type="http://schemas.openxmlformats.org/officeDocument/2006/relationships/tags" Target="../tags/tag195.xml" /><Relationship Id="rId21" Type="http://schemas.openxmlformats.org/officeDocument/2006/relationships/tags" Target="../tags/tag196.xml" /><Relationship Id="rId22" Type="http://schemas.openxmlformats.org/officeDocument/2006/relationships/tags" Target="../tags/tag197.xml" /><Relationship Id="rId23" Type="http://schemas.openxmlformats.org/officeDocument/2006/relationships/tags" Target="../tags/tag198.xml" /><Relationship Id="rId24" Type="http://schemas.openxmlformats.org/officeDocument/2006/relationships/tags" Target="../tags/tag199.xml" /><Relationship Id="rId25" Type="http://schemas.openxmlformats.org/officeDocument/2006/relationships/tags" Target="../tags/tag200.xml" /><Relationship Id="rId26" Type="http://schemas.openxmlformats.org/officeDocument/2006/relationships/tags" Target="../tags/tag201.xml" /><Relationship Id="rId27" Type="http://schemas.openxmlformats.org/officeDocument/2006/relationships/tags" Target="../tags/tag202.xml" /><Relationship Id="rId28" Type="http://schemas.openxmlformats.org/officeDocument/2006/relationships/tags" Target="../tags/tag203.xml" /><Relationship Id="rId29" Type="http://schemas.openxmlformats.org/officeDocument/2006/relationships/tags" Target="../tags/tag204.xml" /><Relationship Id="rId3" Type="http://schemas.openxmlformats.org/officeDocument/2006/relationships/tags" Target="../tags/tag178.xml" /><Relationship Id="rId30" Type="http://schemas.openxmlformats.org/officeDocument/2006/relationships/tags" Target="../tags/tag205.xml" /><Relationship Id="rId31" Type="http://schemas.openxmlformats.org/officeDocument/2006/relationships/image" Target="../media/image4.png" /><Relationship Id="rId32" Type="http://schemas.openxmlformats.org/officeDocument/2006/relationships/tags" Target="../tags/tag206.xml" /><Relationship Id="rId33" Type="http://schemas.openxmlformats.org/officeDocument/2006/relationships/image" Target="../media/image5.png" /><Relationship Id="rId34" Type="http://schemas.openxmlformats.org/officeDocument/2006/relationships/tags" Target="../tags/tag207.xml" /><Relationship Id="rId35" Type="http://schemas.openxmlformats.org/officeDocument/2006/relationships/image" Target="../media/image6.png" /><Relationship Id="rId36" Type="http://schemas.openxmlformats.org/officeDocument/2006/relationships/tags" Target="../tags/tag208.xml" /><Relationship Id="rId37" Type="http://schemas.openxmlformats.org/officeDocument/2006/relationships/tags" Target="../tags/tag209.xml" /><Relationship Id="rId38" Type="http://schemas.openxmlformats.org/officeDocument/2006/relationships/tags" Target="../tags/tag210.xml" /><Relationship Id="rId39" Type="http://schemas.openxmlformats.org/officeDocument/2006/relationships/tags" Target="../tags/tag211.xml" /><Relationship Id="rId4" Type="http://schemas.openxmlformats.org/officeDocument/2006/relationships/tags" Target="../tags/tag179.xml" /><Relationship Id="rId40" Type="http://schemas.openxmlformats.org/officeDocument/2006/relationships/tags" Target="../tags/tag212.xml" /><Relationship Id="rId41" Type="http://schemas.openxmlformats.org/officeDocument/2006/relationships/tags" Target="../tags/tag213.xml" /><Relationship Id="rId42" Type="http://schemas.openxmlformats.org/officeDocument/2006/relationships/tags" Target="../tags/tag214.xml" /><Relationship Id="rId43" Type="http://schemas.openxmlformats.org/officeDocument/2006/relationships/tags" Target="../tags/tag215.xml" /><Relationship Id="rId44" Type="http://schemas.openxmlformats.org/officeDocument/2006/relationships/tags" Target="../tags/tag216.xml" /><Relationship Id="rId45" Type="http://schemas.openxmlformats.org/officeDocument/2006/relationships/tags" Target="../tags/tag217.xml" /><Relationship Id="rId46" Type="http://schemas.openxmlformats.org/officeDocument/2006/relationships/tags" Target="../tags/tag218.xml" /><Relationship Id="rId47" Type="http://schemas.openxmlformats.org/officeDocument/2006/relationships/tags" Target="../tags/tag219.xml" /><Relationship Id="rId48" Type="http://schemas.openxmlformats.org/officeDocument/2006/relationships/tags" Target="../tags/tag220.xml" /><Relationship Id="rId49" Type="http://schemas.openxmlformats.org/officeDocument/2006/relationships/tags" Target="../tags/tag221.xml" /><Relationship Id="rId5" Type="http://schemas.openxmlformats.org/officeDocument/2006/relationships/tags" Target="../tags/tag180.xml" /><Relationship Id="rId50" Type="http://schemas.openxmlformats.org/officeDocument/2006/relationships/tags" Target="../tags/tag222.xml" /><Relationship Id="rId51" Type="http://schemas.openxmlformats.org/officeDocument/2006/relationships/tags" Target="../tags/tag223.xml" /><Relationship Id="rId52" Type="http://schemas.openxmlformats.org/officeDocument/2006/relationships/tags" Target="../tags/tag224.xml" /><Relationship Id="rId53" Type="http://schemas.openxmlformats.org/officeDocument/2006/relationships/tags" Target="../tags/tag225.xml" /><Relationship Id="rId54" Type="http://schemas.openxmlformats.org/officeDocument/2006/relationships/tags" Target="../tags/tag226.xml" /><Relationship Id="rId55" Type="http://schemas.openxmlformats.org/officeDocument/2006/relationships/tags" Target="../tags/tag227.xml" /><Relationship Id="rId56" Type="http://schemas.openxmlformats.org/officeDocument/2006/relationships/tags" Target="../tags/tag228.xml" /><Relationship Id="rId57" Type="http://schemas.openxmlformats.org/officeDocument/2006/relationships/tags" Target="../tags/tag229.xml" /><Relationship Id="rId58" Type="http://schemas.openxmlformats.org/officeDocument/2006/relationships/tags" Target="../tags/tag230.xml" /><Relationship Id="rId59" Type="http://schemas.openxmlformats.org/officeDocument/2006/relationships/tags" Target="../tags/tag231.xml" /><Relationship Id="rId6" Type="http://schemas.openxmlformats.org/officeDocument/2006/relationships/tags" Target="../tags/tag181.xml" /><Relationship Id="rId60" Type="http://schemas.openxmlformats.org/officeDocument/2006/relationships/tags" Target="../tags/tag232.xml" /><Relationship Id="rId61" Type="http://schemas.openxmlformats.org/officeDocument/2006/relationships/image" Target="../media/image7.png" /><Relationship Id="rId62" Type="http://schemas.openxmlformats.org/officeDocument/2006/relationships/tags" Target="../tags/tag233.xml" /><Relationship Id="rId63" Type="http://schemas.openxmlformats.org/officeDocument/2006/relationships/tags" Target="../tags/tag234.xml" /><Relationship Id="rId64" Type="http://schemas.openxmlformats.org/officeDocument/2006/relationships/tags" Target="../tags/tag235.xml" /><Relationship Id="rId65" Type="http://schemas.openxmlformats.org/officeDocument/2006/relationships/tags" Target="../tags/tag236.xml" /><Relationship Id="rId66" Type="http://schemas.openxmlformats.org/officeDocument/2006/relationships/tags" Target="../tags/tag237.xml" /><Relationship Id="rId67" Type="http://schemas.openxmlformats.org/officeDocument/2006/relationships/tags" Target="../tags/tag238.xml" /><Relationship Id="rId68" Type="http://schemas.openxmlformats.org/officeDocument/2006/relationships/image" Target="../media/image8.png" /><Relationship Id="rId69" Type="http://schemas.openxmlformats.org/officeDocument/2006/relationships/tags" Target="../tags/tag239.xml" /><Relationship Id="rId7" Type="http://schemas.openxmlformats.org/officeDocument/2006/relationships/tags" Target="../tags/tag182.xml" /><Relationship Id="rId70" Type="http://schemas.openxmlformats.org/officeDocument/2006/relationships/tags" Target="../tags/tag240.xml" /><Relationship Id="rId71" Type="http://schemas.openxmlformats.org/officeDocument/2006/relationships/tags" Target="../tags/tag241.xml" /><Relationship Id="rId72" Type="http://schemas.openxmlformats.org/officeDocument/2006/relationships/tags" Target="../tags/tag242.xml" /><Relationship Id="rId73" Type="http://schemas.openxmlformats.org/officeDocument/2006/relationships/tags" Target="../tags/tag243.xml" /><Relationship Id="rId74" Type="http://schemas.openxmlformats.org/officeDocument/2006/relationships/tags" Target="../tags/tag244.xml" /><Relationship Id="rId75" Type="http://schemas.openxmlformats.org/officeDocument/2006/relationships/tags" Target="../tags/tag245.xml" /><Relationship Id="rId76" Type="http://schemas.openxmlformats.org/officeDocument/2006/relationships/tags" Target="../tags/tag246.xml" /><Relationship Id="rId77" Type="http://schemas.openxmlformats.org/officeDocument/2006/relationships/image" Target="../media/image9.png" /><Relationship Id="rId78" Type="http://schemas.openxmlformats.org/officeDocument/2006/relationships/tags" Target="../tags/tag247.xml" /><Relationship Id="rId79" Type="http://schemas.openxmlformats.org/officeDocument/2006/relationships/tags" Target="../tags/tag248.xml" /><Relationship Id="rId8" Type="http://schemas.openxmlformats.org/officeDocument/2006/relationships/tags" Target="../tags/tag183.xml" /><Relationship Id="rId80" Type="http://schemas.openxmlformats.org/officeDocument/2006/relationships/tags" Target="../tags/tag249.xml" /><Relationship Id="rId81" Type="http://schemas.openxmlformats.org/officeDocument/2006/relationships/tags" Target="../tags/tag250.xml" /><Relationship Id="rId82" Type="http://schemas.openxmlformats.org/officeDocument/2006/relationships/tags" Target="../tags/tag251.xml" /><Relationship Id="rId83" Type="http://schemas.openxmlformats.org/officeDocument/2006/relationships/tags" Target="../tags/tag252.xml" /><Relationship Id="rId84" Type="http://schemas.openxmlformats.org/officeDocument/2006/relationships/tags" Target="../tags/tag253.xml" /><Relationship Id="rId85" Type="http://schemas.openxmlformats.org/officeDocument/2006/relationships/tags" Target="../tags/tag254.xml" /><Relationship Id="rId86" Type="http://schemas.openxmlformats.org/officeDocument/2006/relationships/tags" Target="../tags/tag255.xml" /><Relationship Id="rId87" Type="http://schemas.openxmlformats.org/officeDocument/2006/relationships/tags" Target="../tags/tag256.xml" /><Relationship Id="rId88" Type="http://schemas.openxmlformats.org/officeDocument/2006/relationships/tags" Target="../tags/tag257.xml" /><Relationship Id="rId89" Type="http://schemas.openxmlformats.org/officeDocument/2006/relationships/tags" Target="../tags/tag258.xml" /><Relationship Id="rId9" Type="http://schemas.openxmlformats.org/officeDocument/2006/relationships/tags" Target="../tags/tag184.xml" /><Relationship Id="rId90" Type="http://schemas.openxmlformats.org/officeDocument/2006/relationships/tags" Target="../tags/tag259.xml" /><Relationship Id="rId91" Type="http://schemas.openxmlformats.org/officeDocument/2006/relationships/tags" Target="../tags/tag260.xml" /><Relationship Id="rId92" Type="http://schemas.openxmlformats.org/officeDocument/2006/relationships/tags" Target="../tags/tag261.xml" /><Relationship Id="rId93" Type="http://schemas.openxmlformats.org/officeDocument/2006/relationships/tags" Target="../tags/tag262.xml" /><Relationship Id="rId94" Type="http://schemas.openxmlformats.org/officeDocument/2006/relationships/tags" Target="../tags/tag263.xml" /><Relationship Id="rId95" Type="http://schemas.openxmlformats.org/officeDocument/2006/relationships/tags" Target="../tags/tag264.xml" /><Relationship Id="rId96" Type="http://schemas.openxmlformats.org/officeDocument/2006/relationships/tags" Target="../tags/tag265.xml" /><Relationship Id="rId97" Type="http://schemas.openxmlformats.org/officeDocument/2006/relationships/tags" Target="../tags/tag266.xml" /><Relationship Id="rId98" Type="http://schemas.openxmlformats.org/officeDocument/2006/relationships/tags" Target="../tags/tag267.xml" /><Relationship Id="rId99" Type="http://schemas.openxmlformats.org/officeDocument/2006/relationships/tags" Target="../tags/tag268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10" Type="http://schemas.openxmlformats.org/officeDocument/2006/relationships/tags" Target="../tags/tag280.xml" /><Relationship Id="rId11" Type="http://schemas.openxmlformats.org/officeDocument/2006/relationships/tags" Target="../tags/tag281.xml" /><Relationship Id="rId12" Type="http://schemas.openxmlformats.org/officeDocument/2006/relationships/tags" Target="../tags/tag282.xml" /><Relationship Id="rId13" Type="http://schemas.openxmlformats.org/officeDocument/2006/relationships/tags" Target="../tags/tag283.xml" /><Relationship Id="rId14" Type="http://schemas.openxmlformats.org/officeDocument/2006/relationships/tags" Target="../tags/tag284.xml" /><Relationship Id="rId15" Type="http://schemas.openxmlformats.org/officeDocument/2006/relationships/tags" Target="../tags/tag285.xml" /><Relationship Id="rId16" Type="http://schemas.openxmlformats.org/officeDocument/2006/relationships/tags" Target="../tags/tag286.xml" /><Relationship Id="rId17" Type="http://schemas.openxmlformats.org/officeDocument/2006/relationships/tags" Target="../tags/tag287.xml" /><Relationship Id="rId18" Type="http://schemas.openxmlformats.org/officeDocument/2006/relationships/tags" Target="../tags/tag288.xml" /><Relationship Id="rId19" Type="http://schemas.openxmlformats.org/officeDocument/2006/relationships/tags" Target="../tags/tag289.xml" /><Relationship Id="rId2" Type="http://schemas.openxmlformats.org/officeDocument/2006/relationships/tags" Target="../tags/tag272.xml" /><Relationship Id="rId20" Type="http://schemas.openxmlformats.org/officeDocument/2006/relationships/tags" Target="../tags/tag290.xml" /><Relationship Id="rId21" Type="http://schemas.openxmlformats.org/officeDocument/2006/relationships/tags" Target="../tags/tag291.xml" /><Relationship Id="rId22" Type="http://schemas.openxmlformats.org/officeDocument/2006/relationships/tags" Target="../tags/tag292.xml" /><Relationship Id="rId23" Type="http://schemas.openxmlformats.org/officeDocument/2006/relationships/tags" Target="../tags/tag293.xml" /><Relationship Id="rId24" Type="http://schemas.openxmlformats.org/officeDocument/2006/relationships/tags" Target="../tags/tag294.xml" /><Relationship Id="rId25" Type="http://schemas.openxmlformats.org/officeDocument/2006/relationships/tags" Target="../tags/tag295.xml" /><Relationship Id="rId26" Type="http://schemas.openxmlformats.org/officeDocument/2006/relationships/tags" Target="../tags/tag296.xml" /><Relationship Id="rId27" Type="http://schemas.openxmlformats.org/officeDocument/2006/relationships/tags" Target="../tags/tag297.xml" /><Relationship Id="rId28" Type="http://schemas.openxmlformats.org/officeDocument/2006/relationships/tags" Target="../tags/tag298.xml" /><Relationship Id="rId29" Type="http://schemas.openxmlformats.org/officeDocument/2006/relationships/tags" Target="../tags/tag299.xml" /><Relationship Id="rId3" Type="http://schemas.openxmlformats.org/officeDocument/2006/relationships/tags" Target="../tags/tag273.xml" /><Relationship Id="rId30" Type="http://schemas.openxmlformats.org/officeDocument/2006/relationships/tags" Target="../tags/tag300.xml" /><Relationship Id="rId31" Type="http://schemas.openxmlformats.org/officeDocument/2006/relationships/tags" Target="../tags/tag301.xml" /><Relationship Id="rId32" Type="http://schemas.openxmlformats.org/officeDocument/2006/relationships/tags" Target="../tags/tag302.xml" /><Relationship Id="rId33" Type="http://schemas.openxmlformats.org/officeDocument/2006/relationships/tags" Target="../tags/tag303.xml" /><Relationship Id="rId34" Type="http://schemas.openxmlformats.org/officeDocument/2006/relationships/tags" Target="../tags/tag304.xml" /><Relationship Id="rId35" Type="http://schemas.openxmlformats.org/officeDocument/2006/relationships/tags" Target="../tags/tag305.xml" /><Relationship Id="rId36" Type="http://schemas.openxmlformats.org/officeDocument/2006/relationships/tags" Target="../tags/tag306.xml" /><Relationship Id="rId37" Type="http://schemas.openxmlformats.org/officeDocument/2006/relationships/tags" Target="../tags/tag307.xml" /><Relationship Id="rId38" Type="http://schemas.openxmlformats.org/officeDocument/2006/relationships/tags" Target="../tags/tag308.xml" /><Relationship Id="rId39" Type="http://schemas.openxmlformats.org/officeDocument/2006/relationships/tags" Target="../tags/tag309.xml" /><Relationship Id="rId4" Type="http://schemas.openxmlformats.org/officeDocument/2006/relationships/tags" Target="../tags/tag274.xml" /><Relationship Id="rId40" Type="http://schemas.openxmlformats.org/officeDocument/2006/relationships/tags" Target="../tags/tag310.xml" /><Relationship Id="rId41" Type="http://schemas.openxmlformats.org/officeDocument/2006/relationships/tags" Target="../tags/tag311.xml" /><Relationship Id="rId42" Type="http://schemas.openxmlformats.org/officeDocument/2006/relationships/tags" Target="../tags/tag312.xml" /><Relationship Id="rId43" Type="http://schemas.openxmlformats.org/officeDocument/2006/relationships/tags" Target="../tags/tag313.xml" /><Relationship Id="rId44" Type="http://schemas.openxmlformats.org/officeDocument/2006/relationships/image" Target="../media/image9.png" /><Relationship Id="rId45" Type="http://schemas.openxmlformats.org/officeDocument/2006/relationships/tags" Target="../tags/tag314.xml" /><Relationship Id="rId46" Type="http://schemas.openxmlformats.org/officeDocument/2006/relationships/image" Target="../media/image8.png" /><Relationship Id="rId47" Type="http://schemas.openxmlformats.org/officeDocument/2006/relationships/tags" Target="../tags/tag315.xml" /><Relationship Id="rId48" Type="http://schemas.openxmlformats.org/officeDocument/2006/relationships/image" Target="../media/image7.png" /><Relationship Id="rId49" Type="http://schemas.openxmlformats.org/officeDocument/2006/relationships/tags" Target="../tags/tag316.xml" /><Relationship Id="rId5" Type="http://schemas.openxmlformats.org/officeDocument/2006/relationships/tags" Target="../tags/tag275.xml" /><Relationship Id="rId50" Type="http://schemas.openxmlformats.org/officeDocument/2006/relationships/tags" Target="../tags/tag317.xml" /><Relationship Id="rId51" Type="http://schemas.openxmlformats.org/officeDocument/2006/relationships/tags" Target="../tags/tag318.xml" /><Relationship Id="rId6" Type="http://schemas.openxmlformats.org/officeDocument/2006/relationships/tags" Target="../tags/tag276.xml" /><Relationship Id="rId7" Type="http://schemas.openxmlformats.org/officeDocument/2006/relationships/tags" Target="../tags/tag277.xml" /><Relationship Id="rId8" Type="http://schemas.openxmlformats.org/officeDocument/2006/relationships/tags" Target="../tags/tag278.xml" /><Relationship Id="rId9" Type="http://schemas.openxmlformats.org/officeDocument/2006/relationships/tags" Target="../tags/tag279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10" Type="http://schemas.openxmlformats.org/officeDocument/2006/relationships/tags" Target="../tags/tag327.xml" /><Relationship Id="rId11" Type="http://schemas.openxmlformats.org/officeDocument/2006/relationships/tags" Target="../tags/tag328.xml" /><Relationship Id="rId2" Type="http://schemas.openxmlformats.org/officeDocument/2006/relationships/tags" Target="../tags/tag319.xml" /><Relationship Id="rId3" Type="http://schemas.openxmlformats.org/officeDocument/2006/relationships/tags" Target="../tags/tag320.xml" /><Relationship Id="rId4" Type="http://schemas.openxmlformats.org/officeDocument/2006/relationships/tags" Target="../tags/tag321.xml" /><Relationship Id="rId5" Type="http://schemas.openxmlformats.org/officeDocument/2006/relationships/tags" Target="../tags/tag322.xml" /><Relationship Id="rId6" Type="http://schemas.openxmlformats.org/officeDocument/2006/relationships/tags" Target="../tags/tag323.xml" /><Relationship Id="rId7" Type="http://schemas.openxmlformats.org/officeDocument/2006/relationships/tags" Target="../tags/tag324.xml" /><Relationship Id="rId8" Type="http://schemas.openxmlformats.org/officeDocument/2006/relationships/tags" Target="../tags/tag325.xml" /><Relationship Id="rId9" Type="http://schemas.openxmlformats.org/officeDocument/2006/relationships/tags" Target="../tags/tag326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ags" Target="../tags/tag329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ags" Target="../tags/tag330.xml" /><Relationship Id="rId3" Type="http://schemas.openxmlformats.org/officeDocument/2006/relationships/image" Target="../media/image10.png" /><Relationship Id="rId4" Type="http://schemas.openxmlformats.org/officeDocument/2006/relationships/tags" Target="../tags/tag331.xml" /><Relationship Id="rId5" Type="http://schemas.openxmlformats.org/officeDocument/2006/relationships/tags" Target="../tags/tag332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Relationship Id="rId3" Type="http://schemas.openxmlformats.org/officeDocument/2006/relationships/tags" Target="../tags/tag333.xml" /><Relationship Id="rId4" Type="http://schemas.openxmlformats.org/officeDocument/2006/relationships/tags" Target="../tags/tag334.xml" /><Relationship Id="rId5" Type="http://schemas.openxmlformats.org/officeDocument/2006/relationships/oleObject" Target="../embeddings/oleObject1.bin" TargetMode="Internal" /><Relationship Id="rId6" Type="http://schemas.openxmlformats.org/officeDocument/2006/relationships/image" Target="../media/image12.wmf" /><Relationship Id="rId7" Type="http://schemas.openxmlformats.org/officeDocument/2006/relationships/tags" Target="../tags/tag335.xml" /><Relationship Id="rId8" Type="http://schemas.openxmlformats.org/officeDocument/2006/relationships/vmlDrawing" Target="../drawings/vmlDrawing1.v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ags" Target="../tags/tag336.xml" /><Relationship Id="rId3" Type="http://schemas.openxmlformats.org/officeDocument/2006/relationships/image" Target="../media/image13.png" /><Relationship Id="rId4" Type="http://schemas.openxmlformats.org/officeDocument/2006/relationships/tags" Target="../tags/tag337.xml" /><Relationship Id="rId5" Type="http://schemas.openxmlformats.org/officeDocument/2006/relationships/tags" Target="../tags/tag338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Relationship Id="rId3" Type="http://schemas.openxmlformats.org/officeDocument/2006/relationships/tags" Target="../tags/tag339.xml" /><Relationship Id="rId4" Type="http://schemas.openxmlformats.org/officeDocument/2006/relationships/tags" Target="../tags/tag340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ags" Target="../tags/tag341.xml" /><Relationship Id="rId3" Type="http://schemas.openxmlformats.org/officeDocument/2006/relationships/image" Target="../media/image15.png" /><Relationship Id="rId4" Type="http://schemas.openxmlformats.org/officeDocument/2006/relationships/tags" Target="../tags/tag342.xml" /><Relationship Id="rId5" Type="http://schemas.openxmlformats.org/officeDocument/2006/relationships/image" Target="../media/image16.png" /><Relationship Id="rId6" Type="http://schemas.openxmlformats.org/officeDocument/2006/relationships/tags" Target="../tags/tag343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Relationship Id="rId3" Type="http://schemas.openxmlformats.org/officeDocument/2006/relationships/tags" Target="../tags/tag344.xml" /><Relationship Id="rId4" Type="http://schemas.openxmlformats.org/officeDocument/2006/relationships/tags" Target="../tags/tag345.xml" /><Relationship Id="rId5" Type="http://schemas.openxmlformats.org/officeDocument/2006/relationships/oleObject" Target="../embeddings/oleObject2.bin" TargetMode="Internal" /><Relationship Id="rId6" Type="http://schemas.openxmlformats.org/officeDocument/2006/relationships/image" Target="../media/image18.wmf" /><Relationship Id="rId7" Type="http://schemas.openxmlformats.org/officeDocument/2006/relationships/tags" Target="../tags/tag346.xml" /><Relationship Id="rId8" Type="http://schemas.openxmlformats.org/officeDocument/2006/relationships/vmlDrawing" Target="../drawings/vmlDrawing2.v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ags" Target="../tags/tag347.xml" /><Relationship Id="rId3" Type="http://schemas.openxmlformats.org/officeDocument/2006/relationships/image" Target="../media/image19.png" /><Relationship Id="rId4" Type="http://schemas.openxmlformats.org/officeDocument/2006/relationships/tags" Target="../tags/tag348.xml" /><Relationship Id="rId5" Type="http://schemas.openxmlformats.org/officeDocument/2006/relationships/tags" Target="../tags/tag349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Relationship Id="rId3" Type="http://schemas.openxmlformats.org/officeDocument/2006/relationships/tags" Target="../tags/tag350.xml" /><Relationship Id="rId4" Type="http://schemas.openxmlformats.org/officeDocument/2006/relationships/image" Target="../media/image21.png" /><Relationship Id="rId5" Type="http://schemas.openxmlformats.org/officeDocument/2006/relationships/tags" Target="../tags/tag351.xml" /><Relationship Id="rId6" Type="http://schemas.openxmlformats.org/officeDocument/2006/relationships/image" Target="../media/image22.wmf" /><Relationship Id="rId7" Type="http://schemas.openxmlformats.org/officeDocument/2006/relationships/tags" Target="../tags/tag352.xml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35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7" name="文本框 6" title=""/>
          <p:cNvSpPr txBox="1"/>
          <p:nvPr/>
        </p:nvSpPr>
        <p:spPr>
          <a:xfrm>
            <a:off x="2296795" y="1800860"/>
            <a:ext cx="7334885" cy="5467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/>
            <a:r>
              <a:rPr sz="4000" cap="all">
                <a:solidFill>
                  <a:srgbClr val="38ABE3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汉仪宋韵朗黑W"/>
              </a:rPr>
              <a:t>第三章 相互作用——力</a:t>
            </a:r>
          </a:p>
        </p:txBody>
      </p:sp>
      <p:sp>
        <p:nvSpPr>
          <p:cNvPr id="13" name="文本框 12" title=""/>
          <p:cNvSpPr txBox="1"/>
          <p:nvPr/>
        </p:nvSpPr>
        <p:spPr>
          <a:xfrm>
            <a:off x="972185" y="3049905"/>
            <a:ext cx="100463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/>
            <a:r>
              <a:rPr lang="en-US" sz="6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3.5</a:t>
            </a:r>
            <a:r>
              <a:rPr lang="zh-CN" altLang="en-US" sz="6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 共点力的平衡</a:t>
            </a:r>
          </a:p>
        </p:txBody>
      </p:sp>
      <p:sp>
        <p:nvSpPr>
          <p:cNvPr id="2" name="文本框 1" title=""/>
          <p:cNvSpPr txBox="1"/>
          <p:nvPr/>
        </p:nvSpPr>
        <p:spPr>
          <a:xfrm>
            <a:off x="212090" y="245110"/>
            <a:ext cx="37357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rgbClr val="38ABE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人教版</a:t>
            </a:r>
            <a:r>
              <a:rPr lang="en-US" altLang="zh-CN" sz="2000">
                <a:solidFill>
                  <a:srgbClr val="38ABE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(2019)</a:t>
            </a:r>
            <a:r>
              <a:rPr lang="zh-CN" altLang="en-US" sz="2000">
                <a:solidFill>
                  <a:srgbClr val="38ABE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必修 第一册</a:t>
            </a:r>
          </a:p>
        </p:txBody>
      </p:sp>
      <p:sp>
        <p:nvSpPr>
          <p:cNvPr id="3" name="文本框 2" title=""/>
          <p:cNvSpPr txBox="1"/>
          <p:nvPr>
            <p:custDataLst>
              <p:tags r:id="rId2"/>
            </p:custDataLst>
          </p:nvPr>
        </p:nvSpPr>
        <p:spPr>
          <a:xfrm>
            <a:off x="4178300" y="4245610"/>
            <a:ext cx="38620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</a:t>
            </a:r>
            <a:r>
              <a:rPr lang="zh-CN" altLang="en-US"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第</a:t>
            </a:r>
            <a:r>
              <a:rPr lang="en-US" altLang="zh-CN"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</a:t>
            </a:r>
            <a:r>
              <a:rPr lang="zh-CN" altLang="en-US"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课时</a:t>
            </a:r>
            <a:r>
              <a:rPr lang="en-US" altLang="zh-CN"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)</a:t>
            </a:r>
          </a:p>
        </p:txBody>
      </p:sp>
    </p:spTree>
    <p:custDataLst>
      <p:tags r:id="rId3"/>
    </p:custData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文本框 1" title=""/>
          <p:cNvSpPr txBox="1"/>
          <p:nvPr/>
        </p:nvSpPr>
        <p:spPr>
          <a:xfrm>
            <a:off x="1547178" y="2230120"/>
            <a:ext cx="30708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cap="all">
                <a:solidFill>
                  <a:srgbClr val="38ABE3"/>
                </a:solidFill>
                <a:uFillTx/>
                <a:latin typeface="Times New Roman" panose="02020603050405020304" charset="0"/>
                <a:ea typeface="汉仪宋韵朗黑W"/>
                <a:cs typeface="Times New Roman" panose="02020603050405020304" charset="0"/>
                <a:sym typeface="汉仪宋韵朗黑W"/>
              </a:rPr>
              <a:t>D</a:t>
            </a:r>
            <a:r>
              <a:rPr sz="4000" cap="all">
                <a:solidFill>
                  <a:srgbClr val="38ABE3"/>
                </a:solidFill>
                <a:uFillTx/>
                <a:latin typeface="Times New Roman" panose="02020603050405020304" charset="0"/>
                <a:ea typeface="汉仪宋韵朗黑W"/>
                <a:cs typeface="Times New Roman" panose="02020603050405020304" charset="0"/>
                <a:sym typeface="汉仪宋韵朗黑W"/>
              </a:rPr>
              <a:t>irectory</a:t>
            </a:r>
          </a:p>
        </p:txBody>
      </p:sp>
      <p:sp>
        <p:nvSpPr>
          <p:cNvPr id="3" name="文本框 2" title=""/>
          <p:cNvSpPr txBox="1"/>
          <p:nvPr/>
        </p:nvSpPr>
        <p:spPr>
          <a:xfrm>
            <a:off x="1681798" y="2949575"/>
            <a:ext cx="280162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5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汉仪宋韵朗黑W" panose="00020600040101010101" charset="-122"/>
                <a:sym typeface="汉仪宋韵朗黑W"/>
              </a:rPr>
              <a:t>目录</a:t>
            </a:r>
          </a:p>
        </p:txBody>
      </p:sp>
      <p:sp>
        <p:nvSpPr>
          <p:cNvPr id="35" name="圆角矩形 34" title=""/>
          <p:cNvSpPr/>
          <p:nvPr/>
        </p:nvSpPr>
        <p:spPr>
          <a:xfrm>
            <a:off x="2723515" y="3745865"/>
            <a:ext cx="718185" cy="110490"/>
          </a:xfrm>
          <a:prstGeom prst="roundRect">
            <a:avLst>
              <a:gd name="adj" fmla="val 50000"/>
            </a:avLst>
          </a:prstGeom>
          <a:solidFill>
            <a:srgbClr val="0299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charset="0"/>
              <a:ea typeface="汉仪宋韵朗黑W"/>
              <a:cs typeface="Times New Roman" panose="02020603050405020304" charset="0"/>
            </a:endParaRPr>
          </a:p>
        </p:txBody>
      </p:sp>
      <p:grpSp>
        <p:nvGrpSpPr>
          <p:cNvPr id="4" name="组合 3" title=""/>
          <p:cNvGrpSpPr/>
          <p:nvPr/>
        </p:nvGrpSpPr>
        <p:grpSpPr>
          <a:xfrm>
            <a:off x="6042660" y="972185"/>
            <a:ext cx="4213860" cy="5157470"/>
            <a:chOff x="9648" y="709"/>
            <a:chExt cx="6636" cy="8122"/>
          </a:xfrm>
        </p:grpSpPr>
        <p:grpSp>
          <p:nvGrpSpPr>
            <p:cNvPr id="5" name="组合 4"/>
            <p:cNvGrpSpPr/>
            <p:nvPr/>
          </p:nvGrpSpPr>
          <p:grpSpPr>
            <a:xfrm>
              <a:off x="9648" y="709"/>
              <a:ext cx="5895" cy="5306"/>
              <a:chOff x="10004" y="2556"/>
              <a:chExt cx="5895" cy="5306"/>
            </a:xfrm>
          </p:grpSpPr>
          <p:sp>
            <p:nvSpPr>
              <p:cNvPr id="6" name="椭圆 5"/>
              <p:cNvSpPr/>
              <p:nvPr>
                <p:custDataLst>
                  <p:tags r:id="rId2"/>
                </p:custDataLst>
              </p:nvPr>
            </p:nvSpPr>
            <p:spPr>
              <a:xfrm>
                <a:off x="10005" y="5304"/>
                <a:ext cx="1026" cy="1026"/>
              </a:xfrm>
              <a:prstGeom prst="ellipse">
                <a:avLst/>
              </a:prstGeom>
              <a:solidFill>
                <a:srgbClr val="0C76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bg1"/>
                  </a:solidFill>
                  <a:cs typeface="汉仪宋韵朗黑W" panose="00020600040101010101" charset="-122"/>
                </a:endParaRPr>
              </a:p>
            </p:txBody>
          </p:sp>
          <p:sp>
            <p:nvSpPr>
              <p:cNvPr id="24" name="文本框 23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1183" y="5523"/>
                <a:ext cx="4716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800">
                    <a:ln w="0" cmpd="sng">
                      <a:noFill/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黑体" panose="02010609060101010101" charset="-122"/>
                    <a:ea typeface="黑体" panose="02010609060101010101" charset="-122"/>
                    <a:cs typeface="汉仪宋韵朗黑W" panose="00020600040101010101" charset="-122"/>
                    <a:sym typeface="+mn-ea"/>
                  </a:rPr>
                  <a:t>图解法</a:t>
                </a:r>
              </a:p>
            </p:txBody>
          </p:sp>
          <p:sp>
            <p:nvSpPr>
              <p:cNvPr id="25" name="椭圆 24"/>
              <p:cNvSpPr/>
              <p:nvPr>
                <p:custDataLst>
                  <p:tags r:id="rId4"/>
                </p:custDataLst>
              </p:nvPr>
            </p:nvSpPr>
            <p:spPr>
              <a:xfrm>
                <a:off x="10004" y="2556"/>
                <a:ext cx="1026" cy="1026"/>
              </a:xfrm>
              <a:prstGeom prst="ellipse">
                <a:avLst/>
              </a:prstGeom>
              <a:solidFill>
                <a:srgbClr val="0C76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bg1"/>
                  </a:solidFill>
                  <a:cs typeface="汉仪宋韵朗黑W" panose="00020600040101010101" charset="-122"/>
                </a:endParaRPr>
              </a:p>
            </p:txBody>
          </p:sp>
          <p:sp>
            <p:nvSpPr>
              <p:cNvPr id="27" name="文本框 26" descr="7b0a20202020227461726765744d6f64756c65223a202270726f636573734f6e6c696e65466f6e7473220a7d0a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0077" y="2704"/>
                <a:ext cx="889" cy="87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indent="0" algn="ctr" fontAlgn="auto"/>
                <a:r>
                  <a:rPr lang="en-US" altLang="zh-CN" sz="2400">
                    <a:solidFill>
                      <a:schemeClr val="bg1"/>
                    </a:solidFill>
                    <a:latin typeface="Times New Roman" panose="02020603050405020304" charset="0"/>
                    <a:ea typeface="汉仪宋韵朗黑W"/>
                    <a:cs typeface="Times New Roman" panose="02020603050405020304" charset="0"/>
                    <a:sym typeface="汉仪宋韵朗黑W"/>
                  </a:rPr>
                  <a:t>01</a:t>
                </a:r>
              </a:p>
            </p:txBody>
          </p:sp>
          <p:sp>
            <p:nvSpPr>
              <p:cNvPr id="28" name="文本框 27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1183" y="2690"/>
                <a:ext cx="3989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800">
                    <a:ln w="0" cmpd="sng">
                      <a:noFill/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黑体" panose="02010609060101010101" charset="-122"/>
                    <a:ea typeface="黑体" panose="02010609060101010101" charset="-122"/>
                    <a:cs typeface="汉仪宋韵朗黑W" panose="00020600040101010101" charset="-122"/>
                    <a:sym typeface="+mn-ea"/>
                  </a:rPr>
                  <a:t>新课引入</a:t>
                </a:r>
              </a:p>
            </p:txBody>
          </p:sp>
          <p:sp>
            <p:nvSpPr>
              <p:cNvPr id="29" name="文本框 28" descr="7b0a20202020227461726765744d6f64756c65223a202270726f636573734f6e6c696e65466f6e7473220a7d0a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0068" y="5440"/>
                <a:ext cx="889" cy="87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indent="0" algn="ctr" fontAlgn="auto"/>
                <a:r>
                  <a:rPr lang="en-US" altLang="zh-CN" sz="2400">
                    <a:solidFill>
                      <a:schemeClr val="bg1"/>
                    </a:solidFill>
                    <a:latin typeface="Times New Roman" panose="02020603050405020304" charset="0"/>
                    <a:ea typeface="汉仪宋韵朗黑W"/>
                    <a:cs typeface="Times New Roman" panose="02020603050405020304" charset="0"/>
                    <a:sym typeface="汉仪宋韵朗黑W"/>
                  </a:rPr>
                  <a:t>03</a:t>
                </a:r>
              </a:p>
            </p:txBody>
          </p:sp>
          <p:sp>
            <p:nvSpPr>
              <p:cNvPr id="30" name="椭圆 29"/>
              <p:cNvSpPr/>
              <p:nvPr>
                <p:custDataLst>
                  <p:tags r:id="rId8"/>
                </p:custDataLst>
              </p:nvPr>
            </p:nvSpPr>
            <p:spPr>
              <a:xfrm>
                <a:off x="10004" y="3856"/>
                <a:ext cx="1026" cy="1026"/>
              </a:xfrm>
              <a:prstGeom prst="ellipse">
                <a:avLst/>
              </a:prstGeom>
              <a:solidFill>
                <a:srgbClr val="0C76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bg1"/>
                  </a:solidFill>
                  <a:cs typeface="汉仪宋韵朗黑W" panose="00020600040101010101" charset="-122"/>
                </a:endParaRPr>
              </a:p>
            </p:txBody>
          </p:sp>
          <p:sp>
            <p:nvSpPr>
              <p:cNvPr id="31" name="文本框 30" descr="7b0a20202020227461726765744d6f64756c65223a202270726f636573734f6e6c696e65466f6e7473220a7d0a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0077" y="4004"/>
                <a:ext cx="889" cy="87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indent="0" algn="ctr" fontAlgn="auto"/>
                <a:r>
                  <a:rPr lang="en-US" altLang="zh-CN" sz="2400">
                    <a:solidFill>
                      <a:schemeClr val="bg1"/>
                    </a:solidFill>
                    <a:latin typeface="Times New Roman" panose="02020603050405020304" charset="0"/>
                    <a:ea typeface="汉仪宋韵朗黑W"/>
                    <a:cs typeface="Times New Roman" panose="02020603050405020304" charset="0"/>
                    <a:sym typeface="汉仪宋韵朗黑W"/>
                  </a:rPr>
                  <a:t>02</a:t>
                </a:r>
              </a:p>
            </p:txBody>
          </p:sp>
          <p:sp>
            <p:nvSpPr>
              <p:cNvPr id="32" name="文本框 31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1183" y="4004"/>
                <a:ext cx="4502" cy="87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/>
                <a:r>
                  <a:rPr lang="zh-CN" altLang="en-US" sz="2800">
                    <a:ln w="0" cmpd="sng">
                      <a:noFill/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黑体" panose="02010609060101010101" charset="-122"/>
                    <a:ea typeface="黑体" panose="02010609060101010101" charset="-122"/>
                    <a:cs typeface="汉仪宋韵朗黑W" panose="00020600040101010101" charset="-122"/>
                    <a:sym typeface="+mn-ea"/>
                  </a:rPr>
                  <a:t>解析法</a:t>
                </a:r>
              </a:p>
            </p:txBody>
          </p:sp>
          <p:sp>
            <p:nvSpPr>
              <p:cNvPr id="33" name="椭圆 32"/>
              <p:cNvSpPr/>
              <p:nvPr>
                <p:custDataLst>
                  <p:tags r:id="rId11"/>
                </p:custDataLst>
              </p:nvPr>
            </p:nvSpPr>
            <p:spPr>
              <a:xfrm>
                <a:off x="10004" y="6828"/>
                <a:ext cx="1026" cy="1026"/>
              </a:xfrm>
              <a:prstGeom prst="ellipse">
                <a:avLst/>
              </a:prstGeom>
              <a:solidFill>
                <a:srgbClr val="0C76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bg1"/>
                  </a:solidFill>
                  <a:cs typeface="汉仪宋韵朗黑W" panose="00020600040101010101" charset="-122"/>
                </a:endParaRPr>
              </a:p>
            </p:txBody>
          </p:sp>
          <p:sp>
            <p:nvSpPr>
              <p:cNvPr id="34" name="文本框 33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1183" y="7040"/>
                <a:ext cx="4716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800">
                    <a:ln w="0" cmpd="sng">
                      <a:noFill/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黑体" panose="02010609060101010101" charset="-122"/>
                    <a:ea typeface="黑体" panose="02010609060101010101" charset="-122"/>
                    <a:cs typeface="汉仪宋韵朗黑W" panose="00020600040101010101" charset="-122"/>
                    <a:sym typeface="+mn-ea"/>
                  </a:rPr>
                  <a:t>相似三角形法</a:t>
                </a:r>
              </a:p>
            </p:txBody>
          </p:sp>
          <p:sp>
            <p:nvSpPr>
              <p:cNvPr id="36" name="文本框 35" descr="7b0a20202020227461726765744d6f64756c65223a202270726f636573734f6e6c696e65466f6e7473220a7d0a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0077" y="6952"/>
                <a:ext cx="889" cy="87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indent="0" algn="ctr" fontAlgn="auto"/>
                <a:r>
                  <a:rPr lang="en-US" altLang="zh-CN" sz="2400">
                    <a:solidFill>
                      <a:schemeClr val="bg1"/>
                    </a:solidFill>
                    <a:latin typeface="Times New Roman" panose="02020603050405020304" charset="0"/>
                    <a:ea typeface="汉仪宋韵朗黑W"/>
                    <a:cs typeface="Times New Roman" panose="02020603050405020304" charset="0"/>
                    <a:sym typeface="汉仪宋韵朗黑W"/>
                  </a:rPr>
                  <a:t>04</a:t>
                </a:r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9669" y="6391"/>
              <a:ext cx="5874" cy="1026"/>
              <a:chOff x="9895" y="8869"/>
              <a:chExt cx="5874" cy="1026"/>
            </a:xfrm>
          </p:grpSpPr>
          <p:sp>
            <p:nvSpPr>
              <p:cNvPr id="38" name="椭圆 37"/>
              <p:cNvSpPr/>
              <p:nvPr>
                <p:custDataLst>
                  <p:tags r:id="rId14"/>
                </p:custDataLst>
              </p:nvPr>
            </p:nvSpPr>
            <p:spPr>
              <a:xfrm>
                <a:off x="9895" y="8869"/>
                <a:ext cx="1026" cy="1026"/>
              </a:xfrm>
              <a:prstGeom prst="ellipse">
                <a:avLst/>
              </a:prstGeom>
              <a:solidFill>
                <a:srgbClr val="0C76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bg1"/>
                  </a:solidFill>
                  <a:cs typeface="汉仪宋韵朗黑W" panose="00020600040101010101" charset="-122"/>
                </a:endParaRPr>
              </a:p>
            </p:txBody>
          </p:sp>
          <p:sp>
            <p:nvSpPr>
              <p:cNvPr id="39" name="文本框 38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11053" y="9007"/>
                <a:ext cx="4716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800">
                    <a:ln w="0" cmpd="sng">
                      <a:noFill/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黑体" panose="02010609060101010101" charset="-122"/>
                    <a:ea typeface="黑体" panose="02010609060101010101" charset="-122"/>
                    <a:cs typeface="汉仪宋韵朗黑W" panose="00020600040101010101" charset="-122"/>
                    <a:sym typeface="+mn-ea"/>
                  </a:rPr>
                  <a:t>拉密定理法</a:t>
                </a:r>
              </a:p>
            </p:txBody>
          </p:sp>
          <p:sp>
            <p:nvSpPr>
              <p:cNvPr id="40" name="文本框 39" descr="7b0a20202020227461726765744d6f64756c65223a202270726f636573734f6e6c696e65466f6e7473220a7d0a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9942" y="9017"/>
                <a:ext cx="889" cy="87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indent="0" algn="ctr" fontAlgn="auto"/>
                <a:r>
                  <a:rPr lang="en-US" altLang="zh-CN" sz="2400">
                    <a:solidFill>
                      <a:schemeClr val="bg1"/>
                    </a:solidFill>
                    <a:latin typeface="Times New Roman" panose="02020603050405020304" charset="0"/>
                    <a:ea typeface="汉仪宋韵朗黑W"/>
                    <a:cs typeface="Times New Roman" panose="02020603050405020304" charset="0"/>
                    <a:sym typeface="汉仪宋韵朗黑W"/>
                  </a:rPr>
                  <a:t>05</a:t>
                </a:r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9669" y="7805"/>
              <a:ext cx="6615" cy="1026"/>
              <a:chOff x="9968" y="8784"/>
              <a:chExt cx="6615" cy="1026"/>
            </a:xfrm>
          </p:grpSpPr>
          <p:sp>
            <p:nvSpPr>
              <p:cNvPr id="42" name="椭圆 41"/>
              <p:cNvSpPr/>
              <p:nvPr>
                <p:custDataLst>
                  <p:tags r:id="rId17"/>
                </p:custDataLst>
              </p:nvPr>
            </p:nvSpPr>
            <p:spPr>
              <a:xfrm>
                <a:off x="9968" y="8784"/>
                <a:ext cx="1026" cy="1026"/>
              </a:xfrm>
              <a:prstGeom prst="ellipse">
                <a:avLst/>
              </a:prstGeom>
              <a:solidFill>
                <a:srgbClr val="0C76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bg1"/>
                  </a:solidFill>
                  <a:cs typeface="汉仪宋韵朗黑W" panose="00020600040101010101" charset="-122"/>
                </a:endParaRPr>
              </a:p>
            </p:txBody>
          </p:sp>
          <p:sp>
            <p:nvSpPr>
              <p:cNvPr id="43" name="文本框 42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11126" y="8988"/>
                <a:ext cx="5457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800">
                    <a:ln w="0" cmpd="sng">
                      <a:noFill/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黑体" panose="02010609060101010101" charset="-122"/>
                    <a:ea typeface="黑体" panose="02010609060101010101" charset="-122"/>
                    <a:cs typeface="汉仪宋韵朗黑W" panose="00020600040101010101" charset="-122"/>
                    <a:sym typeface="+mn-ea"/>
                  </a:rPr>
                  <a:t>课堂练习</a:t>
                </a:r>
              </a:p>
            </p:txBody>
          </p:sp>
          <p:sp>
            <p:nvSpPr>
              <p:cNvPr id="44" name="文本框 43" descr="7b0a20202020227461726765744d6f64756c65223a202270726f636573734f6e6c696e65466f6e7473220a7d0a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10015" y="8932"/>
                <a:ext cx="889" cy="87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indent="0" algn="ctr" fontAlgn="auto"/>
                <a:r>
                  <a:rPr lang="en-US" altLang="zh-CN" sz="2400">
                    <a:solidFill>
                      <a:schemeClr val="bg1"/>
                    </a:solidFill>
                    <a:latin typeface="Times New Roman" panose="02020603050405020304" charset="0"/>
                    <a:ea typeface="汉仪宋韵朗黑W"/>
                    <a:cs typeface="Times New Roman" panose="02020603050405020304" charset="0"/>
                    <a:sym typeface="汉仪宋韵朗黑W"/>
                  </a:rPr>
                  <a:t>06</a:t>
                </a:r>
              </a:p>
            </p:txBody>
          </p:sp>
        </p:grpSp>
      </p:grpSp>
    </p:spTree>
    <p:custDataLst>
      <p:tags r:id="rId20"/>
    </p:custData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文本框 1" title=""/>
          <p:cNvSpPr txBox="1"/>
          <p:nvPr/>
        </p:nvSpPr>
        <p:spPr>
          <a:xfrm>
            <a:off x="4179570" y="1863090"/>
            <a:ext cx="38328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000" cap="all">
                <a:solidFill>
                  <a:srgbClr val="38ABE3">
                    <a:alpha val="12000"/>
                  </a:srgbClr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conclusion</a:t>
            </a:r>
          </a:p>
        </p:txBody>
      </p:sp>
      <p:sp>
        <p:nvSpPr>
          <p:cNvPr id="4" name="圆角矩形 3" title=""/>
          <p:cNvSpPr/>
          <p:nvPr/>
        </p:nvSpPr>
        <p:spPr>
          <a:xfrm>
            <a:off x="5095240" y="2211705"/>
            <a:ext cx="2001520" cy="488950"/>
          </a:xfrm>
          <a:prstGeom prst="roundRect">
            <a:avLst>
              <a:gd name="adj" fmla="val 50000"/>
            </a:avLst>
          </a:prstGeom>
          <a:solidFill>
            <a:srgbClr val="38AB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3" name="文本框 12" title=""/>
          <p:cNvSpPr txBox="1"/>
          <p:nvPr/>
        </p:nvSpPr>
        <p:spPr>
          <a:xfrm>
            <a:off x="4179570" y="3022600"/>
            <a:ext cx="389128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/>
            <a:r>
              <a:rPr lang="zh-CN" altLang="en-US" sz="6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汉仪宋韵朗黑W" panose="00020600040101010101" charset="-122"/>
                <a:sym typeface="汉仪宋韵朗黑W"/>
              </a:rPr>
              <a:t>新课引入</a:t>
            </a:r>
          </a:p>
        </p:txBody>
      </p:sp>
      <p:sp>
        <p:nvSpPr>
          <p:cNvPr id="14" name="文本框 13" title=""/>
          <p:cNvSpPr txBox="1"/>
          <p:nvPr/>
        </p:nvSpPr>
        <p:spPr>
          <a:xfrm>
            <a:off x="5526405" y="2211705"/>
            <a:ext cx="119316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01</a:t>
            </a:r>
          </a:p>
        </p:txBody>
      </p:sp>
    </p:spTree>
    <p:custDataLst>
      <p:tags r:id="rId2"/>
    </p:custDataLst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7" name="文本框 26" title=""/>
          <p:cNvSpPr txBox="1"/>
          <p:nvPr>
            <p:custDataLst>
              <p:tags r:id="rId2"/>
            </p:custDataLst>
          </p:nvPr>
        </p:nvSpPr>
        <p:spPr>
          <a:xfrm>
            <a:off x="230505" y="200025"/>
            <a:ext cx="796036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观察与思考</a:t>
            </a:r>
          </a:p>
        </p:txBody>
      </p:sp>
      <p:pic>
        <p:nvPicPr>
          <p:cNvPr id="2" name="动态平衡演示1" title="">
            <a:hlinkClick action="ppaction://media"/>
          </p:cNvPr>
          <p:cNvPicPr/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335010" y="0"/>
            <a:ext cx="3857625" cy="6858000"/>
          </a:xfrm>
          <a:prstGeom prst="rect">
            <a:avLst/>
          </a:prstGeom>
        </p:spPr>
      </p:pic>
      <p:sp>
        <p:nvSpPr>
          <p:cNvPr id="12" name="Text Box 11" title=""/>
          <p:cNvSpPr txBox="1"/>
          <p:nvPr>
            <p:custDataLst>
              <p:tags r:id="rId6"/>
            </p:custDataLst>
          </p:nvPr>
        </p:nvSpPr>
        <p:spPr>
          <a:xfrm>
            <a:off x="260350" y="922655"/>
            <a:ext cx="7500620" cy="154813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en-US" sz="3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(1)</a:t>
            </a:r>
            <a:r>
              <a:rPr lang="zh-CN" altLang="en-US" sz="3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在缓慢移动绳子的一个端点时，你观察到了什么现象？</a:t>
            </a:r>
          </a:p>
        </p:txBody>
      </p:sp>
      <p:sp>
        <p:nvSpPr>
          <p:cNvPr id="4" name="Text Box 11" title=""/>
          <p:cNvSpPr txBox="1"/>
          <p:nvPr>
            <p:custDataLst>
              <p:tags r:id="rId7"/>
            </p:custDataLst>
          </p:nvPr>
        </p:nvSpPr>
        <p:spPr>
          <a:xfrm>
            <a:off x="260350" y="3599815"/>
            <a:ext cx="7635240" cy="153098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en-US" sz="3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(2)</a:t>
            </a:r>
            <a:r>
              <a:rPr lang="zh-CN" altLang="en-US" sz="3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根据你上节课所学的共点力平衡知识，你怎么解释这一现象？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 nodeType="clickPar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>
                <p:cTn id="18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12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7" name="文本框 26" title=""/>
          <p:cNvSpPr txBox="1"/>
          <p:nvPr>
            <p:custDataLst>
              <p:tags r:id="rId2"/>
            </p:custDataLst>
          </p:nvPr>
        </p:nvSpPr>
        <p:spPr>
          <a:xfrm>
            <a:off x="230505" y="200025"/>
            <a:ext cx="796036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动态平衡状态定义</a:t>
            </a:r>
          </a:p>
        </p:txBody>
      </p:sp>
      <p:sp>
        <p:nvSpPr>
          <p:cNvPr id="12" name="Text Box 11" title=""/>
          <p:cNvSpPr txBox="1"/>
          <p:nvPr/>
        </p:nvSpPr>
        <p:spPr>
          <a:xfrm>
            <a:off x="432435" y="2005330"/>
            <a:ext cx="11327765" cy="250634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物体受到的共点力中有几个力会发生</a:t>
            </a:r>
            <a:r>
              <a:rPr lang="en-US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</a:t>
            </a:r>
            <a:r>
              <a:rPr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缓慢</a:t>
            </a:r>
            <a:r>
              <a:rPr lang="en-US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r>
              <a:rPr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变化，而变化过程中物体始终处于</a:t>
            </a:r>
            <a:r>
              <a:rPr lang="zh-CN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一种</a:t>
            </a:r>
            <a:r>
              <a:rPr lang="en-US" altLang="zh-CN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</a:t>
            </a:r>
            <a:r>
              <a:rPr lang="zh-CN" altLang="en-US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动态</a:t>
            </a:r>
            <a:r>
              <a:rPr lang="en-US" altLang="zh-CN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r>
              <a:rPr lang="zh-CN" altLang="en-US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</a:t>
            </a:r>
            <a:r>
              <a:rPr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平衡状态</a:t>
            </a:r>
            <a:r>
              <a:rPr lang="zh-CN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中，我们把这样的状态称为</a:t>
            </a:r>
            <a:r>
              <a:rPr lang="zh-CN" sz="3600">
                <a:solidFill>
                  <a:srgbClr val="0C76B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动态平衡状态</a:t>
            </a:r>
            <a:r>
              <a:rPr lang="zh-CN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文本框 1" title=""/>
          <p:cNvSpPr txBox="1"/>
          <p:nvPr/>
        </p:nvSpPr>
        <p:spPr>
          <a:xfrm>
            <a:off x="4179570" y="1863090"/>
            <a:ext cx="38328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000" cap="all">
                <a:solidFill>
                  <a:srgbClr val="38ABE3">
                    <a:alpha val="12000"/>
                  </a:srgbClr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conclusion</a:t>
            </a:r>
          </a:p>
        </p:txBody>
      </p:sp>
      <p:sp>
        <p:nvSpPr>
          <p:cNvPr id="4" name="圆角矩形 3" title=""/>
          <p:cNvSpPr/>
          <p:nvPr/>
        </p:nvSpPr>
        <p:spPr>
          <a:xfrm>
            <a:off x="5095240" y="2211705"/>
            <a:ext cx="2001520" cy="488950"/>
          </a:xfrm>
          <a:prstGeom prst="roundRect">
            <a:avLst>
              <a:gd name="adj" fmla="val 50000"/>
            </a:avLst>
          </a:prstGeom>
          <a:solidFill>
            <a:srgbClr val="38AB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3" name="文本框 12" title=""/>
          <p:cNvSpPr txBox="1"/>
          <p:nvPr/>
        </p:nvSpPr>
        <p:spPr>
          <a:xfrm>
            <a:off x="3637280" y="3022600"/>
            <a:ext cx="488569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/>
            <a:r>
              <a:rPr lang="zh-CN" altLang="en-US" sz="6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汉仪宋韵朗黑W" panose="00020600040101010101" charset="-122"/>
                <a:sym typeface="汉仪宋韵朗黑W"/>
              </a:rPr>
              <a:t>解析法</a:t>
            </a:r>
          </a:p>
        </p:txBody>
      </p:sp>
      <p:sp>
        <p:nvSpPr>
          <p:cNvPr id="14" name="文本框 13" title=""/>
          <p:cNvSpPr txBox="1"/>
          <p:nvPr/>
        </p:nvSpPr>
        <p:spPr>
          <a:xfrm>
            <a:off x="5526405" y="2211705"/>
            <a:ext cx="119316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02</a:t>
            </a:r>
          </a:p>
        </p:txBody>
      </p:sp>
    </p:spTree>
    <p:custDataLst>
      <p:tags r:id="rId2"/>
    </p:custDataLst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7" name="文本框 26" title=""/>
          <p:cNvSpPr txBox="1"/>
          <p:nvPr>
            <p:custDataLst>
              <p:tags r:id="rId2"/>
            </p:custDataLst>
          </p:nvPr>
        </p:nvSpPr>
        <p:spPr>
          <a:xfrm>
            <a:off x="230505" y="200025"/>
            <a:ext cx="796036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一、典例解析</a:t>
            </a:r>
          </a:p>
        </p:txBody>
      </p:sp>
      <p:sp>
        <p:nvSpPr>
          <p:cNvPr id="12" name="Text Box 11" title=""/>
          <p:cNvSpPr txBox="1"/>
          <p:nvPr/>
        </p:nvSpPr>
        <p:spPr>
          <a:xfrm>
            <a:off x="432435" y="974725"/>
            <a:ext cx="11327765" cy="140271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例1：如图所示，两根轻绳一端系于结点O，另一端分别系于固定圆环上的A、B两点，O为圆心。O点下面悬挂一重为G的物体M，绳OA水平。</a:t>
            </a:r>
          </a:p>
        </p:txBody>
      </p:sp>
      <p:sp>
        <p:nvSpPr>
          <p:cNvPr id="6153" name="Rectangle 24" title=""/>
          <p:cNvSpPr/>
          <p:nvPr>
            <p:custDataLst>
              <p:tags r:id="rId3"/>
            </p:custDataLst>
          </p:nvPr>
        </p:nvSpPr>
        <p:spPr>
          <a:xfrm>
            <a:off x="432435" y="2541270"/>
            <a:ext cx="7042785" cy="114998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(1)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当细绳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OB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与竖直方向成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θ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角时，两细绳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OA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、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OB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的拉力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F</a:t>
            </a:r>
            <a:r>
              <a:rPr lang="en-US" altLang="zh-CN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、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F</a:t>
            </a:r>
            <a:r>
              <a:rPr lang="en-US" altLang="zh-CN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B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分别是多大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? </a:t>
            </a:r>
          </a:p>
        </p:txBody>
      </p:sp>
      <p:sp>
        <p:nvSpPr>
          <p:cNvPr id="6146" name="Rectangle 7" title=""/>
          <p:cNvSpPr/>
          <p:nvPr>
            <p:custDataLst>
              <p:tags r:id="rId4"/>
            </p:custDataLst>
          </p:nvPr>
        </p:nvSpPr>
        <p:spPr>
          <a:xfrm>
            <a:off x="512445" y="4088130"/>
            <a:ext cx="6798310" cy="18383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(2)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保持O点和细绳O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的位置，使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B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点沿圆环支架顺时转到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B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ˊ的过程中，细绳OA及细绳OB的拉力如何变化? </a:t>
            </a:r>
          </a:p>
        </p:txBody>
      </p:sp>
      <p:grpSp>
        <p:nvGrpSpPr>
          <p:cNvPr id="17" name="组合 16" title=""/>
          <p:cNvGrpSpPr/>
          <p:nvPr/>
        </p:nvGrpSpPr>
        <p:grpSpPr>
          <a:xfrm>
            <a:off x="7494270" y="2595880"/>
            <a:ext cx="3958590" cy="3255645"/>
            <a:chOff x="8564" y="3965"/>
            <a:chExt cx="6234" cy="5127"/>
          </a:xfrm>
        </p:grpSpPr>
        <p:grpSp>
          <p:nvGrpSpPr>
            <p:cNvPr id="2" name="组合 1"/>
            <p:cNvGrpSpPr/>
            <p:nvPr/>
          </p:nvGrpSpPr>
          <p:grpSpPr>
            <a:xfrm>
              <a:off x="8564" y="3965"/>
              <a:ext cx="5531" cy="5127"/>
              <a:chOff x="8143" y="3730"/>
              <a:chExt cx="5531" cy="5127"/>
            </a:xfrm>
          </p:grpSpPr>
          <p:cxnSp>
            <p:nvCxnSpPr>
              <p:cNvPr id="3" name="直接连接符 2"/>
              <p:cNvCxnSpPr>
                <a:stCxn id="5" idx="2"/>
              </p:cNvCxnSpPr>
              <p:nvPr>
                <p:custDataLst>
                  <p:tags r:id="rId5"/>
                </p:custDataLst>
              </p:nvPr>
            </p:nvCxnSpPr>
            <p:spPr>
              <a:xfrm>
                <a:off x="8744" y="6392"/>
                <a:ext cx="2457" cy="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直接连接符 3"/>
              <p:cNvCxnSpPr/>
              <p:nvPr>
                <p:custDataLst>
                  <p:tags r:id="rId6"/>
                </p:custDataLst>
              </p:nvPr>
            </p:nvCxnSpPr>
            <p:spPr>
              <a:xfrm flipV="1">
                <a:off x="11205" y="4349"/>
                <a:ext cx="1387" cy="2043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椭圆 4"/>
              <p:cNvSpPr/>
              <p:nvPr>
                <p:custDataLst>
                  <p:tags r:id="rId7"/>
                </p:custDataLst>
              </p:nvPr>
            </p:nvSpPr>
            <p:spPr>
              <a:xfrm>
                <a:off x="8744" y="3927"/>
                <a:ext cx="4930" cy="493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6" name="直接连接符 5"/>
              <p:cNvCxnSpPr/>
              <p:nvPr>
                <p:custDataLst>
                  <p:tags r:id="rId8"/>
                </p:custDataLst>
              </p:nvPr>
            </p:nvCxnSpPr>
            <p:spPr>
              <a:xfrm flipH="1">
                <a:off x="11211" y="6378"/>
                <a:ext cx="0" cy="100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矩形 6"/>
              <p:cNvSpPr/>
              <p:nvPr>
                <p:custDataLst>
                  <p:tags r:id="rId9"/>
                </p:custDataLst>
              </p:nvPr>
            </p:nvSpPr>
            <p:spPr>
              <a:xfrm>
                <a:off x="10915" y="7384"/>
                <a:ext cx="587" cy="554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8" name="文本框 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1151" y="6198"/>
                <a:ext cx="521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O</a:t>
                </a:r>
              </a:p>
            </p:txBody>
          </p:sp>
          <p:sp>
            <p:nvSpPr>
              <p:cNvPr id="9" name="文本框 8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8143" y="6080"/>
                <a:ext cx="521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>
                    <a:latin typeface="Times New Roman" panose="02020603050405020304" charset="0"/>
                    <a:cs typeface="Times New Roman" panose="02020603050405020304" charset="0"/>
                  </a:rPr>
                  <a:t>A</a:t>
                </a:r>
              </a:p>
            </p:txBody>
          </p:sp>
          <p:sp>
            <p:nvSpPr>
              <p:cNvPr id="10" name="文本框 9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2480" y="3730"/>
                <a:ext cx="554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>
                    <a:latin typeface="Times New Roman" panose="02020603050405020304" charset="0"/>
                    <a:cs typeface="Times New Roman" panose="02020603050405020304" charset="0"/>
                  </a:rPr>
                  <a:t>B</a:t>
                </a:r>
              </a:p>
            </p:txBody>
          </p:sp>
          <p:sp>
            <p:nvSpPr>
              <p:cNvPr id="11" name="文本框 10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0899" y="7368"/>
                <a:ext cx="58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M</a:t>
                </a:r>
              </a:p>
            </p:txBody>
          </p:sp>
        </p:grpSp>
        <p:cxnSp>
          <p:nvCxnSpPr>
            <p:cNvPr id="13" name="直接连接符 12"/>
            <p:cNvCxnSpPr/>
            <p:nvPr>
              <p:custDataLst>
                <p:tags r:id="rId14"/>
              </p:custDataLst>
            </p:nvPr>
          </p:nvCxnSpPr>
          <p:spPr>
            <a:xfrm flipH="1">
              <a:off x="13010" y="4598"/>
              <a:ext cx="0" cy="1341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弧形 13"/>
            <p:cNvSpPr/>
            <p:nvPr>
              <p:custDataLst>
                <p:tags r:id="rId15"/>
              </p:custDataLst>
            </p:nvPr>
          </p:nvSpPr>
          <p:spPr>
            <a:xfrm rot="8820000">
              <a:off x="12802" y="4657"/>
              <a:ext cx="277" cy="207"/>
            </a:xfrm>
            <a:prstGeom prst="arc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6"/>
              </p:custDataLst>
            </p:nvPr>
          </p:nvSpPr>
          <p:spPr>
            <a:xfrm>
              <a:off x="12669" y="4803"/>
              <a:ext cx="444" cy="483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sz="1400">
                  <a:latin typeface="Times New Roman" panose="02020603050405020304" charset="0"/>
                  <a:cs typeface="Times New Roman" panose="02020603050405020304" charset="0"/>
                </a:rPr>
                <a:t>θ</a:t>
              </a:r>
            </a:p>
          </p:txBody>
        </p:sp>
        <p:sp>
          <p:nvSpPr>
            <p:cNvPr id="16" name="文本框 15"/>
            <p:cNvSpPr txBox="1"/>
            <p:nvPr>
              <p:custDataLst>
                <p:tags r:id="rId17"/>
              </p:custDataLst>
            </p:nvPr>
          </p:nvSpPr>
          <p:spPr>
            <a:xfrm>
              <a:off x="13808" y="5110"/>
              <a:ext cx="990" cy="82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28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B</a:t>
              </a:r>
              <a:r>
                <a:rPr lang="zh-CN" altLang="en-US" sz="28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ˊ</a:t>
              </a:r>
              <a:endParaRPr lang="zh-CN" altLang="en-US" sz="2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7" name="文本框 26" title=""/>
          <p:cNvSpPr txBox="1"/>
          <p:nvPr>
            <p:custDataLst>
              <p:tags r:id="rId2"/>
            </p:custDataLst>
          </p:nvPr>
        </p:nvSpPr>
        <p:spPr>
          <a:xfrm>
            <a:off x="230505" y="200025"/>
            <a:ext cx="796036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思考与解析</a:t>
            </a:r>
          </a:p>
        </p:txBody>
      </p:sp>
      <p:sp>
        <p:nvSpPr>
          <p:cNvPr id="6153" name="Rectangle 24" title=""/>
          <p:cNvSpPr/>
          <p:nvPr>
            <p:custDataLst>
              <p:tags r:id="rId3"/>
            </p:custDataLst>
          </p:nvPr>
        </p:nvSpPr>
        <p:spPr>
          <a:xfrm>
            <a:off x="230505" y="868045"/>
            <a:ext cx="11618595" cy="105918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(1)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O</a:t>
            </a:r>
            <a:r>
              <a:rPr 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点受几个力的作用？并对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O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点做出受力分析。</a:t>
            </a:r>
          </a:p>
        </p:txBody>
      </p:sp>
      <p:sp>
        <p:nvSpPr>
          <p:cNvPr id="2" name="Rectangle 24" title=""/>
          <p:cNvSpPr/>
          <p:nvPr>
            <p:custDataLst>
              <p:tags r:id="rId4"/>
            </p:custDataLst>
          </p:nvPr>
        </p:nvSpPr>
        <p:spPr>
          <a:xfrm>
            <a:off x="230505" y="2369820"/>
            <a:ext cx="11618595" cy="105918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(2)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利用合成法或正交分解法求出图示位置</a:t>
            </a:r>
            <a:r>
              <a:rPr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，两细绳OA、OB的拉力F</a:t>
            </a:r>
            <a:r>
              <a:rPr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</a:t>
            </a:r>
            <a:r>
              <a:rPr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、F</a:t>
            </a:r>
            <a:r>
              <a:rPr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B</a:t>
            </a:r>
            <a:r>
              <a:rPr 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的大小是多少？</a:t>
            </a:r>
          </a:p>
        </p:txBody>
      </p:sp>
      <p:sp>
        <p:nvSpPr>
          <p:cNvPr id="6146" name="Rectangle 7" title=""/>
          <p:cNvSpPr/>
          <p:nvPr>
            <p:custDataLst>
              <p:tags r:id="rId5"/>
            </p:custDataLst>
          </p:nvPr>
        </p:nvSpPr>
        <p:spPr>
          <a:xfrm>
            <a:off x="230505" y="3997960"/>
            <a:ext cx="11617960" cy="165862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(3)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根据所求的结果，分析保持O点和细绳O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的位置，使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B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点沿圆环支架顺时转到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B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ˊ的过程中，细绳OA及细绳OB的拉力如何变化? </a:t>
            </a:r>
          </a:p>
        </p:txBody>
      </p:sp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7" name="文本框 26" title=""/>
          <p:cNvSpPr txBox="1"/>
          <p:nvPr>
            <p:custDataLst>
              <p:tags r:id="rId2"/>
            </p:custDataLst>
          </p:nvPr>
        </p:nvSpPr>
        <p:spPr>
          <a:xfrm>
            <a:off x="230505" y="200025"/>
            <a:ext cx="796036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spc="600">
                <a:solidFill>
                  <a:srgbClr val="0C76B2"/>
                </a:solidFill>
                <a:latin typeface="Times New Roman" panose="02020603050405020304" charset="0"/>
                <a:ea typeface="黑体" panose="02010609060101010101" charset="-122"/>
                <a:cs typeface="阿里巴巴普惠体 B" panose="00020600040101010101" pitchFamily="18" charset="-122"/>
              </a:rPr>
              <a:t>二、方法小结</a:t>
            </a:r>
          </a:p>
        </p:txBody>
      </p:sp>
      <p:sp>
        <p:nvSpPr>
          <p:cNvPr id="4" name="文本框 3" title=""/>
          <p:cNvSpPr txBox="1"/>
          <p:nvPr>
            <p:custDataLst>
              <p:tags r:id="rId3"/>
            </p:custDataLst>
          </p:nvPr>
        </p:nvSpPr>
        <p:spPr>
          <a:xfrm>
            <a:off x="307975" y="1674495"/>
            <a:ext cx="22790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1.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受力特点</a:t>
            </a:r>
          </a:p>
        </p:txBody>
      </p:sp>
      <p:sp>
        <p:nvSpPr>
          <p:cNvPr id="3" name="左大括号 2" title=""/>
          <p:cNvSpPr/>
          <p:nvPr>
            <p:custDataLst>
              <p:tags r:id="rId4"/>
            </p:custDataLst>
          </p:nvPr>
        </p:nvSpPr>
        <p:spPr>
          <a:xfrm>
            <a:off x="2200910" y="1269365"/>
            <a:ext cx="138430" cy="1362710"/>
          </a:xfrm>
          <a:prstGeom prst="lef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5" name="文本框 4" title=""/>
          <p:cNvSpPr txBox="1"/>
          <p:nvPr>
            <p:custDataLst>
              <p:tags r:id="rId5"/>
            </p:custDataLst>
          </p:nvPr>
        </p:nvSpPr>
        <p:spPr>
          <a:xfrm>
            <a:off x="2329180" y="1087755"/>
            <a:ext cx="40944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>
                <a:latin typeface="Times New Roman" panose="02020603050405020304" charset="0"/>
                <a:ea typeface="黑体" panose="02010609060101010101" charset="-122"/>
              </a:rPr>
              <a:t>①受三个或三个以上力；</a:t>
            </a:r>
          </a:p>
        </p:txBody>
      </p:sp>
      <p:sp>
        <p:nvSpPr>
          <p:cNvPr id="7" name="文本框 6" title=""/>
          <p:cNvSpPr txBox="1"/>
          <p:nvPr>
            <p:custDataLst>
              <p:tags r:id="rId6"/>
            </p:custDataLst>
          </p:nvPr>
        </p:nvSpPr>
        <p:spPr>
          <a:xfrm>
            <a:off x="2288540" y="2284095"/>
            <a:ext cx="40944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sym typeface="+mn-ea"/>
              </a:rPr>
              <a:t>②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</a:rPr>
              <a:t>其中某个力发生变化；</a:t>
            </a:r>
          </a:p>
        </p:txBody>
      </p:sp>
      <p:sp>
        <p:nvSpPr>
          <p:cNvPr id="8" name="文本框 7" title=""/>
          <p:cNvSpPr txBox="1"/>
          <p:nvPr>
            <p:custDataLst>
              <p:tags r:id="rId7"/>
            </p:custDataLst>
          </p:nvPr>
        </p:nvSpPr>
        <p:spPr>
          <a:xfrm>
            <a:off x="307975" y="4248785"/>
            <a:ext cx="2577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2.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分析步骤</a:t>
            </a:r>
          </a:p>
        </p:txBody>
      </p:sp>
      <p:sp>
        <p:nvSpPr>
          <p:cNvPr id="9" name="左大括号 8" title=""/>
          <p:cNvSpPr/>
          <p:nvPr>
            <p:custDataLst>
              <p:tags r:id="rId8"/>
            </p:custDataLst>
          </p:nvPr>
        </p:nvSpPr>
        <p:spPr>
          <a:xfrm>
            <a:off x="2214880" y="3797300"/>
            <a:ext cx="138430" cy="1362710"/>
          </a:xfrm>
          <a:prstGeom prst="lef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0" name="文本框 9" title=""/>
          <p:cNvSpPr txBox="1"/>
          <p:nvPr>
            <p:custDataLst>
              <p:tags r:id="rId9"/>
            </p:custDataLst>
          </p:nvPr>
        </p:nvSpPr>
        <p:spPr>
          <a:xfrm>
            <a:off x="2312670" y="3554730"/>
            <a:ext cx="62280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2800">
                <a:latin typeface="Times New Roman" panose="02020603050405020304" charset="0"/>
                <a:ea typeface="黑体" panose="02010609060101010101" charset="-122"/>
              </a:rPr>
              <a:t>①分析物体的受力，画出受力示意图；</a:t>
            </a:r>
          </a:p>
        </p:txBody>
      </p:sp>
      <p:sp>
        <p:nvSpPr>
          <p:cNvPr id="11" name="文本框 10" title=""/>
          <p:cNvSpPr txBox="1"/>
          <p:nvPr>
            <p:custDataLst>
              <p:tags r:id="rId10"/>
            </p:custDataLst>
          </p:nvPr>
        </p:nvSpPr>
        <p:spPr>
          <a:xfrm>
            <a:off x="2254250" y="4248785"/>
            <a:ext cx="100380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2800">
                <a:latin typeface="Times New Roman" panose="02020603050405020304" charset="0"/>
                <a:ea typeface="黑体" panose="02010609060101010101" charset="-122"/>
              </a:rPr>
              <a:t>②根据平衡条件，得到因变量与自变量的关系式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(通常三角函数)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</a:rPr>
              <a:t>；</a:t>
            </a:r>
          </a:p>
        </p:txBody>
      </p:sp>
      <p:sp>
        <p:nvSpPr>
          <p:cNvPr id="13" name="文本框 12" title=""/>
          <p:cNvSpPr txBox="1"/>
          <p:nvPr>
            <p:custDataLst>
              <p:tags r:id="rId11"/>
            </p:custDataLst>
          </p:nvPr>
        </p:nvSpPr>
        <p:spPr>
          <a:xfrm>
            <a:off x="2294890" y="4889500"/>
            <a:ext cx="65836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2800">
                <a:latin typeface="Times New Roman" panose="02020603050405020304" charset="0"/>
                <a:ea typeface="黑体" panose="02010609060101010101" charset="-122"/>
              </a:rPr>
              <a:t>③根据自变量的变化确定因变量的变化；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animBg="1"/>
      <p:bldP spid="5" grpId="0"/>
      <p:bldP spid="7" grpId="0"/>
      <p:bldP spid="8" grpId="0"/>
      <p:bldP spid="9" grpId="0" animBg="1"/>
      <p:bldP spid="10" grpId="0"/>
      <p:bldP spid="11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文本框 1" title=""/>
          <p:cNvSpPr txBox="1"/>
          <p:nvPr/>
        </p:nvSpPr>
        <p:spPr>
          <a:xfrm>
            <a:off x="4179570" y="1863090"/>
            <a:ext cx="38328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000" cap="all">
                <a:solidFill>
                  <a:srgbClr val="38ABE3">
                    <a:alpha val="12000"/>
                  </a:srgbClr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conclusion</a:t>
            </a:r>
          </a:p>
        </p:txBody>
      </p:sp>
      <p:sp>
        <p:nvSpPr>
          <p:cNvPr id="4" name="圆角矩形 3" title=""/>
          <p:cNvSpPr/>
          <p:nvPr/>
        </p:nvSpPr>
        <p:spPr>
          <a:xfrm>
            <a:off x="5095240" y="2211705"/>
            <a:ext cx="2001520" cy="488950"/>
          </a:xfrm>
          <a:prstGeom prst="roundRect">
            <a:avLst>
              <a:gd name="adj" fmla="val 50000"/>
            </a:avLst>
          </a:prstGeom>
          <a:solidFill>
            <a:srgbClr val="38AB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3" name="文本框 12" title=""/>
          <p:cNvSpPr txBox="1"/>
          <p:nvPr/>
        </p:nvSpPr>
        <p:spPr>
          <a:xfrm>
            <a:off x="3637280" y="3022600"/>
            <a:ext cx="488569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/>
            <a:r>
              <a:rPr lang="zh-CN" altLang="en-US" sz="6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汉仪宋韵朗黑W" panose="00020600040101010101" charset="-122"/>
                <a:sym typeface="汉仪宋韵朗黑W"/>
              </a:rPr>
              <a:t>图解法</a:t>
            </a:r>
          </a:p>
        </p:txBody>
      </p:sp>
      <p:sp>
        <p:nvSpPr>
          <p:cNvPr id="14" name="文本框 13" title=""/>
          <p:cNvSpPr txBox="1"/>
          <p:nvPr/>
        </p:nvSpPr>
        <p:spPr>
          <a:xfrm>
            <a:off x="5526405" y="2211705"/>
            <a:ext cx="119316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03</a:t>
            </a:r>
          </a:p>
        </p:txBody>
      </p:sp>
    </p:spTree>
    <p:custDataLst>
      <p:tags r:id="rId2"/>
    </p:custDataLst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7" name="文本框 26" title=""/>
          <p:cNvSpPr txBox="1"/>
          <p:nvPr>
            <p:custDataLst>
              <p:tags r:id="rId2"/>
            </p:custDataLst>
          </p:nvPr>
        </p:nvSpPr>
        <p:spPr>
          <a:xfrm>
            <a:off x="230505" y="200025"/>
            <a:ext cx="796036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一、典例解析</a:t>
            </a:r>
          </a:p>
        </p:txBody>
      </p:sp>
      <p:sp>
        <p:nvSpPr>
          <p:cNvPr id="12" name="Text Box 11" title=""/>
          <p:cNvSpPr txBox="1"/>
          <p:nvPr/>
        </p:nvSpPr>
        <p:spPr>
          <a:xfrm>
            <a:off x="432435" y="974725"/>
            <a:ext cx="11327765" cy="140271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例1：如图所示，两根轻绳一端系于结点O，另一端分别系于固定圆环上的A、B两点，O为圆心。O点下面悬挂一重为G的物体M，绳OA水平。</a:t>
            </a:r>
          </a:p>
        </p:txBody>
      </p:sp>
      <p:sp>
        <p:nvSpPr>
          <p:cNvPr id="6153" name="Rectangle 24" title=""/>
          <p:cNvSpPr/>
          <p:nvPr>
            <p:custDataLst>
              <p:tags r:id="rId3"/>
            </p:custDataLst>
          </p:nvPr>
        </p:nvSpPr>
        <p:spPr>
          <a:xfrm>
            <a:off x="391795" y="2260600"/>
            <a:ext cx="11368405" cy="12585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Autofit/>
          </a:bodyPr>
          <a:lstStyle/>
          <a:p>
            <a:pPr>
              <a:lnSpc>
                <a:spcPct val="150000"/>
              </a:lnSpc>
            </a:pPr>
            <a:r>
              <a:rPr sz="2800">
                <a:solidFill>
                  <a:srgbClr val="0C76B2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(3)保持O点和细绳OB的位置，使A点沿圆环支架顺时转到Aˊ的过程中，细绳OA及细绳OB的拉力如何变化? </a:t>
            </a:r>
          </a:p>
        </p:txBody>
      </p:sp>
      <p:grpSp>
        <p:nvGrpSpPr>
          <p:cNvPr id="18" name="组合 17" title=""/>
          <p:cNvGrpSpPr/>
          <p:nvPr/>
        </p:nvGrpSpPr>
        <p:grpSpPr>
          <a:xfrm>
            <a:off x="7748905" y="2864485"/>
            <a:ext cx="3538855" cy="3535680"/>
            <a:chOff x="8522" y="3558"/>
            <a:chExt cx="5573" cy="5568"/>
          </a:xfrm>
        </p:grpSpPr>
        <p:grpSp>
          <p:nvGrpSpPr>
            <p:cNvPr id="19" name="组合 18"/>
            <p:cNvGrpSpPr/>
            <p:nvPr/>
          </p:nvGrpSpPr>
          <p:grpSpPr>
            <a:xfrm>
              <a:off x="8522" y="3929"/>
              <a:ext cx="5573" cy="5197"/>
              <a:chOff x="8101" y="3660"/>
              <a:chExt cx="5573" cy="5197"/>
            </a:xfrm>
          </p:grpSpPr>
          <p:cxnSp>
            <p:nvCxnSpPr>
              <p:cNvPr id="20" name="直接连接符 19"/>
              <p:cNvCxnSpPr>
                <a:stCxn id="22" idx="2"/>
              </p:cNvCxnSpPr>
              <p:nvPr>
                <p:custDataLst>
                  <p:tags r:id="rId4"/>
                </p:custDataLst>
              </p:nvPr>
            </p:nvCxnSpPr>
            <p:spPr>
              <a:xfrm>
                <a:off x="8744" y="6392"/>
                <a:ext cx="2457" cy="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>
                <p:custDataLst>
                  <p:tags r:id="rId5"/>
                </p:custDataLst>
              </p:nvPr>
            </p:nvCxnSpPr>
            <p:spPr>
              <a:xfrm flipV="1">
                <a:off x="11205" y="4349"/>
                <a:ext cx="1387" cy="2043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椭圆 21"/>
              <p:cNvSpPr/>
              <p:nvPr>
                <p:custDataLst>
                  <p:tags r:id="rId6"/>
                </p:custDataLst>
              </p:nvPr>
            </p:nvSpPr>
            <p:spPr>
              <a:xfrm>
                <a:off x="8744" y="3927"/>
                <a:ext cx="4930" cy="493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3" name="直接连接符 22"/>
              <p:cNvCxnSpPr/>
              <p:nvPr>
                <p:custDataLst>
                  <p:tags r:id="rId7"/>
                </p:custDataLst>
              </p:nvPr>
            </p:nvCxnSpPr>
            <p:spPr>
              <a:xfrm flipH="1">
                <a:off x="11183" y="6378"/>
                <a:ext cx="0" cy="100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矩形 23"/>
              <p:cNvSpPr/>
              <p:nvPr>
                <p:custDataLst>
                  <p:tags r:id="rId8"/>
                </p:custDataLst>
              </p:nvPr>
            </p:nvSpPr>
            <p:spPr>
              <a:xfrm>
                <a:off x="10915" y="7384"/>
                <a:ext cx="587" cy="554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5" name="文本框 24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1109" y="6198"/>
                <a:ext cx="521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>
                    <a:latin typeface="Times New Roman" panose="02020603050405020304" charset="0"/>
                    <a:cs typeface="Times New Roman" panose="02020603050405020304" charset="0"/>
                  </a:rPr>
                  <a:t>O</a:t>
                </a:r>
              </a:p>
            </p:txBody>
          </p:sp>
          <p:sp>
            <p:nvSpPr>
              <p:cNvPr id="26" name="文本框 25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8101" y="5966"/>
                <a:ext cx="808" cy="85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2800" b="1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</a:t>
                </a:r>
              </a:p>
            </p:txBody>
          </p:sp>
          <p:sp>
            <p:nvSpPr>
              <p:cNvPr id="28" name="文本框 2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2480" y="3660"/>
                <a:ext cx="554" cy="68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2800">
                    <a:latin typeface="Times New Roman" panose="02020603050405020304" charset="0"/>
                    <a:cs typeface="Times New Roman" panose="02020603050405020304" charset="0"/>
                  </a:rPr>
                  <a:t>B</a:t>
                </a:r>
              </a:p>
            </p:txBody>
          </p:sp>
          <p:sp>
            <p:nvSpPr>
              <p:cNvPr id="29" name="文本框 2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0815" y="7250"/>
                <a:ext cx="588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>
                    <a:latin typeface="Times New Roman" panose="02020603050405020304" charset="0"/>
                    <a:cs typeface="Times New Roman" panose="02020603050405020304" charset="0"/>
                  </a:rPr>
                  <a:t>M</a:t>
                </a:r>
              </a:p>
            </p:txBody>
          </p:sp>
        </p:grpSp>
        <p:sp>
          <p:nvSpPr>
            <p:cNvPr id="30" name="文本框 29"/>
            <p:cNvSpPr txBox="1"/>
            <p:nvPr>
              <p:custDataLst>
                <p:tags r:id="rId13"/>
              </p:custDataLst>
            </p:nvPr>
          </p:nvSpPr>
          <p:spPr>
            <a:xfrm>
              <a:off x="10422" y="3558"/>
              <a:ext cx="1108" cy="10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A</a:t>
              </a:r>
              <a:r>
                <a:rPr lang="zh-CN" altLang="en-US" sz="2800" b="1">
                  <a:solidFill>
                    <a:srgbClr val="FF000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ˊ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7" name="文本框 26" title=""/>
          <p:cNvSpPr txBox="1"/>
          <p:nvPr>
            <p:custDataLst>
              <p:tags r:id="rId2"/>
            </p:custDataLst>
          </p:nvPr>
        </p:nvSpPr>
        <p:spPr>
          <a:xfrm>
            <a:off x="230505" y="200025"/>
            <a:ext cx="796036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  <a:sym typeface="+mn-ea"/>
              </a:rPr>
              <a:t>一、典例解析</a:t>
            </a:r>
            <a:endParaRPr lang="zh-CN" altLang="en-US" sz="3200" spc="600">
              <a:solidFill>
                <a:srgbClr val="0C76B2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阿里巴巴普惠体 B" panose="00020600040101010101" pitchFamily="18" charset="-122"/>
            </a:endParaRPr>
          </a:p>
        </p:txBody>
      </p:sp>
      <p:grpSp>
        <p:nvGrpSpPr>
          <p:cNvPr id="13" name="组合 12" title=""/>
          <p:cNvGrpSpPr/>
          <p:nvPr/>
        </p:nvGrpSpPr>
        <p:grpSpPr>
          <a:xfrm>
            <a:off x="3132958" y="912641"/>
            <a:ext cx="5814192" cy="5700249"/>
            <a:chOff x="8903" y="4036"/>
            <a:chExt cx="5192" cy="5090"/>
          </a:xfrm>
        </p:grpSpPr>
        <p:grpSp>
          <p:nvGrpSpPr>
            <p:cNvPr id="2" name="组合 1"/>
            <p:cNvGrpSpPr/>
            <p:nvPr/>
          </p:nvGrpSpPr>
          <p:grpSpPr>
            <a:xfrm>
              <a:off x="8903" y="4196"/>
              <a:ext cx="5192" cy="4930"/>
              <a:chOff x="8482" y="3927"/>
              <a:chExt cx="5192" cy="4930"/>
            </a:xfrm>
          </p:grpSpPr>
          <p:cxnSp>
            <p:nvCxnSpPr>
              <p:cNvPr id="3" name="直接连接符 2"/>
              <p:cNvCxnSpPr>
                <a:stCxn id="5" idx="2"/>
              </p:cNvCxnSpPr>
              <p:nvPr>
                <p:custDataLst>
                  <p:tags r:id="rId3"/>
                </p:custDataLst>
              </p:nvPr>
            </p:nvCxnSpPr>
            <p:spPr>
              <a:xfrm>
                <a:off x="8744" y="6392"/>
                <a:ext cx="2457" cy="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直接连接符 3"/>
              <p:cNvCxnSpPr/>
              <p:nvPr>
                <p:custDataLst>
                  <p:tags r:id="rId4"/>
                </p:custDataLst>
              </p:nvPr>
            </p:nvCxnSpPr>
            <p:spPr>
              <a:xfrm flipV="1">
                <a:off x="11205" y="4349"/>
                <a:ext cx="1387" cy="2043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椭圆 4"/>
              <p:cNvSpPr/>
              <p:nvPr>
                <p:custDataLst>
                  <p:tags r:id="rId5"/>
                </p:custDataLst>
              </p:nvPr>
            </p:nvSpPr>
            <p:spPr>
              <a:xfrm>
                <a:off x="8744" y="3927"/>
                <a:ext cx="4930" cy="493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6" name="直接连接符 5"/>
              <p:cNvCxnSpPr/>
              <p:nvPr>
                <p:custDataLst>
                  <p:tags r:id="rId6"/>
                </p:custDataLst>
              </p:nvPr>
            </p:nvCxnSpPr>
            <p:spPr>
              <a:xfrm flipH="1">
                <a:off x="11183" y="6378"/>
                <a:ext cx="0" cy="100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矩形 6"/>
              <p:cNvSpPr/>
              <p:nvPr>
                <p:custDataLst>
                  <p:tags r:id="rId7"/>
                </p:custDataLst>
              </p:nvPr>
            </p:nvSpPr>
            <p:spPr>
              <a:xfrm>
                <a:off x="10951" y="7384"/>
                <a:ext cx="406" cy="383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8" name="文本框 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1145" y="6297"/>
                <a:ext cx="340" cy="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O</a:t>
                </a:r>
              </a:p>
            </p:txBody>
          </p:sp>
          <p:sp>
            <p:nvSpPr>
              <p:cNvPr id="9" name="文本框 8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8482" y="6211"/>
                <a:ext cx="302" cy="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</a:t>
                </a:r>
              </a:p>
            </p:txBody>
          </p:sp>
          <p:sp>
            <p:nvSpPr>
              <p:cNvPr id="10" name="文本框 9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2552" y="4059"/>
                <a:ext cx="298" cy="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>
                    <a:latin typeface="Times New Roman" panose="02020603050405020304" charset="0"/>
                    <a:cs typeface="Times New Roman" panose="02020603050405020304" charset="0"/>
                  </a:rPr>
                  <a:t>B</a:t>
                </a:r>
              </a:p>
            </p:txBody>
          </p:sp>
          <p:sp>
            <p:nvSpPr>
              <p:cNvPr id="11" name="文本框 10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0998" y="7404"/>
                <a:ext cx="403" cy="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M</a:t>
                </a:r>
              </a:p>
            </p:txBody>
          </p:sp>
        </p:grpSp>
        <p:sp>
          <p:nvSpPr>
            <p:cNvPr id="14" name="文本框 13"/>
            <p:cNvSpPr txBox="1"/>
            <p:nvPr>
              <p:custDataLst>
                <p:tags r:id="rId12"/>
              </p:custDataLst>
            </p:nvPr>
          </p:nvSpPr>
          <p:spPr>
            <a:xfrm>
              <a:off x="10531" y="4036"/>
              <a:ext cx="557" cy="4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A</a:t>
              </a:r>
              <a:r>
                <a:rPr lang="zh-CN" altLang="en-US" sz="2000" b="1">
                  <a:solidFill>
                    <a:srgbClr val="FF000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ˊ</a:t>
              </a:r>
            </a:p>
          </p:txBody>
        </p:sp>
      </p:grpSp>
      <p:grpSp>
        <p:nvGrpSpPr>
          <p:cNvPr id="15" name="组合 14" title=""/>
          <p:cNvGrpSpPr/>
          <p:nvPr/>
        </p:nvGrpSpPr>
        <p:grpSpPr>
          <a:xfrm>
            <a:off x="5883275" y="3855720"/>
            <a:ext cx="691515" cy="2319020"/>
            <a:chOff x="10914" y="6576"/>
            <a:chExt cx="1089" cy="3652"/>
          </a:xfrm>
        </p:grpSpPr>
        <p:cxnSp>
          <p:nvCxnSpPr>
            <p:cNvPr id="16" name="直接箭头连接符 15"/>
            <p:cNvCxnSpPr/>
            <p:nvPr>
              <p:custDataLst>
                <p:tags r:id="rId13"/>
              </p:custDataLst>
            </p:nvPr>
          </p:nvCxnSpPr>
          <p:spPr>
            <a:xfrm flipH="1">
              <a:off x="11346" y="6576"/>
              <a:ext cx="0" cy="3175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>
              <p:custDataLst>
                <p:tags r:id="rId14"/>
              </p:custDataLst>
            </p:nvPr>
          </p:nvSpPr>
          <p:spPr>
            <a:xfrm>
              <a:off x="10914" y="9600"/>
              <a:ext cx="1089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F=G</a:t>
              </a:r>
            </a:p>
          </p:txBody>
        </p:sp>
      </p:grpSp>
      <p:grpSp>
        <p:nvGrpSpPr>
          <p:cNvPr id="34" name="组合 33" title=""/>
          <p:cNvGrpSpPr/>
          <p:nvPr/>
        </p:nvGrpSpPr>
        <p:grpSpPr>
          <a:xfrm>
            <a:off x="4671060" y="3855720"/>
            <a:ext cx="1461135" cy="401955"/>
            <a:chOff x="9002" y="6971"/>
            <a:chExt cx="2301" cy="633"/>
          </a:xfrm>
        </p:grpSpPr>
        <p:cxnSp>
          <p:nvCxnSpPr>
            <p:cNvPr id="31" name="直接箭头连接符 30"/>
            <p:cNvCxnSpPr/>
            <p:nvPr>
              <p:custDataLst>
                <p:tags r:id="rId15"/>
              </p:custDataLst>
            </p:nvPr>
          </p:nvCxnSpPr>
          <p:spPr>
            <a:xfrm flipH="1">
              <a:off x="9081" y="6971"/>
              <a:ext cx="2222" cy="4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/>
            <p:cNvSpPr txBox="1"/>
            <p:nvPr>
              <p:custDataLst>
                <p:tags r:id="rId16"/>
              </p:custDataLst>
            </p:nvPr>
          </p:nvSpPr>
          <p:spPr>
            <a:xfrm>
              <a:off x="9002" y="6976"/>
              <a:ext cx="80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F</a:t>
              </a:r>
              <a:r>
                <a:rPr lang="en-US" altLang="zh-CN" sz="2000" b="1" baseline="-2500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A</a:t>
              </a:r>
            </a:p>
          </p:txBody>
        </p:sp>
      </p:grpSp>
      <p:grpSp>
        <p:nvGrpSpPr>
          <p:cNvPr id="35" name="组合 34" title=""/>
          <p:cNvGrpSpPr/>
          <p:nvPr/>
        </p:nvGrpSpPr>
        <p:grpSpPr>
          <a:xfrm>
            <a:off x="6158865" y="1719699"/>
            <a:ext cx="1789430" cy="2149511"/>
            <a:chOff x="10365" y="5167"/>
            <a:chExt cx="2818" cy="2059"/>
          </a:xfrm>
        </p:grpSpPr>
        <p:cxnSp>
          <p:nvCxnSpPr>
            <p:cNvPr id="33" name="直接箭头连接符 32"/>
            <p:cNvCxnSpPr/>
            <p:nvPr>
              <p:custDataLst>
                <p:tags r:id="rId17"/>
              </p:custDataLst>
            </p:nvPr>
          </p:nvCxnSpPr>
          <p:spPr>
            <a:xfrm flipV="1">
              <a:off x="10365" y="5288"/>
              <a:ext cx="2181" cy="1938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/>
            <p:cNvSpPr txBox="1"/>
            <p:nvPr>
              <p:custDataLst>
                <p:tags r:id="rId18"/>
              </p:custDataLst>
            </p:nvPr>
          </p:nvSpPr>
          <p:spPr>
            <a:xfrm>
              <a:off x="12470" y="5167"/>
              <a:ext cx="713" cy="3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F</a:t>
              </a:r>
              <a:r>
                <a:rPr lang="en-US" altLang="zh-CN" b="1" baseline="-2500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B</a:t>
              </a:r>
            </a:p>
          </p:txBody>
        </p:sp>
      </p:grpSp>
      <p:grpSp>
        <p:nvGrpSpPr>
          <p:cNvPr id="37" name="组合 36" title=""/>
          <p:cNvGrpSpPr/>
          <p:nvPr/>
        </p:nvGrpSpPr>
        <p:grpSpPr>
          <a:xfrm>
            <a:off x="4711065" y="1468120"/>
            <a:ext cx="2803525" cy="2384425"/>
            <a:chOff x="14972" y="6037"/>
            <a:chExt cx="4415" cy="3755"/>
          </a:xfrm>
        </p:grpSpPr>
        <p:cxnSp>
          <p:nvCxnSpPr>
            <p:cNvPr id="38" name="直接连接符 37"/>
            <p:cNvCxnSpPr/>
            <p:nvPr>
              <p:custDataLst>
                <p:tags r:id="rId19"/>
              </p:custDataLst>
            </p:nvPr>
          </p:nvCxnSpPr>
          <p:spPr>
            <a:xfrm>
              <a:off x="17289" y="6657"/>
              <a:ext cx="2098" cy="11"/>
            </a:xfrm>
            <a:prstGeom prst="line">
              <a:avLst/>
            </a:prstGeom>
            <a:ln w="317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>
              <p:custDataLst>
                <p:tags r:id="rId20"/>
              </p:custDataLst>
            </p:nvPr>
          </p:nvCxnSpPr>
          <p:spPr>
            <a:xfrm flipH="1" flipV="1">
              <a:off x="17250" y="6617"/>
              <a:ext cx="0" cy="3175"/>
            </a:xfrm>
            <a:prstGeom prst="straightConnector1">
              <a:avLst/>
            </a:prstGeom>
            <a:ln w="508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>
              <p:custDataLst>
                <p:tags r:id="rId21"/>
              </p:custDataLst>
            </p:nvPr>
          </p:nvCxnSpPr>
          <p:spPr>
            <a:xfrm flipH="1">
              <a:off x="14972" y="6750"/>
              <a:ext cx="2197" cy="3034"/>
            </a:xfrm>
            <a:prstGeom prst="line">
              <a:avLst/>
            </a:prstGeom>
            <a:ln w="317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/>
            <p:cNvSpPr txBox="1"/>
            <p:nvPr>
              <p:custDataLst>
                <p:tags r:id="rId22"/>
              </p:custDataLst>
            </p:nvPr>
          </p:nvSpPr>
          <p:spPr>
            <a:xfrm>
              <a:off x="16494" y="6037"/>
              <a:ext cx="152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>
                  <a:solidFill>
                    <a:srgbClr val="0070C0"/>
                  </a:solidFill>
                  <a:latin typeface="Times New Roman" panose="02020603050405020304" charset="0"/>
                  <a:cs typeface="Times New Roman" panose="02020603050405020304" charset="0"/>
                </a:rPr>
                <a:t>F</a:t>
              </a:r>
              <a:r>
                <a:rPr lang="en-US" altLang="zh-CN" sz="2000" b="1" baseline="-25000">
                  <a:solidFill>
                    <a:srgbClr val="0070C0"/>
                  </a:solidFill>
                  <a:latin typeface="Times New Roman" panose="02020603050405020304" charset="0"/>
                  <a:cs typeface="Times New Roman" panose="02020603050405020304" charset="0"/>
                </a:rPr>
                <a:t>AB</a:t>
              </a:r>
              <a:r>
                <a:rPr lang="en-US" altLang="zh-CN" sz="2000" b="1">
                  <a:solidFill>
                    <a:srgbClr val="0070C0"/>
                  </a:solidFill>
                  <a:latin typeface="Times New Roman" panose="02020603050405020304" charset="0"/>
                  <a:cs typeface="Times New Roman" panose="02020603050405020304" charset="0"/>
                </a:rPr>
                <a:t>=G</a:t>
              </a:r>
            </a:p>
          </p:txBody>
        </p:sp>
      </p:grpSp>
      <p:cxnSp>
        <p:nvCxnSpPr>
          <p:cNvPr id="42" name="直接连接符 41" title=""/>
          <p:cNvCxnSpPr/>
          <p:nvPr>
            <p:custDataLst>
              <p:tags r:id="rId23"/>
            </p:custDataLst>
          </p:nvPr>
        </p:nvCxnSpPr>
        <p:spPr>
          <a:xfrm flipH="1">
            <a:off x="4713623" y="1922145"/>
            <a:ext cx="1395095" cy="1926590"/>
          </a:xfrm>
          <a:prstGeom prst="line">
            <a:avLst/>
          </a:prstGeom>
          <a:ln w="31750" cmpd="sng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 title=""/>
          <p:cNvCxnSpPr/>
          <p:nvPr>
            <p:custDataLst>
              <p:tags r:id="rId24"/>
            </p:custDataLst>
          </p:nvPr>
        </p:nvCxnSpPr>
        <p:spPr>
          <a:xfrm flipH="1" flipV="1">
            <a:off x="4955540" y="3517900"/>
            <a:ext cx="1182370" cy="308610"/>
          </a:xfrm>
          <a:prstGeom prst="straightConnector1">
            <a:avLst/>
          </a:prstGeom>
          <a:ln w="50800">
            <a:solidFill>
              <a:srgbClr val="0066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 title=""/>
          <p:cNvCxnSpPr/>
          <p:nvPr>
            <p:custDataLst>
              <p:tags r:id="rId25"/>
            </p:custDataLst>
          </p:nvPr>
        </p:nvCxnSpPr>
        <p:spPr>
          <a:xfrm>
            <a:off x="6132195" y="1866900"/>
            <a:ext cx="1146810" cy="298450"/>
          </a:xfrm>
          <a:prstGeom prst="line">
            <a:avLst/>
          </a:prstGeom>
          <a:ln w="31750">
            <a:solidFill>
              <a:srgbClr val="00662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 title=""/>
          <p:cNvCxnSpPr/>
          <p:nvPr>
            <p:custDataLst>
              <p:tags r:id="rId26"/>
            </p:custDataLst>
          </p:nvPr>
        </p:nvCxnSpPr>
        <p:spPr>
          <a:xfrm flipV="1">
            <a:off x="6182434" y="2186305"/>
            <a:ext cx="1129030" cy="1651000"/>
          </a:xfrm>
          <a:prstGeom prst="straightConnector1">
            <a:avLst/>
          </a:prstGeom>
          <a:ln w="50800">
            <a:solidFill>
              <a:srgbClr val="0066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 title=""/>
          <p:cNvCxnSpPr/>
          <p:nvPr>
            <p:custDataLst>
              <p:tags r:id="rId27"/>
            </p:custDataLst>
          </p:nvPr>
        </p:nvCxnSpPr>
        <p:spPr>
          <a:xfrm flipH="1" flipV="1">
            <a:off x="5264785" y="3081020"/>
            <a:ext cx="883920" cy="734695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 title=""/>
          <p:cNvCxnSpPr/>
          <p:nvPr>
            <p:custDataLst>
              <p:tags r:id="rId28"/>
            </p:custDataLst>
          </p:nvPr>
        </p:nvCxnSpPr>
        <p:spPr>
          <a:xfrm>
            <a:off x="6177915" y="1922145"/>
            <a:ext cx="859155" cy="681355"/>
          </a:xfrm>
          <a:prstGeom prst="line">
            <a:avLst/>
          </a:prstGeom>
          <a:ln w="317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 title=""/>
          <p:cNvCxnSpPr/>
          <p:nvPr>
            <p:custDataLst>
              <p:tags r:id="rId29"/>
            </p:custDataLst>
          </p:nvPr>
        </p:nvCxnSpPr>
        <p:spPr>
          <a:xfrm flipV="1">
            <a:off x="6164434" y="2538095"/>
            <a:ext cx="915670" cy="1330960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 title=""/>
          <p:cNvCxnSpPr/>
          <p:nvPr>
            <p:custDataLst>
              <p:tags r:id="rId30"/>
            </p:custDataLst>
          </p:nvPr>
        </p:nvCxnSpPr>
        <p:spPr>
          <a:xfrm flipH="1" flipV="1">
            <a:off x="5647690" y="2527300"/>
            <a:ext cx="501015" cy="1310005"/>
          </a:xfrm>
          <a:prstGeom prst="straightConnector1">
            <a:avLst/>
          </a:prstGeom>
          <a:ln w="508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 title=""/>
          <p:cNvCxnSpPr/>
          <p:nvPr>
            <p:custDataLst>
              <p:tags r:id="rId31"/>
            </p:custDataLst>
          </p:nvPr>
        </p:nvCxnSpPr>
        <p:spPr>
          <a:xfrm flipH="1" flipV="1">
            <a:off x="5222240" y="1270635"/>
            <a:ext cx="425450" cy="1277620"/>
          </a:xfrm>
          <a:prstGeom prst="line">
            <a:avLst/>
          </a:prstGeom>
          <a:ln w="2222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 title=""/>
          <p:cNvCxnSpPr/>
          <p:nvPr>
            <p:custDataLst>
              <p:tags r:id="rId32"/>
            </p:custDataLst>
          </p:nvPr>
        </p:nvCxnSpPr>
        <p:spPr>
          <a:xfrm>
            <a:off x="6182360" y="2086610"/>
            <a:ext cx="497205" cy="1243965"/>
          </a:xfrm>
          <a:prstGeom prst="line">
            <a:avLst/>
          </a:prstGeom>
          <a:ln w="3175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 title=""/>
          <p:cNvCxnSpPr/>
          <p:nvPr>
            <p:custDataLst>
              <p:tags r:id="rId33"/>
            </p:custDataLst>
          </p:nvPr>
        </p:nvCxnSpPr>
        <p:spPr>
          <a:xfrm flipV="1">
            <a:off x="6178834" y="3110865"/>
            <a:ext cx="501015" cy="736600"/>
          </a:xfrm>
          <a:prstGeom prst="straightConnector1">
            <a:avLst/>
          </a:prstGeom>
          <a:ln w="508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7" name="文本框 26" title=""/>
          <p:cNvSpPr txBox="1"/>
          <p:nvPr>
            <p:custDataLst>
              <p:tags r:id="rId2"/>
            </p:custDataLst>
          </p:nvPr>
        </p:nvSpPr>
        <p:spPr>
          <a:xfrm>
            <a:off x="230505" y="200025"/>
            <a:ext cx="796036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spc="600">
                <a:solidFill>
                  <a:srgbClr val="0C76B2"/>
                </a:solidFill>
                <a:latin typeface="Times New Roman" panose="02020603050405020304" charset="0"/>
                <a:ea typeface="黑体" panose="02010609060101010101" charset="-122"/>
                <a:cs typeface="阿里巴巴普惠体 B" panose="00020600040101010101" pitchFamily="18" charset="-122"/>
              </a:rPr>
              <a:t>二、方法小结</a:t>
            </a:r>
          </a:p>
        </p:txBody>
      </p:sp>
      <p:sp>
        <p:nvSpPr>
          <p:cNvPr id="4" name="文本框 3" title=""/>
          <p:cNvSpPr txBox="1"/>
          <p:nvPr>
            <p:custDataLst>
              <p:tags r:id="rId3"/>
            </p:custDataLst>
          </p:nvPr>
        </p:nvSpPr>
        <p:spPr>
          <a:xfrm>
            <a:off x="525145" y="1761490"/>
            <a:ext cx="22790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1.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受力特点</a:t>
            </a:r>
          </a:p>
        </p:txBody>
      </p:sp>
      <p:sp>
        <p:nvSpPr>
          <p:cNvPr id="3" name="左大括号 2" title=""/>
          <p:cNvSpPr/>
          <p:nvPr>
            <p:custDataLst>
              <p:tags r:id="rId4"/>
            </p:custDataLst>
          </p:nvPr>
        </p:nvSpPr>
        <p:spPr>
          <a:xfrm>
            <a:off x="2418080" y="1356360"/>
            <a:ext cx="138430" cy="1362710"/>
          </a:xfrm>
          <a:prstGeom prst="lef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5" name="文本框 4" title=""/>
          <p:cNvSpPr txBox="1"/>
          <p:nvPr>
            <p:custDataLst>
              <p:tags r:id="rId5"/>
            </p:custDataLst>
          </p:nvPr>
        </p:nvSpPr>
        <p:spPr>
          <a:xfrm>
            <a:off x="2546350" y="1174750"/>
            <a:ext cx="55168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>
                <a:latin typeface="Times New Roman" panose="02020603050405020304" charset="0"/>
                <a:ea typeface="黑体" panose="02010609060101010101" charset="-122"/>
              </a:rPr>
              <a:t>①一个为恒力，大小方向都不变；</a:t>
            </a:r>
          </a:p>
        </p:txBody>
      </p:sp>
      <p:sp>
        <p:nvSpPr>
          <p:cNvPr id="6" name="文本框 5" title=""/>
          <p:cNvSpPr txBox="1"/>
          <p:nvPr>
            <p:custDataLst>
              <p:tags r:id="rId6"/>
            </p:custDataLst>
          </p:nvPr>
        </p:nvSpPr>
        <p:spPr>
          <a:xfrm>
            <a:off x="2505710" y="1761490"/>
            <a:ext cx="37388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>
                <a:latin typeface="Times New Roman" panose="02020603050405020304" charset="0"/>
                <a:ea typeface="黑体" panose="02010609060101010101" charset="-122"/>
              </a:rPr>
              <a:t>②另一个力方向不变；</a:t>
            </a:r>
          </a:p>
        </p:txBody>
      </p:sp>
      <p:sp>
        <p:nvSpPr>
          <p:cNvPr id="7" name="文本框 6" title=""/>
          <p:cNvSpPr txBox="1"/>
          <p:nvPr>
            <p:custDataLst>
              <p:tags r:id="rId7"/>
            </p:custDataLst>
          </p:nvPr>
        </p:nvSpPr>
        <p:spPr>
          <a:xfrm>
            <a:off x="2505710" y="2371090"/>
            <a:ext cx="44500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>
                <a:latin typeface="Times New Roman" panose="02020603050405020304" charset="0"/>
                <a:ea typeface="黑体" panose="02010609060101010101" charset="-122"/>
              </a:rPr>
              <a:t>③第三个力大小方向都变；</a:t>
            </a:r>
          </a:p>
        </p:txBody>
      </p:sp>
      <p:sp>
        <p:nvSpPr>
          <p:cNvPr id="8" name="文本框 7" title=""/>
          <p:cNvSpPr txBox="1"/>
          <p:nvPr>
            <p:custDataLst>
              <p:tags r:id="rId8"/>
            </p:custDataLst>
          </p:nvPr>
        </p:nvSpPr>
        <p:spPr>
          <a:xfrm>
            <a:off x="525145" y="4335780"/>
            <a:ext cx="2577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2.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分析步骤</a:t>
            </a:r>
          </a:p>
        </p:txBody>
      </p:sp>
      <p:sp>
        <p:nvSpPr>
          <p:cNvPr id="9" name="左大括号 8" title=""/>
          <p:cNvSpPr/>
          <p:nvPr>
            <p:custDataLst>
              <p:tags r:id="rId9"/>
            </p:custDataLst>
          </p:nvPr>
        </p:nvSpPr>
        <p:spPr>
          <a:xfrm>
            <a:off x="2432050" y="3884295"/>
            <a:ext cx="138430" cy="1362710"/>
          </a:xfrm>
          <a:prstGeom prst="lef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0" name="文本框 9" title=""/>
          <p:cNvSpPr txBox="1"/>
          <p:nvPr>
            <p:custDataLst>
              <p:tags r:id="rId10"/>
            </p:custDataLst>
          </p:nvPr>
        </p:nvSpPr>
        <p:spPr>
          <a:xfrm>
            <a:off x="2529840" y="3641725"/>
            <a:ext cx="44500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>
                <a:latin typeface="Times New Roman" panose="02020603050405020304" charset="0"/>
                <a:ea typeface="黑体" panose="02010609060101010101" charset="-122"/>
              </a:rPr>
              <a:t>①分析物体的受力及特点；</a:t>
            </a:r>
          </a:p>
        </p:txBody>
      </p:sp>
      <p:sp>
        <p:nvSpPr>
          <p:cNvPr id="11" name="文本框 10" title=""/>
          <p:cNvSpPr txBox="1"/>
          <p:nvPr>
            <p:custDataLst>
              <p:tags r:id="rId11"/>
            </p:custDataLst>
          </p:nvPr>
        </p:nvSpPr>
        <p:spPr>
          <a:xfrm>
            <a:off x="2471420" y="4335780"/>
            <a:ext cx="69392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>
                <a:latin typeface="Times New Roman" panose="02020603050405020304" charset="0"/>
                <a:ea typeface="黑体" panose="02010609060101010101" charset="-122"/>
              </a:rPr>
              <a:t>②利用平行四边形定则，作出矢量四边形；</a:t>
            </a:r>
          </a:p>
        </p:txBody>
      </p:sp>
      <p:sp>
        <p:nvSpPr>
          <p:cNvPr id="13" name="文本框 12" title=""/>
          <p:cNvSpPr txBox="1"/>
          <p:nvPr>
            <p:custDataLst>
              <p:tags r:id="rId12"/>
            </p:custDataLst>
          </p:nvPr>
        </p:nvSpPr>
        <p:spPr>
          <a:xfrm>
            <a:off x="2512060" y="4976495"/>
            <a:ext cx="69392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>
                <a:latin typeface="Times New Roman" panose="02020603050405020304" charset="0"/>
                <a:ea typeface="黑体" panose="02010609060101010101" charset="-122"/>
              </a:rPr>
              <a:t>③根据矢量四边形边长大小作出定性分析；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animBg="1"/>
      <p:bldP spid="5" grpId="0"/>
      <p:bldP spid="6" grpId="0"/>
      <p:bldP spid="7" grpId="0"/>
      <p:bldP spid="8" grpId="0"/>
      <p:bldP spid="9" grpId="0" animBg="1"/>
      <p:bldP spid="10" grpId="0"/>
      <p:bldP spid="11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文本框 1" title=""/>
          <p:cNvSpPr txBox="1"/>
          <p:nvPr/>
        </p:nvSpPr>
        <p:spPr>
          <a:xfrm>
            <a:off x="4179570" y="1863090"/>
            <a:ext cx="38328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000" cap="all">
                <a:solidFill>
                  <a:srgbClr val="38ABE3">
                    <a:alpha val="12000"/>
                  </a:srgbClr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conclusion</a:t>
            </a:r>
          </a:p>
        </p:txBody>
      </p:sp>
      <p:sp>
        <p:nvSpPr>
          <p:cNvPr id="4" name="圆角矩形 3" title=""/>
          <p:cNvSpPr/>
          <p:nvPr/>
        </p:nvSpPr>
        <p:spPr>
          <a:xfrm>
            <a:off x="5095240" y="2211705"/>
            <a:ext cx="2001520" cy="488950"/>
          </a:xfrm>
          <a:prstGeom prst="roundRect">
            <a:avLst>
              <a:gd name="adj" fmla="val 50000"/>
            </a:avLst>
          </a:prstGeom>
          <a:solidFill>
            <a:srgbClr val="38AB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3" name="文本框 12" title=""/>
          <p:cNvSpPr txBox="1"/>
          <p:nvPr/>
        </p:nvSpPr>
        <p:spPr>
          <a:xfrm>
            <a:off x="3637280" y="3022600"/>
            <a:ext cx="488569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/>
            <a:r>
              <a:rPr lang="zh-CN" altLang="en-US" sz="6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汉仪宋韵朗黑W" panose="00020600040101010101" charset="-122"/>
                <a:sym typeface="汉仪宋韵朗黑W"/>
              </a:rPr>
              <a:t>相似三角形法</a:t>
            </a:r>
          </a:p>
        </p:txBody>
      </p:sp>
      <p:sp>
        <p:nvSpPr>
          <p:cNvPr id="14" name="文本框 13" title=""/>
          <p:cNvSpPr txBox="1"/>
          <p:nvPr/>
        </p:nvSpPr>
        <p:spPr>
          <a:xfrm>
            <a:off x="5526405" y="2211705"/>
            <a:ext cx="119316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04</a:t>
            </a:r>
          </a:p>
        </p:txBody>
      </p:sp>
    </p:spTree>
    <p:custDataLst>
      <p:tags r:id="rId2"/>
    </p:custDataLst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7" name="文本框 26" title=""/>
          <p:cNvSpPr txBox="1"/>
          <p:nvPr>
            <p:custDataLst>
              <p:tags r:id="rId2"/>
            </p:custDataLst>
          </p:nvPr>
        </p:nvSpPr>
        <p:spPr>
          <a:xfrm>
            <a:off x="230505" y="200025"/>
            <a:ext cx="796036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spc="600">
                <a:solidFill>
                  <a:srgbClr val="0C76B2"/>
                </a:solidFill>
                <a:latin typeface="Times New Roman" panose="02020603050405020304" charset="0"/>
                <a:ea typeface="黑体" panose="02010609060101010101" charset="-122"/>
                <a:cs typeface="阿里巴巴普惠体 B" panose="00020600040101010101" pitchFamily="18" charset="-122"/>
              </a:rPr>
              <a:t>一、典例解析</a:t>
            </a:r>
          </a:p>
        </p:txBody>
      </p:sp>
      <p:sp>
        <p:nvSpPr>
          <p:cNvPr id="2" name="文本框 1" title=""/>
          <p:cNvSpPr txBox="1"/>
          <p:nvPr>
            <p:custDataLst>
              <p:tags r:id="rId3"/>
            </p:custDataLst>
          </p:nvPr>
        </p:nvSpPr>
        <p:spPr>
          <a:xfrm>
            <a:off x="363855" y="892175"/>
            <a:ext cx="1139952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例2：如图所示，质量均可忽略的轻绳与轻杆承受弹力的最大值一定，杆的A端用铰链固定，光滑轻小滑轮在A点正上方，B端吊一重物，现将绳的一端拴在杆的B端，用拉力F将B端缓慢上拉，在AB杆达到竖直前(均未断)，关于绳子的拉力F和杆受的弹力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N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的变化，判断正确的是(　　)</a:t>
            </a:r>
          </a:p>
          <a:p>
            <a:pPr>
              <a:lnSpc>
                <a:spcPct val="150000"/>
              </a:lnSpc>
            </a:pP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A．F变大  </a:t>
            </a:r>
          </a:p>
          <a:p>
            <a:pPr>
              <a:lnSpc>
                <a:spcPct val="150000"/>
              </a:lnSpc>
            </a:pP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B．F变小  </a:t>
            </a:r>
          </a:p>
          <a:p>
            <a:pPr>
              <a:lnSpc>
                <a:spcPct val="150000"/>
              </a:lnSpc>
            </a:pP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C．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N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变大  </a:t>
            </a:r>
          </a:p>
          <a:p>
            <a:pPr>
              <a:lnSpc>
                <a:spcPct val="150000"/>
              </a:lnSpc>
            </a:pP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D．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N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变小</a:t>
            </a:r>
          </a:p>
        </p:txBody>
      </p:sp>
      <p:pic>
        <p:nvPicPr>
          <p:cNvPr id="12" name="图片 1" title="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 r:link="rId4">
            <a:lum bright="-12000" contrast="24000"/>
          </a:blip>
          <a:stretch>
            <a:fillRect/>
          </a:stretch>
        </p:blipFill>
        <p:spPr>
          <a:xfrm>
            <a:off x="8764270" y="3429000"/>
            <a:ext cx="2595880" cy="28778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7" name="文本框 26" title=""/>
          <p:cNvSpPr txBox="1"/>
          <p:nvPr>
            <p:custDataLst>
              <p:tags r:id="rId2"/>
            </p:custDataLst>
          </p:nvPr>
        </p:nvSpPr>
        <p:spPr>
          <a:xfrm>
            <a:off x="230505" y="200025"/>
            <a:ext cx="796036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spc="600">
                <a:solidFill>
                  <a:srgbClr val="0C76B2"/>
                </a:solidFill>
                <a:latin typeface="Times New Roman" panose="02020603050405020304" charset="0"/>
                <a:ea typeface="黑体" panose="02010609060101010101" charset="-122"/>
                <a:cs typeface="阿里巴巴普惠体 B" panose="00020600040101010101" pitchFamily="18" charset="-122"/>
              </a:rPr>
              <a:t>一、典例解析</a:t>
            </a:r>
          </a:p>
        </p:txBody>
      </p:sp>
      <p:pic>
        <p:nvPicPr>
          <p:cNvPr id="5" name="图片 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 r:link="rId3">
            <a:lum bright="-12000" contrast="24000"/>
          </a:blip>
          <a:stretch>
            <a:fillRect/>
          </a:stretch>
        </p:blipFill>
        <p:spPr>
          <a:xfrm>
            <a:off x="1738630" y="1621155"/>
            <a:ext cx="3732530" cy="413829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5" name="组合 14" title=""/>
          <p:cNvGrpSpPr/>
          <p:nvPr/>
        </p:nvGrpSpPr>
        <p:grpSpPr>
          <a:xfrm>
            <a:off x="4444365" y="3032760"/>
            <a:ext cx="780415" cy="2199005"/>
            <a:chOff x="8927" y="3602"/>
            <a:chExt cx="1229" cy="3463"/>
          </a:xfrm>
        </p:grpSpPr>
        <p:cxnSp>
          <p:nvCxnSpPr>
            <p:cNvPr id="13" name="直接连接符 12"/>
            <p:cNvCxnSpPr/>
            <p:nvPr>
              <p:custDataLst>
                <p:tags r:id="rId6"/>
              </p:custDataLst>
            </p:nvPr>
          </p:nvCxnSpPr>
          <p:spPr>
            <a:xfrm flipH="1">
              <a:off x="9472" y="3602"/>
              <a:ext cx="0" cy="2835"/>
            </a:xfrm>
            <a:prstGeom prst="line">
              <a:avLst/>
            </a:prstGeom>
            <a:ln w="50800">
              <a:solidFill>
                <a:srgbClr val="FF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>
              <p:custDataLst>
                <p:tags r:id="rId7"/>
              </p:custDataLst>
            </p:nvPr>
          </p:nvSpPr>
          <p:spPr>
            <a:xfrm>
              <a:off x="8927" y="6437"/>
              <a:ext cx="1229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T</a:t>
              </a:r>
              <a:r>
                <a:rPr lang="en-US" altLang="zh-CN" sz="2000" b="1" baseline="-2500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g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=G</a:t>
              </a:r>
            </a:p>
          </p:txBody>
        </p:sp>
      </p:grpSp>
      <p:grpSp>
        <p:nvGrpSpPr>
          <p:cNvPr id="16" name="组合 15" title=""/>
          <p:cNvGrpSpPr/>
          <p:nvPr/>
        </p:nvGrpSpPr>
        <p:grpSpPr>
          <a:xfrm>
            <a:off x="4790440" y="1621155"/>
            <a:ext cx="1217930" cy="1411605"/>
            <a:chOff x="8700" y="3837"/>
            <a:chExt cx="1918" cy="2223"/>
          </a:xfrm>
        </p:grpSpPr>
        <p:cxnSp>
          <p:nvCxnSpPr>
            <p:cNvPr id="6" name="直接连接符 5"/>
            <p:cNvCxnSpPr/>
            <p:nvPr>
              <p:custDataLst>
                <p:tags r:id="rId8"/>
              </p:custDataLst>
            </p:nvPr>
          </p:nvCxnSpPr>
          <p:spPr>
            <a:xfrm flipV="1">
              <a:off x="8700" y="3980"/>
              <a:ext cx="1282" cy="2080"/>
            </a:xfrm>
            <a:prstGeom prst="line">
              <a:avLst/>
            </a:prstGeom>
            <a:ln w="50800">
              <a:solidFill>
                <a:srgbClr val="0070C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文本框 67"/>
            <p:cNvSpPr txBox="1"/>
            <p:nvPr>
              <p:custDataLst>
                <p:tags r:id="rId9"/>
              </p:custDataLst>
            </p:nvPr>
          </p:nvSpPr>
          <p:spPr>
            <a:xfrm>
              <a:off x="9871" y="3837"/>
              <a:ext cx="74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>
                  <a:solidFill>
                    <a:srgbClr val="0070C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N</a:t>
              </a:r>
              <a:endParaRPr lang="en-US" altLang="zh-CN" sz="2000" b="1" baseline="-25000">
                <a:solidFill>
                  <a:srgbClr val="0070C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</p:grpSp>
      <p:grpSp>
        <p:nvGrpSpPr>
          <p:cNvPr id="18" name="组合 17" title=""/>
          <p:cNvGrpSpPr/>
          <p:nvPr/>
        </p:nvGrpSpPr>
        <p:grpSpPr>
          <a:xfrm>
            <a:off x="3738245" y="2404110"/>
            <a:ext cx="1052195" cy="628650"/>
            <a:chOff x="3487" y="5070"/>
            <a:chExt cx="1657" cy="990"/>
          </a:xfrm>
        </p:grpSpPr>
        <p:cxnSp>
          <p:nvCxnSpPr>
            <p:cNvPr id="12" name="直接连接符 11"/>
            <p:cNvCxnSpPr/>
            <p:nvPr>
              <p:custDataLst>
                <p:tags r:id="rId10"/>
              </p:custDataLst>
            </p:nvPr>
          </p:nvCxnSpPr>
          <p:spPr>
            <a:xfrm flipH="1" flipV="1">
              <a:off x="3877" y="5221"/>
              <a:ext cx="1267" cy="839"/>
            </a:xfrm>
            <a:prstGeom prst="line">
              <a:avLst/>
            </a:prstGeom>
            <a:ln w="50800">
              <a:solidFill>
                <a:srgbClr val="FF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>
              <p:custDataLst>
                <p:tags r:id="rId11"/>
              </p:custDataLst>
            </p:nvPr>
          </p:nvSpPr>
          <p:spPr>
            <a:xfrm>
              <a:off x="3487" y="5070"/>
              <a:ext cx="57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F</a:t>
              </a:r>
            </a:p>
          </p:txBody>
        </p:sp>
      </p:grpSp>
      <p:grpSp>
        <p:nvGrpSpPr>
          <p:cNvPr id="24" name="组合 23" title=""/>
          <p:cNvGrpSpPr/>
          <p:nvPr/>
        </p:nvGrpSpPr>
        <p:grpSpPr>
          <a:xfrm>
            <a:off x="3976370" y="894715"/>
            <a:ext cx="1617980" cy="2137410"/>
            <a:chOff x="8675" y="2609"/>
            <a:chExt cx="2548" cy="3366"/>
          </a:xfrm>
        </p:grpSpPr>
        <p:grpSp>
          <p:nvGrpSpPr>
            <p:cNvPr id="22" name="组合 21"/>
            <p:cNvGrpSpPr/>
            <p:nvPr/>
          </p:nvGrpSpPr>
          <p:grpSpPr>
            <a:xfrm>
              <a:off x="8675" y="3141"/>
              <a:ext cx="2548" cy="2834"/>
              <a:chOff x="3862" y="3138"/>
              <a:chExt cx="2548" cy="2834"/>
            </a:xfrm>
          </p:grpSpPr>
          <p:cxnSp>
            <p:nvCxnSpPr>
              <p:cNvPr id="4" name="直接连接符 3"/>
              <p:cNvCxnSpPr/>
              <p:nvPr>
                <p:custDataLst>
                  <p:tags r:id="rId12"/>
                </p:custDataLst>
              </p:nvPr>
            </p:nvCxnSpPr>
            <p:spPr>
              <a:xfrm flipH="1" flipV="1">
                <a:off x="5144" y="3138"/>
                <a:ext cx="0" cy="2835"/>
              </a:xfrm>
              <a:prstGeom prst="line">
                <a:avLst/>
              </a:prstGeom>
              <a:ln w="50800">
                <a:solidFill>
                  <a:srgbClr val="0070C0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>
                <p:custDataLst>
                  <p:tags r:id="rId13"/>
                </p:custDataLst>
              </p:nvPr>
            </p:nvCxnSpPr>
            <p:spPr>
              <a:xfrm flipH="1" flipV="1">
                <a:off x="5144" y="3138"/>
                <a:ext cx="1267" cy="839"/>
              </a:xfrm>
              <a:prstGeom prst="line">
                <a:avLst/>
              </a:prstGeom>
              <a:ln w="31750">
                <a:solidFill>
                  <a:srgbClr val="0070C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>
                <p:custDataLst>
                  <p:tags r:id="rId14"/>
                </p:custDataLst>
              </p:nvPr>
            </p:nvCxnSpPr>
            <p:spPr>
              <a:xfrm flipV="1">
                <a:off x="3862" y="3138"/>
                <a:ext cx="1282" cy="2080"/>
              </a:xfrm>
              <a:prstGeom prst="line">
                <a:avLst/>
              </a:prstGeom>
              <a:ln w="31750">
                <a:solidFill>
                  <a:srgbClr val="0070C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/>
            <p:cNvSpPr txBox="1"/>
            <p:nvPr>
              <p:custDataLst>
                <p:tags r:id="rId15"/>
              </p:custDataLst>
            </p:nvPr>
          </p:nvSpPr>
          <p:spPr>
            <a:xfrm>
              <a:off x="9352" y="2609"/>
              <a:ext cx="117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>
                  <a:solidFill>
                    <a:srgbClr val="0070C0"/>
                  </a:solidFill>
                  <a:latin typeface="Times New Roman" panose="02020603050405020304" charset="0"/>
                  <a:cs typeface="Times New Roman" panose="02020603050405020304" charset="0"/>
                </a:rPr>
                <a:t>T=G</a:t>
              </a:r>
            </a:p>
          </p:txBody>
        </p:sp>
      </p:grpSp>
      <p:grpSp>
        <p:nvGrpSpPr>
          <p:cNvPr id="37" name="组合 36" title=""/>
          <p:cNvGrpSpPr/>
          <p:nvPr/>
        </p:nvGrpSpPr>
        <p:grpSpPr>
          <a:xfrm>
            <a:off x="3543300" y="1374775"/>
            <a:ext cx="1905635" cy="3283585"/>
            <a:chOff x="3180" y="3449"/>
            <a:chExt cx="3001" cy="5171"/>
          </a:xfrm>
        </p:grpSpPr>
        <p:grpSp>
          <p:nvGrpSpPr>
            <p:cNvPr id="30" name="组合 29"/>
            <p:cNvGrpSpPr/>
            <p:nvPr/>
          </p:nvGrpSpPr>
          <p:grpSpPr>
            <a:xfrm>
              <a:off x="5153" y="3449"/>
              <a:ext cx="1029" cy="2043"/>
              <a:chOff x="5153" y="3449"/>
              <a:chExt cx="1029" cy="2043"/>
            </a:xfrm>
          </p:grpSpPr>
          <p:cxnSp>
            <p:nvCxnSpPr>
              <p:cNvPr id="25" name="直接连接符 24"/>
              <p:cNvCxnSpPr/>
              <p:nvPr>
                <p:custDataLst>
                  <p:tags r:id="rId16"/>
                </p:custDataLst>
              </p:nvPr>
            </p:nvCxnSpPr>
            <p:spPr>
              <a:xfrm flipH="1">
                <a:off x="5176" y="3984"/>
                <a:ext cx="1006" cy="1509"/>
              </a:xfrm>
              <a:prstGeom prst="line">
                <a:avLst/>
              </a:prstGeom>
              <a:ln>
                <a:solidFill>
                  <a:srgbClr val="0070C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>
                <p:custDataLst>
                  <p:tags r:id="rId17"/>
                </p:custDataLst>
              </p:nvPr>
            </p:nvCxnSpPr>
            <p:spPr>
              <a:xfrm flipH="1">
                <a:off x="5186" y="3796"/>
                <a:ext cx="846" cy="1224"/>
              </a:xfrm>
              <a:prstGeom prst="line">
                <a:avLst/>
              </a:prstGeom>
              <a:ln>
                <a:solidFill>
                  <a:srgbClr val="0070C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" name="直接连接符 1"/>
              <p:cNvCxnSpPr/>
              <p:nvPr>
                <p:custDataLst>
                  <p:tags r:id="rId18"/>
                </p:custDataLst>
              </p:nvPr>
            </p:nvCxnSpPr>
            <p:spPr>
              <a:xfrm flipH="1">
                <a:off x="5170" y="3700"/>
                <a:ext cx="659" cy="900"/>
              </a:xfrm>
              <a:prstGeom prst="line">
                <a:avLst/>
              </a:prstGeom>
              <a:ln>
                <a:solidFill>
                  <a:srgbClr val="0070C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>
                <p:custDataLst>
                  <p:tags r:id="rId19"/>
                </p:custDataLst>
              </p:nvPr>
            </p:nvCxnSpPr>
            <p:spPr>
              <a:xfrm flipH="1">
                <a:off x="5153" y="3549"/>
                <a:ext cx="516" cy="699"/>
              </a:xfrm>
              <a:prstGeom prst="line">
                <a:avLst/>
              </a:prstGeom>
              <a:ln>
                <a:solidFill>
                  <a:srgbClr val="0070C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>
                <p:custDataLst>
                  <p:tags r:id="rId20"/>
                </p:custDataLst>
              </p:nvPr>
            </p:nvCxnSpPr>
            <p:spPr>
              <a:xfrm flipH="1">
                <a:off x="5186" y="3449"/>
                <a:ext cx="287" cy="380"/>
              </a:xfrm>
              <a:prstGeom prst="line">
                <a:avLst/>
              </a:prstGeom>
              <a:ln>
                <a:solidFill>
                  <a:srgbClr val="0070C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组合 30"/>
            <p:cNvGrpSpPr/>
            <p:nvPr/>
          </p:nvGrpSpPr>
          <p:grpSpPr>
            <a:xfrm>
              <a:off x="3180" y="5250"/>
              <a:ext cx="1750" cy="3371"/>
              <a:chOff x="5153" y="3352"/>
              <a:chExt cx="1050" cy="2060"/>
            </a:xfrm>
          </p:grpSpPr>
          <p:cxnSp>
            <p:nvCxnSpPr>
              <p:cNvPr id="32" name="直接连接符 31"/>
              <p:cNvCxnSpPr/>
              <p:nvPr>
                <p:custDataLst>
                  <p:tags r:id="rId21"/>
                </p:custDataLst>
              </p:nvPr>
            </p:nvCxnSpPr>
            <p:spPr>
              <a:xfrm flipH="1">
                <a:off x="5157" y="3763"/>
                <a:ext cx="1046" cy="1649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>
                <p:custDataLst>
                  <p:tags r:id="rId22"/>
                </p:custDataLst>
              </p:nvPr>
            </p:nvCxnSpPr>
            <p:spPr>
              <a:xfrm flipH="1">
                <a:off x="5186" y="3670"/>
                <a:ext cx="876" cy="1350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>
                <p:custDataLst>
                  <p:tags r:id="rId23"/>
                </p:custDataLst>
              </p:nvPr>
            </p:nvCxnSpPr>
            <p:spPr>
              <a:xfrm flipH="1">
                <a:off x="5170" y="3547"/>
                <a:ext cx="711" cy="1054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>
                <p:custDataLst>
                  <p:tags r:id="rId24"/>
                </p:custDataLst>
              </p:nvPr>
            </p:nvCxnSpPr>
            <p:spPr>
              <a:xfrm flipH="1">
                <a:off x="5153" y="3424"/>
                <a:ext cx="567" cy="823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>
                <p:custDataLst>
                  <p:tags r:id="rId25"/>
                </p:custDataLst>
              </p:nvPr>
            </p:nvCxnSpPr>
            <p:spPr>
              <a:xfrm flipH="1">
                <a:off x="5186" y="3352"/>
                <a:ext cx="363" cy="477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8" name="文本框 37" title=""/>
          <p:cNvSpPr txBox="1"/>
          <p:nvPr>
            <p:custDataLst>
              <p:tags r:id="rId26"/>
            </p:custDataLst>
          </p:nvPr>
        </p:nvSpPr>
        <p:spPr>
          <a:xfrm>
            <a:off x="3024505" y="4444365"/>
            <a:ext cx="405130" cy="9531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zh-CN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A</a:t>
            </a:r>
          </a:p>
        </p:txBody>
      </p:sp>
      <p:sp>
        <p:nvSpPr>
          <p:cNvPr id="3" name="文本框 2" title=""/>
          <p:cNvSpPr txBox="1"/>
          <p:nvPr>
            <p:custDataLst>
              <p:tags r:id="rId27"/>
            </p:custDataLst>
          </p:nvPr>
        </p:nvSpPr>
        <p:spPr>
          <a:xfrm>
            <a:off x="7289165" y="2217420"/>
            <a:ext cx="32207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</a:t>
            </a:r>
            <a:r>
              <a:rPr lang="en-US" sz="3200" b="1">
                <a:solidFill>
                  <a:srgbClr val="0070C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∆TNB </a:t>
            </a:r>
            <a:r>
              <a:rPr lang="en-US" sz="36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∽</a:t>
            </a:r>
            <a:r>
              <a:rPr lang="en-US" sz="3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</a:t>
            </a:r>
            <a:r>
              <a:rPr lang="en-US" sz="3200" b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∆OBA</a:t>
            </a:r>
            <a:endParaRPr lang="en-US" altLang="en-US" sz="3200" b="1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grpSp>
        <p:nvGrpSpPr>
          <p:cNvPr id="57" name="组合 56" title=""/>
          <p:cNvGrpSpPr/>
          <p:nvPr/>
        </p:nvGrpSpPr>
        <p:grpSpPr>
          <a:xfrm>
            <a:off x="7378065" y="3032760"/>
            <a:ext cx="3131820" cy="1191260"/>
            <a:chOff x="8164" y="4921"/>
            <a:chExt cx="4932" cy="1876"/>
          </a:xfrm>
        </p:grpSpPr>
        <p:grpSp>
          <p:nvGrpSpPr>
            <p:cNvPr id="47" name="组合 46"/>
            <p:cNvGrpSpPr/>
            <p:nvPr/>
          </p:nvGrpSpPr>
          <p:grpSpPr>
            <a:xfrm>
              <a:off x="10034" y="4921"/>
              <a:ext cx="1290" cy="1876"/>
              <a:chOff x="9964" y="4952"/>
              <a:chExt cx="1290" cy="1876"/>
            </a:xfrm>
          </p:grpSpPr>
          <p:sp>
            <p:nvSpPr>
              <p:cNvPr id="8" name="文本框 7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10145" y="4952"/>
                <a:ext cx="816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>
                    <a:solidFill>
                      <a:srgbClr val="0070C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N</a:t>
                </a:r>
              </a:p>
            </p:txBody>
          </p:sp>
          <p:cxnSp>
            <p:nvCxnSpPr>
              <p:cNvPr id="41" name="直接连接符 40"/>
              <p:cNvCxnSpPr/>
              <p:nvPr>
                <p:custDataLst>
                  <p:tags r:id="rId29"/>
                </p:custDataLst>
              </p:nvPr>
            </p:nvCxnSpPr>
            <p:spPr>
              <a:xfrm flipV="1">
                <a:off x="9986" y="5840"/>
                <a:ext cx="1134" cy="1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文本框 43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9964" y="5909"/>
                <a:ext cx="1290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AB</a:t>
                </a:r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11806" y="4931"/>
              <a:ext cx="1290" cy="1833"/>
              <a:chOff x="11596" y="4925"/>
              <a:chExt cx="1290" cy="1833"/>
            </a:xfrm>
          </p:grpSpPr>
          <p:sp>
            <p:nvSpPr>
              <p:cNvPr id="9" name="文本框 8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11813" y="4925"/>
                <a:ext cx="816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>
                    <a:solidFill>
                      <a:srgbClr val="0070C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F</a:t>
                </a:r>
              </a:p>
            </p:txBody>
          </p:sp>
          <p:cxnSp>
            <p:nvCxnSpPr>
              <p:cNvPr id="42" name="直接连接符 41"/>
              <p:cNvCxnSpPr/>
              <p:nvPr>
                <p:custDataLst>
                  <p:tags r:id="rId32"/>
                </p:custDataLst>
              </p:nvPr>
            </p:nvCxnSpPr>
            <p:spPr>
              <a:xfrm flipV="1">
                <a:off x="11654" y="5826"/>
                <a:ext cx="1134" cy="1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文本框 44"/>
              <p:cNvSpPr txBox="1"/>
              <p:nvPr>
                <p:custDataLst>
                  <p:tags r:id="rId33"/>
                </p:custDataLst>
              </p:nvPr>
            </p:nvSpPr>
            <p:spPr>
              <a:xfrm>
                <a:off x="11596" y="5839"/>
                <a:ext cx="1290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OB</a:t>
                </a: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8164" y="4945"/>
              <a:ext cx="1290" cy="1852"/>
              <a:chOff x="8179" y="4968"/>
              <a:chExt cx="1290" cy="1852"/>
            </a:xfrm>
          </p:grpSpPr>
          <p:sp>
            <p:nvSpPr>
              <p:cNvPr id="52" name="文本框 51"/>
              <p:cNvSpPr txBox="1"/>
              <p:nvPr>
                <p:custDataLst>
                  <p:tags r:id="rId34"/>
                </p:custDataLst>
              </p:nvPr>
            </p:nvSpPr>
            <p:spPr>
              <a:xfrm>
                <a:off x="8372" y="4968"/>
                <a:ext cx="816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>
                    <a:solidFill>
                      <a:srgbClr val="0070C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T</a:t>
                </a:r>
              </a:p>
            </p:txBody>
          </p:sp>
          <p:cxnSp>
            <p:nvCxnSpPr>
              <p:cNvPr id="53" name="直接连接符 52"/>
              <p:cNvCxnSpPr/>
              <p:nvPr>
                <p:custDataLst>
                  <p:tags r:id="rId35"/>
                </p:custDataLst>
              </p:nvPr>
            </p:nvCxnSpPr>
            <p:spPr>
              <a:xfrm flipV="1">
                <a:off x="8179" y="5840"/>
                <a:ext cx="1134" cy="1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文本框 53"/>
              <p:cNvSpPr txBox="1"/>
              <p:nvPr>
                <p:custDataLst>
                  <p:tags r:id="rId36"/>
                </p:custDataLst>
              </p:nvPr>
            </p:nvSpPr>
            <p:spPr>
              <a:xfrm>
                <a:off x="8179" y="5901"/>
                <a:ext cx="1290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OA</a:t>
                </a:r>
              </a:p>
            </p:txBody>
          </p:sp>
        </p:grpSp>
        <p:sp>
          <p:nvSpPr>
            <p:cNvPr id="55" name="文本框 54"/>
            <p:cNvSpPr txBox="1"/>
            <p:nvPr>
              <p:custDataLst>
                <p:tags r:id="rId37"/>
              </p:custDataLst>
            </p:nvPr>
          </p:nvSpPr>
          <p:spPr>
            <a:xfrm>
              <a:off x="9298" y="5392"/>
              <a:ext cx="57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>
                  <a:latin typeface="Times New Roman" panose="02020603050405020304" charset="0"/>
                  <a:cs typeface="Times New Roman" panose="02020603050405020304" charset="0"/>
                </a:rPr>
                <a:t>=</a:t>
              </a:r>
            </a:p>
          </p:txBody>
        </p:sp>
        <p:sp>
          <p:nvSpPr>
            <p:cNvPr id="56" name="文本框 55"/>
            <p:cNvSpPr txBox="1"/>
            <p:nvPr>
              <p:custDataLst>
                <p:tags r:id="rId38"/>
              </p:custDataLst>
            </p:nvPr>
          </p:nvSpPr>
          <p:spPr>
            <a:xfrm>
              <a:off x="11190" y="5370"/>
              <a:ext cx="57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>
                  <a:latin typeface="Times New Roman" panose="02020603050405020304" charset="0"/>
                  <a:cs typeface="Times New Roman" panose="02020603050405020304" charset="0"/>
                </a:rPr>
                <a:t>=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7" name="文本框 26" title=""/>
          <p:cNvSpPr txBox="1"/>
          <p:nvPr>
            <p:custDataLst>
              <p:tags r:id="rId2"/>
            </p:custDataLst>
          </p:nvPr>
        </p:nvSpPr>
        <p:spPr>
          <a:xfrm>
            <a:off x="230505" y="200025"/>
            <a:ext cx="796036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spc="600">
                <a:solidFill>
                  <a:srgbClr val="0C76B2"/>
                </a:solidFill>
                <a:latin typeface="Times New Roman" panose="02020603050405020304" charset="0"/>
                <a:ea typeface="黑体" panose="02010609060101010101" charset="-122"/>
                <a:cs typeface="阿里巴巴普惠体 B" panose="00020600040101010101" pitchFamily="18" charset="-122"/>
              </a:rPr>
              <a:t>二、方法小结</a:t>
            </a:r>
          </a:p>
        </p:txBody>
      </p:sp>
      <p:sp>
        <p:nvSpPr>
          <p:cNvPr id="2" name="文本框 1" title=""/>
          <p:cNvSpPr txBox="1"/>
          <p:nvPr>
            <p:custDataLst>
              <p:tags r:id="rId3"/>
            </p:custDataLst>
          </p:nvPr>
        </p:nvSpPr>
        <p:spPr>
          <a:xfrm>
            <a:off x="606425" y="1527810"/>
            <a:ext cx="2219960" cy="565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受力特点</a:t>
            </a:r>
          </a:p>
        </p:txBody>
      </p:sp>
      <p:sp>
        <p:nvSpPr>
          <p:cNvPr id="12" name="左大括号 11" title=""/>
          <p:cNvSpPr/>
          <p:nvPr>
            <p:custDataLst>
              <p:tags r:id="rId4"/>
            </p:custDataLst>
          </p:nvPr>
        </p:nvSpPr>
        <p:spPr>
          <a:xfrm>
            <a:off x="2610485" y="1129030"/>
            <a:ext cx="138430" cy="1362710"/>
          </a:xfrm>
          <a:prstGeom prst="lef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8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 title=""/>
          <p:cNvSpPr txBox="1"/>
          <p:nvPr>
            <p:custDataLst>
              <p:tags r:id="rId5"/>
            </p:custDataLst>
          </p:nvPr>
        </p:nvSpPr>
        <p:spPr>
          <a:xfrm>
            <a:off x="2748915" y="1003935"/>
            <a:ext cx="55168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①一个为恒力，大小方向都不变；</a:t>
            </a:r>
          </a:p>
        </p:txBody>
      </p:sp>
      <p:sp>
        <p:nvSpPr>
          <p:cNvPr id="15" name="文本框 14" title=""/>
          <p:cNvSpPr txBox="1"/>
          <p:nvPr>
            <p:custDataLst>
              <p:tags r:id="rId6"/>
            </p:custDataLst>
          </p:nvPr>
        </p:nvSpPr>
        <p:spPr>
          <a:xfrm>
            <a:off x="2684145" y="1579880"/>
            <a:ext cx="40944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②另两个力方向均变化；</a:t>
            </a:r>
          </a:p>
        </p:txBody>
      </p:sp>
      <p:sp>
        <p:nvSpPr>
          <p:cNvPr id="16" name="文本框 15" title=""/>
          <p:cNvSpPr txBox="1"/>
          <p:nvPr>
            <p:custDataLst>
              <p:tags r:id="rId7"/>
            </p:custDataLst>
          </p:nvPr>
        </p:nvSpPr>
        <p:spPr>
          <a:xfrm>
            <a:off x="2684145" y="2157730"/>
            <a:ext cx="76504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③与物体有关的几何三角形两边长度大小不变；</a:t>
            </a:r>
          </a:p>
        </p:txBody>
      </p:sp>
      <p:sp>
        <p:nvSpPr>
          <p:cNvPr id="17" name="文本框 16" title=""/>
          <p:cNvSpPr txBox="1"/>
          <p:nvPr>
            <p:custDataLst>
              <p:tags r:id="rId8"/>
            </p:custDataLst>
          </p:nvPr>
        </p:nvSpPr>
        <p:spPr>
          <a:xfrm>
            <a:off x="619125" y="4418330"/>
            <a:ext cx="2046605" cy="874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分析步骤</a:t>
            </a:r>
          </a:p>
        </p:txBody>
      </p:sp>
      <p:sp>
        <p:nvSpPr>
          <p:cNvPr id="18" name="左大括号 17" title=""/>
          <p:cNvSpPr/>
          <p:nvPr>
            <p:custDataLst>
              <p:tags r:id="rId9"/>
            </p:custDataLst>
          </p:nvPr>
        </p:nvSpPr>
        <p:spPr>
          <a:xfrm>
            <a:off x="2616200" y="4081780"/>
            <a:ext cx="187960" cy="1362710"/>
          </a:xfrm>
          <a:prstGeom prst="lef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8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文本框 18" title=""/>
          <p:cNvSpPr txBox="1"/>
          <p:nvPr>
            <p:custDataLst>
              <p:tags r:id="rId10"/>
            </p:custDataLst>
          </p:nvPr>
        </p:nvSpPr>
        <p:spPr>
          <a:xfrm>
            <a:off x="2773680" y="3874770"/>
            <a:ext cx="44500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①分析物体的受力及特点；</a:t>
            </a:r>
          </a:p>
        </p:txBody>
      </p:sp>
      <p:sp>
        <p:nvSpPr>
          <p:cNvPr id="20" name="文本框 19" title=""/>
          <p:cNvSpPr txBox="1"/>
          <p:nvPr>
            <p:custDataLst>
              <p:tags r:id="rId11"/>
            </p:custDataLst>
          </p:nvPr>
        </p:nvSpPr>
        <p:spPr>
          <a:xfrm>
            <a:off x="2748915" y="4547870"/>
            <a:ext cx="72948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②利用平行四边形定则，作三力矢量三角形；</a:t>
            </a:r>
          </a:p>
        </p:txBody>
      </p:sp>
      <p:sp>
        <p:nvSpPr>
          <p:cNvPr id="21" name="文本框 20" title=""/>
          <p:cNvSpPr txBox="1"/>
          <p:nvPr>
            <p:custDataLst>
              <p:tags r:id="rId12"/>
            </p:custDataLst>
          </p:nvPr>
        </p:nvSpPr>
        <p:spPr>
          <a:xfrm>
            <a:off x="2773680" y="5199380"/>
            <a:ext cx="80060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③根据矢量三角形和几何三角形相似作定性分析；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文本框 1" title=""/>
          <p:cNvSpPr txBox="1"/>
          <p:nvPr/>
        </p:nvSpPr>
        <p:spPr>
          <a:xfrm>
            <a:off x="4179570" y="1863090"/>
            <a:ext cx="38328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000" cap="all">
                <a:solidFill>
                  <a:srgbClr val="38ABE3">
                    <a:alpha val="12000"/>
                  </a:srgbClr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conclusion</a:t>
            </a:r>
          </a:p>
        </p:txBody>
      </p:sp>
      <p:sp>
        <p:nvSpPr>
          <p:cNvPr id="4" name="圆角矩形 3" title=""/>
          <p:cNvSpPr/>
          <p:nvPr/>
        </p:nvSpPr>
        <p:spPr>
          <a:xfrm>
            <a:off x="5095240" y="2211705"/>
            <a:ext cx="2001520" cy="488950"/>
          </a:xfrm>
          <a:prstGeom prst="roundRect">
            <a:avLst>
              <a:gd name="adj" fmla="val 50000"/>
            </a:avLst>
          </a:prstGeom>
          <a:solidFill>
            <a:srgbClr val="38AB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3" name="文本框 12" title=""/>
          <p:cNvSpPr txBox="1"/>
          <p:nvPr/>
        </p:nvSpPr>
        <p:spPr>
          <a:xfrm>
            <a:off x="3637280" y="3022600"/>
            <a:ext cx="488569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/>
            <a:r>
              <a:rPr lang="zh-CN" altLang="en-US" sz="6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汉仪宋韵朗黑W" panose="00020600040101010101" charset="-122"/>
                <a:sym typeface="汉仪宋韵朗黑W"/>
              </a:rPr>
              <a:t>拉密定理法</a:t>
            </a:r>
          </a:p>
        </p:txBody>
      </p:sp>
      <p:sp>
        <p:nvSpPr>
          <p:cNvPr id="14" name="文本框 13" title=""/>
          <p:cNvSpPr txBox="1"/>
          <p:nvPr/>
        </p:nvSpPr>
        <p:spPr>
          <a:xfrm>
            <a:off x="5526405" y="2211705"/>
            <a:ext cx="119316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05</a:t>
            </a:r>
          </a:p>
        </p:txBody>
      </p:sp>
    </p:spTree>
    <p:custDataLst>
      <p:tags r:id="rId2"/>
    </p:custDataLst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文本框 3" title=""/>
          <p:cNvSpPr txBox="1"/>
          <p:nvPr>
            <p:custDataLst>
              <p:tags r:id="rId2"/>
            </p:custDataLst>
          </p:nvPr>
        </p:nvSpPr>
        <p:spPr>
          <a:xfrm>
            <a:off x="230505" y="633095"/>
            <a:ext cx="11635105" cy="57181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【例3】如图所示，两根轻绳一端系于结点O，另一端分别系于固定圆环上的A、B两点，O为圆心。O点下面悬挂一物体M，绳OA水平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,拉力大小为F</a:t>
            </a:r>
            <a:r>
              <a:rPr lang="en-US" altLang="zh-CN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1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，绳OB与绳OA成120°，拉力大小为F</a:t>
            </a:r>
            <a:r>
              <a:rPr lang="en-US" altLang="zh-CN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．将两绳同时缓慢顺时针转过75°，并保持两绳之间的夹角始终不变，物体始终保持静止状态．则在旋转过程中，下列说法正确的是（　　）</a:t>
            </a:r>
          </a:p>
          <a:p>
            <a:pPr>
              <a:lnSpc>
                <a:spcPct val="150000"/>
              </a:lnSpc>
            </a:pP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A. F</a:t>
            </a:r>
            <a:r>
              <a:rPr lang="zh-CN" altLang="en-US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逐渐增大</a:t>
            </a:r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B. F</a:t>
            </a:r>
            <a:r>
              <a:rPr lang="zh-CN" altLang="en-US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先增大后减小</a:t>
            </a:r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C. F</a:t>
            </a:r>
            <a:r>
              <a:rPr lang="zh-CN" altLang="en-US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逐渐减小</a:t>
            </a:r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D. F</a:t>
            </a:r>
            <a:r>
              <a:rPr lang="zh-CN" altLang="en-US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先减小后增大</a:t>
            </a:r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endParaRPr lang="en-US" altLang="zh-CN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27" name="文本框 26" title=""/>
          <p:cNvSpPr txBox="1"/>
          <p:nvPr>
            <p:custDataLst>
              <p:tags r:id="rId3"/>
            </p:custDataLst>
          </p:nvPr>
        </p:nvSpPr>
        <p:spPr>
          <a:xfrm>
            <a:off x="230505" y="200025"/>
            <a:ext cx="796036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spc="600">
                <a:solidFill>
                  <a:srgbClr val="0C76B2"/>
                </a:solidFill>
                <a:latin typeface="Times New Roman" panose="02020603050405020304" charset="0"/>
                <a:ea typeface="黑体" panose="02010609060101010101" charset="-122"/>
                <a:cs typeface="阿里巴巴普惠体 B" panose="00020600040101010101" pitchFamily="18" charset="-122"/>
              </a:rPr>
              <a:t>一、典例解析</a:t>
            </a:r>
          </a:p>
        </p:txBody>
      </p:sp>
      <p:grpSp>
        <p:nvGrpSpPr>
          <p:cNvPr id="12" name="组合 11" title=""/>
          <p:cNvGrpSpPr/>
          <p:nvPr/>
        </p:nvGrpSpPr>
        <p:grpSpPr>
          <a:xfrm>
            <a:off x="7885157" y="3457205"/>
            <a:ext cx="3321958" cy="3071230"/>
            <a:chOff x="8004" y="3615"/>
            <a:chExt cx="5670" cy="5242"/>
          </a:xfrm>
        </p:grpSpPr>
        <p:cxnSp>
          <p:nvCxnSpPr>
            <p:cNvPr id="5" name="直接连接符 4"/>
            <p:cNvCxnSpPr>
              <a:stCxn id="7" idx="2"/>
            </p:cNvCxnSpPr>
            <p:nvPr>
              <p:custDataLst>
                <p:tags r:id="rId4"/>
              </p:custDataLst>
            </p:nvPr>
          </p:nvCxnSpPr>
          <p:spPr>
            <a:xfrm>
              <a:off x="8744" y="6392"/>
              <a:ext cx="2457" cy="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>
              <p:custDataLst>
                <p:tags r:id="rId5"/>
              </p:custDataLst>
            </p:nvPr>
          </p:nvCxnSpPr>
          <p:spPr>
            <a:xfrm flipV="1">
              <a:off x="11205" y="4349"/>
              <a:ext cx="1387" cy="2043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椭圆 6"/>
            <p:cNvSpPr/>
            <p:nvPr>
              <p:custDataLst>
                <p:tags r:id="rId6"/>
              </p:custDataLst>
            </p:nvPr>
          </p:nvSpPr>
          <p:spPr>
            <a:xfrm>
              <a:off x="8744" y="3927"/>
              <a:ext cx="4930" cy="493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8" name="直接连接符 7"/>
            <p:cNvCxnSpPr/>
            <p:nvPr>
              <p:custDataLst>
                <p:tags r:id="rId7"/>
              </p:custDataLst>
            </p:nvPr>
          </p:nvCxnSpPr>
          <p:spPr>
            <a:xfrm flipH="1">
              <a:off x="11213" y="6378"/>
              <a:ext cx="0" cy="100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/>
            <p:cNvSpPr/>
            <p:nvPr>
              <p:custDataLst>
                <p:tags r:id="rId8"/>
              </p:custDataLst>
            </p:nvPr>
          </p:nvSpPr>
          <p:spPr>
            <a:xfrm>
              <a:off x="10915" y="7384"/>
              <a:ext cx="587" cy="554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9"/>
              </p:custDataLst>
            </p:nvPr>
          </p:nvSpPr>
          <p:spPr>
            <a:xfrm>
              <a:off x="11109" y="6198"/>
              <a:ext cx="521" cy="8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>
                  <a:latin typeface="Times New Roman" panose="02020603050405020304" charset="0"/>
                  <a:cs typeface="Times New Roman" panose="02020603050405020304" charset="0"/>
                </a:rPr>
                <a:t>O</a:t>
              </a:r>
            </a:p>
          </p:txBody>
        </p:sp>
        <p:sp>
          <p:nvSpPr>
            <p:cNvPr id="11" name="文本框 10"/>
            <p:cNvSpPr txBox="1"/>
            <p:nvPr>
              <p:custDataLst>
                <p:tags r:id="rId10"/>
              </p:custDataLst>
            </p:nvPr>
          </p:nvSpPr>
          <p:spPr>
            <a:xfrm>
              <a:off x="8004" y="5948"/>
              <a:ext cx="521" cy="8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>
                  <a:latin typeface="Times New Roman" panose="02020603050405020304" charset="0"/>
                  <a:cs typeface="Times New Roman" panose="02020603050405020304" charset="0"/>
                </a:rPr>
                <a:t>A</a:t>
              </a:r>
            </a:p>
          </p:txBody>
        </p:sp>
        <p:sp>
          <p:nvSpPr>
            <p:cNvPr id="15" name="文本框 14"/>
            <p:cNvSpPr txBox="1"/>
            <p:nvPr>
              <p:custDataLst>
                <p:tags r:id="rId11"/>
              </p:custDataLst>
            </p:nvPr>
          </p:nvSpPr>
          <p:spPr>
            <a:xfrm>
              <a:off x="12588" y="3615"/>
              <a:ext cx="554" cy="8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>
                  <a:latin typeface="Times New Roman" panose="02020603050405020304" charset="0"/>
                  <a:cs typeface="Times New Roman" panose="02020603050405020304" charset="0"/>
                </a:rPr>
                <a:t>B</a:t>
              </a:r>
            </a:p>
          </p:txBody>
        </p:sp>
        <p:sp>
          <p:nvSpPr>
            <p:cNvPr id="16" name="文本框 15"/>
            <p:cNvSpPr txBox="1"/>
            <p:nvPr>
              <p:custDataLst>
                <p:tags r:id="rId12"/>
              </p:custDataLst>
            </p:nvPr>
          </p:nvSpPr>
          <p:spPr>
            <a:xfrm>
              <a:off x="10808" y="7215"/>
              <a:ext cx="588" cy="8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>
                  <a:latin typeface="Times New Roman" panose="02020603050405020304" charset="0"/>
                  <a:cs typeface="Times New Roman" panose="02020603050405020304" charset="0"/>
                </a:rPr>
                <a:t>M</a:t>
              </a:r>
            </a:p>
          </p:txBody>
        </p:sp>
      </p:grpSp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7" name="文本框 26" title=""/>
          <p:cNvSpPr txBox="1"/>
          <p:nvPr>
            <p:custDataLst>
              <p:tags r:id="rId2"/>
            </p:custDataLst>
          </p:nvPr>
        </p:nvSpPr>
        <p:spPr>
          <a:xfrm>
            <a:off x="230505" y="200025"/>
            <a:ext cx="796036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  <a:sym typeface="+mn-ea"/>
              </a:rPr>
              <a:t>一、典例解析</a:t>
            </a:r>
            <a:endParaRPr lang="zh-CN" altLang="en-US" sz="2800" spc="600">
              <a:solidFill>
                <a:srgbClr val="0C76B2"/>
              </a:solidFill>
              <a:latin typeface="Times New Roman" panose="02020603050405020304" charset="0"/>
              <a:ea typeface="黑体" panose="02010609060101010101" charset="-122"/>
              <a:cs typeface="阿里巴巴普惠体 B" panose="00020600040101010101" pitchFamily="18" charset="-122"/>
            </a:endParaRPr>
          </a:p>
        </p:txBody>
      </p:sp>
      <p:grpSp>
        <p:nvGrpSpPr>
          <p:cNvPr id="13" name="组合 12" title=""/>
          <p:cNvGrpSpPr/>
          <p:nvPr/>
        </p:nvGrpSpPr>
        <p:grpSpPr>
          <a:xfrm>
            <a:off x="356870" y="1970527"/>
            <a:ext cx="4170045" cy="3795273"/>
            <a:chOff x="8257" y="3927"/>
            <a:chExt cx="5417" cy="4930"/>
          </a:xfrm>
        </p:grpSpPr>
        <p:cxnSp>
          <p:nvCxnSpPr>
            <p:cNvPr id="26" name="直接连接符 25"/>
            <p:cNvCxnSpPr>
              <a:stCxn id="35" idx="2"/>
            </p:cNvCxnSpPr>
            <p:nvPr>
              <p:custDataLst>
                <p:tags r:id="rId3"/>
              </p:custDataLst>
            </p:nvPr>
          </p:nvCxnSpPr>
          <p:spPr>
            <a:xfrm>
              <a:off x="8744" y="6392"/>
              <a:ext cx="2457" cy="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4"/>
              </p:custDataLst>
            </p:nvPr>
          </p:nvCxnSpPr>
          <p:spPr>
            <a:xfrm flipV="1">
              <a:off x="11205" y="4250"/>
              <a:ext cx="1242" cy="214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椭圆 34"/>
            <p:cNvSpPr/>
            <p:nvPr>
              <p:custDataLst>
                <p:tags r:id="rId5"/>
              </p:custDataLst>
            </p:nvPr>
          </p:nvSpPr>
          <p:spPr>
            <a:xfrm>
              <a:off x="8744" y="3927"/>
              <a:ext cx="4930" cy="493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7" name="直接连接符 36"/>
            <p:cNvCxnSpPr/>
            <p:nvPr>
              <p:custDataLst>
                <p:tags r:id="rId6"/>
              </p:custDataLst>
            </p:nvPr>
          </p:nvCxnSpPr>
          <p:spPr>
            <a:xfrm flipH="1">
              <a:off x="11213" y="6378"/>
              <a:ext cx="0" cy="100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矩形 42"/>
            <p:cNvSpPr/>
            <p:nvPr>
              <p:custDataLst>
                <p:tags r:id="rId7"/>
              </p:custDataLst>
            </p:nvPr>
          </p:nvSpPr>
          <p:spPr>
            <a:xfrm>
              <a:off x="10915" y="7384"/>
              <a:ext cx="587" cy="554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/>
            <p:cNvSpPr txBox="1"/>
            <p:nvPr>
              <p:custDataLst>
                <p:tags r:id="rId8"/>
              </p:custDataLst>
            </p:nvPr>
          </p:nvSpPr>
          <p:spPr>
            <a:xfrm>
              <a:off x="11212" y="6153"/>
              <a:ext cx="521" cy="4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O</a:t>
              </a:r>
            </a:p>
          </p:txBody>
        </p:sp>
        <p:sp>
          <p:nvSpPr>
            <p:cNvPr id="46" name="文本框 45"/>
            <p:cNvSpPr txBox="1"/>
            <p:nvPr>
              <p:custDataLst>
                <p:tags r:id="rId9"/>
              </p:custDataLst>
            </p:nvPr>
          </p:nvSpPr>
          <p:spPr>
            <a:xfrm>
              <a:off x="8257" y="6166"/>
              <a:ext cx="521" cy="4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A</a:t>
              </a:r>
            </a:p>
          </p:txBody>
        </p:sp>
        <p:sp>
          <p:nvSpPr>
            <p:cNvPr id="47" name="文本框 46"/>
            <p:cNvSpPr txBox="1"/>
            <p:nvPr>
              <p:custDataLst>
                <p:tags r:id="rId10"/>
              </p:custDataLst>
            </p:nvPr>
          </p:nvSpPr>
          <p:spPr>
            <a:xfrm>
              <a:off x="12317" y="4270"/>
              <a:ext cx="554" cy="4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B</a:t>
              </a:r>
            </a:p>
          </p:txBody>
        </p:sp>
        <p:sp>
          <p:nvSpPr>
            <p:cNvPr id="48" name="文本框 47"/>
            <p:cNvSpPr txBox="1"/>
            <p:nvPr>
              <p:custDataLst>
                <p:tags r:id="rId11"/>
              </p:custDataLst>
            </p:nvPr>
          </p:nvSpPr>
          <p:spPr>
            <a:xfrm>
              <a:off x="10990" y="7420"/>
              <a:ext cx="588" cy="4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M</a:t>
              </a:r>
            </a:p>
          </p:txBody>
        </p:sp>
      </p:grpSp>
      <p:grpSp>
        <p:nvGrpSpPr>
          <p:cNvPr id="49" name="组合 48" title=""/>
          <p:cNvGrpSpPr/>
          <p:nvPr/>
        </p:nvGrpSpPr>
        <p:grpSpPr>
          <a:xfrm>
            <a:off x="5459095" y="2336800"/>
            <a:ext cx="1367790" cy="2345055"/>
            <a:chOff x="10230" y="3541"/>
            <a:chExt cx="2154" cy="3693"/>
          </a:xfrm>
        </p:grpSpPr>
        <p:cxnSp>
          <p:nvCxnSpPr>
            <p:cNvPr id="50" name="直接连接符 49"/>
            <p:cNvCxnSpPr/>
            <p:nvPr>
              <p:custDataLst>
                <p:tags r:id="rId12"/>
              </p:custDataLst>
            </p:nvPr>
          </p:nvCxnSpPr>
          <p:spPr>
            <a:xfrm flipV="1">
              <a:off x="10254" y="3561"/>
              <a:ext cx="2130" cy="3665"/>
            </a:xfrm>
            <a:prstGeom prst="line">
              <a:avLst/>
            </a:prstGeom>
            <a:ln w="50800">
              <a:solidFill>
                <a:srgbClr val="006628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>
              <p:custDataLst>
                <p:tags r:id="rId13"/>
              </p:custDataLst>
            </p:nvPr>
          </p:nvCxnSpPr>
          <p:spPr>
            <a:xfrm flipH="1">
              <a:off x="10230" y="7226"/>
              <a:ext cx="2154" cy="9"/>
            </a:xfrm>
            <a:prstGeom prst="line">
              <a:avLst/>
            </a:prstGeom>
            <a:ln w="50800">
              <a:solidFill>
                <a:srgbClr val="00B0F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>
              <p:custDataLst>
                <p:tags r:id="rId14"/>
              </p:custDataLst>
            </p:nvPr>
          </p:nvCxnSpPr>
          <p:spPr>
            <a:xfrm flipH="1">
              <a:off x="12384" y="3541"/>
              <a:ext cx="0" cy="3685"/>
            </a:xfrm>
            <a:prstGeom prst="line">
              <a:avLst/>
            </a:prstGeom>
            <a:ln w="50800">
              <a:solidFill>
                <a:srgbClr val="FF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直接连接符 52" title=""/>
          <p:cNvCxnSpPr/>
          <p:nvPr>
            <p:custDataLst>
              <p:tags r:id="rId15"/>
            </p:custDataLst>
          </p:nvPr>
        </p:nvCxnSpPr>
        <p:spPr>
          <a:xfrm flipV="1">
            <a:off x="2654935" y="1530985"/>
            <a:ext cx="1352550" cy="2327275"/>
          </a:xfrm>
          <a:prstGeom prst="line">
            <a:avLst/>
          </a:prstGeom>
          <a:ln w="317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 title=""/>
          <p:cNvCxnSpPr/>
          <p:nvPr>
            <p:custDataLst>
              <p:tags r:id="rId16"/>
            </p:custDataLst>
          </p:nvPr>
        </p:nvCxnSpPr>
        <p:spPr>
          <a:xfrm flipH="1">
            <a:off x="1250315" y="3852545"/>
            <a:ext cx="1367790" cy="5715"/>
          </a:xfrm>
          <a:prstGeom prst="line">
            <a:avLst/>
          </a:prstGeom>
          <a:ln w="50800">
            <a:solidFill>
              <a:srgbClr val="00B0F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 title=""/>
          <p:cNvGrpSpPr/>
          <p:nvPr/>
        </p:nvGrpSpPr>
        <p:grpSpPr>
          <a:xfrm>
            <a:off x="1282065" y="1509395"/>
            <a:ext cx="2720340" cy="2347595"/>
            <a:chOff x="1513" y="2118"/>
            <a:chExt cx="4284" cy="3697"/>
          </a:xfrm>
        </p:grpSpPr>
        <p:cxnSp>
          <p:nvCxnSpPr>
            <p:cNvPr id="56" name="直接连接符 55"/>
            <p:cNvCxnSpPr/>
            <p:nvPr>
              <p:custDataLst>
                <p:tags r:id="rId17"/>
              </p:custDataLst>
            </p:nvPr>
          </p:nvCxnSpPr>
          <p:spPr>
            <a:xfrm flipH="1">
              <a:off x="3643" y="2131"/>
              <a:ext cx="2154" cy="17"/>
            </a:xfrm>
            <a:prstGeom prst="line">
              <a:avLst/>
            </a:prstGeom>
            <a:ln w="317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>
              <p:custDataLst>
                <p:tags r:id="rId18"/>
              </p:custDataLst>
            </p:nvPr>
          </p:nvCxnSpPr>
          <p:spPr>
            <a:xfrm flipH="1">
              <a:off x="3627" y="2131"/>
              <a:ext cx="0" cy="3685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>
              <p:custDataLst>
                <p:tags r:id="rId19"/>
              </p:custDataLst>
            </p:nvPr>
          </p:nvCxnSpPr>
          <p:spPr>
            <a:xfrm flipV="1">
              <a:off x="1513" y="2118"/>
              <a:ext cx="2130" cy="3665"/>
            </a:xfrm>
            <a:prstGeom prst="line">
              <a:avLst/>
            </a:prstGeom>
            <a:ln w="317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5" name="直接连接符 64" title=""/>
          <p:cNvCxnSpPr/>
          <p:nvPr>
            <p:custDataLst>
              <p:tags r:id="rId20"/>
            </p:custDataLst>
          </p:nvPr>
        </p:nvCxnSpPr>
        <p:spPr>
          <a:xfrm flipV="1">
            <a:off x="2649855" y="1530985"/>
            <a:ext cx="1352550" cy="2327275"/>
          </a:xfrm>
          <a:prstGeom prst="line">
            <a:avLst/>
          </a:prstGeom>
          <a:ln w="50800">
            <a:solidFill>
              <a:srgbClr val="006628"/>
            </a:solidFill>
            <a:prstDash val="solid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 title=""/>
          <p:cNvCxnSpPr/>
          <p:nvPr>
            <p:custDataLst>
              <p:tags r:id="rId21"/>
            </p:custDataLst>
          </p:nvPr>
        </p:nvCxnSpPr>
        <p:spPr>
          <a:xfrm flipH="1">
            <a:off x="2628927" y="3836670"/>
            <a:ext cx="0" cy="2339975"/>
          </a:xfrm>
          <a:prstGeom prst="line">
            <a:avLst/>
          </a:prstGeom>
          <a:ln w="508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组合 66" title=""/>
          <p:cNvGrpSpPr/>
          <p:nvPr/>
        </p:nvGrpSpPr>
        <p:grpSpPr>
          <a:xfrm>
            <a:off x="5497830" y="2528570"/>
            <a:ext cx="1450340" cy="2322195"/>
            <a:chOff x="10304" y="3839"/>
            <a:chExt cx="2284" cy="3657"/>
          </a:xfrm>
        </p:grpSpPr>
        <p:grpSp>
          <p:nvGrpSpPr>
            <p:cNvPr id="68" name="组合 67"/>
            <p:cNvGrpSpPr/>
            <p:nvPr/>
          </p:nvGrpSpPr>
          <p:grpSpPr>
            <a:xfrm>
              <a:off x="10304" y="6636"/>
              <a:ext cx="734" cy="796"/>
              <a:chOff x="7732" y="8025"/>
              <a:chExt cx="734" cy="796"/>
            </a:xfrm>
          </p:grpSpPr>
          <p:sp>
            <p:nvSpPr>
              <p:cNvPr id="69" name="弧形 68"/>
              <p:cNvSpPr/>
              <p:nvPr>
                <p:custDataLst>
                  <p:tags r:id="rId22"/>
                </p:custDataLst>
              </p:nvPr>
            </p:nvSpPr>
            <p:spPr>
              <a:xfrm>
                <a:off x="7732" y="8321"/>
                <a:ext cx="337" cy="500"/>
              </a:xfrm>
              <a:prstGeom prst="arc">
                <a:avLst/>
              </a:prstGeom>
              <a:ln w="158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文本框 69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7970" y="8025"/>
                <a:ext cx="496" cy="5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zh-CN" altLang="en-US">
                    <a:solidFill>
                      <a:srgbClr val="FF0000"/>
                    </a:solidFill>
                    <a:latin typeface="Arial" panose="020b0604020202020204" pitchFamily="34" charset="0"/>
                  </a:rPr>
                  <a:t>α</a:t>
                </a:r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11961" y="3839"/>
              <a:ext cx="495" cy="710"/>
              <a:chOff x="9504" y="8662"/>
              <a:chExt cx="495" cy="710"/>
            </a:xfrm>
          </p:grpSpPr>
          <p:sp>
            <p:nvSpPr>
              <p:cNvPr id="72" name="弧形 71"/>
              <p:cNvSpPr/>
              <p:nvPr>
                <p:custDataLst>
                  <p:tags r:id="rId24"/>
                </p:custDataLst>
              </p:nvPr>
            </p:nvSpPr>
            <p:spPr>
              <a:xfrm rot="7200000">
                <a:off x="9675" y="8617"/>
                <a:ext cx="186" cy="276"/>
              </a:xfrm>
              <a:prstGeom prst="arc">
                <a:avLst/>
              </a:prstGeom>
              <a:ln w="15875">
                <a:solidFill>
                  <a:srgbClr val="00A8D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文本框 72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9504" y="8792"/>
                <a:ext cx="495" cy="5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zh-CN" altLang="en-US">
                    <a:solidFill>
                      <a:srgbClr val="00A8D2"/>
                    </a:solidFill>
                    <a:latin typeface="Arial" panose="020b0604020202020204" pitchFamily="34" charset="0"/>
                  </a:rPr>
                  <a:t>β</a:t>
                </a:r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11813" y="6556"/>
              <a:ext cx="775" cy="940"/>
              <a:chOff x="12038" y="8789"/>
              <a:chExt cx="775" cy="940"/>
            </a:xfrm>
          </p:grpSpPr>
          <p:sp>
            <p:nvSpPr>
              <p:cNvPr id="75" name="弧形 74"/>
              <p:cNvSpPr/>
              <p:nvPr>
                <p:custDataLst>
                  <p:tags r:id="rId26"/>
                </p:custDataLst>
              </p:nvPr>
            </p:nvSpPr>
            <p:spPr>
              <a:xfrm flipH="1">
                <a:off x="12343" y="9087"/>
                <a:ext cx="470" cy="642"/>
              </a:xfrm>
              <a:prstGeom prst="arc">
                <a:avLst/>
              </a:prstGeom>
              <a:ln w="15875">
                <a:solidFill>
                  <a:srgbClr val="00662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文本框 75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12038" y="8789"/>
                <a:ext cx="488" cy="5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zh-CN" altLang="en-US">
                    <a:solidFill>
                      <a:srgbClr val="006628"/>
                    </a:solidFill>
                    <a:latin typeface="Arial" panose="020b0604020202020204" pitchFamily="34" charset="0"/>
                  </a:rPr>
                  <a:t>θ</a:t>
                </a:r>
              </a:p>
            </p:txBody>
          </p:sp>
        </p:grpSp>
      </p:grpSp>
      <p:grpSp>
        <p:nvGrpSpPr>
          <p:cNvPr id="77" name="组合 76" title=""/>
          <p:cNvGrpSpPr/>
          <p:nvPr/>
        </p:nvGrpSpPr>
        <p:grpSpPr>
          <a:xfrm>
            <a:off x="5654675" y="3256280"/>
            <a:ext cx="1628140" cy="1844675"/>
            <a:chOff x="8145" y="2878"/>
            <a:chExt cx="2564" cy="2905"/>
          </a:xfrm>
        </p:grpSpPr>
        <p:sp>
          <p:nvSpPr>
            <p:cNvPr id="78" name="文本框 77"/>
            <p:cNvSpPr txBox="1"/>
            <p:nvPr>
              <p:custDataLst>
                <p:tags r:id="rId28"/>
              </p:custDataLst>
            </p:nvPr>
          </p:nvSpPr>
          <p:spPr>
            <a:xfrm>
              <a:off x="8784" y="5155"/>
              <a:ext cx="771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>
                  <a:solidFill>
                    <a:srgbClr val="00A8D2"/>
                  </a:solidFill>
                  <a:latin typeface="Times New Roman" panose="02020603050405020304" charset="0"/>
                </a:rPr>
                <a:t>F</a:t>
              </a:r>
              <a:r>
                <a:rPr lang="en-US" altLang="zh-CN" sz="2000" b="1" baseline="-25000">
                  <a:solidFill>
                    <a:srgbClr val="00A8D2"/>
                  </a:solidFill>
                  <a:latin typeface="Times New Roman" panose="02020603050405020304" charset="0"/>
                </a:rPr>
                <a:t>1</a:t>
              </a:r>
            </a:p>
          </p:txBody>
        </p:sp>
        <p:sp>
          <p:nvSpPr>
            <p:cNvPr id="79" name="文本框 78"/>
            <p:cNvSpPr txBox="1"/>
            <p:nvPr>
              <p:custDataLst>
                <p:tags r:id="rId29"/>
              </p:custDataLst>
            </p:nvPr>
          </p:nvSpPr>
          <p:spPr>
            <a:xfrm>
              <a:off x="8145" y="2958"/>
              <a:ext cx="719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>
                  <a:solidFill>
                    <a:srgbClr val="006628"/>
                  </a:solidFill>
                  <a:latin typeface="Times New Roman" panose="02020603050405020304" charset="0"/>
                </a:rPr>
                <a:t>F</a:t>
              </a:r>
              <a:r>
                <a:rPr lang="en-US" altLang="zh-CN" sz="2000" b="1" baseline="-25000">
                  <a:solidFill>
                    <a:srgbClr val="006628"/>
                  </a:solidFill>
                  <a:latin typeface="Times New Roman" panose="02020603050405020304" charset="0"/>
                </a:rPr>
                <a:t>2</a:t>
              </a:r>
            </a:p>
          </p:txBody>
        </p:sp>
        <p:sp>
          <p:nvSpPr>
            <p:cNvPr id="80" name="文本框 79"/>
            <p:cNvSpPr txBox="1"/>
            <p:nvPr>
              <p:custDataLst>
                <p:tags r:id="rId30"/>
              </p:custDataLst>
            </p:nvPr>
          </p:nvSpPr>
          <p:spPr>
            <a:xfrm>
              <a:off x="9991" y="2878"/>
              <a:ext cx="719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charset="0"/>
                </a:rPr>
                <a:t>F</a:t>
              </a:r>
              <a:r>
                <a:rPr lang="en-US" altLang="zh-CN" sz="2000" b="1" baseline="-25000">
                  <a:solidFill>
                    <a:srgbClr val="FF0000"/>
                  </a:solidFill>
                  <a:latin typeface="Times New Roman" panose="02020603050405020304" charset="0"/>
                </a:rPr>
                <a:t>3</a:t>
              </a:r>
            </a:p>
          </p:txBody>
        </p:sp>
      </p:grpSp>
      <p:grpSp>
        <p:nvGrpSpPr>
          <p:cNvPr id="81" name="组合 80" title=""/>
          <p:cNvGrpSpPr/>
          <p:nvPr/>
        </p:nvGrpSpPr>
        <p:grpSpPr>
          <a:xfrm>
            <a:off x="7918450" y="2376170"/>
            <a:ext cx="3415030" cy="930910"/>
            <a:chOff x="7969" y="5942"/>
            <a:chExt cx="5378" cy="1466"/>
          </a:xfrm>
        </p:grpSpPr>
        <p:pic>
          <p:nvPicPr>
            <p:cNvPr id="82" name="图片 10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31">
              <a:lum bright="-12000" contrast="24000"/>
            </a:blip>
            <a:stretch>
              <a:fillRect/>
            </a:stretch>
          </p:blipFill>
          <p:spPr>
            <a:xfrm>
              <a:off x="7969" y="5942"/>
              <a:ext cx="1348" cy="146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3" name="图片 11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33">
              <a:lum bright="-12000" contrast="24000"/>
            </a:blip>
            <a:stretch>
              <a:fillRect/>
            </a:stretch>
          </p:blipFill>
          <p:spPr>
            <a:xfrm>
              <a:off x="10012" y="5978"/>
              <a:ext cx="1293" cy="139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4" name="图片 12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35">
              <a:lum bright="-12000" contrast="30000"/>
            </a:blip>
            <a:stretch>
              <a:fillRect/>
            </a:stretch>
          </p:blipFill>
          <p:spPr>
            <a:xfrm>
              <a:off x="12119" y="6042"/>
              <a:ext cx="1229" cy="126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5" name="文本框 84"/>
            <p:cNvSpPr txBox="1"/>
            <p:nvPr>
              <p:custDataLst>
                <p:tags r:id="rId37"/>
              </p:custDataLst>
            </p:nvPr>
          </p:nvSpPr>
          <p:spPr>
            <a:xfrm>
              <a:off x="9359" y="6182"/>
              <a:ext cx="60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/>
                <a:t>=</a:t>
              </a:r>
            </a:p>
          </p:txBody>
        </p:sp>
        <p:sp>
          <p:nvSpPr>
            <p:cNvPr id="86" name="文本框 85"/>
            <p:cNvSpPr txBox="1"/>
            <p:nvPr>
              <p:custDataLst>
                <p:tags r:id="rId38"/>
              </p:custDataLst>
            </p:nvPr>
          </p:nvSpPr>
          <p:spPr>
            <a:xfrm>
              <a:off x="11389" y="6154"/>
              <a:ext cx="60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/>
                <a:t>=</a:t>
              </a:r>
            </a:p>
          </p:txBody>
        </p:sp>
      </p:grpSp>
      <p:grpSp>
        <p:nvGrpSpPr>
          <p:cNvPr id="87" name="组合 86" title=""/>
          <p:cNvGrpSpPr/>
          <p:nvPr/>
        </p:nvGrpSpPr>
        <p:grpSpPr>
          <a:xfrm>
            <a:off x="352425" y="1398270"/>
            <a:ext cx="4169410" cy="4906010"/>
            <a:chOff x="257" y="2183"/>
            <a:chExt cx="6566" cy="7726"/>
          </a:xfrm>
        </p:grpSpPr>
        <p:grpSp>
          <p:nvGrpSpPr>
            <p:cNvPr id="96" name="组合 95"/>
            <p:cNvGrpSpPr/>
            <p:nvPr/>
          </p:nvGrpSpPr>
          <p:grpSpPr>
            <a:xfrm>
              <a:off x="257" y="2362"/>
              <a:ext cx="6566" cy="7349"/>
              <a:chOff x="56" y="2118"/>
              <a:chExt cx="6566" cy="7349"/>
            </a:xfrm>
          </p:grpSpPr>
          <p:grpSp>
            <p:nvGrpSpPr>
              <p:cNvPr id="118" name="组合 117"/>
              <p:cNvGrpSpPr/>
              <p:nvPr/>
            </p:nvGrpSpPr>
            <p:grpSpPr>
              <a:xfrm>
                <a:off x="56" y="2844"/>
                <a:ext cx="6567" cy="5977"/>
                <a:chOff x="8257" y="3927"/>
                <a:chExt cx="5417" cy="4930"/>
              </a:xfrm>
            </p:grpSpPr>
            <p:cxnSp>
              <p:nvCxnSpPr>
                <p:cNvPr id="120" name="直接连接符 119"/>
                <p:cNvCxnSpPr>
                  <a:stCxn id="122" idx="2"/>
                </p:cNvCxnSpPr>
                <p:nvPr>
                  <p:custDataLst>
                    <p:tags r:id="rId39"/>
                  </p:custDataLst>
                </p:nvPr>
              </p:nvCxnSpPr>
              <p:spPr>
                <a:xfrm>
                  <a:off x="8744" y="6392"/>
                  <a:ext cx="2457" cy="3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直接连接符 120"/>
                <p:cNvCxnSpPr/>
                <p:nvPr>
                  <p:custDataLst>
                    <p:tags r:id="rId40"/>
                  </p:custDataLst>
                </p:nvPr>
              </p:nvCxnSpPr>
              <p:spPr>
                <a:xfrm flipV="1">
                  <a:off x="11205" y="4250"/>
                  <a:ext cx="1242" cy="2142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2" name="椭圆 121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8744" y="3927"/>
                  <a:ext cx="4930" cy="493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3" name="直接连接符 122"/>
                <p:cNvCxnSpPr/>
                <p:nvPr>
                  <p:custDataLst>
                    <p:tags r:id="rId42"/>
                  </p:custDataLst>
                </p:nvPr>
              </p:nvCxnSpPr>
              <p:spPr>
                <a:xfrm flipH="1">
                  <a:off x="11213" y="6378"/>
                  <a:ext cx="0" cy="100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2" name="矩形 131"/>
                <p:cNvSpPr/>
                <p:nvPr>
                  <p:custDataLst>
                    <p:tags r:id="rId43"/>
                  </p:custDataLst>
                </p:nvPr>
              </p:nvSpPr>
              <p:spPr>
                <a:xfrm>
                  <a:off x="10915" y="7384"/>
                  <a:ext cx="587" cy="554"/>
                </a:xfrm>
                <a:prstGeom prst="rect">
                  <a:avLst/>
                </a:prstGeom>
                <a:no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4" name="文本框 173"/>
                <p:cNvSpPr txBox="1"/>
                <p:nvPr>
                  <p:custDataLst>
                    <p:tags r:id="rId44"/>
                  </p:custDataLst>
                </p:nvPr>
              </p:nvSpPr>
              <p:spPr>
                <a:xfrm>
                  <a:off x="8257" y="6166"/>
                  <a:ext cx="521" cy="4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/>
                    <a:t>A</a:t>
                  </a:r>
                </a:p>
              </p:txBody>
            </p:sp>
            <p:sp>
              <p:nvSpPr>
                <p:cNvPr id="175" name="文本框 174"/>
                <p:cNvSpPr txBox="1"/>
                <p:nvPr>
                  <p:custDataLst>
                    <p:tags r:id="rId45"/>
                  </p:custDataLst>
                </p:nvPr>
              </p:nvSpPr>
              <p:spPr>
                <a:xfrm>
                  <a:off x="12317" y="4270"/>
                  <a:ext cx="554" cy="4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/>
                    <a:t>B</a:t>
                  </a:r>
                </a:p>
              </p:txBody>
            </p:sp>
            <p:sp>
              <p:nvSpPr>
                <p:cNvPr id="176" name="文本框 175"/>
                <p:cNvSpPr txBox="1"/>
                <p:nvPr>
                  <p:custDataLst>
                    <p:tags r:id="rId46"/>
                  </p:custDataLst>
                </p:nvPr>
              </p:nvSpPr>
              <p:spPr>
                <a:xfrm>
                  <a:off x="10990" y="7420"/>
                  <a:ext cx="588" cy="4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/>
                    <a:t>M</a:t>
                  </a:r>
                </a:p>
              </p:txBody>
            </p:sp>
          </p:grpSp>
          <p:cxnSp>
            <p:nvCxnSpPr>
              <p:cNvPr id="177" name="直接连接符 176"/>
              <p:cNvCxnSpPr/>
              <p:nvPr>
                <p:custDataLst>
                  <p:tags r:id="rId47"/>
                </p:custDataLst>
              </p:nvPr>
            </p:nvCxnSpPr>
            <p:spPr>
              <a:xfrm flipV="1">
                <a:off x="3675" y="2152"/>
                <a:ext cx="2130" cy="3665"/>
              </a:xfrm>
              <a:prstGeom prst="line">
                <a:avLst/>
              </a:prstGeom>
              <a:ln w="3175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接连接符 177"/>
              <p:cNvCxnSpPr/>
              <p:nvPr>
                <p:custDataLst>
                  <p:tags r:id="rId48"/>
                </p:custDataLst>
              </p:nvPr>
            </p:nvCxnSpPr>
            <p:spPr>
              <a:xfrm flipH="1">
                <a:off x="1463" y="5808"/>
                <a:ext cx="2154" cy="9"/>
              </a:xfrm>
              <a:prstGeom prst="line">
                <a:avLst/>
              </a:prstGeom>
              <a:ln w="50800">
                <a:solidFill>
                  <a:srgbClr val="00B0F0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9" name="组合 178"/>
              <p:cNvGrpSpPr/>
              <p:nvPr/>
            </p:nvGrpSpPr>
            <p:grpSpPr>
              <a:xfrm>
                <a:off x="1513" y="2118"/>
                <a:ext cx="4284" cy="3697"/>
                <a:chOff x="1513" y="2118"/>
                <a:chExt cx="4284" cy="3697"/>
              </a:xfrm>
            </p:grpSpPr>
            <p:cxnSp>
              <p:nvCxnSpPr>
                <p:cNvPr id="180" name="直接连接符 179"/>
                <p:cNvCxnSpPr/>
                <p:nvPr>
                  <p:custDataLst>
                    <p:tags r:id="rId49"/>
                  </p:custDataLst>
                </p:nvPr>
              </p:nvCxnSpPr>
              <p:spPr>
                <a:xfrm flipH="1">
                  <a:off x="3643" y="2131"/>
                  <a:ext cx="2154" cy="17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直接连接符 180"/>
                <p:cNvCxnSpPr/>
                <p:nvPr>
                  <p:custDataLst>
                    <p:tags r:id="rId50"/>
                  </p:custDataLst>
                </p:nvPr>
              </p:nvCxnSpPr>
              <p:spPr>
                <a:xfrm flipH="1">
                  <a:off x="3627" y="2131"/>
                  <a:ext cx="0" cy="368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直接连接符 181"/>
                <p:cNvCxnSpPr/>
                <p:nvPr>
                  <p:custDataLst>
                    <p:tags r:id="rId51"/>
                  </p:custDataLst>
                </p:nvPr>
              </p:nvCxnSpPr>
              <p:spPr>
                <a:xfrm flipV="1">
                  <a:off x="1513" y="2118"/>
                  <a:ext cx="2130" cy="3665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3" name="直接连接符 182"/>
              <p:cNvCxnSpPr/>
              <p:nvPr>
                <p:custDataLst>
                  <p:tags r:id="rId52"/>
                </p:custDataLst>
              </p:nvPr>
            </p:nvCxnSpPr>
            <p:spPr>
              <a:xfrm flipV="1">
                <a:off x="3667" y="2152"/>
                <a:ext cx="2130" cy="3665"/>
              </a:xfrm>
              <a:prstGeom prst="line">
                <a:avLst/>
              </a:prstGeom>
              <a:ln w="50800">
                <a:solidFill>
                  <a:srgbClr val="006628"/>
                </a:solidFill>
                <a:prstDash val="solid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 183"/>
              <p:cNvCxnSpPr/>
              <p:nvPr>
                <p:custDataLst>
                  <p:tags r:id="rId53"/>
                </p:custDataLst>
              </p:nvPr>
            </p:nvCxnSpPr>
            <p:spPr>
              <a:xfrm flipH="1">
                <a:off x="3634" y="5783"/>
                <a:ext cx="0" cy="3685"/>
              </a:xfrm>
              <a:prstGeom prst="line">
                <a:avLst/>
              </a:prstGeom>
              <a:ln w="50800">
                <a:solidFill>
                  <a:srgbClr val="FF0000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5" name="文本框 184"/>
            <p:cNvSpPr txBox="1"/>
            <p:nvPr>
              <p:custDataLst>
                <p:tags r:id="rId54"/>
              </p:custDataLst>
            </p:nvPr>
          </p:nvSpPr>
          <p:spPr>
            <a:xfrm>
              <a:off x="1517" y="6060"/>
              <a:ext cx="771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>
                  <a:solidFill>
                    <a:srgbClr val="00A8D2"/>
                  </a:solidFill>
                  <a:latin typeface="Times New Roman" panose="02020603050405020304" charset="0"/>
                </a:rPr>
                <a:t>F</a:t>
              </a:r>
              <a:r>
                <a:rPr lang="en-US" altLang="zh-CN" sz="2000" b="1" baseline="-25000">
                  <a:solidFill>
                    <a:srgbClr val="00A8D2"/>
                  </a:solidFill>
                  <a:latin typeface="Times New Roman" panose="02020603050405020304" charset="0"/>
                </a:rPr>
                <a:t>1</a:t>
              </a:r>
            </a:p>
          </p:txBody>
        </p:sp>
        <p:sp>
          <p:nvSpPr>
            <p:cNvPr id="186" name="文本框 185"/>
            <p:cNvSpPr txBox="1"/>
            <p:nvPr>
              <p:custDataLst>
                <p:tags r:id="rId55"/>
              </p:custDataLst>
            </p:nvPr>
          </p:nvSpPr>
          <p:spPr>
            <a:xfrm>
              <a:off x="5942" y="2183"/>
              <a:ext cx="719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>
                  <a:solidFill>
                    <a:srgbClr val="006628"/>
                  </a:solidFill>
                  <a:latin typeface="Times New Roman" panose="02020603050405020304" charset="0"/>
                </a:rPr>
                <a:t>F</a:t>
              </a:r>
              <a:r>
                <a:rPr lang="en-US" altLang="zh-CN" sz="2000" b="1" baseline="-25000">
                  <a:solidFill>
                    <a:srgbClr val="006628"/>
                  </a:solidFill>
                  <a:latin typeface="Times New Roman" panose="02020603050405020304" charset="0"/>
                </a:rPr>
                <a:t>2</a:t>
              </a:r>
            </a:p>
          </p:txBody>
        </p:sp>
        <p:sp>
          <p:nvSpPr>
            <p:cNvPr id="187" name="文本框 186"/>
            <p:cNvSpPr txBox="1"/>
            <p:nvPr>
              <p:custDataLst>
                <p:tags r:id="rId56"/>
              </p:custDataLst>
            </p:nvPr>
          </p:nvSpPr>
          <p:spPr>
            <a:xfrm>
              <a:off x="3876" y="9281"/>
              <a:ext cx="719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charset="0"/>
                </a:rPr>
                <a:t>F</a:t>
              </a:r>
              <a:r>
                <a:rPr lang="en-US" altLang="zh-CN" sz="2000" b="1" baseline="-25000">
                  <a:solidFill>
                    <a:srgbClr val="FF0000"/>
                  </a:solidFill>
                  <a:latin typeface="Times New Roman" panose="02020603050405020304" charset="0"/>
                </a:rPr>
                <a:t>3</a:t>
              </a:r>
            </a:p>
          </p:txBody>
        </p:sp>
      </p:grpSp>
      <p:grpSp>
        <p:nvGrpSpPr>
          <p:cNvPr id="188" name="组合 187" title=""/>
          <p:cNvGrpSpPr/>
          <p:nvPr/>
        </p:nvGrpSpPr>
        <p:grpSpPr>
          <a:xfrm>
            <a:off x="1282065" y="3502660"/>
            <a:ext cx="464185" cy="498475"/>
            <a:chOff x="8216" y="3456"/>
            <a:chExt cx="731" cy="785"/>
          </a:xfrm>
        </p:grpSpPr>
        <p:sp>
          <p:nvSpPr>
            <p:cNvPr id="189" name="弧形 188"/>
            <p:cNvSpPr/>
            <p:nvPr>
              <p:custDataLst>
                <p:tags r:id="rId57"/>
              </p:custDataLst>
            </p:nvPr>
          </p:nvSpPr>
          <p:spPr>
            <a:xfrm>
              <a:off x="8216" y="3741"/>
              <a:ext cx="337" cy="500"/>
            </a:xfrm>
            <a:prstGeom prst="arc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文本框 189"/>
            <p:cNvSpPr txBox="1"/>
            <p:nvPr>
              <p:custDataLst>
                <p:tags r:id="rId58"/>
              </p:custDataLst>
            </p:nvPr>
          </p:nvSpPr>
          <p:spPr>
            <a:xfrm>
              <a:off x="8451" y="3456"/>
              <a:ext cx="496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  <a:latin typeface="Arial" panose="020b0604020202020204" pitchFamily="34" charset="0"/>
                </a:rPr>
                <a:t>α</a:t>
              </a:r>
            </a:p>
          </p:txBody>
        </p:sp>
      </p:grpSp>
      <p:grpSp>
        <p:nvGrpSpPr>
          <p:cNvPr id="191" name="组合 190" title=""/>
          <p:cNvGrpSpPr/>
          <p:nvPr/>
        </p:nvGrpSpPr>
        <p:grpSpPr>
          <a:xfrm>
            <a:off x="2265680" y="3342640"/>
            <a:ext cx="594995" cy="777240"/>
            <a:chOff x="5411" y="4233"/>
            <a:chExt cx="937" cy="1224"/>
          </a:xfrm>
        </p:grpSpPr>
        <p:sp>
          <p:nvSpPr>
            <p:cNvPr id="192" name="弧形 191"/>
            <p:cNvSpPr/>
            <p:nvPr>
              <p:custDataLst>
                <p:tags r:id="rId59"/>
              </p:custDataLst>
            </p:nvPr>
          </p:nvSpPr>
          <p:spPr>
            <a:xfrm rot="16980000">
              <a:off x="5673" y="4782"/>
              <a:ext cx="804" cy="545"/>
            </a:xfrm>
            <a:prstGeom prst="arc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文本框 192"/>
            <p:cNvSpPr txBox="1"/>
            <p:nvPr>
              <p:custDataLst>
                <p:tags r:id="rId60"/>
              </p:custDataLst>
            </p:nvPr>
          </p:nvSpPr>
          <p:spPr>
            <a:xfrm>
              <a:off x="5411" y="4233"/>
              <a:ext cx="626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  <a:latin typeface="Arial" panose="020b0604020202020204" pitchFamily="34" charset="0"/>
                </a:rPr>
                <a:t>α</a:t>
              </a:r>
              <a:r>
                <a:rPr lang="en-US" altLang="zh-CN" baseline="-25000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</p:grpSp>
      <p:pic>
        <p:nvPicPr>
          <p:cNvPr id="194" name="图片 13" title=""/>
          <p:cNvPicPr>
            <a:picLocks noChangeAspect="1"/>
          </p:cNvPicPr>
          <p:nvPr>
            <p:custDataLst>
              <p:tags r:id="rId62"/>
            </p:custDataLst>
          </p:nvPr>
        </p:nvPicPr>
        <p:blipFill>
          <a:blip r:embed="rId61"/>
          <a:stretch>
            <a:fillRect/>
          </a:stretch>
        </p:blipFill>
        <p:spPr>
          <a:xfrm>
            <a:off x="10506075" y="3981450"/>
            <a:ext cx="875030" cy="8680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5" name="文本框 194" title=""/>
          <p:cNvSpPr txBox="1"/>
          <p:nvPr>
            <p:custDataLst>
              <p:tags r:id="rId63"/>
            </p:custDataLst>
          </p:nvPr>
        </p:nvSpPr>
        <p:spPr>
          <a:xfrm rot="5400000">
            <a:off x="10735310" y="3335020"/>
            <a:ext cx="3835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>
                <a:solidFill>
                  <a:srgbClr val="FF0000"/>
                </a:solidFill>
              </a:rPr>
              <a:t>=</a:t>
            </a:r>
          </a:p>
        </p:txBody>
      </p:sp>
      <p:grpSp>
        <p:nvGrpSpPr>
          <p:cNvPr id="196" name="组合 195" title=""/>
          <p:cNvGrpSpPr/>
          <p:nvPr/>
        </p:nvGrpSpPr>
        <p:grpSpPr>
          <a:xfrm>
            <a:off x="2265680" y="3447415"/>
            <a:ext cx="503555" cy="584200"/>
            <a:chOff x="11133" y="4197"/>
            <a:chExt cx="793" cy="920"/>
          </a:xfrm>
        </p:grpSpPr>
        <p:sp>
          <p:nvSpPr>
            <p:cNvPr id="197" name="弧形 196"/>
            <p:cNvSpPr/>
            <p:nvPr>
              <p:custDataLst>
                <p:tags r:id="rId64"/>
              </p:custDataLst>
            </p:nvPr>
          </p:nvSpPr>
          <p:spPr>
            <a:xfrm flipH="1">
              <a:off x="11456" y="4475"/>
              <a:ext cx="470" cy="642"/>
            </a:xfrm>
            <a:prstGeom prst="arc">
              <a:avLst/>
            </a:prstGeom>
            <a:ln w="15875">
              <a:solidFill>
                <a:srgbClr val="0066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文本框 197"/>
            <p:cNvSpPr txBox="1"/>
            <p:nvPr>
              <p:custDataLst>
                <p:tags r:id="rId65"/>
              </p:custDataLst>
            </p:nvPr>
          </p:nvSpPr>
          <p:spPr>
            <a:xfrm>
              <a:off x="11133" y="4197"/>
              <a:ext cx="488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>
                  <a:solidFill>
                    <a:srgbClr val="006628"/>
                  </a:solidFill>
                  <a:latin typeface="Arial" panose="020b0604020202020204" pitchFamily="34" charset="0"/>
                </a:rPr>
                <a:t>θ</a:t>
              </a:r>
            </a:p>
          </p:txBody>
        </p:sp>
      </p:grpSp>
      <p:grpSp>
        <p:nvGrpSpPr>
          <p:cNvPr id="199" name="组合 198" title=""/>
          <p:cNvGrpSpPr/>
          <p:nvPr/>
        </p:nvGrpSpPr>
        <p:grpSpPr>
          <a:xfrm>
            <a:off x="2243455" y="3772535"/>
            <a:ext cx="585470" cy="527050"/>
            <a:chOff x="11212" y="7331"/>
            <a:chExt cx="922" cy="830"/>
          </a:xfrm>
        </p:grpSpPr>
        <p:sp>
          <p:nvSpPr>
            <p:cNvPr id="200" name="弧形 199"/>
            <p:cNvSpPr/>
            <p:nvPr>
              <p:custDataLst>
                <p:tags r:id="rId66"/>
              </p:custDataLst>
            </p:nvPr>
          </p:nvSpPr>
          <p:spPr>
            <a:xfrm rot="16800000" flipH="1">
              <a:off x="11578" y="7245"/>
              <a:ext cx="470" cy="642"/>
            </a:xfrm>
            <a:prstGeom prst="arc">
              <a:avLst/>
            </a:prstGeom>
            <a:ln w="15875">
              <a:solidFill>
                <a:srgbClr val="0066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文本框 200"/>
            <p:cNvSpPr txBox="1"/>
            <p:nvPr>
              <p:custDataLst>
                <p:tags r:id="rId67"/>
              </p:custDataLst>
            </p:nvPr>
          </p:nvSpPr>
          <p:spPr>
            <a:xfrm>
              <a:off x="11212" y="7581"/>
              <a:ext cx="618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>
                  <a:solidFill>
                    <a:srgbClr val="006628"/>
                  </a:solidFill>
                  <a:latin typeface="Arial" panose="020b0604020202020204" pitchFamily="34" charset="0"/>
                </a:rPr>
                <a:t>θ</a:t>
              </a:r>
              <a:r>
                <a:rPr lang="en-US" altLang="zh-CN" baseline="-25000">
                  <a:solidFill>
                    <a:srgbClr val="006628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pic>
        <p:nvPicPr>
          <p:cNvPr id="202" name="图片 14" title=""/>
          <p:cNvPicPr>
            <a:picLocks noChangeAspect="1"/>
          </p:cNvPicPr>
          <p:nvPr>
            <p:custDataLst>
              <p:tags r:id="rId69"/>
            </p:custDataLst>
          </p:nvPr>
        </p:nvPicPr>
        <p:blipFill>
          <a:blip r:embed="rId68">
            <a:lum bright="-12000" contrast="24000"/>
          </a:blip>
          <a:stretch>
            <a:fillRect/>
          </a:stretch>
        </p:blipFill>
        <p:spPr>
          <a:xfrm>
            <a:off x="9215755" y="3981450"/>
            <a:ext cx="897255" cy="942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3" name="文本框 202" title=""/>
          <p:cNvSpPr txBox="1"/>
          <p:nvPr>
            <p:custDataLst>
              <p:tags r:id="rId70"/>
            </p:custDataLst>
          </p:nvPr>
        </p:nvSpPr>
        <p:spPr>
          <a:xfrm rot="5400000">
            <a:off x="9434830" y="3335020"/>
            <a:ext cx="3835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>
                <a:solidFill>
                  <a:srgbClr val="006628"/>
                </a:solidFill>
              </a:rPr>
              <a:t>=</a:t>
            </a:r>
          </a:p>
        </p:txBody>
      </p:sp>
      <p:grpSp>
        <p:nvGrpSpPr>
          <p:cNvPr id="204" name="组合 203" title=""/>
          <p:cNvGrpSpPr/>
          <p:nvPr/>
        </p:nvGrpSpPr>
        <p:grpSpPr>
          <a:xfrm>
            <a:off x="2402840" y="1615440"/>
            <a:ext cx="314325" cy="421005"/>
            <a:chOff x="8012" y="7081"/>
            <a:chExt cx="495" cy="663"/>
          </a:xfrm>
        </p:grpSpPr>
        <p:sp>
          <p:nvSpPr>
            <p:cNvPr id="205" name="文本框 204"/>
            <p:cNvSpPr txBox="1"/>
            <p:nvPr>
              <p:custDataLst>
                <p:tags r:id="rId71"/>
              </p:custDataLst>
            </p:nvPr>
          </p:nvSpPr>
          <p:spPr>
            <a:xfrm>
              <a:off x="8012" y="7164"/>
              <a:ext cx="495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>
                  <a:solidFill>
                    <a:srgbClr val="00A8D2"/>
                  </a:solidFill>
                  <a:latin typeface="Arial" panose="020b0604020202020204" pitchFamily="34" charset="0"/>
                </a:rPr>
                <a:t>β</a:t>
              </a:r>
            </a:p>
          </p:txBody>
        </p:sp>
        <p:sp>
          <p:nvSpPr>
            <p:cNvPr id="206" name="弧形 205"/>
            <p:cNvSpPr/>
            <p:nvPr>
              <p:custDataLst>
                <p:tags r:id="rId72"/>
              </p:custDataLst>
            </p:nvPr>
          </p:nvSpPr>
          <p:spPr>
            <a:xfrm rot="7200000">
              <a:off x="8133" y="7036"/>
              <a:ext cx="186" cy="276"/>
            </a:xfrm>
            <a:prstGeom prst="arc">
              <a:avLst/>
            </a:prstGeom>
            <a:ln w="15875">
              <a:solidFill>
                <a:srgbClr val="00A8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7" name="组合 206" title=""/>
          <p:cNvGrpSpPr/>
          <p:nvPr/>
        </p:nvGrpSpPr>
        <p:grpSpPr>
          <a:xfrm>
            <a:off x="2552700" y="3150235"/>
            <a:ext cx="396875" cy="523875"/>
            <a:chOff x="8921" y="4400"/>
            <a:chExt cx="625" cy="825"/>
          </a:xfrm>
        </p:grpSpPr>
        <p:sp>
          <p:nvSpPr>
            <p:cNvPr id="208" name="弧形 207"/>
            <p:cNvSpPr/>
            <p:nvPr>
              <p:custDataLst>
                <p:tags r:id="rId73"/>
              </p:custDataLst>
            </p:nvPr>
          </p:nvSpPr>
          <p:spPr>
            <a:xfrm rot="18060000">
              <a:off x="9118" y="4959"/>
              <a:ext cx="215" cy="316"/>
            </a:xfrm>
            <a:prstGeom prst="arc">
              <a:avLst/>
            </a:prstGeom>
            <a:ln w="15875">
              <a:solidFill>
                <a:srgbClr val="00A8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文本框 208"/>
            <p:cNvSpPr txBox="1"/>
            <p:nvPr>
              <p:custDataLst>
                <p:tags r:id="rId74"/>
              </p:custDataLst>
            </p:nvPr>
          </p:nvSpPr>
          <p:spPr>
            <a:xfrm>
              <a:off x="8921" y="4400"/>
              <a:ext cx="625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>
                  <a:solidFill>
                    <a:srgbClr val="00A8D2"/>
                  </a:solidFill>
                  <a:latin typeface="Arial" panose="020b0604020202020204" pitchFamily="34" charset="0"/>
                </a:rPr>
                <a:t>β</a:t>
              </a:r>
              <a:r>
                <a:rPr lang="en-US" altLang="zh-CN" baseline="-25000">
                  <a:solidFill>
                    <a:srgbClr val="00A8D2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</p:grpSp>
      <p:grpSp>
        <p:nvGrpSpPr>
          <p:cNvPr id="210" name="组合 209" title=""/>
          <p:cNvGrpSpPr/>
          <p:nvPr/>
        </p:nvGrpSpPr>
        <p:grpSpPr>
          <a:xfrm>
            <a:off x="2402840" y="3694430"/>
            <a:ext cx="687070" cy="404495"/>
            <a:chOff x="9516" y="5729"/>
            <a:chExt cx="1082" cy="637"/>
          </a:xfrm>
        </p:grpSpPr>
        <p:sp>
          <p:nvSpPr>
            <p:cNvPr id="211" name="文本框 210"/>
            <p:cNvSpPr txBox="1"/>
            <p:nvPr>
              <p:custDataLst>
                <p:tags r:id="rId75"/>
              </p:custDataLst>
            </p:nvPr>
          </p:nvSpPr>
          <p:spPr>
            <a:xfrm>
              <a:off x="9973" y="5786"/>
              <a:ext cx="625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>
                  <a:solidFill>
                    <a:srgbClr val="00A8D2"/>
                  </a:solidFill>
                  <a:latin typeface="Arial" panose="020b0604020202020204" pitchFamily="34" charset="0"/>
                </a:rPr>
                <a:t>β</a:t>
              </a:r>
              <a:r>
                <a:rPr lang="en-US" altLang="zh-CN" baseline="-25000">
                  <a:solidFill>
                    <a:srgbClr val="00A8D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12" name="弧形 211"/>
            <p:cNvSpPr/>
            <p:nvPr>
              <p:custDataLst>
                <p:tags r:id="rId76"/>
              </p:custDataLst>
            </p:nvPr>
          </p:nvSpPr>
          <p:spPr>
            <a:xfrm rot="3600000">
              <a:off x="9524" y="5720"/>
              <a:ext cx="549" cy="566"/>
            </a:xfrm>
            <a:prstGeom prst="arc">
              <a:avLst/>
            </a:prstGeom>
            <a:ln w="15875">
              <a:solidFill>
                <a:srgbClr val="00A8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13" name="图片 15" title=""/>
          <p:cNvPicPr>
            <a:picLocks noChangeAspect="1"/>
          </p:cNvPicPr>
          <p:nvPr>
            <p:custDataLst>
              <p:tags r:id="rId78"/>
            </p:custDataLst>
          </p:nvPr>
        </p:nvPicPr>
        <p:blipFill>
          <a:blip r:embed="rId77">
            <a:lum bright="-18000" contrast="36000"/>
          </a:blip>
          <a:stretch>
            <a:fillRect/>
          </a:stretch>
        </p:blipFill>
        <p:spPr>
          <a:xfrm>
            <a:off x="7874000" y="3981450"/>
            <a:ext cx="900430" cy="939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4" name="文本框 213" title=""/>
          <p:cNvSpPr txBox="1"/>
          <p:nvPr>
            <p:custDataLst>
              <p:tags r:id="rId79"/>
            </p:custDataLst>
          </p:nvPr>
        </p:nvSpPr>
        <p:spPr>
          <a:xfrm rot="5400000">
            <a:off x="8154670" y="3366135"/>
            <a:ext cx="3835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>
                <a:solidFill>
                  <a:srgbClr val="00B0F0"/>
                </a:solidFill>
              </a:rPr>
              <a:t>=</a:t>
            </a:r>
          </a:p>
        </p:txBody>
      </p:sp>
      <p:sp>
        <p:nvSpPr>
          <p:cNvPr id="215" name="文本框 214" title=""/>
          <p:cNvSpPr txBox="1"/>
          <p:nvPr>
            <p:custDataLst>
              <p:tags r:id="rId80"/>
            </p:custDataLst>
          </p:nvPr>
        </p:nvSpPr>
        <p:spPr>
          <a:xfrm>
            <a:off x="8801100" y="4092575"/>
            <a:ext cx="3835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/>
              <a:t>=</a:t>
            </a:r>
          </a:p>
        </p:txBody>
      </p:sp>
      <p:sp>
        <p:nvSpPr>
          <p:cNvPr id="216" name="文本框 215" title=""/>
          <p:cNvSpPr txBox="1"/>
          <p:nvPr>
            <p:custDataLst>
              <p:tags r:id="rId81"/>
            </p:custDataLst>
          </p:nvPr>
        </p:nvSpPr>
        <p:spPr>
          <a:xfrm>
            <a:off x="10090150" y="4092575"/>
            <a:ext cx="3835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/>
              <a:t>=</a:t>
            </a:r>
          </a:p>
        </p:txBody>
      </p:sp>
      <p:grpSp>
        <p:nvGrpSpPr>
          <p:cNvPr id="217" name="组合 216" title=""/>
          <p:cNvGrpSpPr/>
          <p:nvPr/>
        </p:nvGrpSpPr>
        <p:grpSpPr>
          <a:xfrm>
            <a:off x="356870" y="1398270"/>
            <a:ext cx="4169410" cy="4906010"/>
            <a:chOff x="257" y="2183"/>
            <a:chExt cx="6566" cy="7726"/>
          </a:xfrm>
        </p:grpSpPr>
        <p:grpSp>
          <p:nvGrpSpPr>
            <p:cNvPr id="218" name="组合 217"/>
            <p:cNvGrpSpPr/>
            <p:nvPr/>
          </p:nvGrpSpPr>
          <p:grpSpPr>
            <a:xfrm>
              <a:off x="257" y="2183"/>
              <a:ext cx="6567" cy="7726"/>
              <a:chOff x="257" y="2183"/>
              <a:chExt cx="6567" cy="7726"/>
            </a:xfrm>
          </p:grpSpPr>
          <p:grpSp>
            <p:nvGrpSpPr>
              <p:cNvPr id="219" name="组合 218"/>
              <p:cNvGrpSpPr/>
              <p:nvPr/>
            </p:nvGrpSpPr>
            <p:grpSpPr>
              <a:xfrm>
                <a:off x="257" y="2396"/>
                <a:ext cx="6567" cy="7316"/>
                <a:chOff x="56" y="2152"/>
                <a:chExt cx="6567" cy="7316"/>
              </a:xfrm>
            </p:grpSpPr>
            <p:grpSp>
              <p:nvGrpSpPr>
                <p:cNvPr id="220" name="组合 219"/>
                <p:cNvGrpSpPr/>
                <p:nvPr/>
              </p:nvGrpSpPr>
              <p:grpSpPr>
                <a:xfrm>
                  <a:off x="56" y="2844"/>
                  <a:ext cx="6567" cy="5977"/>
                  <a:chOff x="8257" y="3927"/>
                  <a:chExt cx="5417" cy="4930"/>
                </a:xfrm>
              </p:grpSpPr>
              <p:cxnSp>
                <p:nvCxnSpPr>
                  <p:cNvPr id="221" name="直接连接符 220"/>
                  <p:cNvCxnSpPr>
                    <a:stCxn id="223" idx="2"/>
                  </p:cNvCxnSpPr>
                  <p:nvPr>
                    <p:custDataLst>
                      <p:tags r:id="rId82"/>
                    </p:custDataLst>
                  </p:nvPr>
                </p:nvCxnSpPr>
                <p:spPr>
                  <a:xfrm>
                    <a:off x="8744" y="6392"/>
                    <a:ext cx="2457" cy="3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2" name="直接连接符 221"/>
                  <p:cNvCxnSpPr/>
                  <p:nvPr>
                    <p:custDataLst>
                      <p:tags r:id="rId83"/>
                    </p:custDataLst>
                  </p:nvPr>
                </p:nvCxnSpPr>
                <p:spPr>
                  <a:xfrm flipV="1">
                    <a:off x="11205" y="4250"/>
                    <a:ext cx="1242" cy="2142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3" name="椭圆 222"/>
                  <p:cNvSpPr/>
                  <p:nvPr>
                    <p:custDataLst>
                      <p:tags r:id="rId84"/>
                    </p:custDataLst>
                  </p:nvPr>
                </p:nvSpPr>
                <p:spPr>
                  <a:xfrm>
                    <a:off x="8744" y="3927"/>
                    <a:ext cx="4930" cy="493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24" name="直接连接符 223"/>
                  <p:cNvCxnSpPr/>
                  <p:nvPr>
                    <p:custDataLst>
                      <p:tags r:id="rId85"/>
                    </p:custDataLst>
                  </p:nvPr>
                </p:nvCxnSpPr>
                <p:spPr>
                  <a:xfrm flipH="1">
                    <a:off x="11213" y="6378"/>
                    <a:ext cx="0" cy="1006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5" name="矩形 224"/>
                  <p:cNvSpPr/>
                  <p:nvPr>
                    <p:custDataLst>
                      <p:tags r:id="rId86"/>
                    </p:custDataLst>
                  </p:nvPr>
                </p:nvSpPr>
                <p:spPr>
                  <a:xfrm>
                    <a:off x="10915" y="7384"/>
                    <a:ext cx="587" cy="554"/>
                  </a:xfrm>
                  <a:prstGeom prst="rect">
                    <a:avLst/>
                  </a:prstGeom>
                  <a:noFill/>
                  <a:ln w="222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6" name="文本框 225"/>
                  <p:cNvSpPr txBox="1"/>
                  <p:nvPr>
                    <p:custDataLst>
                      <p:tags r:id="rId87"/>
                    </p:custDataLst>
                  </p:nvPr>
                </p:nvSpPr>
                <p:spPr>
                  <a:xfrm>
                    <a:off x="8257" y="6166"/>
                    <a:ext cx="521" cy="47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/>
                      <a:t>A</a:t>
                    </a:r>
                  </a:p>
                </p:txBody>
              </p:sp>
              <p:sp>
                <p:nvSpPr>
                  <p:cNvPr id="227" name="文本框 226"/>
                  <p:cNvSpPr txBox="1"/>
                  <p:nvPr>
                    <p:custDataLst>
                      <p:tags r:id="rId88"/>
                    </p:custDataLst>
                  </p:nvPr>
                </p:nvSpPr>
                <p:spPr>
                  <a:xfrm>
                    <a:off x="12317" y="4270"/>
                    <a:ext cx="554" cy="47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/>
                      <a:t>B</a:t>
                    </a:r>
                  </a:p>
                </p:txBody>
              </p:sp>
              <p:sp>
                <p:nvSpPr>
                  <p:cNvPr id="228" name="文本框 227"/>
                  <p:cNvSpPr txBox="1"/>
                  <p:nvPr>
                    <p:custDataLst>
                      <p:tags r:id="rId89"/>
                    </p:custDataLst>
                  </p:nvPr>
                </p:nvSpPr>
                <p:spPr>
                  <a:xfrm>
                    <a:off x="10990" y="7420"/>
                    <a:ext cx="588" cy="47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/>
                      <a:t>M</a:t>
                    </a:r>
                  </a:p>
                </p:txBody>
              </p:sp>
            </p:grpSp>
            <p:cxnSp>
              <p:nvCxnSpPr>
                <p:cNvPr id="229" name="直接连接符 228"/>
                <p:cNvCxnSpPr/>
                <p:nvPr>
                  <p:custDataLst>
                    <p:tags r:id="rId90"/>
                  </p:custDataLst>
                </p:nvPr>
              </p:nvCxnSpPr>
              <p:spPr>
                <a:xfrm flipV="1">
                  <a:off x="3675" y="2152"/>
                  <a:ext cx="2130" cy="3665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直接连接符 229"/>
                <p:cNvCxnSpPr/>
                <p:nvPr>
                  <p:custDataLst>
                    <p:tags r:id="rId91"/>
                  </p:custDataLst>
                </p:nvPr>
              </p:nvCxnSpPr>
              <p:spPr>
                <a:xfrm flipH="1">
                  <a:off x="1463" y="5808"/>
                  <a:ext cx="2154" cy="9"/>
                </a:xfrm>
                <a:prstGeom prst="line">
                  <a:avLst/>
                </a:prstGeom>
                <a:ln w="50800">
                  <a:solidFill>
                    <a:srgbClr val="00B0F0"/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直接连接符 230"/>
                <p:cNvCxnSpPr/>
                <p:nvPr>
                  <p:custDataLst>
                    <p:tags r:id="rId92"/>
                  </p:custDataLst>
                </p:nvPr>
              </p:nvCxnSpPr>
              <p:spPr>
                <a:xfrm flipV="1">
                  <a:off x="3667" y="2152"/>
                  <a:ext cx="2130" cy="3665"/>
                </a:xfrm>
                <a:prstGeom prst="line">
                  <a:avLst/>
                </a:prstGeom>
                <a:ln w="50800">
                  <a:solidFill>
                    <a:srgbClr val="006628"/>
                  </a:solidFill>
                  <a:prstDash val="solid"/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直接连接符 231"/>
                <p:cNvCxnSpPr/>
                <p:nvPr>
                  <p:custDataLst>
                    <p:tags r:id="rId93"/>
                  </p:custDataLst>
                </p:nvPr>
              </p:nvCxnSpPr>
              <p:spPr>
                <a:xfrm flipH="1">
                  <a:off x="3634" y="5783"/>
                  <a:ext cx="0" cy="3685"/>
                </a:xfrm>
                <a:prstGeom prst="line">
                  <a:avLst/>
                </a:prstGeom>
                <a:ln w="50800">
                  <a:solidFill>
                    <a:srgbClr val="FF0000"/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3" name="文本框 232"/>
              <p:cNvSpPr txBox="1"/>
              <p:nvPr>
                <p:custDataLst>
                  <p:tags r:id="rId94"/>
                </p:custDataLst>
              </p:nvPr>
            </p:nvSpPr>
            <p:spPr>
              <a:xfrm>
                <a:off x="1517" y="6060"/>
                <a:ext cx="771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>
                    <a:solidFill>
                      <a:srgbClr val="00A8D2"/>
                    </a:solidFill>
                    <a:latin typeface="Times New Roman" panose="02020603050405020304" charset="0"/>
                  </a:rPr>
                  <a:t>F</a:t>
                </a:r>
                <a:r>
                  <a:rPr lang="en-US" altLang="zh-CN" sz="2000" b="1" baseline="-25000">
                    <a:solidFill>
                      <a:srgbClr val="00A8D2"/>
                    </a:solidFill>
                    <a:latin typeface="Times New Roman" panose="02020603050405020304" charset="0"/>
                  </a:rPr>
                  <a:t>1</a:t>
                </a:r>
              </a:p>
            </p:txBody>
          </p:sp>
          <p:sp>
            <p:nvSpPr>
              <p:cNvPr id="234" name="文本框 233"/>
              <p:cNvSpPr txBox="1"/>
              <p:nvPr>
                <p:custDataLst>
                  <p:tags r:id="rId95"/>
                </p:custDataLst>
              </p:nvPr>
            </p:nvSpPr>
            <p:spPr>
              <a:xfrm>
                <a:off x="5942" y="2183"/>
                <a:ext cx="719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>
                    <a:solidFill>
                      <a:srgbClr val="006628"/>
                    </a:solidFill>
                    <a:latin typeface="Times New Roman" panose="02020603050405020304" charset="0"/>
                  </a:rPr>
                  <a:t>F</a:t>
                </a:r>
                <a:r>
                  <a:rPr lang="en-US" altLang="zh-CN" sz="2000" b="1" baseline="-25000">
                    <a:solidFill>
                      <a:srgbClr val="006628"/>
                    </a:solidFill>
                    <a:latin typeface="Times New Roman" panose="02020603050405020304" charset="0"/>
                  </a:rPr>
                  <a:t>2</a:t>
                </a:r>
              </a:p>
            </p:txBody>
          </p:sp>
          <p:sp>
            <p:nvSpPr>
              <p:cNvPr id="235" name="文本框 234"/>
              <p:cNvSpPr txBox="1"/>
              <p:nvPr>
                <p:custDataLst>
                  <p:tags r:id="rId96"/>
                </p:custDataLst>
              </p:nvPr>
            </p:nvSpPr>
            <p:spPr>
              <a:xfrm>
                <a:off x="3876" y="9281"/>
                <a:ext cx="719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>
                    <a:solidFill>
                      <a:srgbClr val="FF0000"/>
                    </a:solidFill>
                    <a:latin typeface="Times New Roman" panose="02020603050405020304" charset="0"/>
                  </a:rPr>
                  <a:t>F</a:t>
                </a:r>
                <a:r>
                  <a:rPr lang="en-US" altLang="zh-CN" sz="2000" b="1" baseline="-25000">
                    <a:solidFill>
                      <a:srgbClr val="FF0000"/>
                    </a:solidFill>
                    <a:latin typeface="Times New Roman" panose="02020603050405020304" charset="0"/>
                  </a:rPr>
                  <a:t>3</a:t>
                </a:r>
              </a:p>
            </p:txBody>
          </p:sp>
        </p:grpSp>
        <p:grpSp>
          <p:nvGrpSpPr>
            <p:cNvPr id="236" name="组合 235"/>
            <p:cNvGrpSpPr/>
            <p:nvPr/>
          </p:nvGrpSpPr>
          <p:grpSpPr>
            <a:xfrm>
              <a:off x="3303" y="5248"/>
              <a:ext cx="873" cy="1256"/>
              <a:chOff x="5475" y="4201"/>
              <a:chExt cx="873" cy="1256"/>
            </a:xfrm>
          </p:grpSpPr>
          <p:sp>
            <p:nvSpPr>
              <p:cNvPr id="237" name="弧形 236"/>
              <p:cNvSpPr/>
              <p:nvPr>
                <p:custDataLst>
                  <p:tags r:id="rId97"/>
                </p:custDataLst>
              </p:nvPr>
            </p:nvSpPr>
            <p:spPr>
              <a:xfrm rot="17280000">
                <a:off x="5673" y="4782"/>
                <a:ext cx="804" cy="545"/>
              </a:xfrm>
              <a:prstGeom prst="arc">
                <a:avLst/>
              </a:prstGeom>
              <a:ln w="158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" name="文本框 237"/>
              <p:cNvSpPr txBox="1"/>
              <p:nvPr>
                <p:custDataLst>
                  <p:tags r:id="rId98"/>
                </p:custDataLst>
              </p:nvPr>
            </p:nvSpPr>
            <p:spPr>
              <a:xfrm>
                <a:off x="5475" y="4201"/>
                <a:ext cx="626" cy="5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zh-CN" altLang="en-US">
                    <a:solidFill>
                      <a:srgbClr val="FF0000"/>
                    </a:solidFill>
                    <a:latin typeface="Arial" panose="020b0604020202020204" pitchFamily="34" charset="0"/>
                  </a:rPr>
                  <a:t>α</a:t>
                </a:r>
                <a:r>
                  <a:rPr lang="en-US" altLang="zh-CN" baseline="-25000">
                    <a:solidFill>
                      <a:srgbClr val="FF0000"/>
                    </a:solidFill>
                    <a:latin typeface="Arial" panose="020b0604020202020204" pitchFamily="34" charset="0"/>
                  </a:rPr>
                  <a:t>3</a:t>
                </a:r>
              </a:p>
            </p:txBody>
          </p:sp>
        </p:grpSp>
        <p:grpSp>
          <p:nvGrpSpPr>
            <p:cNvPr id="239" name="组合 238"/>
            <p:cNvGrpSpPr/>
            <p:nvPr/>
          </p:nvGrpSpPr>
          <p:grpSpPr>
            <a:xfrm>
              <a:off x="3235" y="5906"/>
              <a:ext cx="922" cy="830"/>
              <a:chOff x="11212" y="7331"/>
              <a:chExt cx="922" cy="830"/>
            </a:xfrm>
          </p:grpSpPr>
          <p:sp>
            <p:nvSpPr>
              <p:cNvPr id="240" name="弧形 239"/>
              <p:cNvSpPr/>
              <p:nvPr>
                <p:custDataLst>
                  <p:tags r:id="rId99"/>
                </p:custDataLst>
              </p:nvPr>
            </p:nvSpPr>
            <p:spPr>
              <a:xfrm rot="16800000" flipH="1">
                <a:off x="11578" y="7245"/>
                <a:ext cx="470" cy="642"/>
              </a:xfrm>
              <a:prstGeom prst="arc">
                <a:avLst/>
              </a:prstGeom>
              <a:ln w="15875">
                <a:solidFill>
                  <a:srgbClr val="00662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" name="文本框 240"/>
              <p:cNvSpPr txBox="1"/>
              <p:nvPr>
                <p:custDataLst>
                  <p:tags r:id="rId100"/>
                </p:custDataLst>
              </p:nvPr>
            </p:nvSpPr>
            <p:spPr>
              <a:xfrm>
                <a:off x="11212" y="7581"/>
                <a:ext cx="618" cy="5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zh-CN" altLang="en-US">
                    <a:solidFill>
                      <a:srgbClr val="006628"/>
                    </a:solidFill>
                    <a:latin typeface="Arial" panose="020b0604020202020204" pitchFamily="34" charset="0"/>
                  </a:rPr>
                  <a:t>θ</a:t>
                </a:r>
                <a:r>
                  <a:rPr lang="en-US" altLang="zh-CN" baseline="-25000">
                    <a:solidFill>
                      <a:srgbClr val="006628"/>
                    </a:solidFill>
                    <a:latin typeface="Arial" panose="020b0604020202020204" pitchFamily="34" charset="0"/>
                  </a:rPr>
                  <a:t>2</a:t>
                </a:r>
              </a:p>
            </p:txBody>
          </p:sp>
        </p:grpSp>
        <p:grpSp>
          <p:nvGrpSpPr>
            <p:cNvPr id="242" name="组合 241"/>
            <p:cNvGrpSpPr/>
            <p:nvPr/>
          </p:nvGrpSpPr>
          <p:grpSpPr>
            <a:xfrm>
              <a:off x="3481" y="5803"/>
              <a:ext cx="1082" cy="637"/>
              <a:chOff x="9516" y="5729"/>
              <a:chExt cx="1082" cy="637"/>
            </a:xfrm>
          </p:grpSpPr>
          <p:sp>
            <p:nvSpPr>
              <p:cNvPr id="243" name="文本框 242"/>
              <p:cNvSpPr txBox="1"/>
              <p:nvPr>
                <p:custDataLst>
                  <p:tags r:id="rId101"/>
                </p:custDataLst>
              </p:nvPr>
            </p:nvSpPr>
            <p:spPr>
              <a:xfrm>
                <a:off x="9973" y="5786"/>
                <a:ext cx="625" cy="5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zh-CN" altLang="en-US">
                    <a:solidFill>
                      <a:srgbClr val="00A8D2"/>
                    </a:solidFill>
                    <a:latin typeface="Arial" panose="020b0604020202020204" pitchFamily="34" charset="0"/>
                  </a:rPr>
                  <a:t>β</a:t>
                </a:r>
                <a:r>
                  <a:rPr lang="en-US" altLang="zh-CN" baseline="-25000">
                    <a:solidFill>
                      <a:srgbClr val="00A8D2"/>
                    </a:solidFill>
                    <a:latin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4" name="弧形 243"/>
              <p:cNvSpPr/>
              <p:nvPr>
                <p:custDataLst>
                  <p:tags r:id="rId102"/>
                </p:custDataLst>
              </p:nvPr>
            </p:nvSpPr>
            <p:spPr>
              <a:xfrm rot="3600000">
                <a:off x="9524" y="5720"/>
                <a:ext cx="549" cy="566"/>
              </a:xfrm>
              <a:prstGeom prst="arc">
                <a:avLst/>
              </a:prstGeom>
              <a:ln w="15875">
                <a:solidFill>
                  <a:srgbClr val="00A8D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08333 0.000925926 L -0.112969 0.000925926" pathEditMode="relative" rAng="0" ptsTypes="">
                                      <p:cBhvr>
                                        <p:cTn id="29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82936 L 0 -0.332947" pathEditMode="relative" rAng="0" ptsTypes="">
                                      <p:cBhvr>
                                        <p:cTn id="33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6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4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4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0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8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" grpId="0"/>
      <p:bldP spid="195" grpId="1"/>
      <p:bldP spid="203" grpId="0"/>
      <p:bldP spid="203" grpId="1"/>
      <p:bldP spid="214" grpId="1"/>
      <p:bldP spid="214" grpId="2"/>
      <p:bldP spid="215" grpId="0"/>
      <p:bldP spid="2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7" name="文本框 26" title=""/>
          <p:cNvSpPr txBox="1"/>
          <p:nvPr>
            <p:custDataLst>
              <p:tags r:id="rId2"/>
            </p:custDataLst>
          </p:nvPr>
        </p:nvSpPr>
        <p:spPr>
          <a:xfrm>
            <a:off x="230505" y="200025"/>
            <a:ext cx="796036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  <a:sym typeface="+mn-ea"/>
              </a:rPr>
              <a:t>一、典例解析</a:t>
            </a:r>
            <a:endParaRPr lang="zh-CN" altLang="en-US" sz="2800" spc="600">
              <a:solidFill>
                <a:srgbClr val="4274FF"/>
              </a:solidFill>
              <a:latin typeface="Times New Roman" panose="02020603050405020304" charset="0"/>
              <a:ea typeface="黑体" panose="02010609060101010101" charset="-122"/>
              <a:cs typeface="阿里巴巴普惠体 B" panose="00020600040101010101" pitchFamily="18" charset="-122"/>
            </a:endParaRPr>
          </a:p>
        </p:txBody>
      </p:sp>
      <p:grpSp>
        <p:nvGrpSpPr>
          <p:cNvPr id="146" name="组合 145" title=""/>
          <p:cNvGrpSpPr/>
          <p:nvPr/>
        </p:nvGrpSpPr>
        <p:grpSpPr>
          <a:xfrm>
            <a:off x="231140" y="1219835"/>
            <a:ext cx="4169410" cy="4906010"/>
            <a:chOff x="257" y="2183"/>
            <a:chExt cx="6566" cy="7726"/>
          </a:xfrm>
        </p:grpSpPr>
        <p:grpSp>
          <p:nvGrpSpPr>
            <p:cNvPr id="147" name="组合 146"/>
            <p:cNvGrpSpPr/>
            <p:nvPr/>
          </p:nvGrpSpPr>
          <p:grpSpPr>
            <a:xfrm>
              <a:off x="257" y="2183"/>
              <a:ext cx="6567" cy="7726"/>
              <a:chOff x="257" y="2183"/>
              <a:chExt cx="6567" cy="7726"/>
            </a:xfrm>
          </p:grpSpPr>
          <p:grpSp>
            <p:nvGrpSpPr>
              <p:cNvPr id="148" name="组合 147"/>
              <p:cNvGrpSpPr/>
              <p:nvPr/>
            </p:nvGrpSpPr>
            <p:grpSpPr>
              <a:xfrm>
                <a:off x="257" y="2396"/>
                <a:ext cx="6567" cy="7316"/>
                <a:chOff x="56" y="2152"/>
                <a:chExt cx="6567" cy="7316"/>
              </a:xfrm>
            </p:grpSpPr>
            <p:grpSp>
              <p:nvGrpSpPr>
                <p:cNvPr id="149" name="组合 148"/>
                <p:cNvGrpSpPr/>
                <p:nvPr/>
              </p:nvGrpSpPr>
              <p:grpSpPr>
                <a:xfrm>
                  <a:off x="56" y="2844"/>
                  <a:ext cx="6567" cy="5977"/>
                  <a:chOff x="8257" y="3927"/>
                  <a:chExt cx="5417" cy="4930"/>
                </a:xfrm>
              </p:grpSpPr>
              <p:cxnSp>
                <p:nvCxnSpPr>
                  <p:cNvPr id="150" name="直接连接符 149"/>
                  <p:cNvCxnSpPr>
                    <a:stCxn id="152" idx="2"/>
                  </p:cNvCxnSpPr>
                  <p:nvPr>
                    <p:custDataLst>
                      <p:tags r:id="rId3"/>
                    </p:custDataLst>
                  </p:nvPr>
                </p:nvCxnSpPr>
                <p:spPr>
                  <a:xfrm>
                    <a:off x="8744" y="6392"/>
                    <a:ext cx="2457" cy="3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1" name="直接连接符 150"/>
                  <p:cNvCxnSpPr/>
                  <p:nvPr>
                    <p:custDataLst>
                      <p:tags r:id="rId4"/>
                    </p:custDataLst>
                  </p:nvPr>
                </p:nvCxnSpPr>
                <p:spPr>
                  <a:xfrm flipV="1">
                    <a:off x="11205" y="4250"/>
                    <a:ext cx="1242" cy="2142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2" name="椭圆 151"/>
                  <p:cNvSpPr/>
                  <p:nvPr>
                    <p:custDataLst>
                      <p:tags r:id="rId5"/>
                    </p:custDataLst>
                  </p:nvPr>
                </p:nvSpPr>
                <p:spPr>
                  <a:xfrm>
                    <a:off x="8744" y="3927"/>
                    <a:ext cx="4930" cy="493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53" name="直接连接符 152"/>
                  <p:cNvCxnSpPr/>
                  <p:nvPr>
                    <p:custDataLst>
                      <p:tags r:id="rId6"/>
                    </p:custDataLst>
                  </p:nvPr>
                </p:nvCxnSpPr>
                <p:spPr>
                  <a:xfrm flipH="1">
                    <a:off x="11213" y="6378"/>
                    <a:ext cx="0" cy="1006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4" name="矩形 153"/>
                  <p:cNvSpPr/>
                  <p:nvPr>
                    <p:custDataLst>
                      <p:tags r:id="rId7"/>
                    </p:custDataLst>
                  </p:nvPr>
                </p:nvSpPr>
                <p:spPr>
                  <a:xfrm>
                    <a:off x="10915" y="7384"/>
                    <a:ext cx="587" cy="554"/>
                  </a:xfrm>
                  <a:prstGeom prst="rect">
                    <a:avLst/>
                  </a:prstGeom>
                  <a:noFill/>
                  <a:ln w="222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55" name="文本框 154"/>
                  <p:cNvSpPr txBox="1"/>
                  <p:nvPr>
                    <p:custDataLst>
                      <p:tags r:id="rId8"/>
                    </p:custDataLst>
                  </p:nvPr>
                </p:nvSpPr>
                <p:spPr>
                  <a:xfrm>
                    <a:off x="8257" y="6166"/>
                    <a:ext cx="521" cy="47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/>
                      <a:t>A</a:t>
                    </a:r>
                  </a:p>
                </p:txBody>
              </p:sp>
              <p:sp>
                <p:nvSpPr>
                  <p:cNvPr id="156" name="文本框 155"/>
                  <p:cNvSpPr txBox="1"/>
                  <p:nvPr>
                    <p:custDataLst>
                      <p:tags r:id="rId9"/>
                    </p:custDataLst>
                  </p:nvPr>
                </p:nvSpPr>
                <p:spPr>
                  <a:xfrm>
                    <a:off x="12317" y="4270"/>
                    <a:ext cx="554" cy="47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/>
                      <a:t>B</a:t>
                    </a:r>
                  </a:p>
                </p:txBody>
              </p:sp>
              <p:sp>
                <p:nvSpPr>
                  <p:cNvPr id="157" name="文本框 156"/>
                  <p:cNvSpPr txBox="1"/>
                  <p:nvPr>
                    <p:custDataLst>
                      <p:tags r:id="rId10"/>
                    </p:custDataLst>
                  </p:nvPr>
                </p:nvSpPr>
                <p:spPr>
                  <a:xfrm>
                    <a:off x="10990" y="7420"/>
                    <a:ext cx="588" cy="47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/>
                      <a:t>M</a:t>
                    </a:r>
                  </a:p>
                </p:txBody>
              </p:sp>
            </p:grpSp>
            <p:cxnSp>
              <p:nvCxnSpPr>
                <p:cNvPr id="158" name="直接连接符 157"/>
                <p:cNvCxnSpPr/>
                <p:nvPr>
                  <p:custDataLst>
                    <p:tags r:id="rId11"/>
                  </p:custDataLst>
                </p:nvPr>
              </p:nvCxnSpPr>
              <p:spPr>
                <a:xfrm flipV="1">
                  <a:off x="3675" y="2152"/>
                  <a:ext cx="2130" cy="3665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直接连接符 158"/>
                <p:cNvCxnSpPr/>
                <p:nvPr>
                  <p:custDataLst>
                    <p:tags r:id="rId12"/>
                  </p:custDataLst>
                </p:nvPr>
              </p:nvCxnSpPr>
              <p:spPr>
                <a:xfrm flipH="1">
                  <a:off x="1463" y="5808"/>
                  <a:ext cx="2154" cy="9"/>
                </a:xfrm>
                <a:prstGeom prst="line">
                  <a:avLst/>
                </a:prstGeom>
                <a:ln w="50800">
                  <a:solidFill>
                    <a:srgbClr val="00B0F0"/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直接连接符 159"/>
                <p:cNvCxnSpPr/>
                <p:nvPr>
                  <p:custDataLst>
                    <p:tags r:id="rId13"/>
                  </p:custDataLst>
                </p:nvPr>
              </p:nvCxnSpPr>
              <p:spPr>
                <a:xfrm flipV="1">
                  <a:off x="3667" y="2152"/>
                  <a:ext cx="2130" cy="3665"/>
                </a:xfrm>
                <a:prstGeom prst="line">
                  <a:avLst/>
                </a:prstGeom>
                <a:ln w="50800">
                  <a:solidFill>
                    <a:srgbClr val="006628"/>
                  </a:solidFill>
                  <a:prstDash val="solid"/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直接连接符 160"/>
                <p:cNvCxnSpPr/>
                <p:nvPr>
                  <p:custDataLst>
                    <p:tags r:id="rId14"/>
                  </p:custDataLst>
                </p:nvPr>
              </p:nvCxnSpPr>
              <p:spPr>
                <a:xfrm flipH="1">
                  <a:off x="3634" y="5783"/>
                  <a:ext cx="0" cy="3685"/>
                </a:xfrm>
                <a:prstGeom prst="line">
                  <a:avLst/>
                </a:prstGeom>
                <a:ln w="50800">
                  <a:solidFill>
                    <a:srgbClr val="FF0000"/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2" name="文本框 161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1517" y="6060"/>
                <a:ext cx="771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>
                    <a:solidFill>
                      <a:srgbClr val="00A8D2"/>
                    </a:solidFill>
                    <a:latin typeface="Times New Roman" panose="02020603050405020304" charset="0"/>
                  </a:rPr>
                  <a:t>F</a:t>
                </a:r>
                <a:r>
                  <a:rPr lang="en-US" altLang="zh-CN" sz="2000" b="1" baseline="-25000">
                    <a:solidFill>
                      <a:srgbClr val="00A8D2"/>
                    </a:solidFill>
                    <a:latin typeface="Times New Roman" panose="02020603050405020304" charset="0"/>
                  </a:rPr>
                  <a:t>1</a:t>
                </a:r>
              </a:p>
            </p:txBody>
          </p:sp>
          <p:sp>
            <p:nvSpPr>
              <p:cNvPr id="163" name="文本框 162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5942" y="2183"/>
                <a:ext cx="719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>
                    <a:solidFill>
                      <a:srgbClr val="006628"/>
                    </a:solidFill>
                    <a:latin typeface="Times New Roman" panose="02020603050405020304" charset="0"/>
                  </a:rPr>
                  <a:t>F</a:t>
                </a:r>
                <a:r>
                  <a:rPr lang="en-US" altLang="zh-CN" sz="2000" b="1" baseline="-25000">
                    <a:solidFill>
                      <a:srgbClr val="006628"/>
                    </a:solidFill>
                    <a:latin typeface="Times New Roman" panose="02020603050405020304" charset="0"/>
                  </a:rPr>
                  <a:t>2</a:t>
                </a:r>
              </a:p>
            </p:txBody>
          </p:sp>
          <p:sp>
            <p:nvSpPr>
              <p:cNvPr id="164" name="文本框 163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3876" y="9281"/>
                <a:ext cx="719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>
                    <a:solidFill>
                      <a:srgbClr val="FF0000"/>
                    </a:solidFill>
                    <a:latin typeface="Times New Roman" panose="02020603050405020304" charset="0"/>
                  </a:rPr>
                  <a:t>F</a:t>
                </a:r>
                <a:r>
                  <a:rPr lang="en-US" altLang="zh-CN" sz="2000" b="1" baseline="-25000">
                    <a:solidFill>
                      <a:srgbClr val="FF0000"/>
                    </a:solidFill>
                    <a:latin typeface="Times New Roman" panose="02020603050405020304" charset="0"/>
                  </a:rPr>
                  <a:t>3</a:t>
                </a:r>
              </a:p>
            </p:txBody>
          </p:sp>
        </p:grpSp>
        <p:grpSp>
          <p:nvGrpSpPr>
            <p:cNvPr id="165" name="组合 164"/>
            <p:cNvGrpSpPr/>
            <p:nvPr/>
          </p:nvGrpSpPr>
          <p:grpSpPr>
            <a:xfrm>
              <a:off x="3303" y="5248"/>
              <a:ext cx="873" cy="1256"/>
              <a:chOff x="5475" y="4201"/>
              <a:chExt cx="873" cy="1256"/>
            </a:xfrm>
          </p:grpSpPr>
          <p:sp>
            <p:nvSpPr>
              <p:cNvPr id="166" name="弧形 165"/>
              <p:cNvSpPr/>
              <p:nvPr>
                <p:custDataLst>
                  <p:tags r:id="rId18"/>
                </p:custDataLst>
              </p:nvPr>
            </p:nvSpPr>
            <p:spPr>
              <a:xfrm rot="17280000">
                <a:off x="5673" y="4782"/>
                <a:ext cx="804" cy="545"/>
              </a:xfrm>
              <a:prstGeom prst="arc">
                <a:avLst/>
              </a:prstGeom>
              <a:ln w="158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" name="文本框 166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5475" y="4201"/>
                <a:ext cx="626" cy="5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zh-CN" altLang="en-US">
                    <a:solidFill>
                      <a:srgbClr val="FF0000"/>
                    </a:solidFill>
                    <a:latin typeface="Arial" panose="020b0604020202020204" pitchFamily="34" charset="0"/>
                  </a:rPr>
                  <a:t>α</a:t>
                </a:r>
                <a:r>
                  <a:rPr lang="en-US" altLang="zh-CN" baseline="-25000">
                    <a:solidFill>
                      <a:srgbClr val="FF0000"/>
                    </a:solidFill>
                    <a:latin typeface="Arial" panose="020b0604020202020204" pitchFamily="34" charset="0"/>
                  </a:rPr>
                  <a:t>3</a:t>
                </a:r>
              </a:p>
            </p:txBody>
          </p:sp>
        </p:grpSp>
        <p:grpSp>
          <p:nvGrpSpPr>
            <p:cNvPr id="168" name="组合 167"/>
            <p:cNvGrpSpPr/>
            <p:nvPr/>
          </p:nvGrpSpPr>
          <p:grpSpPr>
            <a:xfrm>
              <a:off x="3235" y="5906"/>
              <a:ext cx="922" cy="830"/>
              <a:chOff x="11212" y="7331"/>
              <a:chExt cx="922" cy="830"/>
            </a:xfrm>
          </p:grpSpPr>
          <p:sp>
            <p:nvSpPr>
              <p:cNvPr id="169" name="弧形 168"/>
              <p:cNvSpPr/>
              <p:nvPr>
                <p:custDataLst>
                  <p:tags r:id="rId20"/>
                </p:custDataLst>
              </p:nvPr>
            </p:nvSpPr>
            <p:spPr>
              <a:xfrm rot="16800000" flipH="1">
                <a:off x="11578" y="7245"/>
                <a:ext cx="470" cy="642"/>
              </a:xfrm>
              <a:prstGeom prst="arc">
                <a:avLst/>
              </a:prstGeom>
              <a:ln w="15875">
                <a:solidFill>
                  <a:srgbClr val="00662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文本框 169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11212" y="7581"/>
                <a:ext cx="618" cy="5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zh-CN" altLang="en-US">
                    <a:solidFill>
                      <a:srgbClr val="006628"/>
                    </a:solidFill>
                    <a:latin typeface="Arial" panose="020b0604020202020204" pitchFamily="34" charset="0"/>
                  </a:rPr>
                  <a:t>θ</a:t>
                </a:r>
                <a:r>
                  <a:rPr lang="en-US" altLang="zh-CN" baseline="-25000">
                    <a:solidFill>
                      <a:srgbClr val="006628"/>
                    </a:solidFill>
                    <a:latin typeface="Arial" panose="020b0604020202020204" pitchFamily="34" charset="0"/>
                  </a:rPr>
                  <a:t>2</a:t>
                </a:r>
              </a:p>
            </p:txBody>
          </p:sp>
        </p:grpSp>
        <p:grpSp>
          <p:nvGrpSpPr>
            <p:cNvPr id="171" name="组合 170"/>
            <p:cNvGrpSpPr/>
            <p:nvPr/>
          </p:nvGrpSpPr>
          <p:grpSpPr>
            <a:xfrm>
              <a:off x="3481" y="5803"/>
              <a:ext cx="1082" cy="637"/>
              <a:chOff x="9516" y="5729"/>
              <a:chExt cx="1082" cy="637"/>
            </a:xfrm>
          </p:grpSpPr>
          <p:sp>
            <p:nvSpPr>
              <p:cNvPr id="172" name="文本框 171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9973" y="5786"/>
                <a:ext cx="625" cy="5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zh-CN" altLang="en-US">
                    <a:solidFill>
                      <a:srgbClr val="00A8D2"/>
                    </a:solidFill>
                    <a:latin typeface="Arial" panose="020b0604020202020204" pitchFamily="34" charset="0"/>
                  </a:rPr>
                  <a:t>β</a:t>
                </a:r>
                <a:r>
                  <a:rPr lang="en-US" altLang="zh-CN" baseline="-25000">
                    <a:solidFill>
                      <a:srgbClr val="00A8D2"/>
                    </a:solidFill>
                    <a:latin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3" name="弧形 172"/>
              <p:cNvSpPr/>
              <p:nvPr>
                <p:custDataLst>
                  <p:tags r:id="rId23"/>
                </p:custDataLst>
              </p:nvPr>
            </p:nvSpPr>
            <p:spPr>
              <a:xfrm rot="3600000">
                <a:off x="9524" y="5720"/>
                <a:ext cx="549" cy="566"/>
              </a:xfrm>
              <a:prstGeom prst="arc">
                <a:avLst/>
              </a:prstGeom>
              <a:ln w="15875">
                <a:solidFill>
                  <a:srgbClr val="00A8D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32" name="组合 131" title=""/>
          <p:cNvGrpSpPr/>
          <p:nvPr/>
        </p:nvGrpSpPr>
        <p:grpSpPr>
          <a:xfrm>
            <a:off x="7930761" y="1212850"/>
            <a:ext cx="4069970" cy="5107940"/>
            <a:chOff x="7185" y="1474"/>
            <a:chExt cx="6409" cy="8044"/>
          </a:xfrm>
        </p:grpSpPr>
        <p:grpSp>
          <p:nvGrpSpPr>
            <p:cNvPr id="34" name="组合 33"/>
            <p:cNvGrpSpPr/>
            <p:nvPr/>
          </p:nvGrpSpPr>
          <p:grpSpPr>
            <a:xfrm>
              <a:off x="7185" y="2390"/>
              <a:ext cx="6409" cy="7128"/>
              <a:chOff x="847" y="2781"/>
              <a:chExt cx="6409" cy="7128"/>
            </a:xfrm>
          </p:grpSpPr>
          <p:grpSp>
            <p:nvGrpSpPr>
              <p:cNvPr id="35" name="组合 34"/>
              <p:cNvGrpSpPr/>
              <p:nvPr/>
            </p:nvGrpSpPr>
            <p:grpSpPr>
              <a:xfrm>
                <a:off x="847" y="2781"/>
                <a:ext cx="6409" cy="6931"/>
                <a:chOff x="646" y="2537"/>
                <a:chExt cx="6409" cy="6931"/>
              </a:xfrm>
            </p:grpSpPr>
            <p:grpSp>
              <p:nvGrpSpPr>
                <p:cNvPr id="37" name="组合 36"/>
                <p:cNvGrpSpPr/>
                <p:nvPr/>
              </p:nvGrpSpPr>
              <p:grpSpPr>
                <a:xfrm>
                  <a:off x="646" y="2537"/>
                  <a:ext cx="6409" cy="6284"/>
                  <a:chOff x="8744" y="3674"/>
                  <a:chExt cx="5287" cy="5183"/>
                </a:xfrm>
              </p:grpSpPr>
              <p:cxnSp>
                <p:nvCxnSpPr>
                  <p:cNvPr id="43" name="直接连接符 42"/>
                  <p:cNvCxnSpPr/>
                  <p:nvPr>
                    <p:custDataLst>
                      <p:tags r:id="rId24"/>
                    </p:custDataLst>
                  </p:nvPr>
                </p:nvCxnSpPr>
                <p:spPr>
                  <a:xfrm>
                    <a:off x="10548" y="4017"/>
                    <a:ext cx="653" cy="2379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直接连接符 44"/>
                  <p:cNvCxnSpPr/>
                  <p:nvPr>
                    <p:custDataLst>
                      <p:tags r:id="rId25"/>
                    </p:custDataLst>
                  </p:nvPr>
                </p:nvCxnSpPr>
                <p:spPr>
                  <a:xfrm>
                    <a:off x="11205" y="6392"/>
                    <a:ext cx="2358" cy="667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6" name="椭圆 45"/>
                  <p:cNvSpPr/>
                  <p:nvPr>
                    <p:custDataLst>
                      <p:tags r:id="rId26"/>
                    </p:custDataLst>
                  </p:nvPr>
                </p:nvSpPr>
                <p:spPr>
                  <a:xfrm>
                    <a:off x="8744" y="3927"/>
                    <a:ext cx="4930" cy="493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7" name="直接连接符 46"/>
                  <p:cNvCxnSpPr/>
                  <p:nvPr>
                    <p:custDataLst>
                      <p:tags r:id="rId27"/>
                    </p:custDataLst>
                  </p:nvPr>
                </p:nvCxnSpPr>
                <p:spPr>
                  <a:xfrm flipH="1">
                    <a:off x="11213" y="6378"/>
                    <a:ext cx="0" cy="1006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8" name="矩形 47"/>
                  <p:cNvSpPr/>
                  <p:nvPr>
                    <p:custDataLst>
                      <p:tags r:id="rId28"/>
                    </p:custDataLst>
                  </p:nvPr>
                </p:nvSpPr>
                <p:spPr>
                  <a:xfrm>
                    <a:off x="10915" y="7384"/>
                    <a:ext cx="587" cy="554"/>
                  </a:xfrm>
                  <a:prstGeom prst="rect">
                    <a:avLst/>
                  </a:prstGeom>
                  <a:noFill/>
                  <a:ln w="222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" name="文本框 48"/>
                  <p:cNvSpPr txBox="1"/>
                  <p:nvPr>
                    <p:custDataLst>
                      <p:tags r:id="rId29"/>
                    </p:custDataLst>
                  </p:nvPr>
                </p:nvSpPr>
                <p:spPr>
                  <a:xfrm>
                    <a:off x="10130" y="3674"/>
                    <a:ext cx="521" cy="47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/>
                      <a:t>A</a:t>
                    </a:r>
                  </a:p>
                </p:txBody>
              </p:sp>
              <p:sp>
                <p:nvSpPr>
                  <p:cNvPr id="50" name="文本框 49"/>
                  <p:cNvSpPr txBox="1"/>
                  <p:nvPr>
                    <p:custDataLst>
                      <p:tags r:id="rId30"/>
                    </p:custDataLst>
                  </p:nvPr>
                </p:nvSpPr>
                <p:spPr>
                  <a:xfrm>
                    <a:off x="13477" y="7005"/>
                    <a:ext cx="554" cy="47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/>
                      <a:t>B</a:t>
                    </a:r>
                  </a:p>
                </p:txBody>
              </p:sp>
              <p:sp>
                <p:nvSpPr>
                  <p:cNvPr id="51" name="文本框 50"/>
                  <p:cNvSpPr txBox="1"/>
                  <p:nvPr>
                    <p:custDataLst>
                      <p:tags r:id="rId31"/>
                    </p:custDataLst>
                  </p:nvPr>
                </p:nvSpPr>
                <p:spPr>
                  <a:xfrm>
                    <a:off x="10990" y="7420"/>
                    <a:ext cx="588" cy="47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/>
                      <a:t>M</a:t>
                    </a:r>
                  </a:p>
                </p:txBody>
              </p:sp>
            </p:grpSp>
            <p:cxnSp>
              <p:nvCxnSpPr>
                <p:cNvPr id="55" name="直接连接符 54"/>
                <p:cNvCxnSpPr/>
                <p:nvPr>
                  <p:custDataLst>
                    <p:tags r:id="rId32"/>
                  </p:custDataLst>
                </p:nvPr>
              </p:nvCxnSpPr>
              <p:spPr>
                <a:xfrm flipH="1">
                  <a:off x="3634" y="5783"/>
                  <a:ext cx="0" cy="3685"/>
                </a:xfrm>
                <a:prstGeom prst="line">
                  <a:avLst/>
                </a:prstGeom>
                <a:ln w="50800">
                  <a:solidFill>
                    <a:srgbClr val="FF0000"/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5" name="文本框 64"/>
              <p:cNvSpPr txBox="1"/>
              <p:nvPr>
                <p:custDataLst>
                  <p:tags r:id="rId33"/>
                </p:custDataLst>
              </p:nvPr>
            </p:nvSpPr>
            <p:spPr>
              <a:xfrm>
                <a:off x="3876" y="9281"/>
                <a:ext cx="719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>
                    <a:solidFill>
                      <a:srgbClr val="FF0000"/>
                    </a:solidFill>
                    <a:latin typeface="Times New Roman" panose="02020603050405020304" charset="0"/>
                  </a:rPr>
                  <a:t>F</a:t>
                </a:r>
                <a:r>
                  <a:rPr lang="en-US" altLang="zh-CN" sz="2000" b="1" baseline="-25000">
                    <a:solidFill>
                      <a:srgbClr val="FF0000"/>
                    </a:solidFill>
                    <a:latin typeface="Times New Roman" panose="02020603050405020304" charset="0"/>
                  </a:rPr>
                  <a:t>3</a:t>
                </a:r>
              </a:p>
            </p:txBody>
          </p:sp>
        </p:grpSp>
        <p:grpSp>
          <p:nvGrpSpPr>
            <p:cNvPr id="123" name="组合 122"/>
            <p:cNvGrpSpPr/>
            <p:nvPr/>
          </p:nvGrpSpPr>
          <p:grpSpPr>
            <a:xfrm>
              <a:off x="8501" y="1474"/>
              <a:ext cx="3198" cy="5080"/>
              <a:chOff x="8501" y="1474"/>
              <a:chExt cx="3198" cy="5080"/>
            </a:xfrm>
          </p:grpSpPr>
          <p:grpSp>
            <p:nvGrpSpPr>
              <p:cNvPr id="96" name="组合 95"/>
              <p:cNvGrpSpPr/>
              <p:nvPr/>
            </p:nvGrpSpPr>
            <p:grpSpPr>
              <a:xfrm>
                <a:off x="8501" y="1474"/>
                <a:ext cx="3199" cy="5081"/>
                <a:chOff x="8501" y="1474"/>
                <a:chExt cx="3199" cy="5081"/>
              </a:xfrm>
            </p:grpSpPr>
            <p:grpSp>
              <p:nvGrpSpPr>
                <p:cNvPr id="75" name="组合 74"/>
                <p:cNvGrpSpPr/>
                <p:nvPr/>
              </p:nvGrpSpPr>
              <p:grpSpPr>
                <a:xfrm>
                  <a:off x="8501" y="1474"/>
                  <a:ext cx="3199" cy="5081"/>
                  <a:chOff x="7568" y="99"/>
                  <a:chExt cx="3199" cy="5081"/>
                </a:xfrm>
              </p:grpSpPr>
              <p:sp>
                <p:nvSpPr>
                  <p:cNvPr id="79" name="弧形 78"/>
                  <p:cNvSpPr/>
                  <p:nvPr>
                    <p:custDataLst>
                      <p:tags r:id="rId34"/>
                    </p:custDataLst>
                  </p:nvPr>
                </p:nvSpPr>
                <p:spPr>
                  <a:xfrm rot="180000">
                    <a:off x="8815" y="4079"/>
                    <a:ext cx="804" cy="545"/>
                  </a:xfrm>
                  <a:prstGeom prst="arc">
                    <a:avLst/>
                  </a:prstGeom>
                  <a:ln w="15875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" name="文本框 79"/>
                  <p:cNvSpPr txBox="1"/>
                  <p:nvPr>
                    <p:custDataLst>
                      <p:tags r:id="rId35"/>
                    </p:custDataLst>
                  </p:nvPr>
                </p:nvSpPr>
                <p:spPr>
                  <a:xfrm>
                    <a:off x="7568" y="99"/>
                    <a:ext cx="771" cy="62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000" b="1">
                        <a:solidFill>
                          <a:srgbClr val="00A8D2"/>
                        </a:solidFill>
                        <a:latin typeface="Times New Roman" panose="02020603050405020304" charset="0"/>
                      </a:rPr>
                      <a:t>F</a:t>
                    </a:r>
                    <a:r>
                      <a:rPr lang="en-US" altLang="zh-CN" sz="2000" b="1" baseline="-25000">
                        <a:solidFill>
                          <a:srgbClr val="00A8D2"/>
                        </a:solidFill>
                        <a:latin typeface="Times New Roman" panose="02020603050405020304" charset="0"/>
                      </a:rPr>
                      <a:t>1</a:t>
                    </a:r>
                  </a:p>
                </p:txBody>
              </p:sp>
              <p:sp>
                <p:nvSpPr>
                  <p:cNvPr id="81" name="文本框 80"/>
                  <p:cNvSpPr txBox="1"/>
                  <p:nvPr>
                    <p:custDataLst>
                      <p:tags r:id="rId36"/>
                    </p:custDataLst>
                  </p:nvPr>
                </p:nvSpPr>
                <p:spPr>
                  <a:xfrm>
                    <a:off x="10048" y="4552"/>
                    <a:ext cx="719" cy="62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000" b="1">
                        <a:solidFill>
                          <a:srgbClr val="006628"/>
                        </a:solidFill>
                        <a:latin typeface="Times New Roman" panose="02020603050405020304" charset="0"/>
                      </a:rPr>
                      <a:t>F</a:t>
                    </a:r>
                    <a:r>
                      <a:rPr lang="en-US" altLang="zh-CN" sz="2000" b="1" baseline="-25000">
                        <a:solidFill>
                          <a:srgbClr val="006628"/>
                        </a:solidFill>
                        <a:latin typeface="Times New Roman" panose="02020603050405020304" charset="0"/>
                      </a:rPr>
                      <a:t>2</a:t>
                    </a:r>
                  </a:p>
                </p:txBody>
              </p:sp>
              <p:sp>
                <p:nvSpPr>
                  <p:cNvPr id="82" name="文本框 81"/>
                  <p:cNvSpPr txBox="1"/>
                  <p:nvPr>
                    <p:custDataLst>
                      <p:tags r:id="rId37"/>
                    </p:custDataLst>
                  </p:nvPr>
                </p:nvSpPr>
                <p:spPr>
                  <a:xfrm>
                    <a:off x="9353" y="3696"/>
                    <a:ext cx="626" cy="580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spAutoFit/>
                  </a:bodyPr>
                  <a:lstStyle/>
                  <a:p>
                    <a:r>
                      <a:rPr lang="zh-CN" altLang="en-US">
                        <a:solidFill>
                          <a:srgbClr val="FF0000"/>
                        </a:solidFill>
                        <a:latin typeface="Arial" panose="020b0604020202020204" pitchFamily="34" charset="0"/>
                      </a:rPr>
                      <a:t>α</a:t>
                    </a:r>
                    <a:r>
                      <a:rPr lang="en-US" altLang="zh-CN" baseline="-25000">
                        <a:solidFill>
                          <a:srgbClr val="FF0000"/>
                        </a:solidFill>
                        <a:latin typeface="Arial" panose="020b0604020202020204" pitchFamily="34" charset="0"/>
                      </a:rPr>
                      <a:t>3</a:t>
                    </a:r>
                  </a:p>
                </p:txBody>
              </p:sp>
            </p:grpSp>
            <p:cxnSp>
              <p:nvCxnSpPr>
                <p:cNvPr id="85" name="直接连接符 84"/>
                <p:cNvCxnSpPr/>
                <p:nvPr>
                  <p:custDataLst>
                    <p:tags r:id="rId38"/>
                  </p:custDataLst>
                </p:nvPr>
              </p:nvCxnSpPr>
              <p:spPr>
                <a:xfrm>
                  <a:off x="10161" y="5687"/>
                  <a:ext cx="1190" cy="322"/>
                </a:xfrm>
                <a:prstGeom prst="line">
                  <a:avLst/>
                </a:prstGeom>
                <a:ln w="50800">
                  <a:solidFill>
                    <a:srgbClr val="006628"/>
                  </a:solidFill>
                  <a:prstDash val="solid"/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连接符 86"/>
                <p:cNvCxnSpPr/>
                <p:nvPr>
                  <p:custDataLst>
                    <p:tags r:id="rId39"/>
                  </p:custDataLst>
                </p:nvPr>
              </p:nvCxnSpPr>
              <p:spPr>
                <a:xfrm rot="4500000" flipH="1">
                  <a:off x="7596" y="3711"/>
                  <a:ext cx="4082" cy="9"/>
                </a:xfrm>
                <a:prstGeom prst="line">
                  <a:avLst/>
                </a:prstGeom>
                <a:ln w="50800">
                  <a:solidFill>
                    <a:srgbClr val="00A8D2"/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8" name="弧形 117"/>
              <p:cNvSpPr/>
              <p:nvPr>
                <p:custDataLst>
                  <p:tags r:id="rId40"/>
                </p:custDataLst>
              </p:nvPr>
            </p:nvSpPr>
            <p:spPr>
              <a:xfrm rot="18900000" flipH="1">
                <a:off x="10033" y="5324"/>
                <a:ext cx="635" cy="781"/>
              </a:xfrm>
              <a:prstGeom prst="arc">
                <a:avLst/>
              </a:prstGeom>
              <a:ln w="15875">
                <a:solidFill>
                  <a:srgbClr val="00662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文本框 119"/>
              <p:cNvSpPr txBox="1"/>
              <p:nvPr>
                <p:custDataLst>
                  <p:tags r:id="rId41"/>
                </p:custDataLst>
              </p:nvPr>
            </p:nvSpPr>
            <p:spPr>
              <a:xfrm>
                <a:off x="9466" y="5402"/>
                <a:ext cx="618" cy="5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zh-CN" altLang="en-US">
                    <a:solidFill>
                      <a:srgbClr val="006628"/>
                    </a:solidFill>
                    <a:latin typeface="Arial" panose="020b0604020202020204" pitchFamily="34" charset="0"/>
                  </a:rPr>
                  <a:t>θ</a:t>
                </a:r>
                <a:r>
                  <a:rPr lang="en-US" altLang="zh-CN" baseline="-25000">
                    <a:solidFill>
                      <a:srgbClr val="006628"/>
                    </a:solidFill>
                    <a:latin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21" name="弧形 120"/>
              <p:cNvSpPr/>
              <p:nvPr>
                <p:custDataLst>
                  <p:tags r:id="rId42"/>
                </p:custDataLst>
              </p:nvPr>
            </p:nvSpPr>
            <p:spPr>
              <a:xfrm rot="5580000">
                <a:off x="9962" y="5539"/>
                <a:ext cx="549" cy="566"/>
              </a:xfrm>
              <a:prstGeom prst="arc">
                <a:avLst/>
              </a:prstGeom>
              <a:ln w="15875">
                <a:solidFill>
                  <a:srgbClr val="00A8D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文本框 121"/>
              <p:cNvSpPr txBox="1"/>
              <p:nvPr>
                <p:custDataLst>
                  <p:tags r:id="rId43"/>
                </p:custDataLst>
              </p:nvPr>
            </p:nvSpPr>
            <p:spPr>
              <a:xfrm>
                <a:off x="10308" y="5973"/>
                <a:ext cx="625" cy="5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zh-CN" altLang="en-US">
                    <a:solidFill>
                      <a:srgbClr val="00A8D2"/>
                    </a:solidFill>
                    <a:latin typeface="Arial" panose="020b0604020202020204" pitchFamily="34" charset="0"/>
                  </a:rPr>
                  <a:t>β</a:t>
                </a:r>
                <a:r>
                  <a:rPr lang="en-US" altLang="zh-CN" baseline="-25000">
                    <a:solidFill>
                      <a:srgbClr val="00A8D2"/>
                    </a:solidFill>
                    <a:latin typeface="Arial" panose="020b0604020202020204" pitchFamily="34" charset="0"/>
                  </a:rPr>
                  <a:t>1</a:t>
                </a:r>
              </a:p>
            </p:txBody>
          </p:sp>
        </p:grpSp>
      </p:grpSp>
      <p:grpSp>
        <p:nvGrpSpPr>
          <p:cNvPr id="174" name="组合 173" title=""/>
          <p:cNvGrpSpPr/>
          <p:nvPr/>
        </p:nvGrpSpPr>
        <p:grpSpPr>
          <a:xfrm>
            <a:off x="4478655" y="3381375"/>
            <a:ext cx="3395345" cy="977900"/>
            <a:chOff x="2285" y="2784"/>
            <a:chExt cx="5740" cy="1541"/>
          </a:xfrm>
        </p:grpSpPr>
        <p:pic>
          <p:nvPicPr>
            <p:cNvPr id="175" name="图片 15"/>
            <p:cNvPicPr>
              <a:picLocks noChangeAspect="1"/>
            </p:cNvPicPr>
            <p:nvPr>
              <p:custDataLst>
                <p:tags r:id="rId45"/>
              </p:custDataLst>
            </p:nvPr>
          </p:nvPicPr>
          <p:blipFill>
            <a:blip r:embed="rId44">
              <a:lum bright="-18000" contrast="36000"/>
            </a:blip>
            <a:stretch>
              <a:fillRect/>
            </a:stretch>
          </p:blipFill>
          <p:spPr>
            <a:xfrm>
              <a:off x="2285" y="2784"/>
              <a:ext cx="1418" cy="148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6" name="图片 14"/>
            <p:cNvPicPr>
              <a:picLocks noChangeAspect="1"/>
            </p:cNvPicPr>
            <p:nvPr>
              <p:custDataLst>
                <p:tags r:id="rId47"/>
              </p:custDataLst>
            </p:nvPr>
          </p:nvPicPr>
          <p:blipFill>
            <a:blip r:embed="rId46">
              <a:lum bright="-12000" contrast="24000"/>
            </a:blip>
            <a:stretch>
              <a:fillRect/>
            </a:stretch>
          </p:blipFill>
          <p:spPr>
            <a:xfrm>
              <a:off x="4503" y="2840"/>
              <a:ext cx="1413" cy="148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7" name="图片 13"/>
            <p:cNvPicPr>
              <a:picLocks noChangeAspect="1"/>
            </p:cNvPicPr>
            <p:nvPr>
              <p:custDataLst>
                <p:tags r:id="rId49"/>
              </p:custDataLst>
            </p:nvPr>
          </p:nvPicPr>
          <p:blipFill>
            <a:blip r:embed="rId48"/>
            <a:stretch>
              <a:fillRect/>
            </a:stretch>
          </p:blipFill>
          <p:spPr>
            <a:xfrm>
              <a:off x="6647" y="2840"/>
              <a:ext cx="1378" cy="136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8" name="文本框 177"/>
            <p:cNvSpPr txBox="1"/>
            <p:nvPr>
              <p:custDataLst>
                <p:tags r:id="rId50"/>
              </p:custDataLst>
            </p:nvPr>
          </p:nvSpPr>
          <p:spPr>
            <a:xfrm>
              <a:off x="3735" y="3016"/>
              <a:ext cx="604" cy="10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/>
                <a:t>=</a:t>
              </a:r>
            </a:p>
          </p:txBody>
        </p:sp>
        <p:sp>
          <p:nvSpPr>
            <p:cNvPr id="179" name="文本框 178"/>
            <p:cNvSpPr txBox="1"/>
            <p:nvPr>
              <p:custDataLst>
                <p:tags r:id="rId51"/>
              </p:custDataLst>
            </p:nvPr>
          </p:nvSpPr>
          <p:spPr>
            <a:xfrm>
              <a:off x="5916" y="3019"/>
              <a:ext cx="604" cy="10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/>
                <a:t>=</a:t>
              </a:r>
            </a:p>
          </p:txBody>
        </p:sp>
      </p:grpSp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7" name="文本框 26" title=""/>
          <p:cNvSpPr txBox="1"/>
          <p:nvPr>
            <p:custDataLst>
              <p:tags r:id="rId2"/>
            </p:custDataLst>
          </p:nvPr>
        </p:nvSpPr>
        <p:spPr>
          <a:xfrm>
            <a:off x="230505" y="200025"/>
            <a:ext cx="796036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spc="600">
                <a:solidFill>
                  <a:srgbClr val="0C76B2"/>
                </a:solidFill>
                <a:latin typeface="Times New Roman" panose="02020603050405020304" charset="0"/>
                <a:ea typeface="黑体" panose="02010609060101010101" charset="-122"/>
                <a:cs typeface="阿里巴巴普惠体 B" panose="00020600040101010101" pitchFamily="18" charset="-122"/>
                <a:sym typeface="+mn-ea"/>
              </a:rPr>
              <a:t>二、方法小结</a:t>
            </a:r>
            <a:endParaRPr lang="zh-CN" altLang="en-US" sz="2800" spc="600">
              <a:solidFill>
                <a:srgbClr val="0C76B2"/>
              </a:solidFill>
              <a:latin typeface="Times New Roman" panose="02020603050405020304" charset="0"/>
              <a:ea typeface="黑体" panose="02010609060101010101" charset="-122"/>
              <a:cs typeface="阿里巴巴普惠体 B" panose="00020600040101010101" pitchFamily="18" charset="-122"/>
            </a:endParaRPr>
          </a:p>
        </p:txBody>
      </p:sp>
      <p:sp>
        <p:nvSpPr>
          <p:cNvPr id="4" name="文本框 3" title=""/>
          <p:cNvSpPr txBox="1"/>
          <p:nvPr>
            <p:custDataLst>
              <p:tags r:id="rId3"/>
            </p:custDataLst>
          </p:nvPr>
        </p:nvSpPr>
        <p:spPr>
          <a:xfrm>
            <a:off x="723900" y="1574800"/>
            <a:ext cx="22790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1.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受力特点</a:t>
            </a:r>
          </a:p>
        </p:txBody>
      </p:sp>
      <p:sp>
        <p:nvSpPr>
          <p:cNvPr id="3" name="左大括号 2" title=""/>
          <p:cNvSpPr/>
          <p:nvPr>
            <p:custDataLst>
              <p:tags r:id="rId4"/>
            </p:custDataLst>
          </p:nvPr>
        </p:nvSpPr>
        <p:spPr>
          <a:xfrm>
            <a:off x="2626995" y="1169670"/>
            <a:ext cx="138430" cy="1362710"/>
          </a:xfrm>
          <a:prstGeom prst="lef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5" name="文本框 4" title=""/>
          <p:cNvSpPr txBox="1"/>
          <p:nvPr>
            <p:custDataLst>
              <p:tags r:id="rId5"/>
            </p:custDataLst>
          </p:nvPr>
        </p:nvSpPr>
        <p:spPr>
          <a:xfrm>
            <a:off x="2734945" y="988060"/>
            <a:ext cx="55168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>
                <a:latin typeface="Times New Roman" panose="02020603050405020304" charset="0"/>
                <a:ea typeface="黑体" panose="02010609060101010101" charset="-122"/>
              </a:rPr>
              <a:t>①一个为恒力，大小方向都不变；</a:t>
            </a:r>
          </a:p>
        </p:txBody>
      </p:sp>
      <p:sp>
        <p:nvSpPr>
          <p:cNvPr id="6" name="文本框 5" title=""/>
          <p:cNvSpPr txBox="1"/>
          <p:nvPr>
            <p:custDataLst>
              <p:tags r:id="rId6"/>
            </p:custDataLst>
          </p:nvPr>
        </p:nvSpPr>
        <p:spPr>
          <a:xfrm>
            <a:off x="2704465" y="2245360"/>
            <a:ext cx="51612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>
                <a:latin typeface="Times New Roman" panose="02020603050405020304" charset="0"/>
                <a:ea typeface="黑体" panose="02010609060101010101" charset="-122"/>
              </a:rPr>
              <a:t>②另两个力方向夹角始终不变；</a:t>
            </a:r>
          </a:p>
        </p:txBody>
      </p:sp>
      <p:sp>
        <p:nvSpPr>
          <p:cNvPr id="8" name="文本框 7" title=""/>
          <p:cNvSpPr txBox="1"/>
          <p:nvPr>
            <p:custDataLst>
              <p:tags r:id="rId7"/>
            </p:custDataLst>
          </p:nvPr>
        </p:nvSpPr>
        <p:spPr>
          <a:xfrm>
            <a:off x="723900" y="4465320"/>
            <a:ext cx="27260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2.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分析步骤</a:t>
            </a:r>
          </a:p>
        </p:txBody>
      </p:sp>
      <p:sp>
        <p:nvSpPr>
          <p:cNvPr id="9" name="左大括号 8" title=""/>
          <p:cNvSpPr/>
          <p:nvPr>
            <p:custDataLst>
              <p:tags r:id="rId8"/>
            </p:custDataLst>
          </p:nvPr>
        </p:nvSpPr>
        <p:spPr>
          <a:xfrm>
            <a:off x="2626995" y="4013835"/>
            <a:ext cx="76200" cy="1362710"/>
          </a:xfrm>
          <a:prstGeom prst="lef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0" name="文本框 9" title=""/>
          <p:cNvSpPr txBox="1"/>
          <p:nvPr>
            <p:custDataLst>
              <p:tags r:id="rId9"/>
            </p:custDataLst>
          </p:nvPr>
        </p:nvSpPr>
        <p:spPr>
          <a:xfrm>
            <a:off x="2647950" y="3749675"/>
            <a:ext cx="44500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>
                <a:latin typeface="Times New Roman" panose="02020603050405020304" charset="0"/>
                <a:ea typeface="黑体" panose="02010609060101010101" charset="-122"/>
              </a:rPr>
              <a:t>①分析物体的受力及特点；</a:t>
            </a:r>
          </a:p>
        </p:txBody>
      </p:sp>
      <p:sp>
        <p:nvSpPr>
          <p:cNvPr id="11" name="文本框 10" title=""/>
          <p:cNvSpPr txBox="1"/>
          <p:nvPr>
            <p:custDataLst>
              <p:tags r:id="rId10"/>
            </p:custDataLst>
          </p:nvPr>
        </p:nvSpPr>
        <p:spPr>
          <a:xfrm>
            <a:off x="2617470" y="4465320"/>
            <a:ext cx="65836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>
                <a:latin typeface="Times New Roman" panose="02020603050405020304" charset="0"/>
                <a:ea typeface="黑体" panose="02010609060101010101" charset="-122"/>
              </a:rPr>
              <a:t>②利用三角形定则，作三力矢量三角形；</a:t>
            </a:r>
          </a:p>
        </p:txBody>
      </p:sp>
      <p:sp>
        <p:nvSpPr>
          <p:cNvPr id="13" name="文本框 12" title=""/>
          <p:cNvSpPr txBox="1"/>
          <p:nvPr>
            <p:custDataLst>
              <p:tags r:id="rId11"/>
            </p:custDataLst>
          </p:nvPr>
        </p:nvSpPr>
        <p:spPr>
          <a:xfrm>
            <a:off x="2627630" y="5095875"/>
            <a:ext cx="58724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>
                <a:latin typeface="Times New Roman" panose="02020603050405020304" charset="0"/>
                <a:ea typeface="黑体" panose="02010609060101010101" charset="-122"/>
              </a:rPr>
              <a:t>③利用正弦或拉密定理作定性分析；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animBg="1"/>
      <p:bldP spid="5" grpId="0"/>
      <p:bldP spid="6" grpId="0"/>
      <p:bldP spid="8" grpId="0"/>
      <p:bldP spid="9" grpId="0" animBg="1"/>
      <p:bldP spid="10" grpId="0"/>
      <p:bldP spid="11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文本框 1" title=""/>
          <p:cNvSpPr txBox="1"/>
          <p:nvPr/>
        </p:nvSpPr>
        <p:spPr>
          <a:xfrm>
            <a:off x="4179570" y="1863090"/>
            <a:ext cx="38328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000" cap="all">
                <a:solidFill>
                  <a:srgbClr val="38ABE3">
                    <a:alpha val="12000"/>
                  </a:srgbClr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conclusion</a:t>
            </a:r>
          </a:p>
        </p:txBody>
      </p:sp>
      <p:sp>
        <p:nvSpPr>
          <p:cNvPr id="4" name="圆角矩形 3" title=""/>
          <p:cNvSpPr/>
          <p:nvPr/>
        </p:nvSpPr>
        <p:spPr>
          <a:xfrm>
            <a:off x="5095240" y="2211705"/>
            <a:ext cx="2001520" cy="488950"/>
          </a:xfrm>
          <a:prstGeom prst="roundRect">
            <a:avLst>
              <a:gd name="adj" fmla="val 50000"/>
            </a:avLst>
          </a:prstGeom>
          <a:solidFill>
            <a:srgbClr val="38AB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3" name="文本框 12" title=""/>
          <p:cNvSpPr txBox="1"/>
          <p:nvPr/>
        </p:nvSpPr>
        <p:spPr>
          <a:xfrm>
            <a:off x="4179570" y="3022600"/>
            <a:ext cx="389128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/>
            <a:r>
              <a:rPr lang="zh-CN" altLang="en-US" sz="6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汉仪宋韵朗黑W" panose="00020600040101010101" charset="-122"/>
                <a:sym typeface="汉仪宋韵朗黑W"/>
              </a:rPr>
              <a:t>课堂练习</a:t>
            </a:r>
          </a:p>
        </p:txBody>
      </p:sp>
      <p:sp>
        <p:nvSpPr>
          <p:cNvPr id="14" name="文本框 13" title=""/>
          <p:cNvSpPr txBox="1"/>
          <p:nvPr/>
        </p:nvSpPr>
        <p:spPr>
          <a:xfrm>
            <a:off x="5526405" y="2211705"/>
            <a:ext cx="119316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06</a:t>
            </a:r>
          </a:p>
        </p:txBody>
      </p:sp>
    </p:spTree>
    <p:custDataLst>
      <p:tags r:id="rId2"/>
    </p:custDataLst>
  </p:cSld>
  <p:clrMapOvr>
    <a:masterClrMapping/>
  </p:clrMapOvr>
  <p:transition/>
  <p:timing/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0" name="文本框 99" title=""/>
          <p:cNvSpPr txBox="1"/>
          <p:nvPr/>
        </p:nvSpPr>
        <p:spPr>
          <a:xfrm>
            <a:off x="327025" y="381635"/>
            <a:ext cx="11447145" cy="247840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indent="0">
              <a:lnSpc>
                <a:spcPct val="150000"/>
              </a:lnSpc>
            </a:pP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zh-CN" sz="2800" b="0">
                <a:ea typeface="黑体" panose="02010609060101010101" charset="-122"/>
              </a:rPr>
              <a:t>．如图所示，质量分别为</a:t>
            </a:r>
            <a:r>
              <a:rPr lang="en-US" sz="2800" b="0" i="1">
                <a:latin typeface="Times New Roman" panose="02020603050405020304" charset="0"/>
                <a:ea typeface="黑体" panose="02010609060101010101" charset="-122"/>
              </a:rPr>
              <a:t>m</a:t>
            </a:r>
            <a:r>
              <a:rPr lang="zh-CN" sz="2800" b="0">
                <a:ea typeface="黑体" panose="02010609060101010101" charset="-122"/>
              </a:rPr>
              <a:t>、</a:t>
            </a:r>
            <a:r>
              <a:rPr lang="en-US" sz="2800" b="0" i="1">
                <a:latin typeface="Times New Roman" panose="02020603050405020304" charset="0"/>
                <a:ea typeface="黑体" panose="02010609060101010101" charset="-122"/>
              </a:rPr>
              <a:t>M</a:t>
            </a:r>
            <a:r>
              <a:rPr lang="zh-CN" sz="2800" b="0">
                <a:ea typeface="黑体" panose="02010609060101010101" charset="-122"/>
              </a:rPr>
              <a:t>的两个物体系在一根通过轻质定滑轮的轻绳两端，</a:t>
            </a:r>
            <a:r>
              <a:rPr lang="en-US" sz="2800" b="0" i="1">
                <a:latin typeface="Times New Roman" panose="02020603050405020304" charset="0"/>
                <a:ea typeface="黑体" panose="02010609060101010101" charset="-122"/>
              </a:rPr>
              <a:t>M</a:t>
            </a:r>
            <a:r>
              <a:rPr lang="zh-CN" sz="2800" b="0">
                <a:ea typeface="黑体" panose="02010609060101010101" charset="-122"/>
              </a:rPr>
              <a:t>放在水平地板上，</a:t>
            </a:r>
            <a:r>
              <a:rPr lang="en-US" sz="2800" b="0" i="1">
                <a:latin typeface="Times New Roman" panose="02020603050405020304" charset="0"/>
                <a:ea typeface="黑体" panose="02010609060101010101" charset="-122"/>
              </a:rPr>
              <a:t>m</a:t>
            </a:r>
            <a:r>
              <a:rPr lang="zh-CN" sz="2800" b="0">
                <a:ea typeface="黑体" panose="02010609060101010101" charset="-122"/>
              </a:rPr>
              <a:t>被悬在空中，若将</a:t>
            </a:r>
            <a:r>
              <a:rPr lang="en-US" sz="2800" b="0" i="1">
                <a:latin typeface="Times New Roman" panose="02020603050405020304" charset="0"/>
                <a:ea typeface="黑体" panose="02010609060101010101" charset="-122"/>
              </a:rPr>
              <a:t>M</a:t>
            </a:r>
            <a:r>
              <a:rPr lang="zh-CN" sz="2800" b="0">
                <a:ea typeface="黑体" panose="02010609060101010101" charset="-122"/>
              </a:rPr>
              <a:t>沿水平地板向左缓慢移动少许后，</a:t>
            </a:r>
            <a:r>
              <a:rPr lang="en-US" sz="2800" b="0" i="1">
                <a:latin typeface="Times New Roman" panose="02020603050405020304" charset="0"/>
                <a:ea typeface="黑体" panose="02010609060101010101" charset="-122"/>
              </a:rPr>
              <a:t>M</a:t>
            </a:r>
            <a:r>
              <a:rPr lang="zh-CN" sz="2800" b="0">
                <a:ea typeface="黑体" panose="02010609060101010101" charset="-122"/>
              </a:rPr>
              <a:t>仍静止，则（　　）</a:t>
            </a:r>
            <a:endParaRPr lang="en-US" sz="2800" b="0">
              <a:latin typeface="Times New Roman" panose="02020603050405020304" charset="0"/>
              <a:ea typeface="黑体" panose="02010609060101010101" charset="-122"/>
            </a:endParaRPr>
          </a:p>
          <a:p>
            <a:pPr indent="0">
              <a:lnSpc>
                <a:spcPct val="150000"/>
              </a:lnSpc>
            </a:pP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A</a:t>
            </a:r>
            <a:r>
              <a:rPr lang="zh-CN" sz="2800" b="0">
                <a:ea typeface="黑体" panose="02010609060101010101" charset="-122"/>
              </a:rPr>
              <a:t>．绳中张力变小</a:t>
            </a:r>
            <a:endParaRPr lang="en-US" sz="2800" b="0">
              <a:latin typeface="Times New Roman" panose="02020603050405020304" charset="0"/>
              <a:ea typeface="黑体" panose="02010609060101010101" charset="-122"/>
            </a:endParaRPr>
          </a:p>
          <a:p>
            <a:pPr indent="0">
              <a:lnSpc>
                <a:spcPct val="150000"/>
              </a:lnSpc>
            </a:pP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B</a:t>
            </a:r>
            <a:r>
              <a:rPr lang="zh-CN" sz="2800" b="0">
                <a:ea typeface="黑体" panose="02010609060101010101" charset="-122"/>
              </a:rPr>
              <a:t>．</a:t>
            </a:r>
            <a:r>
              <a:rPr lang="en-US" sz="2800" b="0" i="1">
                <a:latin typeface="Times New Roman" panose="02020603050405020304" charset="0"/>
                <a:ea typeface="黑体" panose="02010609060101010101" charset="-122"/>
              </a:rPr>
              <a:t>M</a:t>
            </a:r>
            <a:r>
              <a:rPr lang="zh-CN" sz="2800" b="0">
                <a:ea typeface="黑体" panose="02010609060101010101" charset="-122"/>
              </a:rPr>
              <a:t>对地面的压力变大</a:t>
            </a:r>
            <a:endParaRPr lang="en-US" sz="2800" b="0">
              <a:latin typeface="Times New Roman" panose="02020603050405020304" charset="0"/>
              <a:ea typeface="黑体" panose="02010609060101010101" charset="-122"/>
            </a:endParaRPr>
          </a:p>
          <a:p>
            <a:pPr indent="0">
              <a:lnSpc>
                <a:spcPct val="150000"/>
              </a:lnSpc>
            </a:pP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C</a:t>
            </a:r>
            <a:r>
              <a:rPr lang="zh-CN" sz="2800" b="0">
                <a:ea typeface="黑体" panose="02010609060101010101" charset="-122"/>
              </a:rPr>
              <a:t>．绳子对滑轮的力变大</a:t>
            </a:r>
            <a:endParaRPr lang="en-US" sz="2800" b="0">
              <a:latin typeface="Times New Roman" panose="02020603050405020304" charset="0"/>
              <a:ea typeface="黑体" panose="02010609060101010101" charset="-122"/>
            </a:endParaRPr>
          </a:p>
          <a:p>
            <a:pPr indent="0">
              <a:lnSpc>
                <a:spcPct val="150000"/>
              </a:lnSpc>
            </a:pP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D</a:t>
            </a:r>
            <a:r>
              <a:rPr lang="zh-CN" sz="2800" b="0">
                <a:ea typeface="黑体" panose="02010609060101010101" charset="-122"/>
              </a:rPr>
              <a:t>．</a:t>
            </a:r>
            <a:r>
              <a:rPr lang="en-US" sz="2800" b="0" i="1">
                <a:latin typeface="Times New Roman" panose="02020603050405020304" charset="0"/>
                <a:ea typeface="黑体" panose="02010609060101010101" charset="-122"/>
              </a:rPr>
              <a:t>M</a:t>
            </a:r>
            <a:r>
              <a:rPr lang="zh-CN" sz="2800" b="0">
                <a:ea typeface="黑体" panose="02010609060101010101" charset="-122"/>
              </a:rPr>
              <a:t>所受的静摩擦力变小</a:t>
            </a:r>
            <a:endParaRPr lang="zh-CN" altLang="en-US" sz="2800" b="0">
              <a:ea typeface="黑体" panose="02010609060101010101" charset="-122"/>
            </a:endParaRPr>
          </a:p>
        </p:txBody>
      </p:sp>
      <p:sp>
        <p:nvSpPr>
          <p:cNvPr id="7" name="文本框 6" title=""/>
          <p:cNvSpPr txBox="1"/>
          <p:nvPr>
            <p:custDataLst>
              <p:tags r:id="rId2"/>
            </p:custDataLst>
          </p:nvPr>
        </p:nvSpPr>
        <p:spPr>
          <a:xfrm>
            <a:off x="5370195" y="1764030"/>
            <a:ext cx="719455" cy="551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charset="0"/>
                <a:ea typeface="思源黑体 CN Light" panose="020b0400000000000000" pitchFamily="34" charset="-122"/>
                <a:cs typeface="Times New Roman" panose="02020603050405020304" charset="0"/>
              </a:rPr>
              <a:t>B</a:t>
            </a:r>
          </a:p>
        </p:txBody>
      </p:sp>
      <p:pic>
        <p:nvPicPr>
          <p:cNvPr id="100007" name="图片 100007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552055" y="2315845"/>
            <a:ext cx="3738880" cy="27425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0" name="文本框 99" title=""/>
          <p:cNvSpPr txBox="1"/>
          <p:nvPr/>
        </p:nvSpPr>
        <p:spPr>
          <a:xfrm>
            <a:off x="173355" y="190500"/>
            <a:ext cx="11897360" cy="323850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indent="0">
              <a:lnSpc>
                <a:spcPct val="150000"/>
              </a:lnSpc>
            </a:pPr>
            <a:r>
              <a:rPr lang="zh-CN" sz="2400" b="0">
                <a:ea typeface="黑体" panose="02010609060101010101" charset="-122"/>
              </a:rPr>
              <a:t>【答案】</a:t>
            </a:r>
            <a:r>
              <a:rPr lang="en-US" sz="2400" b="0">
                <a:latin typeface="Times New Roman" panose="02020603050405020304" charset="0"/>
                <a:ea typeface="黑体" panose="02010609060101010101" charset="-122"/>
              </a:rPr>
              <a:t>B</a:t>
            </a:r>
            <a:endParaRPr lang="zh-CN" sz="2400" b="0">
              <a:ea typeface="黑体" panose="02010609060101010101" charset="-122"/>
            </a:endParaRPr>
          </a:p>
          <a:p>
            <a:pPr indent="0">
              <a:lnSpc>
                <a:spcPct val="150000"/>
              </a:lnSpc>
            </a:pPr>
            <a:r>
              <a:rPr lang="zh-CN" sz="2400" b="0">
                <a:ea typeface="黑体" panose="02010609060101010101" charset="-122"/>
              </a:rPr>
              <a:t>【详解】</a:t>
            </a:r>
            <a:r>
              <a:rPr lang="en-US" sz="2400" b="0">
                <a:latin typeface="Times New Roman" panose="02020603050405020304" charset="0"/>
                <a:ea typeface="黑体" panose="02010609060101010101" charset="-122"/>
              </a:rPr>
              <a:t>A</a:t>
            </a:r>
            <a:r>
              <a:rPr lang="zh-CN" sz="2400" b="0">
                <a:ea typeface="黑体" panose="02010609060101010101" charset="-122"/>
              </a:rPr>
              <a:t>．以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m</a:t>
            </a:r>
            <a:r>
              <a:rPr lang="zh-CN" sz="2400" b="0">
                <a:ea typeface="黑体" panose="02010609060101010101" charset="-122"/>
              </a:rPr>
              <a:t>为研究对象，得到绳子张力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F</a:t>
            </a:r>
            <a:r>
              <a:rPr lang="zh-CN" sz="2400" b="0">
                <a:ea typeface="黑体" panose="02010609060101010101" charset="-122"/>
              </a:rPr>
              <a:t>＝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mg</a:t>
            </a:r>
            <a:r>
              <a:rPr lang="zh-CN" sz="2400" b="0">
                <a:ea typeface="黑体" panose="02010609060101010101" charset="-122"/>
              </a:rPr>
              <a:t>将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M</a:t>
            </a:r>
            <a:r>
              <a:rPr lang="zh-CN" sz="2400" b="0">
                <a:ea typeface="黑体" panose="02010609060101010101" charset="-122"/>
              </a:rPr>
              <a:t>沿水平地板向左缓慢移动少许后，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M</a:t>
            </a:r>
            <a:r>
              <a:rPr lang="zh-CN" sz="2400" b="0">
                <a:ea typeface="黑体" panose="02010609060101010101" charset="-122"/>
              </a:rPr>
              <a:t>仍静止两物体仍平衡，则绳中张力不变，故</a:t>
            </a:r>
            <a:r>
              <a:rPr lang="en-US" sz="2400" b="0">
                <a:latin typeface="Times New Roman" panose="02020603050405020304" charset="0"/>
                <a:ea typeface="黑体" panose="02010609060101010101" charset="-122"/>
              </a:rPr>
              <a:t>A</a:t>
            </a:r>
            <a:r>
              <a:rPr lang="zh-CN" sz="2400" b="0">
                <a:ea typeface="黑体" panose="02010609060101010101" charset="-122"/>
              </a:rPr>
              <a:t>错误；</a:t>
            </a:r>
            <a:endParaRPr lang="en-US" sz="2400" b="0">
              <a:latin typeface="Times New Roman" panose="02020603050405020304" charset="0"/>
              <a:ea typeface="黑体" panose="02010609060101010101" charset="-122"/>
            </a:endParaRPr>
          </a:p>
          <a:p>
            <a:pPr indent="0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  <a:ea typeface="黑体" panose="02010609060101010101" charset="-122"/>
              </a:rPr>
              <a:t>BD</a:t>
            </a:r>
            <a:r>
              <a:rPr lang="zh-CN" sz="2400" b="0">
                <a:ea typeface="黑体" panose="02010609060101010101" charset="-122"/>
              </a:rPr>
              <a:t>．以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M</a:t>
            </a:r>
            <a:r>
              <a:rPr lang="zh-CN" sz="2400" b="0">
                <a:ea typeface="黑体" panose="02010609060101010101" charset="-122"/>
              </a:rPr>
              <a:t>为研究对象，分析受力，如图所示，由平衡条件得：</a:t>
            </a:r>
          </a:p>
          <a:p>
            <a:pPr indent="0">
              <a:lnSpc>
                <a:spcPct val="150000"/>
              </a:lnSpc>
            </a:pPr>
            <a:r>
              <a:rPr lang="zh-CN" sz="2400" b="0">
                <a:ea typeface="黑体" panose="02010609060101010101" charset="-122"/>
              </a:rPr>
              <a:t>地面对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M</a:t>
            </a:r>
            <a:r>
              <a:rPr lang="zh-CN" sz="2400" b="0">
                <a:ea typeface="黑体" panose="02010609060101010101" charset="-122"/>
              </a:rPr>
              <a:t>的支持力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F</a:t>
            </a:r>
            <a:r>
              <a:rPr lang="en-US" sz="2400" b="0" i="1" baseline="-2500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zh-CN" sz="2400" b="0">
                <a:ea typeface="黑体" panose="02010609060101010101" charset="-122"/>
              </a:rPr>
              <a:t>＝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Mg</a:t>
            </a:r>
            <a:r>
              <a:rPr lang="zh-CN" sz="2400" b="0">
                <a:ea typeface="黑体" panose="02010609060101010101" charset="-122"/>
              </a:rPr>
              <a:t>－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F</a:t>
            </a:r>
            <a:r>
              <a:rPr lang="en-US" sz="2400" b="0">
                <a:latin typeface="Times New Roman" panose="02020603050405020304" charset="0"/>
                <a:ea typeface="黑体" panose="02010609060101010101" charset="-122"/>
              </a:rPr>
              <a:t>cos 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α</a:t>
            </a:r>
            <a:r>
              <a:rPr lang="zh-CN" sz="2400" b="0">
                <a:ea typeface="黑体" panose="02010609060101010101" charset="-122"/>
              </a:rPr>
              <a:t>静摩擦力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F</a:t>
            </a:r>
            <a:r>
              <a:rPr lang="en-US" sz="2400" b="0" i="1" baseline="-25000">
                <a:latin typeface="Times New Roman" panose="02020603050405020304" charset="0"/>
                <a:ea typeface="黑体" panose="02010609060101010101" charset="-122"/>
              </a:rPr>
              <a:t>f</a:t>
            </a:r>
            <a:r>
              <a:rPr lang="zh-CN" sz="2400" b="0">
                <a:ea typeface="黑体" panose="02010609060101010101" charset="-122"/>
              </a:rPr>
              <a:t>＝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F</a:t>
            </a:r>
            <a:r>
              <a:rPr lang="en-US" sz="2400" b="0">
                <a:latin typeface="Times New Roman" panose="02020603050405020304" charset="0"/>
                <a:ea typeface="黑体" panose="02010609060101010101" charset="-122"/>
              </a:rPr>
              <a:t>sin 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α</a:t>
            </a:r>
            <a:r>
              <a:rPr lang="zh-CN" altLang="en-US" sz="2400" b="0" i="1">
                <a:latin typeface="Times New Roman" panose="02020603050405020304" charset="0"/>
                <a:ea typeface="黑体" panose="02010609060101010101" charset="-122"/>
              </a:rPr>
              <a:t>，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M</a:t>
            </a:r>
            <a:r>
              <a:rPr lang="zh-CN" sz="2400" b="0">
                <a:ea typeface="黑体" panose="02010609060101010101" charset="-122"/>
              </a:rPr>
              <a:t>沿水平地板向左缓慢移动少许后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α</a:t>
            </a:r>
            <a:r>
              <a:rPr lang="zh-CN" sz="2400" b="0">
                <a:ea typeface="黑体" panose="02010609060101010101" charset="-122"/>
              </a:rPr>
              <a:t>增大，由数学知识得到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F</a:t>
            </a:r>
            <a:r>
              <a:rPr lang="en-US" sz="2400" b="0" i="1" baseline="-2500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zh-CN" sz="2400" b="0">
                <a:ea typeface="黑体" panose="02010609060101010101" charset="-122"/>
              </a:rPr>
              <a:t>变大，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F</a:t>
            </a:r>
            <a:r>
              <a:rPr lang="en-US" sz="2400" b="0" i="1" baseline="-25000">
                <a:latin typeface="Times New Roman" panose="02020603050405020304" charset="0"/>
                <a:ea typeface="黑体" panose="02010609060101010101" charset="-122"/>
              </a:rPr>
              <a:t>f</a:t>
            </a:r>
            <a:r>
              <a:rPr lang="zh-CN" sz="2400" b="0">
                <a:ea typeface="黑体" panose="02010609060101010101" charset="-122"/>
              </a:rPr>
              <a:t>变大；根据牛顿第三定律得知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M</a:t>
            </a:r>
            <a:r>
              <a:rPr lang="zh-CN" sz="2400" b="0">
                <a:ea typeface="黑体" panose="02010609060101010101" charset="-122"/>
              </a:rPr>
              <a:t>对地面的压力也变大，故</a:t>
            </a:r>
            <a:r>
              <a:rPr lang="en-US" sz="2400" b="0">
                <a:latin typeface="Times New Roman" panose="02020603050405020304" charset="0"/>
                <a:ea typeface="黑体" panose="02010609060101010101" charset="-122"/>
              </a:rPr>
              <a:t>B</a:t>
            </a:r>
            <a:r>
              <a:rPr lang="zh-CN" sz="2400" b="0">
                <a:ea typeface="黑体" panose="02010609060101010101" charset="-122"/>
              </a:rPr>
              <a:t>正确，</a:t>
            </a:r>
            <a:r>
              <a:rPr lang="en-US" sz="2400" b="0">
                <a:latin typeface="Times New Roman" panose="02020603050405020304" charset="0"/>
                <a:ea typeface="黑体" panose="02010609060101010101" charset="-122"/>
              </a:rPr>
              <a:t>D</a:t>
            </a:r>
            <a:r>
              <a:rPr lang="zh-CN" sz="2400" b="0">
                <a:ea typeface="黑体" panose="02010609060101010101" charset="-122"/>
              </a:rPr>
              <a:t>错误；</a:t>
            </a:r>
            <a:endParaRPr lang="zh-CN" altLang="en-US" sz="2400" b="0">
              <a:ea typeface="黑体" panose="02010609060101010101" charset="-122"/>
            </a:endParaRPr>
          </a:p>
        </p:txBody>
      </p:sp>
      <p:pic>
        <p:nvPicPr>
          <p:cNvPr id="100009" name="图片 100009" title="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281285" y="3754755"/>
            <a:ext cx="1645920" cy="2564130"/>
          </a:xfrm>
          <a:prstGeom prst="rect">
            <a:avLst/>
          </a:prstGeom>
        </p:spPr>
      </p:pic>
      <p:graphicFrame>
        <p:nvGraphicFramePr>
          <p:cNvPr id="3" name="对象 -2147482622" title="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7673975" y="4196080"/>
          <a:ext cx="2607310" cy="59055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38" r:id="rId5" imgW="1739900" imgH="393700" progId="Equation.DSMT4">
                  <p:embed/>
                </p:oleObj>
              </mc:Choice>
              <mc:Fallback>
                <p:oleObj r:id="rId5" imgW="1739900" imgH="3937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73975" y="4196080"/>
                        <a:ext cx="2607310" cy="590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 title=""/>
          <p:cNvSpPr txBox="1"/>
          <p:nvPr/>
        </p:nvSpPr>
        <p:spPr>
          <a:xfrm>
            <a:off x="245745" y="4102100"/>
            <a:ext cx="9638030" cy="249809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indent="0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  <a:ea typeface="黑体" panose="02010609060101010101" charset="-122"/>
              </a:rPr>
              <a:t>C</a:t>
            </a:r>
            <a:r>
              <a:rPr lang="zh-CN" sz="2400" b="0">
                <a:ea typeface="黑体" panose="02010609060101010101" charset="-122"/>
              </a:rPr>
              <a:t>．设两绳的夹角为</a:t>
            </a:r>
            <a:r>
              <a:rPr lang="en-US" sz="2400" b="0">
                <a:latin typeface="Times New Roman" panose="02020603050405020304" charset="0"/>
                <a:ea typeface="黑体" panose="02010609060101010101" charset="-122"/>
              </a:rPr>
              <a:t>α</a:t>
            </a:r>
            <a:r>
              <a:rPr lang="zh-CN" sz="2400" b="0">
                <a:ea typeface="黑体" panose="02010609060101010101" charset="-122"/>
              </a:rPr>
              <a:t>，则作用在两绳上的拉力的合力为</a:t>
            </a:r>
            <a:endParaRPr lang="en-US" sz="2400" b="0" i="1">
              <a:latin typeface="Times New Roman" panose="02020603050405020304" charset="0"/>
              <a:ea typeface="黑体" panose="02010609060101010101" charset="-122"/>
            </a:endParaRPr>
          </a:p>
          <a:p>
            <a:pPr indent="0">
              <a:lnSpc>
                <a:spcPct val="150000"/>
              </a:lnSpc>
            </a:pP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M</a:t>
            </a:r>
            <a:r>
              <a:rPr lang="zh-CN" sz="2400" b="0">
                <a:ea typeface="黑体" panose="02010609060101010101" charset="-122"/>
              </a:rPr>
              <a:t>沿水平地板向左缓慢移动少许，</a:t>
            </a:r>
            <a:r>
              <a:rPr lang="en-US" sz="2400" b="0">
                <a:latin typeface="Times New Roman" panose="02020603050405020304" charset="0"/>
                <a:ea typeface="黑体" panose="02010609060101010101" charset="-122"/>
              </a:rPr>
              <a:t>α</a:t>
            </a:r>
            <a:r>
              <a:rPr lang="zh-CN" sz="2400" b="0">
                <a:ea typeface="黑体" panose="02010609060101010101" charset="-122"/>
              </a:rPr>
              <a:t>角变大，则合力变小，即绳子对滑轮的力变小，故</a:t>
            </a:r>
            <a:r>
              <a:rPr lang="en-US" sz="2400" b="0">
                <a:latin typeface="Times New Roman" panose="02020603050405020304" charset="0"/>
                <a:ea typeface="黑体" panose="02010609060101010101" charset="-122"/>
              </a:rPr>
              <a:t>C</a:t>
            </a:r>
            <a:r>
              <a:rPr lang="zh-CN" sz="2400" b="0">
                <a:ea typeface="黑体" panose="02010609060101010101" charset="-122"/>
              </a:rPr>
              <a:t>错误。故选</a:t>
            </a:r>
            <a:r>
              <a:rPr lang="en-US" sz="2400" b="0">
                <a:latin typeface="Times New Roman" panose="02020603050405020304" charset="0"/>
                <a:ea typeface="黑体" panose="02010609060101010101" charset="-122"/>
              </a:rPr>
              <a:t>B</a:t>
            </a:r>
            <a:r>
              <a:rPr lang="zh-CN" sz="2400" b="0">
                <a:ea typeface="黑体" panose="02010609060101010101" charset="-122"/>
              </a:rPr>
              <a:t>。</a:t>
            </a:r>
            <a:endParaRPr lang="zh-CN" altLang="en-US" sz="2400" b="0">
              <a:ea typeface="黑体" panose="02010609060101010101" charset="-122"/>
            </a:endParaRPr>
          </a:p>
        </p:txBody>
      </p:sp>
    </p:spTree>
    <p:custDataLst>
      <p:tags r:id="rId7"/>
    </p:custDataLst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0" name="文本框 99" title=""/>
          <p:cNvSpPr txBox="1"/>
          <p:nvPr/>
        </p:nvSpPr>
        <p:spPr>
          <a:xfrm>
            <a:off x="372110" y="381635"/>
            <a:ext cx="11383645" cy="266827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indent="0">
              <a:lnSpc>
                <a:spcPct val="150000"/>
              </a:lnSpc>
            </a:pP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zh-CN" sz="2800" b="0">
                <a:ea typeface="黑体" panose="02010609060101010101" charset="-122"/>
              </a:rPr>
              <a:t>．如图，一个倾角为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θ</a:t>
            </a:r>
            <a:r>
              <a:rPr lang="en-US" sz="2800" b="0">
                <a:latin typeface="Times New Roman" panose="02020603050405020304" charset="0"/>
                <a:ea typeface="宋体" panose="02010600030101010101" pitchFamily="2" charset="-122"/>
              </a:rPr>
              <a:t>=53</a:t>
            </a:r>
            <a:r>
              <a:rPr lang="en-US" sz="2800" b="0" baseline="30000">
                <a:latin typeface="Times New Roman" panose="02020603050405020304" charset="0"/>
                <a:ea typeface="宋体" panose="02010600030101010101" pitchFamily="2" charset="-122"/>
              </a:rPr>
              <a:t>0</a:t>
            </a:r>
            <a:r>
              <a:rPr lang="zh-CN" sz="2800" b="0">
                <a:ea typeface="黑体" panose="02010609060101010101" charset="-122"/>
              </a:rPr>
              <a:t>的光滑斜面，用一光滑竖直挡板</a:t>
            </a:r>
            <a:r>
              <a:rPr lang="en-US" sz="2800" b="0" i="1">
                <a:latin typeface="Times New Roman" panose="02020603050405020304" charset="0"/>
                <a:ea typeface="黑体" panose="02010609060101010101" charset="-122"/>
              </a:rPr>
              <a:t>OA</a:t>
            </a:r>
            <a:r>
              <a:rPr lang="zh-CN" sz="2800" b="0">
                <a:ea typeface="黑体" panose="02010609060101010101" charset="-122"/>
              </a:rPr>
              <a:t>将重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30N</a:t>
            </a:r>
            <a:r>
              <a:rPr lang="zh-CN" sz="2800" b="0">
                <a:ea typeface="黑体" panose="02010609060101010101" charset="-122"/>
              </a:rPr>
              <a:t>的小球挡在斜面上，小球处于静止状态。挡板绕</a:t>
            </a:r>
            <a:r>
              <a:rPr lang="en-US" sz="2800" b="0" i="1">
                <a:latin typeface="Times New Roman" panose="02020603050405020304" charset="0"/>
                <a:ea typeface="黑体" panose="02010609060101010101" charset="-122"/>
              </a:rPr>
              <a:t>O</a:t>
            </a:r>
            <a:r>
              <a:rPr lang="zh-CN" sz="2800" b="0">
                <a:ea typeface="黑体" panose="02010609060101010101" charset="-122"/>
              </a:rPr>
              <a:t>点沿逆时针缓慢转动到水平方向过程中，下列说法正确的是（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       </a:t>
            </a:r>
            <a:r>
              <a:rPr lang="zh-CN" sz="2800" b="0">
                <a:ea typeface="黑体" panose="02010609060101010101" charset="-122"/>
              </a:rPr>
              <a:t>）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 </a:t>
            </a:r>
          </a:p>
          <a:p>
            <a:pPr indent="0">
              <a:lnSpc>
                <a:spcPct val="150000"/>
              </a:lnSpc>
            </a:pP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A</a:t>
            </a:r>
            <a:r>
              <a:rPr lang="zh-CN" sz="2800" b="0">
                <a:ea typeface="黑体" panose="02010609060101010101" charset="-122"/>
              </a:rPr>
              <a:t>．斜面对小球的作用力先减小后增大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	</a:t>
            </a:r>
          </a:p>
          <a:p>
            <a:pPr indent="0">
              <a:lnSpc>
                <a:spcPct val="150000"/>
              </a:lnSpc>
            </a:pP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B</a:t>
            </a:r>
            <a:r>
              <a:rPr lang="zh-CN" sz="2800" b="0">
                <a:ea typeface="黑体" panose="02010609060101010101" charset="-122"/>
              </a:rPr>
              <a:t>．挡板对小球的作用力一直增大</a:t>
            </a:r>
            <a:endParaRPr lang="en-US" sz="2800" b="0">
              <a:latin typeface="Times New Roman" panose="02020603050405020304" charset="0"/>
              <a:ea typeface="黑体" panose="02010609060101010101" charset="-122"/>
            </a:endParaRPr>
          </a:p>
          <a:p>
            <a:pPr indent="0">
              <a:lnSpc>
                <a:spcPct val="150000"/>
              </a:lnSpc>
            </a:pP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C</a:t>
            </a:r>
            <a:r>
              <a:rPr lang="zh-CN" sz="2800" b="0">
                <a:ea typeface="黑体" panose="02010609060101010101" charset="-122"/>
              </a:rPr>
              <a:t>．挡板对小球的作用力一直减小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	</a:t>
            </a:r>
          </a:p>
          <a:p>
            <a:pPr indent="0">
              <a:lnSpc>
                <a:spcPct val="150000"/>
              </a:lnSpc>
            </a:pP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D</a:t>
            </a:r>
            <a:r>
              <a:rPr lang="zh-CN" sz="2800" b="0">
                <a:ea typeface="黑体" panose="02010609060101010101" charset="-122"/>
              </a:rPr>
              <a:t>．挡板与斜面对小球的合力保持不变</a:t>
            </a:r>
            <a:endParaRPr lang="zh-CN" altLang="en-US" sz="2800" b="0">
              <a:ea typeface="黑体" panose="02010609060101010101" charset="-122"/>
            </a:endParaRPr>
          </a:p>
        </p:txBody>
      </p:sp>
      <p:sp>
        <p:nvSpPr>
          <p:cNvPr id="7" name="文本框 6" title=""/>
          <p:cNvSpPr txBox="1"/>
          <p:nvPr>
            <p:custDataLst>
              <p:tags r:id="rId2"/>
            </p:custDataLst>
          </p:nvPr>
        </p:nvSpPr>
        <p:spPr>
          <a:xfrm>
            <a:off x="6918325" y="1771650"/>
            <a:ext cx="719455" cy="551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charset="0"/>
                <a:ea typeface="思源黑体 CN Light" panose="020b0400000000000000" pitchFamily="34" charset="-122"/>
                <a:cs typeface="Times New Roman" panose="02020603050405020304" charset="0"/>
              </a:rPr>
              <a:t>D</a:t>
            </a:r>
          </a:p>
        </p:txBody>
      </p:sp>
      <p:pic>
        <p:nvPicPr>
          <p:cNvPr id="100003" name="图片 100003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060815" y="1962785"/>
            <a:ext cx="2248535" cy="27914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0" name="文本框 99" title=""/>
          <p:cNvSpPr txBox="1"/>
          <p:nvPr/>
        </p:nvSpPr>
        <p:spPr>
          <a:xfrm>
            <a:off x="426085" y="254000"/>
            <a:ext cx="11303000" cy="331089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indent="0">
              <a:lnSpc>
                <a:spcPct val="150000"/>
              </a:lnSpc>
            </a:pPr>
            <a:r>
              <a:rPr lang="zh-CN" sz="2800" b="0">
                <a:ea typeface="黑体" panose="02010609060101010101" charset="-122"/>
              </a:rPr>
              <a:t>【答案】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D</a:t>
            </a:r>
            <a:endParaRPr lang="zh-CN" sz="2800" b="0">
              <a:ea typeface="黑体" panose="02010609060101010101" charset="-122"/>
            </a:endParaRPr>
          </a:p>
          <a:p>
            <a:pPr indent="0">
              <a:lnSpc>
                <a:spcPct val="150000"/>
              </a:lnSpc>
            </a:pPr>
            <a:r>
              <a:rPr lang="zh-CN" sz="2800" b="0">
                <a:ea typeface="黑体" panose="02010609060101010101" charset="-122"/>
              </a:rPr>
              <a:t>【详解】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ABC</a:t>
            </a:r>
            <a:r>
              <a:rPr lang="zh-CN" sz="2800" b="0">
                <a:ea typeface="黑体" panose="02010609060101010101" charset="-122"/>
              </a:rPr>
              <a:t>．对球受力分析，如图所示，根据平行四边形定则知，利用图示法，挡板以底端为轴缓慢转到水平位置的过程中，斜面对球的弹力</a:t>
            </a:r>
            <a:r>
              <a:rPr lang="en-US" sz="2800" b="0" i="1">
                <a:latin typeface="Times New Roman" panose="02020603050405020304" charset="0"/>
                <a:ea typeface="黑体" panose="02010609060101010101" charset="-122"/>
              </a:rPr>
              <a:t>F</a:t>
            </a:r>
            <a:r>
              <a:rPr lang="en-US" sz="2800" b="0" i="1" baseline="-25000">
                <a:latin typeface="Times New Roman" panose="02020603050405020304" charset="0"/>
                <a:ea typeface="黑体" panose="02010609060101010101" charset="-122"/>
              </a:rPr>
              <a:t>N2</a:t>
            </a:r>
            <a:r>
              <a:rPr lang="zh-CN" sz="2800" b="0">
                <a:ea typeface="黑体" panose="02010609060101010101" charset="-122"/>
              </a:rPr>
              <a:t>逐渐减小，挡板对球的弹力</a:t>
            </a:r>
            <a:r>
              <a:rPr lang="en-US" sz="2800" b="0" i="1">
                <a:latin typeface="Times New Roman" panose="02020603050405020304" charset="0"/>
                <a:ea typeface="黑体" panose="02010609060101010101" charset="-122"/>
              </a:rPr>
              <a:t>F</a:t>
            </a:r>
            <a:r>
              <a:rPr lang="en-US" sz="2800" b="0" i="1" baseline="-25000">
                <a:latin typeface="Times New Roman" panose="02020603050405020304" charset="0"/>
                <a:ea typeface="黑体" panose="02010609060101010101" charset="-122"/>
              </a:rPr>
              <a:t>N1</a:t>
            </a:r>
            <a:r>
              <a:rPr lang="zh-CN" sz="2800" b="0">
                <a:ea typeface="黑体" panose="02010609060101010101" charset="-122"/>
              </a:rPr>
              <a:t>先减小后增大，故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ABC</a:t>
            </a:r>
            <a:r>
              <a:rPr lang="zh-CN" sz="2800" b="0">
                <a:ea typeface="黑体" panose="02010609060101010101" charset="-122"/>
              </a:rPr>
              <a:t>错误；</a:t>
            </a:r>
            <a:endParaRPr lang="en-US" sz="2800" b="0">
              <a:latin typeface="Times New Roman" panose="02020603050405020304" charset="0"/>
              <a:ea typeface="黑体" panose="02010609060101010101" charset="-122"/>
            </a:endParaRPr>
          </a:p>
          <a:p>
            <a:pPr indent="0">
              <a:lnSpc>
                <a:spcPct val="150000"/>
              </a:lnSpc>
            </a:pP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D</a:t>
            </a:r>
            <a:r>
              <a:rPr lang="zh-CN" sz="2800" b="0">
                <a:ea typeface="黑体" panose="02010609060101010101" charset="-122"/>
              </a:rPr>
              <a:t>．小球始终处于平衡状态，所以小球所受合力始终为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0</a:t>
            </a:r>
            <a:r>
              <a:rPr lang="zh-CN" sz="2800" b="0">
                <a:ea typeface="黑体" panose="02010609060101010101" charset="-122"/>
              </a:rPr>
              <a:t>，挡板与斜面对小球的合力与重力等大反向，保持不变，选项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D</a:t>
            </a:r>
            <a:r>
              <a:rPr lang="zh-CN" sz="2800" b="0">
                <a:ea typeface="黑体" panose="02010609060101010101" charset="-122"/>
              </a:rPr>
              <a:t>正确。</a:t>
            </a:r>
          </a:p>
          <a:p>
            <a:pPr indent="0">
              <a:lnSpc>
                <a:spcPct val="150000"/>
              </a:lnSpc>
            </a:pPr>
            <a:r>
              <a:rPr lang="zh-CN" sz="2800" b="0">
                <a:ea typeface="黑体" panose="02010609060101010101" charset="-122"/>
              </a:rPr>
              <a:t>故选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D</a:t>
            </a:r>
            <a:r>
              <a:rPr lang="zh-CN" sz="2800" b="0">
                <a:ea typeface="黑体" panose="02010609060101010101" charset="-122"/>
              </a:rPr>
              <a:t>。</a:t>
            </a:r>
            <a:endParaRPr lang="zh-CN" altLang="en-US" sz="2800" b="0">
              <a:ea typeface="黑体" panose="02010609060101010101" charset="-122"/>
            </a:endParaRPr>
          </a:p>
        </p:txBody>
      </p:sp>
      <p:pic>
        <p:nvPicPr>
          <p:cNvPr id="100005" name="图片 100005" title="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71060" y="4205605"/>
            <a:ext cx="2943225" cy="22072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/>
  <p:timing/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0" name="文本框 99" title=""/>
          <p:cNvSpPr txBox="1"/>
          <p:nvPr/>
        </p:nvSpPr>
        <p:spPr>
          <a:xfrm>
            <a:off x="317500" y="290830"/>
            <a:ext cx="11565255" cy="35807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indent="0">
              <a:lnSpc>
                <a:spcPct val="150000"/>
              </a:lnSpc>
            </a:pP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3</a:t>
            </a:r>
            <a:r>
              <a:rPr lang="zh-CN" sz="2800" b="0">
                <a:ea typeface="黑体" panose="02010609060101010101" charset="-122"/>
              </a:rPr>
              <a:t>．如图所示，表面光滑的半球形物体固定在水平面上，光滑小环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D</a:t>
            </a:r>
            <a:r>
              <a:rPr lang="zh-CN" sz="2800" b="0">
                <a:ea typeface="黑体" panose="02010609060101010101" charset="-122"/>
              </a:rPr>
              <a:t>固定在半球形物体球心</a:t>
            </a:r>
            <a:r>
              <a:rPr lang="en-US" sz="2800" b="0">
                <a:latin typeface="Times New Roman" panose="02020603050405020304" charset="0"/>
                <a:ea typeface="宋体" panose="02010600030101010101" pitchFamily="2" charset="-122"/>
              </a:rPr>
              <a:t>O</a:t>
            </a:r>
            <a:r>
              <a:rPr lang="zh-CN" sz="2800" b="0">
                <a:ea typeface="黑体" panose="02010609060101010101" charset="-122"/>
              </a:rPr>
              <a:t>的正上方，轻质弹簧一端用轻质细绳固定在</a:t>
            </a:r>
            <a:r>
              <a:rPr lang="en-US" sz="2800" b="0" i="1">
                <a:latin typeface="Times New Roman" panose="02020603050405020304" charset="0"/>
                <a:ea typeface="黑体" panose="02010609060101010101" charset="-122"/>
              </a:rPr>
              <a:t>A</a:t>
            </a:r>
            <a:r>
              <a:rPr lang="zh-CN" sz="2800" b="0">
                <a:ea typeface="黑体" panose="02010609060101010101" charset="-122"/>
              </a:rPr>
              <a:t>点，另一端用轻质细绳穿过小环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D</a:t>
            </a:r>
            <a:r>
              <a:rPr lang="zh-CN" sz="2800" b="0">
                <a:ea typeface="黑体" panose="02010609060101010101" charset="-122"/>
              </a:rPr>
              <a:t>与放在半球形物体上的小球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P</a:t>
            </a:r>
            <a:r>
              <a:rPr lang="zh-CN" sz="2800" b="0">
                <a:ea typeface="黑体" panose="02010609060101010101" charset="-122"/>
              </a:rPr>
              <a:t>相连，</a:t>
            </a:r>
            <a:r>
              <a:rPr lang="en-US" sz="2800" b="0" i="1">
                <a:latin typeface="Times New Roman" panose="02020603050405020304" charset="0"/>
                <a:ea typeface="黑体" panose="02010609060101010101" charset="-122"/>
              </a:rPr>
              <a:t>DA</a:t>
            </a:r>
            <a:r>
              <a:rPr lang="zh-CN" sz="2800" b="0">
                <a:ea typeface="黑体" panose="02010609060101010101" charset="-122"/>
              </a:rPr>
              <a:t>水平。现将细绳固定点</a:t>
            </a:r>
            <a:r>
              <a:rPr lang="en-US" sz="2800" b="0" i="1">
                <a:latin typeface="Times New Roman" panose="02020603050405020304" charset="0"/>
                <a:ea typeface="黑体" panose="02010609060101010101" charset="-122"/>
              </a:rPr>
              <a:t>A</a:t>
            </a:r>
            <a:r>
              <a:rPr lang="zh-CN" sz="2800" b="0">
                <a:ea typeface="黑体" panose="02010609060101010101" charset="-122"/>
              </a:rPr>
              <a:t>向右缓慢平移的过程中（小球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P</a:t>
            </a:r>
            <a:r>
              <a:rPr lang="zh-CN" sz="2800" b="0">
                <a:ea typeface="黑体" panose="02010609060101010101" charset="-122"/>
              </a:rPr>
              <a:t>未到达半球最高点前），下列说法正确的是（　　）</a:t>
            </a:r>
            <a:endParaRPr lang="en-US" sz="2800" b="0">
              <a:latin typeface="Times New Roman" panose="02020603050405020304" charset="0"/>
              <a:ea typeface="黑体" panose="02010609060101010101" charset="-122"/>
            </a:endParaRPr>
          </a:p>
          <a:p>
            <a:pPr indent="0">
              <a:lnSpc>
                <a:spcPct val="150000"/>
              </a:lnSpc>
            </a:pP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A</a:t>
            </a:r>
            <a:r>
              <a:rPr lang="zh-CN" sz="2800" b="0">
                <a:ea typeface="黑体" panose="02010609060101010101" charset="-122"/>
              </a:rPr>
              <a:t>．弹簧变短</a:t>
            </a:r>
            <a:endParaRPr lang="en-US" sz="2800" b="0">
              <a:latin typeface="Times New Roman" panose="02020603050405020304" charset="0"/>
              <a:ea typeface="黑体" panose="02010609060101010101" charset="-122"/>
            </a:endParaRPr>
          </a:p>
          <a:p>
            <a:pPr indent="0">
              <a:lnSpc>
                <a:spcPct val="150000"/>
              </a:lnSpc>
            </a:pP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B</a:t>
            </a:r>
            <a:r>
              <a:rPr lang="zh-CN" sz="2800" b="0">
                <a:ea typeface="黑体" panose="02010609060101010101" charset="-122"/>
              </a:rPr>
              <a:t>．弹簧变长</a:t>
            </a:r>
            <a:endParaRPr lang="en-US" sz="2800" b="0">
              <a:latin typeface="Times New Roman" panose="02020603050405020304" charset="0"/>
              <a:ea typeface="黑体" panose="02010609060101010101" charset="-122"/>
            </a:endParaRPr>
          </a:p>
          <a:p>
            <a:pPr indent="0">
              <a:lnSpc>
                <a:spcPct val="150000"/>
              </a:lnSpc>
            </a:pP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C</a:t>
            </a:r>
            <a:r>
              <a:rPr lang="zh-CN" sz="2800" b="0">
                <a:ea typeface="黑体" panose="02010609060101010101" charset="-122"/>
              </a:rPr>
              <a:t>．小球对半球的压力变小</a:t>
            </a:r>
            <a:endParaRPr lang="en-US" sz="2800" b="0">
              <a:latin typeface="Times New Roman" panose="02020603050405020304" charset="0"/>
              <a:ea typeface="黑体" panose="02010609060101010101" charset="-122"/>
            </a:endParaRPr>
          </a:p>
          <a:p>
            <a:pPr indent="0">
              <a:lnSpc>
                <a:spcPct val="150000"/>
              </a:lnSpc>
            </a:pP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D</a:t>
            </a:r>
            <a:r>
              <a:rPr lang="zh-CN" sz="2800" b="0">
                <a:ea typeface="黑体" panose="02010609060101010101" charset="-122"/>
              </a:rPr>
              <a:t>．小球对半球的压力变大</a:t>
            </a:r>
            <a:endParaRPr lang="zh-CN" altLang="en-US" sz="2800" b="0">
              <a:ea typeface="黑体" panose="02010609060101010101" charset="-122"/>
            </a:endParaRPr>
          </a:p>
        </p:txBody>
      </p:sp>
      <p:sp>
        <p:nvSpPr>
          <p:cNvPr id="7" name="文本框 6" title=""/>
          <p:cNvSpPr txBox="1"/>
          <p:nvPr>
            <p:custDataLst>
              <p:tags r:id="rId2"/>
            </p:custDataLst>
          </p:nvPr>
        </p:nvSpPr>
        <p:spPr>
          <a:xfrm>
            <a:off x="3624580" y="2920365"/>
            <a:ext cx="719455" cy="551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charset="0"/>
                <a:ea typeface="思源黑体 CN Light" panose="020b0400000000000000" pitchFamily="34" charset="-122"/>
                <a:cs typeface="Times New Roman" panose="02020603050405020304" charset="0"/>
              </a:rPr>
              <a:t>A</a:t>
            </a:r>
          </a:p>
        </p:txBody>
      </p:sp>
      <p:pic>
        <p:nvPicPr>
          <p:cNvPr id="100011" name="图片 1000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435850" y="3110230"/>
            <a:ext cx="4050665" cy="3088005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0172700" y="10629900"/>
            <a:ext cx="0" cy="0"/>
          </a:xfrm>
          <a:prstGeom prst="rect">
            <a:avLst/>
          </a:prstGeom>
          <a:ln>
            <a:noFill/>
          </a:ln>
        </p:spPr>
      </p:pic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0" name="文本框 99" title=""/>
          <p:cNvSpPr txBox="1"/>
          <p:nvPr/>
        </p:nvSpPr>
        <p:spPr>
          <a:xfrm>
            <a:off x="281305" y="145415"/>
            <a:ext cx="11673205" cy="26327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indent="0">
              <a:lnSpc>
                <a:spcPct val="150000"/>
              </a:lnSpc>
            </a:pPr>
            <a:r>
              <a:rPr lang="zh-CN" sz="2800" b="0">
                <a:ea typeface="黑体" panose="02010609060101010101" charset="-122"/>
              </a:rPr>
              <a:t>【答案】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A</a:t>
            </a:r>
            <a:endParaRPr lang="zh-CN" sz="2800" b="0">
              <a:ea typeface="黑体" panose="02010609060101010101" charset="-122"/>
            </a:endParaRPr>
          </a:p>
          <a:p>
            <a:pPr indent="0">
              <a:lnSpc>
                <a:spcPct val="150000"/>
              </a:lnSpc>
            </a:pPr>
            <a:r>
              <a:rPr lang="zh-CN" sz="2800" b="0">
                <a:ea typeface="黑体" panose="02010609060101010101" charset="-122"/>
              </a:rPr>
              <a:t>【详解】对小球</a:t>
            </a:r>
            <a:r>
              <a:rPr lang="en-US" sz="2800" b="0" i="1">
                <a:latin typeface="Times New Roman" panose="02020603050405020304" charset="0"/>
                <a:ea typeface="黑体" panose="02010609060101010101" charset="-122"/>
              </a:rPr>
              <a:t>P</a:t>
            </a:r>
            <a:r>
              <a:rPr lang="zh-CN" sz="2800" b="0">
                <a:ea typeface="黑体" panose="02010609060101010101" charset="-122"/>
              </a:rPr>
              <a:t>受力分析，受到绳子的拉力</a:t>
            </a:r>
            <a:r>
              <a:rPr lang="en-US" sz="2800" b="0" i="1">
                <a:latin typeface="Times New Roman" panose="02020603050405020304" charset="0"/>
                <a:ea typeface="黑体" panose="02010609060101010101" charset="-122"/>
              </a:rPr>
              <a:t>T</a:t>
            </a:r>
            <a:r>
              <a:rPr lang="zh-CN" sz="2800" b="0">
                <a:ea typeface="黑体" panose="02010609060101010101" charset="-122"/>
              </a:rPr>
              <a:t>，半球的支持力</a:t>
            </a:r>
            <a:r>
              <a:rPr lang="en-US" sz="2800" b="0" i="1">
                <a:latin typeface="Times New Roman" panose="02020603050405020304" charset="0"/>
                <a:ea typeface="黑体" panose="02010609060101010101" charset="-122"/>
              </a:rPr>
              <a:t>F</a:t>
            </a:r>
            <a:r>
              <a:rPr lang="en-US" sz="2800" b="0" i="1" baseline="-2500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zh-CN" sz="2800" b="0">
                <a:ea typeface="黑体" panose="02010609060101010101" charset="-122"/>
              </a:rPr>
              <a:t>，竖直向下的重力</a:t>
            </a:r>
            <a:r>
              <a:rPr lang="en-US" sz="2800" b="0" i="1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sz="2800" b="0">
                <a:ea typeface="黑体" panose="02010609060101010101" charset="-122"/>
              </a:rPr>
              <a:t>，如图所示</a:t>
            </a:r>
            <a:r>
              <a:rPr lang="zh-CN" sz="2800" b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zh-CN" sz="2800" b="0">
                <a:ea typeface="黑体" panose="02010609060101010101" charset="-122"/>
              </a:rPr>
              <a:t>根据相似三角形法可知</a:t>
            </a:r>
          </a:p>
          <a:p>
            <a:pPr indent="0">
              <a:lnSpc>
                <a:spcPct val="150000"/>
              </a:lnSpc>
            </a:pPr>
            <a:r>
              <a:rPr lang="zh-CN" sz="2800" b="0">
                <a:ea typeface="黑体" panose="02010609060101010101" charset="-122"/>
              </a:rPr>
              <a:t>因为</a:t>
            </a:r>
            <a:r>
              <a:rPr lang="en-US" sz="2800" b="0" i="1">
                <a:latin typeface="Times New Roman" panose="02020603050405020304" charset="0"/>
                <a:ea typeface="黑体" panose="02010609060101010101" charset="-122"/>
              </a:rPr>
              <a:t>OP</a:t>
            </a:r>
            <a:r>
              <a:rPr lang="zh-CN" sz="2800" b="0">
                <a:ea typeface="黑体" panose="02010609060101010101" charset="-122"/>
              </a:rPr>
              <a:t>和</a:t>
            </a:r>
            <a:r>
              <a:rPr lang="en-US" sz="2800" b="0" i="1">
                <a:latin typeface="Times New Roman" panose="02020603050405020304" charset="0"/>
                <a:ea typeface="黑体" panose="02010609060101010101" charset="-122"/>
              </a:rPr>
              <a:t>OD</a:t>
            </a:r>
            <a:r>
              <a:rPr lang="zh-CN" sz="2800" b="0">
                <a:ea typeface="黑体" panose="02010609060101010101" charset="-122"/>
              </a:rPr>
              <a:t>都是恒定不变的，</a:t>
            </a:r>
            <a:r>
              <a:rPr lang="en-US" sz="2800" b="0" i="1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sz="2800" b="0">
                <a:ea typeface="黑体" panose="02010609060101010101" charset="-122"/>
              </a:rPr>
              <a:t>也不变，</a:t>
            </a:r>
            <a:r>
              <a:rPr lang="en-US" sz="2800" b="0" i="1">
                <a:latin typeface="Times New Roman" panose="02020603050405020304" charset="0"/>
                <a:ea typeface="黑体" panose="02010609060101010101" charset="-122"/>
              </a:rPr>
              <a:t>DP</a:t>
            </a:r>
            <a:r>
              <a:rPr lang="zh-CN" sz="2800" b="0">
                <a:ea typeface="黑体" panose="02010609060101010101" charset="-122"/>
              </a:rPr>
              <a:t>减小，所以可知</a:t>
            </a:r>
            <a:r>
              <a:rPr lang="en-US" sz="2800" b="0" i="1">
                <a:latin typeface="Times New Roman" panose="02020603050405020304" charset="0"/>
                <a:ea typeface="黑体" panose="02010609060101010101" charset="-122"/>
              </a:rPr>
              <a:t>F</a:t>
            </a:r>
            <a:r>
              <a:rPr lang="en-US" sz="2800" b="0" i="1" baseline="-2500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zh-CN" sz="2800" b="0">
                <a:ea typeface="黑体" panose="02010609060101010101" charset="-122"/>
              </a:rPr>
              <a:t>不变，</a:t>
            </a:r>
            <a:r>
              <a:rPr lang="en-US" sz="2800" b="0" i="1">
                <a:latin typeface="Times New Roman" panose="02020603050405020304" charset="0"/>
                <a:ea typeface="黑体" panose="02010609060101010101" charset="-122"/>
              </a:rPr>
              <a:t>T</a:t>
            </a:r>
            <a:r>
              <a:rPr lang="zh-CN" sz="2800" b="0">
                <a:ea typeface="黑体" panose="02010609060101010101" charset="-122"/>
              </a:rPr>
              <a:t>减小，根据牛顿第三定律可知小球对半球的压力不变，绳子的拉力减小，即弹簧的弹力减小，所以弹簧变短，故选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A</a:t>
            </a:r>
            <a:r>
              <a:rPr lang="zh-CN" sz="2800" b="0">
                <a:ea typeface="黑体" panose="02010609060101010101" charset="-122"/>
              </a:rPr>
              <a:t>。</a:t>
            </a:r>
            <a:endParaRPr lang="zh-CN" altLang="en-US" sz="2800" b="0">
              <a:ea typeface="黑体" panose="02010609060101010101" charset="-122"/>
            </a:endParaRPr>
          </a:p>
        </p:txBody>
      </p:sp>
      <p:pic>
        <p:nvPicPr>
          <p:cNvPr id="100013" name="图片 100013" title="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02250" y="3999230"/>
            <a:ext cx="2413635" cy="2717800"/>
          </a:xfrm>
          <a:prstGeom prst="rect">
            <a:avLst/>
          </a:prstGeom>
        </p:spPr>
      </p:pic>
      <p:graphicFrame>
        <p:nvGraphicFramePr>
          <p:cNvPr id="2" name="对象 -2147482619" title="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7771130" y="1503045"/>
          <a:ext cx="1924050" cy="70485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39" r:id="rId5" imgW="1066165" imgH="393700" progId="Equation.DSMT4">
                  <p:embed/>
                </p:oleObj>
              </mc:Choice>
              <mc:Fallback>
                <p:oleObj r:id="rId5" imgW="1066165" imgH="3937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71130" y="1503045"/>
                        <a:ext cx="1924050" cy="704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7"/>
    </p:custDataLst>
  </p:cSld>
  <p:clrMapOvr>
    <a:masterClrMapping/>
  </p:clrMapOvr>
  <p:transition/>
  <p:timing/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0" name="文本框 99" title=""/>
          <p:cNvSpPr txBox="1"/>
          <p:nvPr/>
        </p:nvSpPr>
        <p:spPr>
          <a:xfrm>
            <a:off x="353695" y="308610"/>
            <a:ext cx="11637645" cy="435927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indent="0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  <a:ea typeface="黑体" panose="02010609060101010101" charset="-122"/>
              </a:rPr>
              <a:t>4</a:t>
            </a:r>
            <a:r>
              <a:rPr lang="zh-CN" sz="2400" b="0">
                <a:ea typeface="黑体" panose="02010609060101010101" charset="-122"/>
              </a:rPr>
              <a:t>．我国的新疆棉以绒长、品质好、产量高著称于世，目前新疆地区的棉田大部分是通过如图甲所示的自动采棉机采收。自动采棉机在采摘棉花的同时将棉花打包成圆柱形棉包，通过采棉机后侧可以旋转的支架平稳将其放下，这个过程可以简化为如图乙所示模型；质量为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m</a:t>
            </a:r>
            <a:r>
              <a:rPr lang="zh-CN" sz="2400" b="0">
                <a:ea typeface="黑体" panose="02010609060101010101" charset="-122"/>
              </a:rPr>
              <a:t>的棉包放在</a:t>
            </a:r>
            <a:r>
              <a:rPr lang="en-US" sz="2400" b="0">
                <a:latin typeface="Times New Roman" panose="02020603050405020304" charset="0"/>
                <a:ea typeface="黑体" panose="02010609060101010101" charset="-122"/>
              </a:rPr>
              <a:t>“V”</a:t>
            </a:r>
            <a:r>
              <a:rPr lang="zh-CN" sz="2400" b="0">
                <a:ea typeface="黑体" panose="02010609060101010101" charset="-122"/>
              </a:rPr>
              <a:t>型挡板上，两板间夹角为</a:t>
            </a:r>
            <a:r>
              <a:rPr lang="en-US" sz="2400" b="0">
                <a:latin typeface="Times New Roman" panose="02020603050405020304" charset="0"/>
                <a:ea typeface="黑体" panose="02010609060101010101" charset="-122"/>
              </a:rPr>
              <a:t>120°</a:t>
            </a:r>
            <a:r>
              <a:rPr lang="zh-CN" sz="2400" b="0">
                <a:ea typeface="黑体" panose="02010609060101010101" charset="-122"/>
              </a:rPr>
              <a:t>固定不变，</a:t>
            </a:r>
            <a:r>
              <a:rPr lang="en-US" sz="2400" b="0">
                <a:latin typeface="Times New Roman" panose="02020603050405020304" charset="0"/>
                <a:ea typeface="黑体" panose="02010609060101010101" charset="-122"/>
              </a:rPr>
              <a:t>“V”</a:t>
            </a:r>
            <a:r>
              <a:rPr lang="zh-CN" sz="2400" b="0">
                <a:ea typeface="黑体" panose="02010609060101010101" charset="-122"/>
              </a:rPr>
              <a:t>型挡板可绕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O</a:t>
            </a:r>
            <a:r>
              <a:rPr lang="zh-CN" sz="2400" b="0">
                <a:ea typeface="黑体" panose="02010609060101010101" charset="-122"/>
              </a:rPr>
              <a:t>轴在竖直面内转动。在使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OB</a:t>
            </a:r>
            <a:r>
              <a:rPr lang="zh-CN" sz="2400" b="0">
                <a:ea typeface="黑体" panose="02010609060101010101" charset="-122"/>
              </a:rPr>
              <a:t>板由水平位置顺时针缓慢转动</a:t>
            </a:r>
            <a:r>
              <a:rPr lang="en-US" sz="2400" b="0">
                <a:latin typeface="Times New Roman" panose="02020603050405020304" charset="0"/>
                <a:ea typeface="黑体" panose="02010609060101010101" charset="-122"/>
              </a:rPr>
              <a:t>60°</a:t>
            </a:r>
            <a:r>
              <a:rPr lang="zh-CN" sz="2400" b="0">
                <a:ea typeface="黑体" panose="02010609060101010101" charset="-122"/>
              </a:rPr>
              <a:t>的过程中，忽略</a:t>
            </a:r>
            <a:r>
              <a:rPr lang="en-US" sz="2400" b="0">
                <a:latin typeface="Times New Roman" panose="02020603050405020304" charset="0"/>
                <a:ea typeface="黑体" panose="02010609060101010101" charset="-122"/>
              </a:rPr>
              <a:t>“V”</a:t>
            </a:r>
            <a:r>
              <a:rPr lang="zh-CN" sz="2400" b="0">
                <a:ea typeface="黑体" panose="02010609060101010101" charset="-122"/>
              </a:rPr>
              <a:t>型挡板对棉包的摩擦力，已知重力加速度为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sz="2400" b="0">
                <a:ea typeface="黑体" panose="02010609060101010101" charset="-122"/>
              </a:rPr>
              <a:t>，下列说法正确的是（　　）</a:t>
            </a:r>
            <a:endParaRPr lang="en-US" sz="2400" b="0">
              <a:latin typeface="Times New Roman" panose="02020603050405020304" charset="0"/>
              <a:ea typeface="黑体" panose="02010609060101010101" charset="-122"/>
            </a:endParaRPr>
          </a:p>
          <a:p>
            <a:pPr indent="0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  <a:ea typeface="黑体" panose="02010609060101010101" charset="-122"/>
              </a:rPr>
              <a:t>A</a:t>
            </a:r>
            <a:r>
              <a:rPr lang="zh-CN" sz="2400" b="0">
                <a:ea typeface="黑体" panose="02010609060101010101" charset="-122"/>
              </a:rPr>
              <a:t>．棉包对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OB</a:t>
            </a:r>
            <a:r>
              <a:rPr lang="zh-CN" sz="2400" b="0">
                <a:ea typeface="黑体" panose="02010609060101010101" charset="-122"/>
              </a:rPr>
              <a:t>板的压力逐渐减小</a:t>
            </a:r>
            <a:endParaRPr lang="en-US" sz="2400" b="0">
              <a:latin typeface="Times New Roman" panose="02020603050405020304" charset="0"/>
              <a:ea typeface="黑体" panose="02010609060101010101" charset="-122"/>
            </a:endParaRPr>
          </a:p>
          <a:p>
            <a:pPr indent="0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  <a:ea typeface="黑体" panose="02010609060101010101" charset="-122"/>
              </a:rPr>
              <a:t>B</a:t>
            </a:r>
            <a:r>
              <a:rPr lang="zh-CN" sz="2400" b="0">
                <a:ea typeface="黑体" panose="02010609060101010101" charset="-122"/>
              </a:rPr>
              <a:t>．棉包对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OA</a:t>
            </a:r>
            <a:r>
              <a:rPr lang="zh-CN" sz="2400" b="0">
                <a:ea typeface="黑体" panose="02010609060101010101" charset="-122"/>
              </a:rPr>
              <a:t>板的压力先增大后减小</a:t>
            </a:r>
            <a:endParaRPr lang="en-US" sz="2400" b="0">
              <a:latin typeface="Times New Roman" panose="02020603050405020304" charset="0"/>
              <a:ea typeface="黑体" panose="02010609060101010101" charset="-122"/>
            </a:endParaRPr>
          </a:p>
          <a:p>
            <a:pPr indent="0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  <a:ea typeface="黑体" panose="02010609060101010101" charset="-122"/>
              </a:rPr>
              <a:t>C</a:t>
            </a:r>
            <a:r>
              <a:rPr lang="zh-CN" sz="2400" b="0">
                <a:ea typeface="黑体" panose="02010609060101010101" charset="-122"/>
              </a:rPr>
              <a:t>．当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OB</a:t>
            </a:r>
            <a:r>
              <a:rPr lang="zh-CN" sz="2400" b="0">
                <a:ea typeface="黑体" panose="02010609060101010101" charset="-122"/>
              </a:rPr>
              <a:t>板转过</a:t>
            </a:r>
            <a:r>
              <a:rPr lang="en-US" sz="2400" b="0">
                <a:latin typeface="Times New Roman" panose="02020603050405020304" charset="0"/>
                <a:ea typeface="黑体" panose="02010609060101010101" charset="-122"/>
              </a:rPr>
              <a:t>30°</a:t>
            </a:r>
            <a:r>
              <a:rPr lang="zh-CN" sz="2400" b="0">
                <a:ea typeface="黑体" panose="02010609060101010101" charset="-122"/>
              </a:rPr>
              <a:t>时，棉包对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OA</a:t>
            </a:r>
            <a:r>
              <a:rPr lang="zh-CN" sz="2400" b="0">
                <a:ea typeface="黑体" panose="02010609060101010101" charset="-122"/>
              </a:rPr>
              <a:t>板的作用力大小为</a:t>
            </a:r>
            <a:r>
              <a:rPr lang="en-US" sz="2400" b="0" i="1">
                <a:latin typeface="Times New Roman" panose="02020603050405020304" charset="0"/>
                <a:ea typeface="黑体" panose="02010609060101010101" charset="-122"/>
              </a:rPr>
              <a:t>mg</a:t>
            </a:r>
            <a:endParaRPr lang="en-US" sz="2400" b="0">
              <a:latin typeface="Times New Roman" panose="02020603050405020304" charset="0"/>
              <a:ea typeface="黑体" panose="02010609060101010101" charset="-122"/>
            </a:endParaRPr>
          </a:p>
          <a:p>
            <a:pPr indent="0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  <a:ea typeface="黑体" panose="02010609060101010101" charset="-122"/>
              </a:rPr>
              <a:t>D</a:t>
            </a:r>
            <a:r>
              <a:rPr lang="zh-CN" sz="2400" b="0">
                <a:ea typeface="黑体" panose="02010609060101010101" charset="-122"/>
              </a:rPr>
              <a:t>．</a:t>
            </a:r>
            <a:r>
              <a:rPr lang="en-US" sz="2400" b="0">
                <a:latin typeface="Times New Roman" panose="02020603050405020304" charset="0"/>
                <a:ea typeface="黑体" panose="02010609060101010101" charset="-122"/>
              </a:rPr>
              <a:t>“V”</a:t>
            </a:r>
            <a:r>
              <a:rPr lang="zh-CN" sz="2400" b="0">
                <a:ea typeface="黑体" panose="02010609060101010101" charset="-122"/>
              </a:rPr>
              <a:t>型挡板对棉包的作用力先减小后增大</a:t>
            </a:r>
            <a:endParaRPr lang="zh-CN" altLang="en-US" sz="2400" b="0">
              <a:ea typeface="黑体" panose="02010609060101010101" charset="-122"/>
            </a:endParaRPr>
          </a:p>
        </p:txBody>
      </p:sp>
      <p:sp>
        <p:nvSpPr>
          <p:cNvPr id="3" name="文本框 2" title=""/>
          <p:cNvSpPr txBox="1"/>
          <p:nvPr>
            <p:custDataLst>
              <p:tags r:id="rId2"/>
            </p:custDataLst>
          </p:nvPr>
        </p:nvSpPr>
        <p:spPr>
          <a:xfrm>
            <a:off x="9693910" y="3121025"/>
            <a:ext cx="1042670" cy="507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800" b="1">
                <a:solidFill>
                  <a:srgbClr val="FF0000"/>
                </a:solidFill>
                <a:latin typeface="Times New Roman" panose="02020603050405020304" charset="0"/>
                <a:ea typeface="思源黑体 CN Light" panose="020b0400000000000000" pitchFamily="34" charset="-122"/>
                <a:cs typeface="Times New Roman" panose="02020603050405020304" charset="0"/>
              </a:rPr>
              <a:t>A</a:t>
            </a:r>
          </a:p>
        </p:txBody>
      </p:sp>
      <p:pic>
        <p:nvPicPr>
          <p:cNvPr id="100015" name="图片 100015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051165" y="4232910"/>
            <a:ext cx="4005580" cy="163004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100017" name="图片 100017" title="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722485" y="681990"/>
            <a:ext cx="2333625" cy="2454910"/>
          </a:xfrm>
          <a:prstGeom prst="rect">
            <a:avLst/>
          </a:prstGeom>
        </p:spPr>
      </p:pic>
      <p:sp>
        <p:nvSpPr>
          <p:cNvPr id="100" name="文本框 99" title=""/>
          <p:cNvSpPr txBox="1"/>
          <p:nvPr/>
        </p:nvSpPr>
        <p:spPr>
          <a:xfrm>
            <a:off x="327025" y="194310"/>
            <a:ext cx="9077960" cy="378333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indent="0">
              <a:lnSpc>
                <a:spcPct val="150000"/>
              </a:lnSpc>
            </a:pPr>
            <a:r>
              <a:rPr lang="zh-CN" b="0">
                <a:ea typeface="黑体" panose="02010609060101010101" charset="-122"/>
              </a:rPr>
              <a:t>【答案】</a:t>
            </a:r>
            <a:r>
              <a:rPr lang="en-US" b="0">
                <a:latin typeface="Times New Roman" panose="02020603050405020304" charset="0"/>
                <a:ea typeface="黑体" panose="02010609060101010101" charset="-122"/>
              </a:rPr>
              <a:t>A</a:t>
            </a:r>
            <a:endParaRPr lang="zh-CN" b="0">
              <a:ea typeface="黑体" panose="02010609060101010101" charset="-122"/>
            </a:endParaRPr>
          </a:p>
          <a:p>
            <a:pPr indent="0">
              <a:lnSpc>
                <a:spcPct val="150000"/>
              </a:lnSpc>
            </a:pPr>
            <a:r>
              <a:rPr lang="zh-CN" b="0">
                <a:ea typeface="黑体" panose="02010609060101010101" charset="-122"/>
              </a:rPr>
              <a:t>【详解】</a:t>
            </a:r>
            <a:r>
              <a:rPr lang="en-US" b="0">
                <a:latin typeface="Times New Roman" panose="02020603050405020304" charset="0"/>
                <a:ea typeface="黑体" panose="02010609060101010101" charset="-122"/>
              </a:rPr>
              <a:t>D</a:t>
            </a:r>
            <a:r>
              <a:rPr lang="zh-CN" b="0">
                <a:ea typeface="黑体" panose="02010609060101010101" charset="-122"/>
              </a:rPr>
              <a:t>．棉包处于动态平衡状态，所受外力的合力为</a:t>
            </a:r>
            <a:r>
              <a:rPr lang="en-US" b="0">
                <a:latin typeface="Times New Roman" panose="02020603050405020304" charset="0"/>
                <a:ea typeface="黑体" panose="02010609060101010101" charset="-122"/>
              </a:rPr>
              <a:t>0</a:t>
            </a:r>
            <a:r>
              <a:rPr lang="zh-CN" b="0">
                <a:ea typeface="黑体" panose="02010609060101010101" charset="-122"/>
              </a:rPr>
              <a:t>，则</a:t>
            </a:r>
            <a:r>
              <a:rPr lang="en-US" b="0">
                <a:latin typeface="Times New Roman" panose="02020603050405020304" charset="0"/>
                <a:ea typeface="黑体" panose="02010609060101010101" charset="-122"/>
              </a:rPr>
              <a:t>“V”</a:t>
            </a:r>
            <a:r>
              <a:rPr lang="zh-CN" b="0">
                <a:ea typeface="黑体" panose="02010609060101010101" charset="-122"/>
              </a:rPr>
              <a:t>型挡板对棉包的作用力与重力等大反向，即</a:t>
            </a:r>
            <a:r>
              <a:rPr lang="en-US" b="0">
                <a:latin typeface="Times New Roman" panose="02020603050405020304" charset="0"/>
                <a:ea typeface="黑体" panose="02010609060101010101" charset="-122"/>
              </a:rPr>
              <a:t>“V”</a:t>
            </a:r>
            <a:r>
              <a:rPr lang="zh-CN" b="0">
                <a:ea typeface="黑体" panose="02010609060101010101" charset="-122"/>
              </a:rPr>
              <a:t>型挡板对棉包的作用力不变，故</a:t>
            </a:r>
            <a:r>
              <a:rPr lang="en-US" b="0">
                <a:latin typeface="Times New Roman" panose="02020603050405020304" charset="0"/>
                <a:ea typeface="黑体" panose="02010609060101010101" charset="-122"/>
              </a:rPr>
              <a:t>D</a:t>
            </a:r>
            <a:r>
              <a:rPr lang="zh-CN" b="0">
                <a:ea typeface="黑体" panose="02010609060101010101" charset="-122"/>
              </a:rPr>
              <a:t>错误；</a:t>
            </a:r>
            <a:endParaRPr lang="en-US" b="0">
              <a:latin typeface="Times New Roman" panose="02020603050405020304" charset="0"/>
              <a:ea typeface="黑体" panose="02010609060101010101" charset="-122"/>
            </a:endParaRPr>
          </a:p>
          <a:p>
            <a:pPr indent="0">
              <a:lnSpc>
                <a:spcPct val="150000"/>
              </a:lnSpc>
            </a:pPr>
            <a:r>
              <a:rPr lang="en-US" b="0">
                <a:latin typeface="Times New Roman" panose="02020603050405020304" charset="0"/>
                <a:ea typeface="黑体" panose="02010609060101010101" charset="-122"/>
              </a:rPr>
              <a:t>AB</a:t>
            </a:r>
            <a:r>
              <a:rPr lang="zh-CN" b="0">
                <a:ea typeface="黑体" panose="02010609060101010101" charset="-122"/>
              </a:rPr>
              <a:t>．对棉包进行受力分析，由于两板间夹角为</a:t>
            </a:r>
            <a:r>
              <a:rPr lang="en-US" b="0">
                <a:latin typeface="Times New Roman" panose="02020603050405020304" charset="0"/>
                <a:ea typeface="黑体" panose="02010609060101010101" charset="-122"/>
              </a:rPr>
              <a:t>120°</a:t>
            </a:r>
            <a:r>
              <a:rPr lang="zh-CN" b="0">
                <a:ea typeface="黑体" panose="02010609060101010101" charset="-122"/>
              </a:rPr>
              <a:t>，则</a:t>
            </a:r>
            <a:r>
              <a:rPr lang="en-US" b="0">
                <a:latin typeface="Times New Roman" panose="02020603050405020304" charset="0"/>
                <a:ea typeface="黑体" panose="02010609060101010101" charset="-122"/>
              </a:rPr>
              <a:t>OB</a:t>
            </a:r>
            <a:r>
              <a:rPr lang="zh-CN" b="0">
                <a:ea typeface="黑体" panose="02010609060101010101" charset="-122"/>
              </a:rPr>
              <a:t>板对棉包的支持力方向与</a:t>
            </a:r>
            <a:r>
              <a:rPr lang="en-US" b="0">
                <a:latin typeface="Times New Roman" panose="02020603050405020304" charset="0"/>
                <a:ea typeface="黑体" panose="02010609060101010101" charset="-122"/>
              </a:rPr>
              <a:t>OA</a:t>
            </a:r>
            <a:r>
              <a:rPr lang="zh-CN" b="0">
                <a:ea typeface="黑体" panose="02010609060101010101" charset="-122"/>
              </a:rPr>
              <a:t>板对棉包支持力方向的夹角为</a:t>
            </a:r>
            <a:r>
              <a:rPr lang="en-US" b="0">
                <a:latin typeface="Times New Roman" panose="02020603050405020304" charset="0"/>
                <a:ea typeface="黑体" panose="02010609060101010101" charset="-122"/>
              </a:rPr>
              <a:t>60°</a:t>
            </a:r>
            <a:r>
              <a:rPr lang="zh-CN" b="0">
                <a:ea typeface="黑体" panose="02010609060101010101" charset="-122"/>
              </a:rPr>
              <a:t>，作出受力三角形，可知，在三角形中重力所在的边对应的夹角为</a:t>
            </a:r>
            <a:r>
              <a:rPr lang="en-US" b="0">
                <a:latin typeface="Times New Roman" panose="02020603050405020304" charset="0"/>
                <a:ea typeface="黑体" panose="02010609060101010101" charset="-122"/>
              </a:rPr>
              <a:t>120°</a:t>
            </a:r>
            <a:r>
              <a:rPr lang="zh-CN" b="0">
                <a:ea typeface="黑体" panose="02010609060101010101" charset="-122"/>
              </a:rPr>
              <a:t>，在辅助圆中作出动态三角形，如图所示</a:t>
            </a:r>
            <a:r>
              <a:rPr lang="zh-CN" sz="2100" b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zh-CN" b="0">
                <a:ea typeface="黑体" panose="02010609060101010101" charset="-122"/>
              </a:rPr>
              <a:t>圆周上的动点顺时针旋转，由于</a:t>
            </a:r>
            <a:r>
              <a:rPr lang="en-US" b="0" i="1">
                <a:latin typeface="Times New Roman" panose="02020603050405020304" charset="0"/>
                <a:ea typeface="黑体" panose="02010609060101010101" charset="-122"/>
              </a:rPr>
              <a:t>OB</a:t>
            </a:r>
            <a:r>
              <a:rPr lang="zh-CN" b="0">
                <a:ea typeface="黑体" panose="02010609060101010101" charset="-122"/>
              </a:rPr>
              <a:t>板由水平位置顺时针缓慢转动</a:t>
            </a:r>
            <a:r>
              <a:rPr lang="en-US" b="0">
                <a:latin typeface="Times New Roman" panose="02020603050405020304" charset="0"/>
                <a:ea typeface="黑体" panose="02010609060101010101" charset="-122"/>
              </a:rPr>
              <a:t>60°</a:t>
            </a:r>
            <a:r>
              <a:rPr lang="zh-CN" b="0">
                <a:ea typeface="黑体" panose="02010609060101010101" charset="-122"/>
              </a:rPr>
              <a:t>的，此时</a:t>
            </a:r>
            <a:r>
              <a:rPr lang="en-US" b="0" i="1">
                <a:latin typeface="Times New Roman" panose="02020603050405020304" charset="0"/>
                <a:ea typeface="黑体" panose="02010609060101010101" charset="-122"/>
              </a:rPr>
              <a:t>OA</a:t>
            </a:r>
            <a:r>
              <a:rPr lang="zh-CN" b="0">
                <a:ea typeface="黑体" panose="02010609060101010101" charset="-122"/>
              </a:rPr>
              <a:t>板恰好旋转至水平方向，可知</a:t>
            </a:r>
            <a:r>
              <a:rPr lang="en-US" b="0" i="1">
                <a:latin typeface="Times New Roman" panose="02020603050405020304" charset="0"/>
                <a:ea typeface="黑体" panose="02010609060101010101" charset="-122"/>
              </a:rPr>
              <a:t>OB</a:t>
            </a:r>
            <a:r>
              <a:rPr lang="zh-CN" b="0">
                <a:ea typeface="黑体" panose="02010609060101010101" charset="-122"/>
              </a:rPr>
              <a:t>板对棉包的支持力逐渐减小，</a:t>
            </a:r>
            <a:r>
              <a:rPr lang="en-US" b="0" i="1">
                <a:latin typeface="Times New Roman" panose="02020603050405020304" charset="0"/>
                <a:ea typeface="黑体" panose="02010609060101010101" charset="-122"/>
              </a:rPr>
              <a:t>OA</a:t>
            </a:r>
            <a:r>
              <a:rPr lang="zh-CN" b="0">
                <a:ea typeface="黑体" panose="02010609060101010101" charset="-122"/>
              </a:rPr>
              <a:t>板对棉包的支持力逐渐增大，根据牛顿第三定律可知，棉包对</a:t>
            </a:r>
            <a:r>
              <a:rPr lang="en-US" b="0" i="1">
                <a:latin typeface="Times New Roman" panose="02020603050405020304" charset="0"/>
                <a:ea typeface="黑体" panose="02010609060101010101" charset="-122"/>
              </a:rPr>
              <a:t>OB</a:t>
            </a:r>
            <a:r>
              <a:rPr lang="zh-CN" b="0">
                <a:ea typeface="黑体" panose="02010609060101010101" charset="-122"/>
              </a:rPr>
              <a:t>板的压力逐渐减小，棉包对</a:t>
            </a:r>
            <a:r>
              <a:rPr lang="en-US" b="0" i="1">
                <a:latin typeface="Times New Roman" panose="02020603050405020304" charset="0"/>
                <a:ea typeface="黑体" panose="02010609060101010101" charset="-122"/>
              </a:rPr>
              <a:t>OA</a:t>
            </a:r>
            <a:r>
              <a:rPr lang="zh-CN" b="0">
                <a:ea typeface="黑体" panose="02010609060101010101" charset="-122"/>
              </a:rPr>
              <a:t>板的压力逐渐增大，故</a:t>
            </a:r>
            <a:r>
              <a:rPr lang="en-US" b="0">
                <a:latin typeface="Times New Roman" panose="02020603050405020304" charset="0"/>
                <a:ea typeface="黑体" panose="02010609060101010101" charset="-122"/>
              </a:rPr>
              <a:t>A</a:t>
            </a:r>
            <a:r>
              <a:rPr lang="zh-CN" b="0">
                <a:ea typeface="黑体" panose="02010609060101010101" charset="-122"/>
              </a:rPr>
              <a:t>正确，</a:t>
            </a:r>
            <a:r>
              <a:rPr lang="en-US" b="0">
                <a:latin typeface="Times New Roman" panose="02020603050405020304" charset="0"/>
                <a:ea typeface="黑体" panose="02010609060101010101" charset="-122"/>
              </a:rPr>
              <a:t>B</a:t>
            </a:r>
            <a:r>
              <a:rPr lang="zh-CN" b="0">
                <a:ea typeface="黑体" panose="02010609060101010101" charset="-122"/>
              </a:rPr>
              <a:t>错误；</a:t>
            </a:r>
            <a:endParaRPr lang="zh-CN" altLang="en-US" b="0">
              <a:ea typeface="黑体" panose="02010609060101010101" charset="-122"/>
            </a:endParaRPr>
          </a:p>
        </p:txBody>
      </p:sp>
      <p:pic>
        <p:nvPicPr>
          <p:cNvPr id="100019" name="图片 100019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486265" y="3621405"/>
            <a:ext cx="2569845" cy="2762250"/>
          </a:xfrm>
          <a:prstGeom prst="rect">
            <a:avLst/>
          </a:prstGeom>
        </p:spPr>
      </p:pic>
      <p:pic>
        <p:nvPicPr>
          <p:cNvPr id="2" name="图片 1" title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195" y="4208780"/>
            <a:ext cx="9020810" cy="119761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/>
  <p:timing/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3" name="文本框 12" title=""/>
          <p:cNvSpPr txBox="1"/>
          <p:nvPr/>
        </p:nvSpPr>
        <p:spPr>
          <a:xfrm>
            <a:off x="2823845" y="2679065"/>
            <a:ext cx="7023100" cy="1079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/>
            <a:r>
              <a:rPr lang="zh-CN" altLang="en-US" sz="60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汉仪宋韵朗黑W"/>
              </a:rPr>
              <a:t>本节结束</a:t>
            </a:r>
            <a:r>
              <a:rPr lang="en-US" altLang="zh-CN" sz="60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汉仪宋韵朗黑W"/>
              </a:rPr>
              <a:t> </a:t>
            </a:r>
            <a:r>
              <a:rPr lang="zh-CN" altLang="en-US" sz="60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汉仪宋韵朗黑W"/>
              </a:rPr>
              <a:t>谢谢观看</a:t>
            </a:r>
          </a:p>
        </p:txBody>
      </p:sp>
    </p:spTree>
    <p:custDataLst>
      <p:tags r:id="rId2"/>
    </p:custData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4.xml><?xml version="1.0" encoding="utf-8"?>
<p:tagLst xmlns:p="http://schemas.openxmlformats.org/presentationml/2006/main">
  <p:tag name="KSO_WM_BEAUTIFY_FLAG" val=""/>
  <p:tag name="KSO_WM_DIAGRAM_VIRTUALLY_FRAME" val="{&quot;height&quot;:417.9749606299212,&quot;left&quot;:468.15,&quot;top&quot;:34.67503937007873,&quot;width&quot;:322.6}"/>
</p:tagLst>
</file>

<file path=ppt/tags/tag5.xml><?xml version="1.0" encoding="utf-8"?>
<p:tagLst xmlns:p="http://schemas.openxmlformats.org/presentationml/2006/main">
  <p:tag name="KSO_WM_BEAUTIFY_FLAG" val=""/>
  <p:tag name="KSO_WM_DIAGRAM_VIRTUALLY_FRAME" val="{&quot;height&quot;:417.9749606299212,&quot;left&quot;:468.15,&quot;top&quot;:34.67503937007873,&quot;width&quot;:322.6}"/>
</p:tagLst>
</file>

<file path=ppt/tags/tag6.xml><?xml version="1.0" encoding="utf-8"?>
<p:tagLst xmlns:p="http://schemas.openxmlformats.org/presentationml/2006/main">
  <p:tag name="KSO_WM_BEAUTIFY_FLAG" val=""/>
  <p:tag name="KSO_WM_DIAGRAM_VIRTUALLY_FRAME" val="{&quot;height&quot;:417.9749606299212,&quot;left&quot;:468.15,&quot;top&quot;:34.67503937007873,&quot;width&quot;:322.6}"/>
</p:tagLst>
</file>

<file path=ppt/tags/tag7.xml><?xml version="1.0" encoding="utf-8"?>
<p:tagLst xmlns:p="http://schemas.openxmlformats.org/presentationml/2006/main">
  <p:tag name="KSO_WM_BEAUTIFY_FLAG" val=""/>
  <p:tag name="KSO_WM_DIAGRAM_VIRTUALLY_FRAME" val="{&quot;height&quot;:417.9749606299212,&quot;left&quot;:468.15,&quot;top&quot;:34.67503937007873,&quot;width&quot;:322.6}"/>
</p:tagLst>
</file>

<file path=ppt/tags/tag8.xml><?xml version="1.0" encoding="utf-8"?>
<p:tagLst xmlns:p="http://schemas.openxmlformats.org/presentationml/2006/main">
  <p:tag name="KSO_WM_BEAUTIFY_FLAG" val=""/>
  <p:tag name="KSO_WM_DIAGRAM_VIRTUALLY_FRAME" val="{&quot;height&quot;:417.9749606299212,&quot;left&quot;:468.15,&quot;top&quot;:34.67503937007873,&quot;width&quot;:322.6}"/>
</p:tagLst>
</file>

<file path=ppt/tags/tag9.xml><?xml version="1.0" encoding="utf-8"?>
<p:tagLst xmlns:p="http://schemas.openxmlformats.org/presentationml/2006/main">
  <p:tag name="KSO_WM_BEAUTIFY_FLAG" val=""/>
  <p:tag name="KSO_WM_DIAGRAM_VIRTUALLY_FRAME" val="{&quot;height&quot;:417.9749606299212,&quot;left&quot;:468.15,&quot;top&quot;:34.67503937007873,&quot;width&quot;:322.6}"/>
</p:tagLst>
</file>

<file path=ppt/tags/tag10.xml><?xml version="1.0" encoding="utf-8"?>
<p:tagLst xmlns:p="http://schemas.openxmlformats.org/presentationml/2006/main">
  <p:tag name="KSO_WM_BEAUTIFY_FLAG" val=""/>
  <p:tag name="KSO_WM_DIAGRAM_VIRTUALLY_FRAME" val="{&quot;height&quot;:417.9749606299212,&quot;left&quot;:468.15,&quot;top&quot;:34.67503937007873,&quot;width&quot;:322.6}"/>
</p:tagLst>
</file>

<file path=ppt/tags/tag11.xml><?xml version="1.0" encoding="utf-8"?>
<p:tagLst xmlns:p="http://schemas.openxmlformats.org/presentationml/2006/main">
  <p:tag name="KSO_WM_BEAUTIFY_FLAG" val=""/>
  <p:tag name="KSO_WM_DIAGRAM_VIRTUALLY_FRAME" val="{&quot;height&quot;:417.9749606299212,&quot;left&quot;:468.15,&quot;top&quot;:34.67503937007873,&quot;width&quot;:322.6}"/>
</p:tagLst>
</file>

<file path=ppt/tags/tag12.xml><?xml version="1.0" encoding="utf-8"?>
<p:tagLst xmlns:p="http://schemas.openxmlformats.org/presentationml/2006/main">
  <p:tag name="KSO_WM_BEAUTIFY_FLAG" val=""/>
  <p:tag name="KSO_WM_DIAGRAM_VIRTUALLY_FRAME" val="{&quot;height&quot;:417.9749606299212,&quot;left&quot;:468.15,&quot;top&quot;:34.67503937007873,&quot;width&quot;:322.6}"/>
</p:tagLst>
</file>

<file path=ppt/tags/tag13.xml><?xml version="1.0" encoding="utf-8"?>
<p:tagLst xmlns:p="http://schemas.openxmlformats.org/presentationml/2006/main">
  <p:tag name="KSO_WM_BEAUTIFY_FLAG" val=""/>
  <p:tag name="KSO_WM_DIAGRAM_VIRTUALLY_FRAME" val="{&quot;height&quot;:417.9749606299212,&quot;left&quot;:468.15,&quot;top&quot;:34.67503937007873,&quot;width&quot;:322.6}"/>
</p:tagLst>
</file>

<file path=ppt/tags/tag14.xml><?xml version="1.0" encoding="utf-8"?>
<p:tagLst xmlns:p="http://schemas.openxmlformats.org/presentationml/2006/main">
  <p:tag name="KSO_WM_BEAUTIFY_FLAG" val=""/>
  <p:tag name="KSO_WM_DIAGRAM_VIRTUALLY_FRAME" val="{&quot;height&quot;:417.9749606299212,&quot;left&quot;:468.15,&quot;top&quot;:34.67503937007873,&quot;width&quot;:322.6}"/>
</p:tagLst>
</file>

<file path=ppt/tags/tag15.xml><?xml version="1.0" encoding="utf-8"?>
<p:tagLst xmlns:p="http://schemas.openxmlformats.org/presentationml/2006/main">
  <p:tag name="KSO_WM_BEAUTIFY_FLAG" val=""/>
  <p:tag name="KSO_WM_DIAGRAM_VIRTUALLY_FRAME" val="{&quot;height&quot;:417.9749606299212,&quot;left&quot;:468.15,&quot;top&quot;:34.67503937007873,&quot;width&quot;:322.6}"/>
</p:tagLst>
</file>

<file path=ppt/tags/tag16.xml><?xml version="1.0" encoding="utf-8"?>
<p:tagLst xmlns:p="http://schemas.openxmlformats.org/presentationml/2006/main">
  <p:tag name="KSO_WM_BEAUTIFY_FLAG" val=""/>
  <p:tag name="KSO_WM_DIAGRAM_VIRTUALLY_FRAME" val="{&quot;height&quot;:417.9749606299212,&quot;left&quot;:468.15,&quot;top&quot;:34.67503937007873,&quot;width&quot;:322.6}"/>
</p:tagLst>
</file>

<file path=ppt/tags/tag17.xml><?xml version="1.0" encoding="utf-8"?>
<p:tagLst xmlns:p="http://schemas.openxmlformats.org/presentationml/2006/main">
  <p:tag name="KSO_WM_BEAUTIFY_FLAG" val=""/>
  <p:tag name="KSO_WM_DIAGRAM_VIRTUALLY_FRAME" val="{&quot;height&quot;:417.9749606299212,&quot;left&quot;:468.15,&quot;top&quot;:34.67503937007873,&quot;width&quot;:322.6}"/>
</p:tagLst>
</file>

<file path=ppt/tags/tag18.xml><?xml version="1.0" encoding="utf-8"?>
<p:tagLst xmlns:p="http://schemas.openxmlformats.org/presentationml/2006/main">
  <p:tag name="KSO_WM_BEAUTIFY_FLAG" val=""/>
  <p:tag name="KSO_WM_DIAGRAM_VIRTUALLY_FRAME" val="{&quot;height&quot;:417.9749606299212,&quot;left&quot;:468.15,&quot;top&quot;:34.67503937007873,&quot;width&quot;:322.6}"/>
</p:tagLst>
</file>

<file path=ppt/tags/tag19.xml><?xml version="1.0" encoding="utf-8"?>
<p:tagLst xmlns:p="http://schemas.openxmlformats.org/presentationml/2006/main">
  <p:tag name="KSO_WM_BEAUTIFY_FLAG" val=""/>
  <p:tag name="KSO_WM_DIAGRAM_VIRTUALLY_FRAME" val="{&quot;height&quot;:417.9749606299212,&quot;left&quot;:468.15,&quot;top&quot;:34.67503937007873,&quot;width&quot;:322.6}"/>
</p:tagLst>
</file>

<file path=ppt/tags/tag20.xml><?xml version="1.0" encoding="utf-8"?>
<p:tagLst xmlns:p="http://schemas.openxmlformats.org/presentationml/2006/main">
  <p:tag name="KSO_WM_BEAUTIFY_FLAG" val=""/>
  <p:tag name="KSO_WM_DIAGRAM_VIRTUALLY_FRAME" val="{&quot;height&quot;:417.9749606299212,&quot;left&quot;:468.15,&quot;top&quot;:34.67503937007873,&quot;width&quot;:322.6}"/>
</p:tagLst>
</file>

<file path=ppt/tags/tag21.xml><?xml version="1.0" encoding="utf-8"?>
<p:tagLst xmlns:p="http://schemas.openxmlformats.org/presentationml/2006/main">
  <p:tag name="KSO_WM_BEAUTIFY_FLAG" val=""/>
  <p:tag name="KSO_WM_DIAGRAM_VIRTUALLY_FRAME" val="{&quot;height&quot;:417.9749606299212,&quot;left&quot;:468.15,&quot;top&quot;:34.67503937007873,&quot;width&quot;:322.6}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4.xml><?xml version="1.0" encoding="utf-8"?>
<p:tagLst xmlns:p="http://schemas.openxmlformats.org/presentationml/2006/main"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STATE" val="0"/>
  <p:tag name="KSO_WM_UNIT_MEDIACOVER_TRANSPARENCY" val="0.5"/>
</p:tagLst>
</file>

<file path=ppt/tags/tag27.xml><?xml version="1.0" encoding="utf-8"?>
<p:tagLst xmlns:p="http://schemas.openxmlformats.org/presentationml/2006/main"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9.xml><?xml version="1.0" encoding="utf-8"?>
<p:tagLst xmlns:p="http://schemas.openxmlformats.org/presentationml/2006/main"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0.xml><?xml version="1.0" encoding="utf-8"?>
<p:tagLst xmlns:p="http://schemas.openxmlformats.org/presentationml/2006/main"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16.xml><?xml version="1.0" encoding="utf-8"?>
<p:tagLst xmlns:p="http://schemas.openxmlformats.org/presentationml/2006/main"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53.xml><?xml version="1.0" encoding="utf-8"?>
<p:tagLst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354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  <p:tag name="COMMONDATA" val="eyJjb3VudCI6NjQsImhkaWQiOiJlNjMzOGEyODcyNTQ1YzE2MzZhNThkYWY1MWFiYTkwYSIsInVzZXJDb3VudCI6NjN9"/>
</p:tagLst>
</file>

<file path=ppt/theme/theme1.xml><?xml version="1.0" encoding="utf-8"?>
<a:theme xmlns:r="http://schemas.openxmlformats.org/officeDocument/2006/relationships"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汉仪宋韵朗黑W"/>
        <a:ea typeface="汉仪宋韵朗黑W"/>
        <a:cs typeface="Arial"/>
      </a:majorFont>
      <a:minorFont>
        <a:latin typeface="汉仪宋韵朗黑W"/>
        <a:ea typeface="汉仪宋韵朗黑W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汉仪宋韵朗黑W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宋韵朗黑W"/>
        <a:ea typeface="汉仪宋韵朗黑W"/>
        <a:cs typeface="Arial"/>
        <a:font script="Jpan" typeface="ＭＳ Ｐゴシック"/>
        <a:font script="Hang" typeface="맑은 고딕"/>
        <a:font script="Hans" typeface="汉仪宋韵朗黑W"/>
        <a:font script="Hant" typeface="新細明體"/>
        <a:font script="Arab" typeface="汉仪宋韵朗黑W"/>
        <a:font script="Hebr" typeface="汉仪宋韵朗黑W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宋韵朗黑W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汉仪宋韵朗黑W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宋韵朗黑W"/>
        <a:ea typeface="汉仪宋韵朗黑W"/>
        <a:cs typeface="Arial"/>
        <a:font script="Jpan" typeface="ＭＳ Ｐゴシック"/>
        <a:font script="Hang" typeface="맑은 고딕"/>
        <a:font script="Hans" typeface="汉仪宋韵朗黑W"/>
        <a:font script="Hant" typeface="新細明體"/>
        <a:font script="Arab" typeface="汉仪宋韵朗黑W"/>
        <a:font script="Hebr" typeface="汉仪宋韵朗黑W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宋韵朗黑W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>学科网</Company>
  <Paragraphs>240</Paragraphs>
  <Slides>32</Slides>
  <Notes>0</Notes>
  <TotalTime>0</TotalTime>
  <HiddenSlides>0</HiddenSlides>
  <MMClips>1</MMClips>
  <ScaleCrop>0</ScaleCrop>
  <HeadingPairs>
    <vt:vector baseType="variant" size="6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baseType="lpstr" size="44">
      <vt:lpstr>Arial</vt:lpstr>
      <vt:lpstr>汉仪宋韵朗黑W</vt:lpstr>
      <vt:lpstr>Wingdings</vt:lpstr>
      <vt:lpstr>Calibri Light</vt:lpstr>
      <vt:lpstr>黑体</vt:lpstr>
      <vt:lpstr>Times New Roman</vt:lpstr>
      <vt:lpstr>思源黑体 CN Bold</vt:lpstr>
      <vt:lpstr>阿里巴巴普惠体 B</vt:lpstr>
      <vt:lpstr>微软雅黑</vt:lpstr>
      <vt:lpstr>宋体</vt:lpstr>
      <vt:lpstr>思源黑体 CN Light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23.0300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rbm.xkw.com</dc:creator>
  <cp:revision>1</cp:revision>
  <cp:lastPrinted>2024-07-16T14:56:30.076</cp:lastPrinted>
  <dcterms:created xsi:type="dcterms:W3CDTF">2024-07-16T14:56:30Z</dcterms:created>
  <dcterms:modified xsi:type="dcterms:W3CDTF">2024-07-16T06:56:30Z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