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heme/theme3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2" r:id="rId3"/>
    <p:sldId id="342" r:id="rId4"/>
    <p:sldId id="299" r:id="rId5"/>
    <p:sldId id="343" r:id="rId6"/>
    <p:sldId id="344" r:id="rId7"/>
    <p:sldId id="345" r:id="rId8"/>
    <p:sldId id="346" r:id="rId9"/>
    <p:sldId id="347" r:id="rId10"/>
    <p:sldId id="372" r:id="rId11"/>
    <p:sldId id="348" r:id="rId12"/>
    <p:sldId id="373" r:id="rId13"/>
    <p:sldId id="300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276" r:id="rId25"/>
  </p:sldIdLst>
  <p:sldSz cx="12192000" cy="6858000"/>
  <p:notesSz cx="6858000" cy="9144000"/>
  <p:embeddedFontLst>
    <p:embeddedFont>
      <p:font typeface="汉仪宋韵朗黑W" panose="02010600030101010101" charset="-122"/>
      <p:regular r:id="rId28"/>
    </p:embeddedFont>
    <p:embeddedFont>
      <p:font typeface="黑体" panose="02010609060101010101" pitchFamily="49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20" y="57"/>
      </p:cViewPr>
      <p:guideLst>
        <p:guide orient="horz" pos="199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heme" Target="../theme/theme3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宋韵朗黑W" panose="00020600040101010101" charset="-122"/>
              </a:rPr>
              <a:t>2025/6/12</a:t>
            </a:fld>
            <a:endParaRPr lang="zh-CN" altLang="en-US">
              <a:cs typeface="汉仪宋韵朗黑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宋韵朗黑W" panose="00020600040101010101" charset="-122"/>
              </a:rPr>
              <a:t>‹#›</a:t>
            </a:fld>
            <a:endParaRPr lang="zh-CN" altLang="en-US">
              <a:cs typeface="汉仪宋韵朗黑W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heme" Target="../theme/theme2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0" y="2541905"/>
            <a:ext cx="4665980" cy="4316095"/>
            <a:chOff x="0" y="5348"/>
            <a:chExt cx="5894" cy="5452"/>
          </a:xfrm>
        </p:grpSpPr>
        <p:sp>
          <p:nvSpPr>
            <p:cNvPr id="22" name="直角三角形 21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7526020" y="0"/>
            <a:ext cx="4665980" cy="4316095"/>
            <a:chOff x="0" y="5348"/>
            <a:chExt cx="5894" cy="5452"/>
          </a:xfrm>
        </p:grpSpPr>
        <p:sp>
          <p:nvSpPr>
            <p:cNvPr id="29" name="直角三角形 28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0" y="3395980"/>
            <a:ext cx="3742690" cy="3462020"/>
            <a:chOff x="0" y="5348"/>
            <a:chExt cx="5894" cy="5452"/>
          </a:xfrm>
        </p:grpSpPr>
        <p:sp>
          <p:nvSpPr>
            <p:cNvPr id="22" name="直角三角形 21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8449310" y="0"/>
            <a:ext cx="3742690" cy="3462020"/>
            <a:chOff x="0" y="5348"/>
            <a:chExt cx="5894" cy="5452"/>
          </a:xfrm>
        </p:grpSpPr>
        <p:sp>
          <p:nvSpPr>
            <p:cNvPr id="29" name="直角三角形 28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4622800"/>
            <a:ext cx="2414905" cy="2235200"/>
            <a:chOff x="0" y="5348"/>
            <a:chExt cx="5894" cy="5452"/>
          </a:xfrm>
        </p:grpSpPr>
        <p:sp>
          <p:nvSpPr>
            <p:cNvPr id="9" name="直角三角形 8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8" name="直角三角形 7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7" name="直角三角形 6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1" name="直角三角形 10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2" name="直角三角形 11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3" name="直角三角形 12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9777095" y="0"/>
            <a:ext cx="2414905" cy="2235200"/>
            <a:chOff x="0" y="5348"/>
            <a:chExt cx="5894" cy="5452"/>
          </a:xfrm>
        </p:grpSpPr>
        <p:sp>
          <p:nvSpPr>
            <p:cNvPr id="15" name="直角三角形 14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6" name="直角三角形 15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7" name="直角三角形 16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8" name="直角三角形 17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9" name="直角三角形 18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0" name="直角三角形 19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file:///D:\qq&#25991;&#20214;\712321467\Image\C2C\Image2\%7b75232B38-A165-1FB7-499C-2E1C792CACB5%7d.png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73743875" descr="学科网 zxxk.com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26" Type="http://schemas.openxmlformats.org/officeDocument/2006/relationships/tags" Target="../tags/tag102.xml"/><Relationship Id="rId39" Type="http://schemas.openxmlformats.org/officeDocument/2006/relationships/image" Target="../media/image6.wmf"/><Relationship Id="rId21" Type="http://schemas.openxmlformats.org/officeDocument/2006/relationships/tags" Target="../tags/tag97.xml"/><Relationship Id="rId34" Type="http://schemas.openxmlformats.org/officeDocument/2006/relationships/oleObject" Target="../embeddings/oleObject2.bin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29" Type="http://schemas.openxmlformats.org/officeDocument/2006/relationships/tags" Target="../tags/tag105.xml"/><Relationship Id="rId41" Type="http://schemas.openxmlformats.org/officeDocument/2006/relationships/image" Target="../media/image7.wmf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tags" Target="../tags/tag100.xml"/><Relationship Id="rId32" Type="http://schemas.openxmlformats.org/officeDocument/2006/relationships/oleObject" Target="../embeddings/oleObject1.bin"/><Relationship Id="rId37" Type="http://schemas.openxmlformats.org/officeDocument/2006/relationships/image" Target="../media/image5.wmf"/><Relationship Id="rId40" Type="http://schemas.openxmlformats.org/officeDocument/2006/relationships/oleObject" Target="../embeddings/oleObject5.bin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23" Type="http://schemas.openxmlformats.org/officeDocument/2006/relationships/tags" Target="../tags/tag99.xml"/><Relationship Id="rId28" Type="http://schemas.openxmlformats.org/officeDocument/2006/relationships/tags" Target="../tags/tag104.xml"/><Relationship Id="rId36" Type="http://schemas.openxmlformats.org/officeDocument/2006/relationships/oleObject" Target="../embeddings/oleObject3.bin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tags" Target="../tags/tag98.xml"/><Relationship Id="rId27" Type="http://schemas.openxmlformats.org/officeDocument/2006/relationships/tags" Target="../tags/tag103.xml"/><Relationship Id="rId30" Type="http://schemas.openxmlformats.org/officeDocument/2006/relationships/tags" Target="../tags/tag106.xml"/><Relationship Id="rId35" Type="http://schemas.openxmlformats.org/officeDocument/2006/relationships/image" Target="../media/image4.wmf"/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5" Type="http://schemas.openxmlformats.org/officeDocument/2006/relationships/tags" Target="../tags/tag101.xml"/><Relationship Id="rId33" Type="http://schemas.openxmlformats.org/officeDocument/2006/relationships/image" Target="../media/image3.wmf"/><Relationship Id="rId38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tags" Target="../tags/tag15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10" Type="http://schemas.openxmlformats.org/officeDocument/2006/relationships/tags" Target="../tags/tag14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2" Type="http://schemas.openxmlformats.org/officeDocument/2006/relationships/tags" Target="../tags/tag157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10" Type="http://schemas.openxmlformats.org/officeDocument/2006/relationships/tags" Target="../tags/tag165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171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7.xml"/><Relationship Id="rId4" Type="http://schemas.openxmlformats.org/officeDocument/2006/relationships/tags" Target="../tags/tag17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tags" Target="../tags/tag190.xml"/><Relationship Id="rId18" Type="http://schemas.openxmlformats.org/officeDocument/2006/relationships/tags" Target="../tags/tag195.xml"/><Relationship Id="rId3" Type="http://schemas.openxmlformats.org/officeDocument/2006/relationships/tags" Target="../tags/tag180.xml"/><Relationship Id="rId21" Type="http://schemas.openxmlformats.org/officeDocument/2006/relationships/image" Target="../media/image10.wmf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tags" Target="../tags/tag194.xml"/><Relationship Id="rId2" Type="http://schemas.openxmlformats.org/officeDocument/2006/relationships/tags" Target="../tags/tag179.xml"/><Relationship Id="rId16" Type="http://schemas.openxmlformats.org/officeDocument/2006/relationships/tags" Target="../tags/tag193.xml"/><Relationship Id="rId20" Type="http://schemas.openxmlformats.org/officeDocument/2006/relationships/oleObject" Target="../embeddings/oleObject6.bin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5" Type="http://schemas.openxmlformats.org/officeDocument/2006/relationships/tags" Target="../tags/tag192.xml"/><Relationship Id="rId23" Type="http://schemas.openxmlformats.org/officeDocument/2006/relationships/image" Target="../media/image11.wmf"/><Relationship Id="rId10" Type="http://schemas.openxmlformats.org/officeDocument/2006/relationships/tags" Target="../tags/tag18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tags" Target="../tags/tag191.xml"/><Relationship Id="rId22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08.xml"/><Relationship Id="rId18" Type="http://schemas.openxmlformats.org/officeDocument/2006/relationships/tags" Target="../tags/tag213.xml"/><Relationship Id="rId26" Type="http://schemas.openxmlformats.org/officeDocument/2006/relationships/tags" Target="../tags/tag221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216.xml"/><Relationship Id="rId34" Type="http://schemas.openxmlformats.org/officeDocument/2006/relationships/tags" Target="../tags/tag229.xml"/><Relationship Id="rId42" Type="http://schemas.openxmlformats.org/officeDocument/2006/relationships/oleObject" Target="../embeddings/oleObject9.bin"/><Relationship Id="rId47" Type="http://schemas.openxmlformats.org/officeDocument/2006/relationships/image" Target="../media/image6.wmf"/><Relationship Id="rId50" Type="http://schemas.openxmlformats.org/officeDocument/2006/relationships/oleObject" Target="../embeddings/oleObject13.bin"/><Relationship Id="rId55" Type="http://schemas.openxmlformats.org/officeDocument/2006/relationships/image" Target="../media/image15.wmf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6" Type="http://schemas.openxmlformats.org/officeDocument/2006/relationships/tags" Target="../tags/tag211.xml"/><Relationship Id="rId29" Type="http://schemas.openxmlformats.org/officeDocument/2006/relationships/tags" Target="../tags/tag224.xml"/><Relationship Id="rId11" Type="http://schemas.openxmlformats.org/officeDocument/2006/relationships/tags" Target="../tags/tag206.xml"/><Relationship Id="rId24" Type="http://schemas.openxmlformats.org/officeDocument/2006/relationships/tags" Target="../tags/tag219.xml"/><Relationship Id="rId32" Type="http://schemas.openxmlformats.org/officeDocument/2006/relationships/tags" Target="../tags/tag227.xml"/><Relationship Id="rId37" Type="http://schemas.openxmlformats.org/officeDocument/2006/relationships/tags" Target="../tags/tag232.xml"/><Relationship Id="rId40" Type="http://schemas.openxmlformats.org/officeDocument/2006/relationships/oleObject" Target="../embeddings/oleObject8.bin"/><Relationship Id="rId45" Type="http://schemas.openxmlformats.org/officeDocument/2006/relationships/image" Target="../media/image5.wmf"/><Relationship Id="rId53" Type="http://schemas.openxmlformats.org/officeDocument/2006/relationships/image" Target="../media/image14.wmf"/><Relationship Id="rId5" Type="http://schemas.openxmlformats.org/officeDocument/2006/relationships/tags" Target="../tags/tag200.xml"/><Relationship Id="rId19" Type="http://schemas.openxmlformats.org/officeDocument/2006/relationships/tags" Target="../tags/tag214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Relationship Id="rId22" Type="http://schemas.openxmlformats.org/officeDocument/2006/relationships/tags" Target="../tags/tag217.xml"/><Relationship Id="rId27" Type="http://schemas.openxmlformats.org/officeDocument/2006/relationships/tags" Target="../tags/tag222.xml"/><Relationship Id="rId30" Type="http://schemas.openxmlformats.org/officeDocument/2006/relationships/tags" Target="../tags/tag225.xml"/><Relationship Id="rId35" Type="http://schemas.openxmlformats.org/officeDocument/2006/relationships/tags" Target="../tags/tag230.xml"/><Relationship Id="rId43" Type="http://schemas.openxmlformats.org/officeDocument/2006/relationships/image" Target="../media/image4.wmf"/><Relationship Id="rId48" Type="http://schemas.openxmlformats.org/officeDocument/2006/relationships/oleObject" Target="../embeddings/oleObject12.bin"/><Relationship Id="rId56" Type="http://schemas.openxmlformats.org/officeDocument/2006/relationships/oleObject" Target="../embeddings/oleObject16.bin"/><Relationship Id="rId8" Type="http://schemas.openxmlformats.org/officeDocument/2006/relationships/tags" Target="../tags/tag203.xml"/><Relationship Id="rId51" Type="http://schemas.openxmlformats.org/officeDocument/2006/relationships/image" Target="../media/image13.wmf"/><Relationship Id="rId3" Type="http://schemas.openxmlformats.org/officeDocument/2006/relationships/tags" Target="../tags/tag198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25" Type="http://schemas.openxmlformats.org/officeDocument/2006/relationships/tags" Target="../tags/tag220.xml"/><Relationship Id="rId33" Type="http://schemas.openxmlformats.org/officeDocument/2006/relationships/tags" Target="../tags/tag228.xml"/><Relationship Id="rId38" Type="http://schemas.openxmlformats.org/officeDocument/2006/relationships/tags" Target="../tags/tag233.xml"/><Relationship Id="rId46" Type="http://schemas.openxmlformats.org/officeDocument/2006/relationships/oleObject" Target="../embeddings/oleObject11.bin"/><Relationship Id="rId20" Type="http://schemas.openxmlformats.org/officeDocument/2006/relationships/tags" Target="../tags/tag215.xml"/><Relationship Id="rId41" Type="http://schemas.openxmlformats.org/officeDocument/2006/relationships/image" Target="../media/image3.wmf"/><Relationship Id="rId54" Type="http://schemas.openxmlformats.org/officeDocument/2006/relationships/oleObject" Target="../embeddings/oleObject15.bin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5" Type="http://schemas.openxmlformats.org/officeDocument/2006/relationships/tags" Target="../tags/tag210.xml"/><Relationship Id="rId23" Type="http://schemas.openxmlformats.org/officeDocument/2006/relationships/tags" Target="../tags/tag218.xml"/><Relationship Id="rId28" Type="http://schemas.openxmlformats.org/officeDocument/2006/relationships/tags" Target="../tags/tag223.xml"/><Relationship Id="rId36" Type="http://schemas.openxmlformats.org/officeDocument/2006/relationships/tags" Target="../tags/tag231.xml"/><Relationship Id="rId49" Type="http://schemas.openxmlformats.org/officeDocument/2006/relationships/image" Target="../media/image12.wmf"/><Relationship Id="rId57" Type="http://schemas.openxmlformats.org/officeDocument/2006/relationships/image" Target="../media/image16.wmf"/><Relationship Id="rId10" Type="http://schemas.openxmlformats.org/officeDocument/2006/relationships/tags" Target="../tags/tag205.xml"/><Relationship Id="rId31" Type="http://schemas.openxmlformats.org/officeDocument/2006/relationships/tags" Target="../tags/tag226.xml"/><Relationship Id="rId44" Type="http://schemas.openxmlformats.org/officeDocument/2006/relationships/oleObject" Target="../embeddings/oleObject10.bin"/><Relationship Id="rId52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image" Target="../media/image16.wmf"/><Relationship Id="rId5" Type="http://schemas.openxmlformats.org/officeDocument/2006/relationships/tags" Target="../tags/tag238.xml"/><Relationship Id="rId10" Type="http://schemas.openxmlformats.org/officeDocument/2006/relationships/oleObject" Target="../embeddings/oleObject17.bin"/><Relationship Id="rId4" Type="http://schemas.openxmlformats.org/officeDocument/2006/relationships/tags" Target="../tags/tag237.xml"/><Relationship Id="rId9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18" Type="http://schemas.openxmlformats.org/officeDocument/2006/relationships/image" Target="../media/image18.png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17" Type="http://schemas.openxmlformats.org/officeDocument/2006/relationships/image" Target="../media/image17.wmf"/><Relationship Id="rId2" Type="http://schemas.openxmlformats.org/officeDocument/2006/relationships/tags" Target="../tags/tag254.xml"/><Relationship Id="rId16" Type="http://schemas.openxmlformats.org/officeDocument/2006/relationships/oleObject" Target="../embeddings/oleObject18.bin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tags" Target="../tags/tag2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69.xml"/><Relationship Id="rId7" Type="http://schemas.openxmlformats.org/officeDocument/2006/relationships/image" Target="../media/image19.wmf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6" Type="http://schemas.openxmlformats.org/officeDocument/2006/relationships/oleObject" Target="../embeddings/oleObject19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tags" Target="../tags/tag283.xml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tags" Target="../tags/tag282.xml"/><Relationship Id="rId2" Type="http://schemas.openxmlformats.org/officeDocument/2006/relationships/tags" Target="../tags/tag272.xml"/><Relationship Id="rId16" Type="http://schemas.openxmlformats.org/officeDocument/2006/relationships/image" Target="../media/image20.wmf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5" Type="http://schemas.openxmlformats.org/officeDocument/2006/relationships/oleObject" Target="../embeddings/oleObject20.bin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8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1.xml"/><Relationship Id="rId1" Type="http://schemas.openxmlformats.org/officeDocument/2006/relationships/tags" Target="../tags/tag2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96795" y="1800860"/>
            <a:ext cx="7334885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sz="4000" cap="all">
                <a:solidFill>
                  <a:srgbClr val="38ABE3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第二章 匀变速直线运动的研究</a:t>
            </a: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972185" y="3049905"/>
            <a:ext cx="103168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en-US" altLang="zh-CN" sz="4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2</a:t>
            </a:r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.</a:t>
            </a:r>
            <a:r>
              <a:rPr lang="en-US" altLang="zh-CN" sz="4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2</a:t>
            </a:r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  匀变速直线运动的速度与时间的关系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12090" y="245110"/>
            <a:ext cx="3735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人教版</a:t>
            </a:r>
            <a:r>
              <a:rPr lang="en-US" altLang="zh-CN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(2019)</a:t>
            </a:r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必修 第一册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179570" y="3022600"/>
            <a:ext cx="38912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新课引入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01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新课引入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64490" y="783590"/>
            <a:ext cx="11555730" cy="1591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如果</a:t>
            </a: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C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919飞机沿直线做匀速运动，它的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图像是一条平行于时间轴的直线。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84880" y="3768090"/>
            <a:ext cx="6038850" cy="272923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65964" y="2202844"/>
            <a:ext cx="57870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Calibri" panose="020F05020202040302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①</a:t>
            </a:r>
            <a:r>
              <a:rPr lang="zh-CN" altLang="en-US" sz="2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图像表示的速度有什么特点？</a:t>
            </a:r>
            <a:endParaRPr lang="zh-CN" altLang="en-US" sz="2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65964" y="3054359"/>
            <a:ext cx="5872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>
                <a:latin typeface="Calibri" panose="020F05020202040302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②</a:t>
            </a:r>
            <a:r>
              <a:rPr lang="zh-CN" altLang="en-US" sz="2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图像表示的加速度又有什么特点？</a:t>
            </a:r>
            <a:endParaRPr lang="zh-CN" altLang="en-US" sz="2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5496560" y="1997075"/>
            <a:ext cx="634873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C76B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速度大小和方向均不随时间变化</a:t>
            </a:r>
          </a:p>
        </p:txBody>
      </p:sp>
      <p:sp>
        <p:nvSpPr>
          <p:cNvPr id="14357" name="Rectangle 23"/>
          <p:cNvSpPr/>
          <p:nvPr>
            <p:custDataLst>
              <p:tags r:id="rId7"/>
            </p:custDataLst>
          </p:nvPr>
        </p:nvSpPr>
        <p:spPr>
          <a:xfrm>
            <a:off x="6153150" y="3054350"/>
            <a:ext cx="2209800" cy="635000"/>
          </a:xfrm>
          <a:prstGeom prst="rect">
            <a:avLst/>
          </a:prstGeom>
          <a:noFill/>
          <a:ln w="28575" cap="flat" cmpd="sng">
            <a:solidFill>
              <a:srgbClr val="3366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20000"/>
              </a:spcBef>
            </a:pPr>
            <a:r>
              <a:rPr lang="zh-CN" altLang="en-US" sz="2800">
                <a:solidFill>
                  <a:srgbClr val="0C76B2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加速度</a:t>
            </a:r>
            <a:r>
              <a:rPr lang="en-US" altLang="zh-CN" sz="2800" i="1">
                <a:solidFill>
                  <a:srgbClr val="0C76B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</a:t>
            </a:r>
            <a:r>
              <a:rPr lang="en-US" altLang="zh-CN" sz="2800">
                <a:solidFill>
                  <a:srgbClr val="0C76B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= 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43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727325" y="3022600"/>
            <a:ext cx="6541135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匀变速直线运动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02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133" name="Text Box 39"/>
          <p:cNvSpPr txBox="1"/>
          <p:nvPr>
            <p:custDataLst>
              <p:tags r:id="rId2"/>
            </p:custDataLst>
          </p:nvPr>
        </p:nvSpPr>
        <p:spPr>
          <a:xfrm>
            <a:off x="395605" y="970280"/>
            <a:ext cx="6954520" cy="2216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根据上节课我们做的探究小车速度随时间变化的规律这样一个实验，我们最终可以得到这样一种</a:t>
            </a:r>
            <a:r>
              <a:rPr lang="zh-CN" altLang="en-US" sz="2800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图像。</a:t>
            </a:r>
          </a:p>
        </p:txBody>
      </p:sp>
      <p:grpSp>
        <p:nvGrpSpPr>
          <p:cNvPr id="2" name="组合 1"/>
          <p:cNvGrpSpPr/>
          <p:nvPr>
            <p:custDataLst>
              <p:tags r:id="rId3"/>
            </p:custDataLst>
          </p:nvPr>
        </p:nvGrpSpPr>
        <p:grpSpPr>
          <a:xfrm>
            <a:off x="7536305" y="1631950"/>
            <a:ext cx="4295809" cy="4076856"/>
            <a:chOff x="31" y="0"/>
            <a:chExt cx="6766" cy="6421"/>
          </a:xfrm>
        </p:grpSpPr>
        <p:grpSp>
          <p:nvGrpSpPr>
            <p:cNvPr id="3" name="Group 3"/>
            <p:cNvGrpSpPr/>
            <p:nvPr>
              <p:custDataLst>
                <p:tags r:id="rId21"/>
              </p:custDataLst>
            </p:nvPr>
          </p:nvGrpSpPr>
          <p:grpSpPr>
            <a:xfrm>
              <a:off x="31" y="0"/>
              <a:ext cx="6766" cy="6421"/>
              <a:chOff x="23" y="0"/>
              <a:chExt cx="5069" cy="4621"/>
            </a:xfrm>
          </p:grpSpPr>
          <p:sp>
            <p:nvSpPr>
              <p:cNvPr id="4" name="箭头 59"/>
              <p:cNvSpPr/>
              <p:nvPr>
                <p:custDataLst>
                  <p:tags r:id="rId23"/>
                </p:custDataLst>
              </p:nvPr>
            </p:nvSpPr>
            <p:spPr>
              <a:xfrm flipV="1">
                <a:off x="679" y="236"/>
                <a:ext cx="1" cy="379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箭头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680" y="4033"/>
                <a:ext cx="4022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 Box 6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4404" y="4029"/>
                <a:ext cx="688" cy="5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i="1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t/s</a:t>
                </a:r>
              </a:p>
            </p:txBody>
          </p:sp>
          <p:sp>
            <p:nvSpPr>
              <p:cNvPr id="8" name="Text Box 7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345" y="3939"/>
                <a:ext cx="488" cy="5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80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0</a:t>
                </a:r>
              </a:p>
            </p:txBody>
          </p:sp>
          <p:grpSp>
            <p:nvGrpSpPr>
              <p:cNvPr id="9" name="Group 8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681" y="0"/>
                <a:ext cx="1798" cy="592"/>
                <a:chOff x="0" y="0"/>
                <a:chExt cx="1798" cy="592"/>
              </a:xfrm>
            </p:grpSpPr>
            <p:sp>
              <p:nvSpPr>
                <p:cNvPr id="10" name="Text Box 9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0" y="0"/>
                  <a:ext cx="775" cy="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zh-CN" altLang="en-US" sz="2800" i="1">
                      <a:latin typeface="Times New Roman" panose="02020603050405020304" charset="0"/>
                      <a:ea typeface="黑体" panose="02010609060101010101" charset="-122"/>
                      <a:cs typeface="Times New Roman" panose="02020603050405020304" charset="0"/>
                    </a:rPr>
                    <a:t>v</a:t>
                  </a:r>
                  <a:r>
                    <a:rPr lang="zh-CN" altLang="en-US" sz="2800">
                      <a:latin typeface="Times New Roman" panose="02020603050405020304" charset="0"/>
                      <a:ea typeface="黑体" panose="02010609060101010101" charset="-122"/>
                      <a:cs typeface="Times New Roman" panose="02020603050405020304" charset="0"/>
                    </a:rPr>
                    <a:t>/</a:t>
                  </a:r>
                </a:p>
              </p:txBody>
            </p:sp>
            <p:graphicFrame>
              <p:nvGraphicFramePr>
                <p:cNvPr id="11" name="对象 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30"/>
                  </p:custDataLst>
                </p:nvPr>
              </p:nvGraphicFramePr>
              <p:xfrm>
                <a:off x="490" y="1"/>
                <a:ext cx="1308" cy="5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2" imgW="482600" imgH="203200" progId="Equation.3">
                        <p:embed/>
                      </p:oleObj>
                    </mc:Choice>
                    <mc:Fallback>
                      <p:oleObj r:id="rId32" imgW="482600" imgH="203200" progId="Equation.3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0" y="1"/>
                              <a:ext cx="1308" cy="55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3" name="对象 12">
                <a:hlinkClick r:id="" action="ppaction://ole?verb=0"/>
              </p:cNvPr>
              <p:cNvGraphicFramePr>
                <a:graphicFrameLocks noChangeAspect="1"/>
              </p:cNvGraphicFramePr>
              <p:nvPr>
                <p:custDataLst>
                  <p:tags r:id="rId28"/>
                </p:custDataLst>
              </p:nvPr>
            </p:nvGraphicFramePr>
            <p:xfrm>
              <a:off x="23" y="2153"/>
              <a:ext cx="566" cy="7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4" imgW="165100" imgH="228600" progId="Equation.3">
                      <p:embed/>
                    </p:oleObj>
                  </mc:Choice>
                  <mc:Fallback>
                    <p:oleObj r:id="rId34" imgW="165100" imgH="228600" progId="Equation.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23" y="2153"/>
                            <a:ext cx="566" cy="7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" name="Line 12"/>
            <p:cNvSpPr/>
            <p:nvPr>
              <p:custDataLst>
                <p:tags r:id="rId22"/>
              </p:custDataLst>
            </p:nvPr>
          </p:nvSpPr>
          <p:spPr>
            <a:xfrm flipV="1">
              <a:off x="907" y="1020"/>
              <a:ext cx="3855" cy="264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5" name="组合 5134"/>
          <p:cNvGrpSpPr/>
          <p:nvPr>
            <p:custDataLst>
              <p:tags r:id="rId4"/>
            </p:custDataLst>
          </p:nvPr>
        </p:nvGrpSpPr>
        <p:grpSpPr>
          <a:xfrm>
            <a:off x="8091488" y="3325813"/>
            <a:ext cx="1944687" cy="1870075"/>
            <a:chOff x="0" y="0"/>
            <a:chExt cx="3062" cy="2945"/>
          </a:xfrm>
        </p:grpSpPr>
        <p:sp>
          <p:nvSpPr>
            <p:cNvPr id="5136" name="直接连接符 5135"/>
            <p:cNvSpPr/>
            <p:nvPr>
              <p:custDataLst>
                <p:tags r:id="rId18"/>
              </p:custDataLst>
            </p:nvPr>
          </p:nvSpPr>
          <p:spPr>
            <a:xfrm>
              <a:off x="1362" y="55"/>
              <a:ext cx="1" cy="28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7" name="直接连接符 5136"/>
            <p:cNvSpPr/>
            <p:nvPr>
              <p:custDataLst>
                <p:tags r:id="rId19"/>
              </p:custDataLst>
            </p:nvPr>
          </p:nvSpPr>
          <p:spPr>
            <a:xfrm flipH="1">
              <a:off x="0" y="55"/>
              <a:ext cx="3063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8" name="椭圆 5137"/>
            <p:cNvSpPr/>
            <p:nvPr>
              <p:custDataLst>
                <p:tags r:id="rId20"/>
              </p:custDataLst>
            </p:nvPr>
          </p:nvSpPr>
          <p:spPr>
            <a:xfrm>
              <a:off x="1304" y="0"/>
              <a:ext cx="120" cy="120"/>
            </a:xfrm>
            <a:prstGeom prst="ellipse">
              <a:avLst/>
            </a:pr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grpSp>
        <p:nvGrpSpPr>
          <p:cNvPr id="5139" name="组合 5138"/>
          <p:cNvGrpSpPr/>
          <p:nvPr>
            <p:custDataLst>
              <p:tags r:id="rId5"/>
            </p:custDataLst>
          </p:nvPr>
        </p:nvGrpSpPr>
        <p:grpSpPr>
          <a:xfrm>
            <a:off x="8091488" y="2601913"/>
            <a:ext cx="1984375" cy="2592387"/>
            <a:chOff x="0" y="0"/>
            <a:chExt cx="3125" cy="4084"/>
          </a:xfrm>
        </p:grpSpPr>
        <p:sp>
          <p:nvSpPr>
            <p:cNvPr id="5140" name="直接连接符 5139"/>
            <p:cNvSpPr/>
            <p:nvPr>
              <p:custDataLst>
                <p:tags r:id="rId15"/>
              </p:custDataLst>
            </p:nvPr>
          </p:nvSpPr>
          <p:spPr>
            <a:xfrm>
              <a:off x="3063" y="60"/>
              <a:ext cx="1" cy="4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直接连接符 5140"/>
            <p:cNvSpPr/>
            <p:nvPr>
              <p:custDataLst>
                <p:tags r:id="rId16"/>
              </p:custDataLst>
            </p:nvPr>
          </p:nvSpPr>
          <p:spPr>
            <a:xfrm flipH="1">
              <a:off x="0" y="0"/>
              <a:ext cx="306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椭圆 5141"/>
            <p:cNvSpPr/>
            <p:nvPr>
              <p:custDataLst>
                <p:tags r:id="rId17"/>
              </p:custDataLst>
            </p:nvPr>
          </p:nvSpPr>
          <p:spPr>
            <a:xfrm>
              <a:off x="3005" y="0"/>
              <a:ext cx="120" cy="120"/>
            </a:xfrm>
            <a:prstGeom prst="ellipse">
              <a:avLst/>
            </a:pr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grpSp>
        <p:nvGrpSpPr>
          <p:cNvPr id="5143" name="组合 5142"/>
          <p:cNvGrpSpPr/>
          <p:nvPr>
            <p:custDataLst>
              <p:tags r:id="rId6"/>
            </p:custDataLst>
          </p:nvPr>
        </p:nvGrpSpPr>
        <p:grpSpPr>
          <a:xfrm>
            <a:off x="10036175" y="2602865"/>
            <a:ext cx="501397" cy="755697"/>
            <a:chOff x="0" y="0"/>
            <a:chExt cx="572" cy="831"/>
          </a:xfrm>
        </p:grpSpPr>
        <p:sp>
          <p:nvSpPr>
            <p:cNvPr id="5144" name="直接连接符 5143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" cy="8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45" name="对象 5144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22" y="173"/>
            <a:ext cx="550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215900" imgH="177165" progId="Equation.3">
                    <p:embed/>
                  </p:oleObj>
                </mc:Choice>
                <mc:Fallback>
                  <p:oleObj r:id="rId36" imgW="215900" imgH="177165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22" y="173"/>
                          <a:ext cx="550" cy="4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46" name="组合 5145"/>
          <p:cNvGrpSpPr/>
          <p:nvPr>
            <p:custDataLst>
              <p:tags r:id="rId7"/>
            </p:custDataLst>
          </p:nvPr>
        </p:nvGrpSpPr>
        <p:grpSpPr>
          <a:xfrm>
            <a:off x="8956675" y="3352189"/>
            <a:ext cx="1079951" cy="417686"/>
            <a:chOff x="0" y="-5"/>
            <a:chExt cx="1346" cy="300"/>
          </a:xfrm>
        </p:grpSpPr>
        <p:sp>
          <p:nvSpPr>
            <p:cNvPr id="5147" name="直接连接符 5146"/>
            <p:cNvSpPr/>
            <p:nvPr>
              <p:custDataLst>
                <p:tags r:id="rId11"/>
              </p:custDataLst>
            </p:nvPr>
          </p:nvSpPr>
          <p:spPr>
            <a:xfrm flipV="1">
              <a:off x="0" y="-5"/>
              <a:ext cx="1346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48" name="对象 5147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515" y="35"/>
            <a:ext cx="461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190500" imgH="177165" progId="Equation.3">
                    <p:embed/>
                  </p:oleObj>
                </mc:Choice>
                <mc:Fallback>
                  <p:oleObj r:id="rId38" imgW="190500" imgH="177165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515" y="35"/>
                          <a:ext cx="461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50" name="对象 514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884805" y="4966970"/>
          <a:ext cx="1586230" cy="1329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472440" imgH="395605" progId="Equation.3">
                  <p:embed/>
                </p:oleObj>
              </mc:Choice>
              <mc:Fallback>
                <p:oleObj r:id="rId40" imgW="472440" imgH="395605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884805" y="4966970"/>
                        <a:ext cx="1586230" cy="1329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39"/>
          <p:cNvSpPr txBox="1"/>
          <p:nvPr>
            <p:custDataLst>
              <p:tags r:id="rId9"/>
            </p:custDataLst>
          </p:nvPr>
        </p:nvSpPr>
        <p:spPr>
          <a:xfrm>
            <a:off x="395605" y="3361690"/>
            <a:ext cx="672846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图像的斜率变不变？</a:t>
            </a:r>
          </a:p>
        </p:txBody>
      </p:sp>
      <p:sp>
        <p:nvSpPr>
          <p:cNvPr id="19" name="Text Box 39"/>
          <p:cNvSpPr txBox="1"/>
          <p:nvPr>
            <p:custDataLst>
              <p:tags r:id="rId10"/>
            </p:custDataLst>
          </p:nvPr>
        </p:nvSpPr>
        <p:spPr>
          <a:xfrm>
            <a:off x="395605" y="4228465"/>
            <a:ext cx="7413625" cy="8655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图像的斜率不变，说明哪个物理量也不变？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94982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匀变速直线运动</a:t>
            </a:r>
          </a:p>
        </p:txBody>
      </p:sp>
      <p:sp>
        <p:nvSpPr>
          <p:cNvPr id="6147" name="Rectangle 3"/>
          <p:cNvSpPr>
            <a:spLocks noGrp="1" noRot="1"/>
          </p:cNvSpPr>
          <p:nvPr>
            <p:custDataLst>
              <p:tags r:id="rId2"/>
            </p:custDataLst>
          </p:nvPr>
        </p:nvSpPr>
        <p:spPr>
          <a:xfrm>
            <a:off x="243205" y="1259840"/>
            <a:ext cx="11948160" cy="730885"/>
          </a:xfrm>
        </p:spPr>
        <p:txBody>
          <a:bodyPr vert="horz" wrap="square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定义：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沿一条直线，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加速度不变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的运动，叫做匀变速直线运动。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6148" name="Text Box 10"/>
          <p:cNvSpPr txBox="1"/>
          <p:nvPr>
            <p:custDataLst>
              <p:tags r:id="rId3"/>
            </p:custDataLst>
          </p:nvPr>
        </p:nvSpPr>
        <p:spPr>
          <a:xfrm>
            <a:off x="363538" y="2890203"/>
            <a:ext cx="85344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特点：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① a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恒定不变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        ② </a:t>
            </a:r>
            <a:r>
              <a:rPr lang="en-US" altLang="zh-CN"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</a:t>
            </a:r>
            <a:r>
              <a:rPr lang="en-US" altLang="zh-CN"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图象是一条倾斜直线。</a:t>
            </a:r>
          </a:p>
        </p:txBody>
      </p:sp>
      <p:sp>
        <p:nvSpPr>
          <p:cNvPr id="6149" name="文本框 6148"/>
          <p:cNvSpPr txBox="1"/>
          <p:nvPr>
            <p:custDataLst>
              <p:tags r:id="rId4"/>
            </p:custDataLst>
          </p:nvPr>
        </p:nvSpPr>
        <p:spPr>
          <a:xfrm>
            <a:off x="363855" y="5111750"/>
            <a:ext cx="80311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.</a:t>
            </a:r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斜率的物理意义：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代表的是加速度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1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1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匀变速直线运动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999" y="1128774"/>
            <a:ext cx="53321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匀变速直线运动分类</a:t>
            </a:r>
          </a:p>
        </p:txBody>
      </p:sp>
      <p:sp>
        <p:nvSpPr>
          <p:cNvPr id="24582" name="TextBox 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3999" y="1754681"/>
            <a:ext cx="1043901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）匀加速直线运动：物体的速度随时间均匀增加的直线运动。 </a:t>
            </a:r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5"/>
            </p:custDataLst>
          </p:nvPr>
        </p:nvGrpSpPr>
        <p:grpSpPr>
          <a:xfrm>
            <a:off x="4718734" y="2844004"/>
            <a:ext cx="3306356" cy="2448537"/>
            <a:chOff x="1303532" y="2878138"/>
            <a:chExt cx="3307089" cy="2449373"/>
          </a:xfrm>
        </p:grpSpPr>
        <p:cxnSp>
          <p:nvCxnSpPr>
            <p:cNvPr id="24591" name="直接箭头连接符 12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1835345" y="5053013"/>
              <a:ext cx="2346325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2" name="直接连接符 13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1811903" y="3541713"/>
              <a:ext cx="1774825" cy="900112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3" name="TextBox 2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03532" y="4049713"/>
              <a:ext cx="566738" cy="522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  <a:endParaRPr lang="zh-CN" altLang="en-US" sz="2800" b="1" i="1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24594" name="TextBox 2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60682" y="2878138"/>
              <a:ext cx="455613" cy="522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</a:p>
          </p:txBody>
        </p:sp>
        <p:sp>
          <p:nvSpPr>
            <p:cNvPr id="24595" name="TextBox 4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355920" y="4805363"/>
              <a:ext cx="362665" cy="522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O</a:t>
              </a:r>
            </a:p>
          </p:txBody>
        </p:sp>
        <p:cxnSp>
          <p:nvCxnSpPr>
            <p:cNvPr id="24596" name="直接箭头连接符 24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1816295" y="3059113"/>
              <a:ext cx="0" cy="2008187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7" name="TextBox 3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247956" y="4791869"/>
              <a:ext cx="362665" cy="522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</a:t>
              </a:r>
            </a:p>
          </p:txBody>
        </p:sp>
      </p:grp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694055" y="5860415"/>
            <a:ext cx="9871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特点：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加速度的大小和方向都不变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，且与速度方向相同。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匀变速直线运动</a:t>
            </a:r>
          </a:p>
        </p:txBody>
      </p:sp>
      <p:sp>
        <p:nvSpPr>
          <p:cNvPr id="25605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5202" y="1720444"/>
            <a:ext cx="10621511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）匀减速直线运动：物体的速度随时间均匀减小的直线运动。 </a:t>
            </a:r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2084" y="1136394"/>
            <a:ext cx="53321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4.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匀变速直线运动分类</a:t>
            </a:r>
          </a:p>
        </p:txBody>
      </p: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4355465" y="2785110"/>
            <a:ext cx="3169920" cy="2613025"/>
            <a:chOff x="2136" y="3457"/>
            <a:chExt cx="4992" cy="4115"/>
          </a:xfrm>
        </p:grpSpPr>
        <p:cxnSp>
          <p:nvCxnSpPr>
            <p:cNvPr id="25612" name="直接箭头连接符 12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>
              <a:off x="2976" y="6983"/>
              <a:ext cx="3694" cy="0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3" name="直接连接符 13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2976" y="5056"/>
              <a:ext cx="3146" cy="1654"/>
            </a:xfrm>
            <a:prstGeom prst="line">
              <a:avLst/>
            </a:prstGeom>
            <a:noFill/>
            <a:ln w="25400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4" name="直接箭头连接符 14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2976" y="3824"/>
              <a:ext cx="0" cy="3159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15" name="Text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231" y="6671"/>
              <a:ext cx="571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O</a:t>
              </a:r>
            </a:p>
          </p:txBody>
        </p:sp>
        <p:sp>
          <p:nvSpPr>
            <p:cNvPr id="25616" name="TextBox 2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16" y="3457"/>
              <a:ext cx="715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</a:p>
          </p:txBody>
        </p:sp>
        <p:sp>
          <p:nvSpPr>
            <p:cNvPr id="25617" name="TextBox 2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36" y="4629"/>
              <a:ext cx="892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  <a:endParaRPr lang="zh-CN" altLang="en-US" sz="2800" b="1" i="1" baseline="-25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7" name="TextBox 4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557" y="6750"/>
              <a:ext cx="571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</a:t>
              </a:r>
            </a:p>
          </p:txBody>
        </p:sp>
      </p:grp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12140" y="5868035"/>
            <a:ext cx="9871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特点：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加速度的大小和方向都不变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，且与速度方向反向。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075" y="956310"/>
            <a:ext cx="11406505" cy="163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如图所示，在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时间内物体的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速度方向没有变化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，且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速度大小均匀变化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，那么是否可以认为在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时间内物体做的是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匀变速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直线运动呢？</a:t>
            </a: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4561205" y="2515235"/>
            <a:ext cx="3712210" cy="2646680"/>
            <a:chOff x="5719" y="4350"/>
            <a:chExt cx="5846" cy="4168"/>
          </a:xfrm>
        </p:grpSpPr>
        <p:grpSp>
          <p:nvGrpSpPr>
            <p:cNvPr id="8" name="组合 7"/>
            <p:cNvGrpSpPr/>
            <p:nvPr>
              <p:custDataLst>
                <p:tags r:id="rId6"/>
              </p:custDataLst>
            </p:nvPr>
          </p:nvGrpSpPr>
          <p:grpSpPr>
            <a:xfrm>
              <a:off x="5719" y="4350"/>
              <a:ext cx="5847" cy="4168"/>
              <a:chOff x="5719" y="4350"/>
              <a:chExt cx="5847" cy="4168"/>
            </a:xfrm>
          </p:grpSpPr>
          <p:grpSp>
            <p:nvGrpSpPr>
              <p:cNvPr id="4" name="组合 3"/>
              <p:cNvGrpSpPr/>
              <p:nvPr>
                <p:custDataLst>
                  <p:tags r:id="rId9"/>
                </p:custDataLst>
              </p:nvPr>
            </p:nvGrpSpPr>
            <p:grpSpPr>
              <a:xfrm>
                <a:off x="5719" y="4350"/>
                <a:ext cx="5847" cy="4168"/>
                <a:chOff x="1660" y="5235"/>
                <a:chExt cx="5847" cy="4168"/>
              </a:xfrm>
            </p:grpSpPr>
            <p:grpSp>
              <p:nvGrpSpPr>
                <p:cNvPr id="2" name="组合 1"/>
                <p:cNvGrpSpPr/>
                <p:nvPr>
                  <p:custDataLst>
                    <p:tags r:id="rId11"/>
                  </p:custDataLst>
                </p:nvPr>
              </p:nvGrpSpPr>
              <p:grpSpPr>
                <a:xfrm>
                  <a:off x="1660" y="5235"/>
                  <a:ext cx="5847" cy="4168"/>
                  <a:chOff x="1355920" y="2850188"/>
                  <a:chExt cx="3713361" cy="2647584"/>
                </a:xfrm>
              </p:grpSpPr>
              <p:cxnSp>
                <p:nvCxnSpPr>
                  <p:cNvPr id="24591" name="直接箭头连接符 12"/>
                  <p:cNvCxnSpPr>
                    <a:cxnSpLocks noChangeShapeType="1"/>
                  </p:cNvCxnSpPr>
                  <p:nvPr>
                    <p:custDataLst>
                      <p:tags r:id="rId13"/>
                    </p:custDataLst>
                  </p:nvPr>
                </p:nvCxnSpPr>
                <p:spPr bwMode="auto">
                  <a:xfrm>
                    <a:off x="1835345" y="5053013"/>
                    <a:ext cx="2989608" cy="1397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4592" name="直接连接符 13"/>
                  <p:cNvCxnSpPr>
                    <a:cxnSpLocks noChangeShapeType="1"/>
                  </p:cNvCxnSpPr>
                  <p:nvPr>
                    <p:custDataLst>
                      <p:tags r:id="rId14"/>
                    </p:custDataLst>
                  </p:nvPr>
                </p:nvCxnSpPr>
                <p:spPr bwMode="auto">
                  <a:xfrm flipV="1">
                    <a:off x="1811903" y="3904432"/>
                    <a:ext cx="1158497" cy="1163082"/>
                  </a:xfrm>
                  <a:prstGeom prst="line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24594" name="TextBox 29"/>
                  <p:cNvSpPr txBox="1">
                    <a:spLocks noChangeArrowheads="1"/>
                  </p:cNvSpPr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1414669" y="2850188"/>
                    <a:ext cx="455613" cy="5221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9pPr>
                  </a:lstStyle>
                  <a:p>
                    <a:r>
                      <a:rPr lang="en-US" altLang="zh-CN" sz="2800" b="1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rPr>
                      <a:t>v</a:t>
                    </a:r>
                  </a:p>
                </p:txBody>
              </p:sp>
              <p:sp>
                <p:nvSpPr>
                  <p:cNvPr id="24595" name="TextBox 47"/>
                  <p:cNvSpPr txBox="1">
                    <a:spLocks noChangeArrowheads="1"/>
                  </p:cNvSpPr>
                  <p:nvPr>
                    <p:custDataLst>
                      <p:tags r:id="rId16"/>
                    </p:custDataLst>
                  </p:nvPr>
                </p:nvSpPr>
                <p:spPr bwMode="auto">
                  <a:xfrm>
                    <a:off x="1355920" y="4805363"/>
                    <a:ext cx="362665" cy="5221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9pPr>
                  </a:lstStyle>
                  <a:p>
                    <a:r>
                      <a:rPr lang="en-US" altLang="zh-CN" sz="2800" b="1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rPr>
                      <a:t>O</a:t>
                    </a:r>
                  </a:p>
                </p:txBody>
              </p:sp>
              <p:cxnSp>
                <p:nvCxnSpPr>
                  <p:cNvPr id="24596" name="直接箭头连接符 24"/>
                  <p:cNvCxnSpPr>
                    <a:cxnSpLocks noChangeShapeType="1"/>
                  </p:cNvCxnSpPr>
                  <p:nvPr>
                    <p:custDataLst>
                      <p:tags r:id="rId17"/>
                    </p:custDataLst>
                  </p:nvPr>
                </p:nvCxnSpPr>
                <p:spPr bwMode="auto">
                  <a:xfrm flipH="1" flipV="1">
                    <a:off x="1816295" y="3059113"/>
                    <a:ext cx="0" cy="2008187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24597" name="TextBox 35"/>
                  <p:cNvSpPr txBox="1">
                    <a:spLocks noChangeArrowheads="1"/>
                  </p:cNvSpPr>
                  <p:nvPr>
                    <p:custDataLst>
                      <p:tags r:id="rId18"/>
                    </p:custDataLst>
                  </p:nvPr>
                </p:nvSpPr>
                <p:spPr bwMode="auto">
                  <a:xfrm>
                    <a:off x="4564979" y="4962919"/>
                    <a:ext cx="504302" cy="5348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no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800" b="1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rPr>
                      <a:t>t</a:t>
                    </a:r>
                  </a:p>
                </p:txBody>
              </p:sp>
            </p:grpSp>
            <p:cxnSp>
              <p:nvCxnSpPr>
                <p:cNvPr id="3" name="直接连接符 13"/>
                <p:cNvCxnSpPr>
                  <a:cxnSpLocks noChangeShapeType="1"/>
                </p:cNvCxnSpPr>
                <p:nvPr>
                  <p:custDataLst>
                    <p:tags r:id="rId12"/>
                  </p:custDataLst>
                </p:nvPr>
              </p:nvCxnSpPr>
              <p:spPr bwMode="auto">
                <a:xfrm flipH="1" flipV="1">
                  <a:off x="4201" y="6894"/>
                  <a:ext cx="1824" cy="1831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" name="直接连接符 6"/>
              <p:cNvCxnSpPr/>
              <p:nvPr>
                <p:custDataLst>
                  <p:tags r:id="rId10"/>
                </p:custDataLst>
              </p:nvPr>
            </p:nvCxnSpPr>
            <p:spPr>
              <a:xfrm flipH="1">
                <a:off x="8246" y="6011"/>
                <a:ext cx="14" cy="180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3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771" y="7676"/>
              <a:ext cx="794" cy="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</a:t>
              </a:r>
            </a:p>
          </p:txBody>
        </p:sp>
        <p:sp>
          <p:nvSpPr>
            <p:cNvPr id="10" name="TextBox 3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651" y="7676"/>
              <a:ext cx="794" cy="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2t</a:t>
              </a:r>
            </a:p>
          </p:txBody>
        </p:sp>
      </p:grpSp>
      <p:sp>
        <p:nvSpPr>
          <p:cNvPr id="12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3075" y="5161915"/>
            <a:ext cx="11407140" cy="128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</a:t>
            </a:r>
            <a:r>
              <a:rPr 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尽管速度方向没有变化且大小均匀变化，</a:t>
            </a:r>
            <a:r>
              <a:rPr lang="zh-CN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加速度大小不变，但加速度方向改变</a:t>
            </a:r>
            <a:r>
              <a:rPr 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了，即加速度不再恒定，所以不是匀变速直线运动</a:t>
            </a:r>
            <a:endParaRPr lang="en-US" altLang="zh-CN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加速度变速度方向不变">
            <a:hlinkClick r:id="" action="ppaction://media"/>
          </p:cNvPr>
          <p:cNvPicPr/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2213610"/>
            <a:ext cx="12192000" cy="243014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实验与观察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+mn-ea"/>
              </a:rPr>
              <a:t>思考与讨论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73710" y="5159375"/>
            <a:ext cx="11219815" cy="12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      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尽管速度方向变化了且大小均匀变化，但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加速度大小方向都没有改变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，即加速度恒定，所以是匀变速直线运动</a:t>
            </a: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710" y="1129030"/>
            <a:ext cx="11406505" cy="163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如图所示，在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时间内物体的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速度方向改变了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，但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速度大小还均匀变化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，那么是否可以认为在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时间内物体做的是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匀变速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直线运动呢？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4533265" y="2662555"/>
            <a:ext cx="3670300" cy="2562860"/>
            <a:chOff x="6954" y="4019"/>
            <a:chExt cx="5780" cy="4036"/>
          </a:xfrm>
        </p:grpSpPr>
        <p:grpSp>
          <p:nvGrpSpPr>
            <p:cNvPr id="4" name="组合 3"/>
            <p:cNvGrpSpPr/>
            <p:nvPr>
              <p:custDataLst>
                <p:tags r:id="rId5"/>
              </p:custDataLst>
            </p:nvPr>
          </p:nvGrpSpPr>
          <p:grpSpPr>
            <a:xfrm>
              <a:off x="6954" y="4019"/>
              <a:ext cx="5780" cy="4036"/>
              <a:chOff x="2231" y="3457"/>
              <a:chExt cx="5780" cy="4036"/>
            </a:xfrm>
          </p:grpSpPr>
          <p:cxnSp>
            <p:nvCxnSpPr>
              <p:cNvPr id="25612" name="直接箭头连接符 12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>
                <a:off x="3021" y="5699"/>
                <a:ext cx="4818" cy="6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13" name="直接连接符 13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>
                <a:off x="2946" y="4838"/>
                <a:ext cx="3146" cy="1654"/>
              </a:xfrm>
              <a:prstGeom prst="line">
                <a:avLst/>
              </a:prstGeom>
              <a:noFill/>
              <a:ln w="25400" algn="ctr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14" name="直接箭头连接符 14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 flipV="1">
                <a:off x="2976" y="3824"/>
                <a:ext cx="0" cy="3159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5615" name="TextBox 20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231" y="6671"/>
                <a:ext cx="571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O</a:t>
                </a:r>
              </a:p>
            </p:txBody>
          </p:sp>
          <p:sp>
            <p:nvSpPr>
              <p:cNvPr id="25616" name="TextBox 21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01" y="3457"/>
                <a:ext cx="715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v</a:t>
                </a:r>
              </a:p>
            </p:txBody>
          </p:sp>
          <p:sp>
            <p:nvSpPr>
              <p:cNvPr id="25617" name="TextBox 24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231" y="4401"/>
                <a:ext cx="892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v</a:t>
                </a:r>
                <a:r>
                  <a:rPr lang="en-US" altLang="zh-CN" sz="2800" b="1" i="1" baseline="-25000">
                    <a:solidFill>
                      <a:srgbClr val="000000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0</a:t>
                </a:r>
                <a:endParaRPr lang="zh-CN" altLang="en-US" sz="2800" b="1" i="1" baseline="-25000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7" name="TextBox 49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440" y="5562"/>
                <a:ext cx="571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t</a:t>
                </a:r>
              </a:p>
            </p:txBody>
          </p:sp>
        </p:grpSp>
        <p:sp>
          <p:nvSpPr>
            <p:cNvPr id="2" name="TextBox 4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56" y="6124"/>
              <a:ext cx="39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</a:t>
              </a:r>
            </a:p>
          </p:txBody>
        </p:sp>
        <p:sp>
          <p:nvSpPr>
            <p:cNvPr id="5" name="TextBox 4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680" y="6162"/>
              <a:ext cx="59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2t</a:t>
              </a:r>
            </a:p>
          </p:txBody>
        </p:sp>
        <p:cxnSp>
          <p:nvCxnSpPr>
            <p:cNvPr id="11" name="直接连接符 10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10782" y="6278"/>
              <a:ext cx="0" cy="6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实验与观察</a:t>
            </a:r>
          </a:p>
        </p:txBody>
      </p:sp>
      <p:pic>
        <p:nvPicPr>
          <p:cNvPr id="3" name="速度方向变加速度不变">
            <a:hlinkClick r:id="" action="ppaction://media"/>
          </p:cNvPr>
          <p:cNvPicPr/>
          <p:nvPr>
            <a:videoFile r:link="rId3"/>
            <p:custDataLst>
              <p:tags r:id="rId4"/>
            </p:custDataLst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720850"/>
            <a:ext cx="12192000" cy="3416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840990" y="3022600"/>
            <a:ext cx="6456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速度与时间的关系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035" y="1058545"/>
            <a:ext cx="11359515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kumimoji="0" lang="en-US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kumimoji="0" lang="zh-CN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观察图甲和图乙，可知匀变速直线运动的</a:t>
            </a:r>
            <a:r>
              <a:rPr kumimoji="0" lang="en-US" altLang="zh-CN" sz="2800" b="1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kumimoji="0" lang="zh-CN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－</a:t>
            </a:r>
            <a:r>
              <a:rPr kumimoji="0" lang="en-US" altLang="zh-CN" sz="2800" b="1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kumimoji="0" lang="zh-CN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图像与我们在数学里学的一次函数图像类似，类比一次函数的表达式，写出速度与时间的关系式，由此可看出速度</a:t>
            </a:r>
            <a:r>
              <a:rPr kumimoji="0" lang="en-US" altLang="zh-CN" sz="2800" b="1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kumimoji="0" lang="zh-CN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与时间</a:t>
            </a:r>
            <a:r>
              <a:rPr kumimoji="0" lang="en-US" altLang="zh-CN" sz="2800" b="1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kumimoji="0" lang="zh-CN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存在什么关系？</a:t>
            </a:r>
            <a:endParaRPr kumimoji="0" lang="zh-CN" altLang="zh-CN" sz="2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endParaRPr kumimoji="0" lang="zh-CN" altLang="zh-CN" sz="2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737860" y="3186430"/>
          <a:ext cx="5871845" cy="327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5867400" imgH="3268980" progId="Paint.Picture">
                  <p:embed/>
                </p:oleObj>
              </mc:Choice>
              <mc:Fallback>
                <p:oleObj r:id="rId20" imgW="5867400" imgH="3268980" progId="Paint.Picture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737860" y="3186430"/>
                        <a:ext cx="5871845" cy="3271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327150" y="3429000"/>
          <a:ext cx="3088640" cy="99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634365" imgH="203200" progId="Equation.3">
                  <p:embed/>
                </p:oleObj>
              </mc:Choice>
              <mc:Fallback>
                <p:oleObj r:id="rId22" imgW="634365" imgH="2032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27150" y="3429000"/>
                        <a:ext cx="3088640" cy="992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>
            <p:custDataLst>
              <p:tags r:id="rId5"/>
            </p:custDataLst>
          </p:nvPr>
        </p:nvGrpSpPr>
        <p:grpSpPr>
          <a:xfrm>
            <a:off x="1327150" y="4336415"/>
            <a:ext cx="577850" cy="1445260"/>
            <a:chOff x="2090" y="6829"/>
            <a:chExt cx="910" cy="2276"/>
          </a:xfrm>
        </p:grpSpPr>
        <p:sp>
          <p:nvSpPr>
            <p:cNvPr id="98" name="直接连接符 27451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2487" y="6829"/>
              <a:ext cx="0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8"/>
              </p:custDataLst>
            </p:nvPr>
          </p:nvSpPr>
          <p:spPr>
            <a:xfrm>
              <a:off x="2090" y="7551"/>
              <a:ext cx="911" cy="15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60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v</a:t>
              </a:r>
            </a:p>
          </p:txBody>
        </p:sp>
      </p:grpSp>
      <p:grpSp>
        <p:nvGrpSpPr>
          <p:cNvPr id="26" name="组合 25"/>
          <p:cNvGrpSpPr/>
          <p:nvPr>
            <p:custDataLst>
              <p:tags r:id="rId6"/>
            </p:custDataLst>
          </p:nvPr>
        </p:nvGrpSpPr>
        <p:grpSpPr>
          <a:xfrm>
            <a:off x="2809875" y="4336415"/>
            <a:ext cx="577850" cy="1445260"/>
            <a:chOff x="2090" y="6829"/>
            <a:chExt cx="910" cy="2276"/>
          </a:xfrm>
        </p:grpSpPr>
        <p:sp>
          <p:nvSpPr>
            <p:cNvPr id="28" name="直接连接符 27451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2487" y="6829"/>
              <a:ext cx="0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6"/>
              </p:custDataLst>
            </p:nvPr>
          </p:nvSpPr>
          <p:spPr>
            <a:xfrm>
              <a:off x="2090" y="7551"/>
              <a:ext cx="911" cy="15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60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t</a:t>
              </a:r>
            </a:p>
          </p:txBody>
        </p:sp>
      </p:grpSp>
      <p:grpSp>
        <p:nvGrpSpPr>
          <p:cNvPr id="30" name="组合 29"/>
          <p:cNvGrpSpPr/>
          <p:nvPr>
            <p:custDataLst>
              <p:tags r:id="rId7"/>
            </p:custDataLst>
          </p:nvPr>
        </p:nvGrpSpPr>
        <p:grpSpPr>
          <a:xfrm>
            <a:off x="3761105" y="4336415"/>
            <a:ext cx="871220" cy="1382395"/>
            <a:chOff x="2076" y="6829"/>
            <a:chExt cx="1372" cy="2177"/>
          </a:xfrm>
        </p:grpSpPr>
        <p:sp>
          <p:nvSpPr>
            <p:cNvPr id="31" name="直接连接符 27451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2487" y="6829"/>
              <a:ext cx="0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4"/>
              </p:custDataLst>
            </p:nvPr>
          </p:nvSpPr>
          <p:spPr>
            <a:xfrm>
              <a:off x="2076" y="7508"/>
              <a:ext cx="1372" cy="14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60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v</a:t>
              </a:r>
              <a:r>
                <a:rPr lang="en-US" altLang="zh-CN" sz="4000" i="1" baseline="-25000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0</a:t>
              </a:r>
            </a:p>
          </p:txBody>
        </p:sp>
      </p:grpSp>
      <p:grpSp>
        <p:nvGrpSpPr>
          <p:cNvPr id="33" name="组合 32"/>
          <p:cNvGrpSpPr/>
          <p:nvPr>
            <p:custDataLst>
              <p:tags r:id="rId8"/>
            </p:custDataLst>
          </p:nvPr>
        </p:nvGrpSpPr>
        <p:grpSpPr>
          <a:xfrm>
            <a:off x="2448560" y="4309745"/>
            <a:ext cx="577850" cy="1445260"/>
            <a:chOff x="2090" y="6829"/>
            <a:chExt cx="910" cy="2276"/>
          </a:xfrm>
        </p:grpSpPr>
        <p:sp>
          <p:nvSpPr>
            <p:cNvPr id="34" name="直接连接符 27451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2487" y="6829"/>
              <a:ext cx="0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2090" y="7551"/>
              <a:ext cx="911" cy="15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60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a</a:t>
              </a:r>
            </a:p>
          </p:txBody>
        </p:sp>
      </p:grpSp>
      <p:sp>
        <p:nvSpPr>
          <p:cNvPr id="36" name="文本框 35"/>
          <p:cNvSpPr txBox="1"/>
          <p:nvPr>
            <p:custDataLst>
              <p:tags r:id="rId9"/>
            </p:custDataLst>
          </p:nvPr>
        </p:nvSpPr>
        <p:spPr>
          <a:xfrm>
            <a:off x="1835150" y="4794885"/>
            <a:ext cx="578485" cy="987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6000" i="1"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=</a:t>
            </a: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3191510" y="4794885"/>
            <a:ext cx="578485" cy="987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6000" i="1"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+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035" y="1176020"/>
            <a:ext cx="11359515" cy="848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kumimoji="0" lang="zh-CN" altLang="en-US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根据第一章内容的学习，你还能用什么方法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写出速度与时间的关系式？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endParaRPr kumimoji="0" lang="zh-CN" altLang="zh-CN" sz="280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52" name="组合 51"/>
          <p:cNvGrpSpPr/>
          <p:nvPr>
            <p:custDataLst>
              <p:tags r:id="rId3"/>
            </p:custDataLst>
          </p:nvPr>
        </p:nvGrpSpPr>
        <p:grpSpPr>
          <a:xfrm>
            <a:off x="7459345" y="2156460"/>
            <a:ext cx="4295140" cy="3997325"/>
            <a:chOff x="11747" y="3396"/>
            <a:chExt cx="6764" cy="6295"/>
          </a:xfrm>
        </p:grpSpPr>
        <p:grpSp>
          <p:nvGrpSpPr>
            <p:cNvPr id="16" name="组合 15"/>
            <p:cNvGrpSpPr/>
            <p:nvPr>
              <p:custDataLst>
                <p:tags r:id="rId12"/>
              </p:custDataLst>
            </p:nvPr>
          </p:nvGrpSpPr>
          <p:grpSpPr>
            <a:xfrm>
              <a:off x="11747" y="3396"/>
              <a:ext cx="6765" cy="6295"/>
              <a:chOff x="31" y="0"/>
              <a:chExt cx="6766" cy="6296"/>
            </a:xfrm>
          </p:grpSpPr>
          <p:grpSp>
            <p:nvGrpSpPr>
              <p:cNvPr id="17" name="Group 3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31" y="0"/>
                <a:ext cx="6766" cy="6296"/>
                <a:chOff x="23" y="0"/>
                <a:chExt cx="5069" cy="4531"/>
              </a:xfrm>
            </p:grpSpPr>
            <p:sp>
              <p:nvSpPr>
                <p:cNvPr id="20" name="箭头 59"/>
                <p:cNvSpPr/>
                <p:nvPr>
                  <p:custDataLst>
                    <p:tags r:id="rId31"/>
                  </p:custDataLst>
                </p:nvPr>
              </p:nvSpPr>
              <p:spPr>
                <a:xfrm flipV="1">
                  <a:off x="679" y="236"/>
                  <a:ext cx="1" cy="379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箭头 6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680" y="4033"/>
                  <a:ext cx="4022" cy="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Text Box 6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4404" y="3939"/>
                  <a:ext cx="688" cy="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2800" i="1">
                      <a:latin typeface="Times New Roman" panose="02020603050405020304" charset="0"/>
                      <a:cs typeface="Times New Roman" panose="02020603050405020304" charset="0"/>
                    </a:rPr>
                    <a:t>t/s</a:t>
                  </a:r>
                </a:p>
              </p:txBody>
            </p:sp>
            <p:sp>
              <p:nvSpPr>
                <p:cNvPr id="23" name="Text Box 7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345" y="3939"/>
                  <a:ext cx="488" cy="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zh-CN" altLang="en-US" sz="2800">
                      <a:latin typeface="Times New Roman" panose="02020603050405020304" charset="0"/>
                      <a:cs typeface="Times New Roman" panose="02020603050405020304" charset="0"/>
                    </a:rPr>
                    <a:t>0</a:t>
                  </a:r>
                </a:p>
              </p:txBody>
            </p:sp>
            <p:grpSp>
              <p:nvGrpSpPr>
                <p:cNvPr id="38" name="Group 8"/>
                <p:cNvGrpSpPr/>
                <p:nvPr>
                  <p:custDataLst>
                    <p:tags r:id="rId35"/>
                  </p:custDataLst>
                </p:nvPr>
              </p:nvGrpSpPr>
              <p:grpSpPr>
                <a:xfrm>
                  <a:off x="681" y="0"/>
                  <a:ext cx="1798" cy="592"/>
                  <a:chOff x="0" y="0"/>
                  <a:chExt cx="1798" cy="592"/>
                </a:xfrm>
              </p:grpSpPr>
              <p:sp>
                <p:nvSpPr>
                  <p:cNvPr id="39" name="Text Box 9"/>
                  <p:cNvSpPr txBox="1"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0" y="0"/>
                    <a:ext cx="775" cy="59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zh-CN" altLang="en-US" sz="2800" i="1"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zh-CN" altLang="en-US" sz="2800">
                        <a:latin typeface="Times New Roman" panose="02020603050405020304" charset="0"/>
                        <a:cs typeface="Times New Roman" panose="02020603050405020304" charset="0"/>
                      </a:rPr>
                      <a:t>/</a:t>
                    </a:r>
                  </a:p>
                </p:txBody>
              </p:sp>
              <p:graphicFrame>
                <p:nvGraphicFramePr>
                  <p:cNvPr id="40" name="对象 39">
                    <a:hlinkClick r:id="" action="ppaction://ole?verb=0"/>
                  </p:cNvPr>
                  <p:cNvGraphicFramePr>
                    <a:graphicFrameLocks noChangeAspect="1"/>
                  </p:cNvGraphicFramePr>
                  <p:nvPr>
                    <p:custDataLst>
                      <p:tags r:id="rId38"/>
                    </p:custDataLst>
                  </p:nvPr>
                </p:nvGraphicFramePr>
                <p:xfrm>
                  <a:off x="490" y="1"/>
                  <a:ext cx="1308" cy="5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40" imgW="482600" imgH="203200" progId="Equation.3">
                          <p:embed/>
                        </p:oleObj>
                      </mc:Choice>
                      <mc:Fallback>
                        <p:oleObj r:id="rId40" imgW="482600" imgH="203200" progId="Equation.3">
                          <p:embed/>
                          <p:pic>
                            <p:nvPicPr>
                              <p:cNvPr id="0" name="OLE substitute image"/>
                              <p:cNvPicPr/>
                              <p:nvPr/>
                            </p:nvPicPr>
                            <p:blipFill>
                              <a:blip r:embed="rId4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0" y="1"/>
                                <a:ext cx="1308" cy="55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42" name="对象 4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36"/>
                  </p:custDataLst>
                </p:nvPr>
              </p:nvGraphicFramePr>
              <p:xfrm>
                <a:off x="23" y="2153"/>
                <a:ext cx="566" cy="7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2" imgW="165100" imgH="228600" progId="Equation.3">
                        <p:embed/>
                      </p:oleObj>
                    </mc:Choice>
                    <mc:Fallback>
                      <p:oleObj r:id="rId42" imgW="165100" imgH="228600" progId="Equation.3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4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" y="2153"/>
                              <a:ext cx="566" cy="79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4" name="Line 12"/>
              <p:cNvSpPr/>
              <p:nvPr>
                <p:custDataLst>
                  <p:tags r:id="rId30"/>
                </p:custDataLst>
              </p:nvPr>
            </p:nvSpPr>
            <p:spPr>
              <a:xfrm flipV="1">
                <a:off x="907" y="1020"/>
                <a:ext cx="3855" cy="264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35" name="组合 5134"/>
            <p:cNvGrpSpPr/>
            <p:nvPr>
              <p:custDataLst>
                <p:tags r:id="rId13"/>
              </p:custDataLst>
            </p:nvPr>
          </p:nvGrpSpPr>
          <p:grpSpPr>
            <a:xfrm>
              <a:off x="12622" y="6064"/>
              <a:ext cx="3062" cy="2945"/>
              <a:chOff x="0" y="0"/>
              <a:chExt cx="3062" cy="2945"/>
            </a:xfrm>
          </p:grpSpPr>
          <p:sp>
            <p:nvSpPr>
              <p:cNvPr id="5136" name="直接连接符 51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1362" y="55"/>
                <a:ext cx="1" cy="289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7" name="直接连接符 5136"/>
              <p:cNvSpPr/>
              <p:nvPr>
                <p:custDataLst>
                  <p:tags r:id="rId27"/>
                </p:custDataLst>
              </p:nvPr>
            </p:nvSpPr>
            <p:spPr>
              <a:xfrm flipH="1">
                <a:off x="0" y="55"/>
                <a:ext cx="3063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8" name="椭圆 5137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04" y="0"/>
                <a:ext cx="120" cy="120"/>
              </a:xfrm>
              <a:prstGeom prst="ellipse">
                <a:avLst/>
              </a:pr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139" name="组合 5138"/>
            <p:cNvGrpSpPr/>
            <p:nvPr>
              <p:custDataLst>
                <p:tags r:id="rId14"/>
              </p:custDataLst>
            </p:nvPr>
          </p:nvGrpSpPr>
          <p:grpSpPr>
            <a:xfrm>
              <a:off x="12622" y="4924"/>
              <a:ext cx="3125" cy="4082"/>
              <a:chOff x="0" y="0"/>
              <a:chExt cx="3125" cy="4084"/>
            </a:xfrm>
          </p:grpSpPr>
          <p:sp>
            <p:nvSpPr>
              <p:cNvPr id="5140" name="直接连接符 5139"/>
              <p:cNvSpPr/>
              <p:nvPr>
                <p:custDataLst>
                  <p:tags r:id="rId23"/>
                </p:custDataLst>
              </p:nvPr>
            </p:nvSpPr>
            <p:spPr>
              <a:xfrm>
                <a:off x="3063" y="60"/>
                <a:ext cx="1" cy="40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1" name="直接连接符 5140"/>
              <p:cNvSpPr/>
              <p:nvPr>
                <p:custDataLst>
                  <p:tags r:id="rId24"/>
                </p:custDataLst>
              </p:nvPr>
            </p:nvSpPr>
            <p:spPr>
              <a:xfrm flipH="1">
                <a:off x="0" y="0"/>
                <a:ext cx="3062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2" name="椭圆 5141"/>
              <p:cNvSpPr/>
              <p:nvPr>
                <p:custDataLst>
                  <p:tags r:id="rId25"/>
                </p:custDataLst>
              </p:nvPr>
            </p:nvSpPr>
            <p:spPr>
              <a:xfrm>
                <a:off x="3005" y="0"/>
                <a:ext cx="120" cy="120"/>
              </a:xfrm>
              <a:prstGeom prst="ellipse">
                <a:avLst/>
              </a:pr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143" name="组合 5142"/>
            <p:cNvGrpSpPr/>
            <p:nvPr>
              <p:custDataLst>
                <p:tags r:id="rId15"/>
              </p:custDataLst>
            </p:nvPr>
          </p:nvGrpSpPr>
          <p:grpSpPr>
            <a:xfrm>
              <a:off x="15684" y="4925"/>
              <a:ext cx="790" cy="1190"/>
              <a:chOff x="0" y="0"/>
              <a:chExt cx="572" cy="831"/>
            </a:xfrm>
          </p:grpSpPr>
          <p:sp>
            <p:nvSpPr>
              <p:cNvPr id="5144" name="直接连接符 51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0" y="0"/>
                <a:ext cx="1" cy="83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45" name="对象 5144">
                <a:hlinkClick r:id="" action="ppaction://ole?verb=0"/>
              </p:cNvPr>
              <p:cNvGraphicFramePr>
                <a:graphicFrameLocks noChangeAspect="1"/>
              </p:cNvGraphicFramePr>
              <p:nvPr>
                <p:custDataLst>
                  <p:tags r:id="rId22"/>
                </p:custDataLst>
              </p:nvPr>
            </p:nvGraphicFramePr>
            <p:xfrm>
              <a:off x="22" y="173"/>
              <a:ext cx="550" cy="4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4" imgW="215900" imgH="177165" progId="Equation.3">
                      <p:embed/>
                    </p:oleObj>
                  </mc:Choice>
                  <mc:Fallback>
                    <p:oleObj r:id="rId44" imgW="215900" imgH="177165" progId="Equation.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45"/>
                          <a:stretch>
                            <a:fillRect/>
                          </a:stretch>
                        </p:blipFill>
                        <p:spPr>
                          <a:xfrm>
                            <a:off x="22" y="173"/>
                            <a:ext cx="550" cy="4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46" name="组合 5145"/>
            <p:cNvGrpSpPr/>
            <p:nvPr>
              <p:custDataLst>
                <p:tags r:id="rId16"/>
              </p:custDataLst>
            </p:nvPr>
          </p:nvGrpSpPr>
          <p:grpSpPr>
            <a:xfrm>
              <a:off x="13984" y="6105"/>
              <a:ext cx="1701" cy="658"/>
              <a:chOff x="0" y="-5"/>
              <a:chExt cx="1346" cy="300"/>
            </a:xfrm>
          </p:grpSpPr>
          <p:sp>
            <p:nvSpPr>
              <p:cNvPr id="5147" name="直接连接符 5146"/>
              <p:cNvSpPr/>
              <p:nvPr>
                <p:custDataLst>
                  <p:tags r:id="rId19"/>
                </p:custDataLst>
              </p:nvPr>
            </p:nvSpPr>
            <p:spPr>
              <a:xfrm flipV="1">
                <a:off x="0" y="-5"/>
                <a:ext cx="1346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48" name="对象 5147">
                <a:hlinkClick r:id="" action="ppaction://ole?verb=0"/>
              </p:cNvPr>
              <p:cNvGraphicFramePr>
                <a:graphicFrameLocks noChangeAspect="1"/>
              </p:cNvGraphicFramePr>
              <p:nvPr>
                <p:custDataLst>
                  <p:tags r:id="rId20"/>
                </p:custDataLst>
              </p:nvPr>
            </p:nvGraphicFramePr>
            <p:xfrm>
              <a:off x="515" y="35"/>
              <a:ext cx="461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6" imgW="190500" imgH="177165" progId="Equation.3">
                      <p:embed/>
                    </p:oleObj>
                  </mc:Choice>
                  <mc:Fallback>
                    <p:oleObj r:id="rId46" imgW="190500" imgH="177165" progId="Equation.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47"/>
                          <a:stretch>
                            <a:fillRect/>
                          </a:stretch>
                        </p:blipFill>
                        <p:spPr>
                          <a:xfrm>
                            <a:off x="515" y="35"/>
                            <a:ext cx="461" cy="2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对象 44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11979" y="4630"/>
            <a:ext cx="524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114300" imgH="139700" progId="Equation.3">
                    <p:embed/>
                  </p:oleObj>
                </mc:Choice>
                <mc:Fallback>
                  <p:oleObj r:id="rId48" imgW="114300" imgH="139700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11979" y="4630"/>
                          <a:ext cx="524" cy="6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Text Box 6"/>
            <p:cNvSpPr txBox="1"/>
            <p:nvPr>
              <p:custDataLst>
                <p:tags r:id="rId18"/>
              </p:custDataLst>
            </p:nvPr>
          </p:nvSpPr>
          <p:spPr>
            <a:xfrm>
              <a:off x="15330" y="8869"/>
              <a:ext cx="63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i="1">
                  <a:latin typeface="Times New Roman" panose="02020603050405020304" charset="0"/>
                  <a:cs typeface="Times New Roman" panose="02020603050405020304" charset="0"/>
                </a:rPr>
                <a:t>t</a:t>
              </a:r>
            </a:p>
          </p:txBody>
        </p:sp>
      </p:grpSp>
      <p:sp>
        <p:nvSpPr>
          <p:cNvPr id="48" name="文本框 47"/>
          <p:cNvSpPr txBox="1"/>
          <p:nvPr>
            <p:custDataLst>
              <p:tags r:id="rId4"/>
            </p:custDataLst>
          </p:nvPr>
        </p:nvSpPr>
        <p:spPr>
          <a:xfrm>
            <a:off x="484505" y="1889760"/>
            <a:ext cx="6898640" cy="266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把运动开始时刻取作</a:t>
            </a:r>
            <a:r>
              <a:rPr kumimoji="0" lang="en-US" altLang="zh-CN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时刻，则由</a:t>
            </a:r>
            <a:r>
              <a:rPr kumimoji="0" lang="en-US" altLang="zh-CN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时刻到</a:t>
            </a:r>
            <a:r>
              <a:rPr kumimoji="0" lang="en-US" altLang="zh-CN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时刻的时间间隔∆</a:t>
            </a:r>
            <a:r>
              <a:rPr kumimoji="0" lang="en-US" altLang="zh-CN" sz="2800" i="1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为</a:t>
            </a:r>
            <a:r>
              <a:rPr kumimoji="0" lang="en-US" altLang="zh-CN" sz="2800" i="1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，而</a:t>
            </a:r>
            <a:r>
              <a:rPr kumimoji="0" lang="en-US" altLang="zh-CN" sz="2800" i="1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时刻的速度为</a:t>
            </a:r>
            <a:r>
              <a:rPr kumimoji="0" lang="en-US" altLang="zh-CN" sz="2800" i="1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</a:t>
            </a:r>
            <a:r>
              <a:rPr kumimoji="0" lang="zh-CN" altLang="en-US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与开始时刻</a:t>
            </a:r>
            <a:r>
              <a:rPr kumimoji="0" lang="en-US" altLang="zh-CN" sz="2800" i="0" u="none" strike="noStrike" kern="1200" cap="none" spc="0" normalizeH="0" baseline="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的速度</a:t>
            </a:r>
            <a:r>
              <a:rPr lang="en-US" altLang="zh-CN" sz="280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初速度</a:t>
            </a:r>
            <a:r>
              <a:rPr lang="en-US" altLang="zh-CN" sz="2800" i="1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800" baseline="-2500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280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2800" noProof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之差就是速度变化量，则有：</a:t>
            </a:r>
            <a:endParaRPr lang="zh-CN" sz="2800" i="1" baseline="-25000" noProof="1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8197" name="对象 819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22935" y="4633595"/>
          <a:ext cx="1981835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0" imgW="699770" imgH="229235" progId="Equation.3">
                  <p:embed/>
                </p:oleObj>
              </mc:Choice>
              <mc:Fallback>
                <p:oleObj r:id="rId50" imgW="699770" imgH="229235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622935" y="4633595"/>
                        <a:ext cx="1981835" cy="648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对象 8197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22935" y="5593080"/>
          <a:ext cx="1780540" cy="51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2" imgW="610870" imgH="177800" progId="Equation.3">
                  <p:embed/>
                </p:oleObj>
              </mc:Choice>
              <mc:Fallback>
                <p:oleObj r:id="rId52" imgW="610870" imgH="1778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622935" y="5593080"/>
                        <a:ext cx="1780540" cy="519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对象 819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3511550" y="4815205"/>
          <a:ext cx="1403350" cy="117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4" imgW="471805" imgH="395605" progId="Equation.3">
                  <p:embed/>
                </p:oleObj>
              </mc:Choice>
              <mc:Fallback>
                <p:oleObj r:id="rId54" imgW="471805" imgH="395605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3511550" y="4815205"/>
                        <a:ext cx="1403350" cy="11753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右大括号 48"/>
          <p:cNvSpPr/>
          <p:nvPr>
            <p:custDataLst>
              <p:tags r:id="rId8"/>
            </p:custDataLst>
          </p:nvPr>
        </p:nvSpPr>
        <p:spPr>
          <a:xfrm>
            <a:off x="2604770" y="4911090"/>
            <a:ext cx="331470" cy="10795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右箭头 49"/>
          <p:cNvSpPr/>
          <p:nvPr>
            <p:custDataLst>
              <p:tags r:id="rId9"/>
            </p:custDataLst>
          </p:nvPr>
        </p:nvSpPr>
        <p:spPr>
          <a:xfrm>
            <a:off x="3065145" y="5336540"/>
            <a:ext cx="452755" cy="25654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>
            <p:custDataLst>
              <p:tags r:id="rId10"/>
            </p:custDataLst>
          </p:nvPr>
        </p:nvSpPr>
        <p:spPr>
          <a:xfrm>
            <a:off x="4941570" y="5336540"/>
            <a:ext cx="452755" cy="25654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222" name="对象 822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5522913" y="5117783"/>
          <a:ext cx="2003425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6" imgW="660400" imgH="228600" progId="Equation.3">
                  <p:embed/>
                </p:oleObj>
              </mc:Choice>
              <mc:Fallback>
                <p:oleObj r:id="rId56" imgW="660400" imgH="2286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5522913" y="5117783"/>
                        <a:ext cx="2003425" cy="692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 animBg="1"/>
      <p:bldP spid="50" grpId="0" animBg="1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2" name="Rectangle 6"/>
          <p:cNvSpPr/>
          <p:nvPr>
            <p:custDataLst>
              <p:tags r:id="rId2"/>
            </p:custDataLst>
          </p:nvPr>
        </p:nvSpPr>
        <p:spPr>
          <a:xfrm>
            <a:off x="457200" y="1360170"/>
            <a:ext cx="15036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公式：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00275" y="1238250"/>
          <a:ext cx="2393950" cy="828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60400" imgH="228600" progId="Equation.3">
                  <p:embed/>
                </p:oleObj>
              </mc:Choice>
              <mc:Fallback>
                <p:oleObj r:id="rId10" imgW="660400" imgH="2286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00275" y="1238250"/>
                        <a:ext cx="2393950" cy="828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Box 4"/>
          <p:cNvSpPr txBox="1"/>
          <p:nvPr>
            <p:custDataLst>
              <p:tags r:id="rId4"/>
            </p:custDataLst>
          </p:nvPr>
        </p:nvSpPr>
        <p:spPr>
          <a:xfrm>
            <a:off x="457200" y="2339975"/>
            <a:ext cx="6750050" cy="5549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r>
              <a:rPr 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适用范围：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匀变速直线运动。</a:t>
            </a:r>
          </a:p>
        </p:txBody>
      </p:sp>
      <p:sp>
        <p:nvSpPr>
          <p:cNvPr id="6" name="TextBox 4"/>
          <p:cNvSpPr txBox="1"/>
          <p:nvPr>
            <p:custDataLst>
              <p:tags r:id="rId5"/>
            </p:custDataLst>
          </p:nvPr>
        </p:nvSpPr>
        <p:spPr>
          <a:xfrm>
            <a:off x="511810" y="3291205"/>
            <a:ext cx="11253470" cy="5372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r>
              <a:rPr lang="en-US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3.</a:t>
            </a:r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矢量性：</a:t>
            </a:r>
            <a:r>
              <a:rPr lang="zh-CN" altLang="en-US"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、</a:t>
            </a:r>
            <a:r>
              <a:rPr lang="zh-CN" altLang="en-US"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、</a:t>
            </a:r>
            <a:r>
              <a:rPr lang="zh-CN" altLang="en-US"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均为矢量，应用时，应先选取正方向。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746125" y="4160520"/>
            <a:ext cx="10699115" cy="601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一般取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的方向为正方向(若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＝0，则取运动的方向为正方向)。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46125" y="4761865"/>
            <a:ext cx="11022965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已知量：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或v与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的方向相同时取正值，与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的方向相反时取负值。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42315" y="5408930"/>
            <a:ext cx="11022965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待求量：对计算结果中的正、负，应根据正方向的规定加以说明。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/>
      <p:bldP spid="6" grpId="0"/>
      <p:bldP spid="4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2" name="Rectangle 6"/>
          <p:cNvSpPr/>
          <p:nvPr>
            <p:custDataLst>
              <p:tags r:id="rId2"/>
            </p:custDataLst>
          </p:nvPr>
        </p:nvSpPr>
        <p:spPr>
          <a:xfrm>
            <a:off x="457200" y="1360170"/>
            <a:ext cx="40811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公式的特殊形式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 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36295" y="2161540"/>
            <a:ext cx="10699115" cy="601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(1)当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＝0时，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sz="32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(匀速直线运动)。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36295" y="2980690"/>
            <a:ext cx="11022965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(2)当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sz="32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＝0时，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</a:t>
            </a:r>
            <a:r>
              <a:rPr sz="3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at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(由静止开始的匀加速直线运动)。</a:t>
            </a:r>
          </a:p>
        </p:txBody>
      </p:sp>
      <p:sp>
        <p:nvSpPr>
          <p:cNvPr id="11266" name="TextBox 7"/>
          <p:cNvSpPr txBox="1"/>
          <p:nvPr>
            <p:custDataLst>
              <p:tags r:id="rId5"/>
            </p:custDataLst>
          </p:nvPr>
        </p:nvSpPr>
        <p:spPr>
          <a:xfrm>
            <a:off x="456883" y="3886200"/>
            <a:ext cx="82867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“知三求一”的思想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en-US" altLang="zh-CN" sz="3200" b="1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6"/>
            </p:custDataLst>
          </p:nvPr>
        </p:nvSpPr>
        <p:spPr>
          <a:xfrm>
            <a:off x="836295" y="4725670"/>
            <a:ext cx="11018520" cy="6724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/>
            <a:r>
              <a:rPr lang="zh-CN" sz="3200">
                <a:latin typeface="黑体" panose="02010609060101010101" charset="-122"/>
                <a:ea typeface="黑体" panose="02010609060101010101" charset="-122"/>
              </a:rPr>
              <a:t>此公式中有四个物理量，知道其中三个就可求第四个物理量。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266" grpId="0"/>
      <p:bldP spid="1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480258" name="文本框 480257"/>
          <p:cNvSpPr txBox="1"/>
          <p:nvPr>
            <p:custDataLst>
              <p:tags r:id="rId2"/>
            </p:custDataLst>
          </p:nvPr>
        </p:nvSpPr>
        <p:spPr>
          <a:xfrm>
            <a:off x="309880" y="1231900"/>
            <a:ext cx="11571605" cy="5077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：一辆汽车以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36km/h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的速度在平直公路上匀速行驶，从某时刻起，它以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0.6m/s</a:t>
            </a:r>
            <a:r>
              <a:rPr lang="en-US" altLang="zh-CN" sz="3600" baseline="300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的加速度加速，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10s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末因故突然紧急刹车，随后汽车停了下来。刹车时做匀减速运动的加速度大小是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m/s</a:t>
            </a:r>
            <a:r>
              <a:rPr lang="en-US" altLang="zh-CN" sz="3600" baseline="300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  <a:endParaRPr lang="en-US" altLang="zh-CN" sz="36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）汽车在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10s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末的速度是多少？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）汽车从刹车到停下来用了多长时间？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13315" name="TextBox 18"/>
          <p:cNvSpPr txBox="1"/>
          <p:nvPr>
            <p:custDataLst>
              <p:tags r:id="rId2"/>
            </p:custDataLst>
          </p:nvPr>
        </p:nvSpPr>
        <p:spPr>
          <a:xfrm>
            <a:off x="474345" y="1299210"/>
            <a:ext cx="2302510" cy="534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做题步骤：</a:t>
            </a:r>
          </a:p>
        </p:txBody>
      </p:sp>
      <p:sp>
        <p:nvSpPr>
          <p:cNvPr id="13314" name="TextBox 2"/>
          <p:cNvSpPr txBox="1"/>
          <p:nvPr>
            <p:custDataLst>
              <p:tags r:id="rId3"/>
            </p:custDataLst>
          </p:nvPr>
        </p:nvSpPr>
        <p:spPr>
          <a:xfrm>
            <a:off x="314325" y="2019935"/>
            <a:ext cx="11563350" cy="37312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选取正方向（一般选取初速度   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 baseline="-250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的方向为正方向）</a:t>
            </a:r>
          </a:p>
          <a:p>
            <a:pPr>
              <a:lnSpc>
                <a:spcPct val="150000"/>
              </a:lnSpc>
            </a:pPr>
            <a:endParaRPr lang="en-US" altLang="zh-CN" sz="32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写出原始公式，带数计算</a:t>
            </a:r>
          </a:p>
          <a:p>
            <a:pPr>
              <a:lnSpc>
                <a:spcPct val="150000"/>
              </a:lnSpc>
            </a:pPr>
            <a:endParaRPr lang="en-US" altLang="zh-CN" sz="32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3.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若求出是负值，需说明一下方向（负号说明方向与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 baseline="-250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方向相反）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3166110" y="2287905"/>
          <a:ext cx="3866515" cy="86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863340" imgH="868680" progId="Paint.Picture">
                  <p:embed/>
                </p:oleObj>
              </mc:Choice>
              <mc:Fallback>
                <p:oleObj r:id="rId16" imgW="3863340" imgH="868680" progId="Paint.Picture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66110" y="2287905"/>
                        <a:ext cx="3866515" cy="869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7830" y="3118485"/>
            <a:ext cx="1086675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解： 设以汽车运动的匀速行驶的方向为正方向。</a:t>
            </a:r>
          </a:p>
        </p:txBody>
      </p:sp>
      <p:cxnSp>
        <p:nvCxnSpPr>
          <p:cNvPr id="4" name="直接箭头连接符 3"/>
          <p:cNvCxnSpPr/>
          <p:nvPr>
            <p:custDataLst>
              <p:tags r:id="rId4"/>
            </p:custDataLst>
          </p:nvPr>
        </p:nvCxnSpPr>
        <p:spPr>
          <a:xfrm>
            <a:off x="6462838" y="2705407"/>
            <a:ext cx="457044" cy="174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7" name="矩形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000817" y="2288036"/>
            <a:ext cx="36068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</a:p>
        </p:txBody>
      </p:sp>
      <p:cxnSp>
        <p:nvCxnSpPr>
          <p:cNvPr id="8" name="直接箭头连接符 7"/>
          <p:cNvCxnSpPr/>
          <p:nvPr>
            <p:custDataLst>
              <p:tags r:id="rId6"/>
            </p:custDataLst>
          </p:nvPr>
        </p:nvCxnSpPr>
        <p:spPr>
          <a:xfrm flipH="1">
            <a:off x="6462838" y="2422928"/>
            <a:ext cx="4348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80" name="矩形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032556" y="1983341"/>
            <a:ext cx="34099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</a:p>
        </p:txBody>
      </p:sp>
      <p:pic>
        <p:nvPicPr>
          <p:cNvPr id="32781" name="图片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22183" y="3095799"/>
            <a:ext cx="285652" cy="15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82" name="矩形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619009" y="2726037"/>
            <a:ext cx="36068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74F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</a:p>
        </p:txBody>
      </p:sp>
      <p:cxnSp>
        <p:nvCxnSpPr>
          <p:cNvPr id="15" name="直接箭头连接符 14"/>
          <p:cNvCxnSpPr/>
          <p:nvPr>
            <p:custDataLst>
              <p:tags r:id="rId10"/>
            </p:custDataLst>
          </p:nvPr>
        </p:nvCxnSpPr>
        <p:spPr>
          <a:xfrm>
            <a:off x="3794038" y="3033299"/>
            <a:ext cx="4148309" cy="9522"/>
          </a:xfrm>
          <a:prstGeom prst="straightConnector1">
            <a:avLst/>
          </a:prstGeom>
          <a:ln w="38100">
            <a:solidFill>
              <a:srgbClr val="427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84" name="矩形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942684" y="2833677"/>
            <a:ext cx="3409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i="1">
                <a:solidFill>
                  <a:srgbClr val="4274F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x</a:t>
            </a:r>
          </a:p>
        </p:txBody>
      </p:sp>
      <p:sp>
        <p:nvSpPr>
          <p:cNvPr id="6" name="矩形 5"/>
          <p:cNvSpPr/>
          <p:nvPr>
            <p:custDataLst>
              <p:tags r:id="rId12"/>
            </p:custDataLst>
          </p:nvPr>
        </p:nvSpPr>
        <p:spPr>
          <a:xfrm>
            <a:off x="325883" y="810920"/>
            <a:ext cx="11448899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720090">
              <a:lnSpc>
                <a:spcPct val="150000"/>
              </a:lnSpc>
            </a:pPr>
            <a:r>
              <a:rPr lang="zh-CN" altLang="en-US" sz="2800">
                <a:solidFill>
                  <a:prstClr val="black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以汽车运动方向为正方向建立一维坐标系（如图 ），与正方向一致的量取正号，相反的取负号。</a:t>
            </a:r>
            <a:endParaRPr lang="zh-CN" altLang="en-US" sz="2800" i="1">
              <a:solidFill>
                <a:prstClr val="black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230505" y="4056380"/>
            <a:ext cx="11250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（1）初速度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＝36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km/h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＝10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m/s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，加速度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＝0.6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m/s</a:t>
            </a:r>
            <a:r>
              <a:rPr lang="zh-CN" altLang="en-US" sz="2800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，时间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＝10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</a:t>
            </a: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165225" y="4779645"/>
            <a:ext cx="94062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根据速度时间方程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＋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at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得：</a:t>
            </a:r>
          </a:p>
          <a:p>
            <a:pPr algn="l">
              <a:lnSpc>
                <a:spcPct val="150000"/>
              </a:lnSpc>
            </a:pP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＝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＋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＝10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＋0.6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lang="zh-CN" altLang="en-US" sz="2800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 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×10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＝16 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7" grpId="0"/>
      <p:bldP spid="32780" grpId="0"/>
      <p:bldP spid="32782" grpId="0"/>
      <p:bldP spid="32784" grpId="0"/>
      <p:bldP spid="6" grpId="0"/>
      <p:bldP spid="2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33797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6694" y="1181851"/>
            <a:ext cx="11240715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200000"/>
              </a:lnSpc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）汽车从第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10 s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末开始做匀减速直线运动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720090">
              <a:lnSpc>
                <a:spcPct val="200000"/>
              </a:lnSpc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已知：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16 m/s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，末速度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，加速度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＝－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 m/s 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052830" y="2996565"/>
            <a:ext cx="66478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lnSpc>
                <a:spcPct val="20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根据速度时间方程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＝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</a:t>
            </a:r>
            <a:r>
              <a:rPr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＋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at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得：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236345" y="4218305"/>
          <a:ext cx="4231005" cy="100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51000" imgH="393700" progId="Equation.KSEE3">
                  <p:embed/>
                </p:oleObj>
              </mc:Choice>
              <mc:Fallback>
                <p:oleObj r:id="rId6" imgW="16510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6345" y="4218305"/>
                        <a:ext cx="4231005" cy="1009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sp>
        <p:nvSpPr>
          <p:cNvPr id="15362" name="Rectangle 2"/>
          <p:cNvSpPr>
            <a:spLocks noGrp="1" noRot="1"/>
          </p:cNvSpPr>
          <p:nvPr>
            <p:custDataLst>
              <p:tags r:id="rId2"/>
            </p:custDataLst>
          </p:nvPr>
        </p:nvSpPr>
        <p:spPr>
          <a:xfrm>
            <a:off x="322580" y="815340"/>
            <a:ext cx="11547475" cy="1515110"/>
          </a:xfrm>
        </p:spPr>
        <p:txBody>
          <a:bodyPr vert="horz" wrap="square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：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以18m/s的速度行驶的汽车，紧急刹车后做匀减速直线运动，其加速度大小为6m/s</a:t>
            </a:r>
            <a:r>
              <a:rPr sz="2800" baseline="300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。求∶汽车在刹车2s末</a:t>
            </a:r>
            <a:r>
              <a:rPr lang="zh-CN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和</a:t>
            </a: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5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s末的速度。</a:t>
            </a:r>
          </a:p>
        </p:txBody>
      </p:sp>
      <p:sp>
        <p:nvSpPr>
          <p:cNvPr id="15365" name="Text Box 11"/>
          <p:cNvSpPr txBox="1"/>
          <p:nvPr>
            <p:custDataLst>
              <p:tags r:id="rId3"/>
            </p:custDataLst>
          </p:nvPr>
        </p:nvSpPr>
        <p:spPr>
          <a:xfrm>
            <a:off x="322580" y="2330450"/>
            <a:ext cx="7794625" cy="13798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解：由题知初速度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=18m/s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，加速度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=-6.0m/s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v=v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+at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得，若速度减为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所需时间为：</a:t>
            </a:r>
          </a:p>
        </p:txBody>
      </p:sp>
      <p:graphicFrame>
        <p:nvGraphicFramePr>
          <p:cNvPr id="15363" name="对象 15362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22780" y="3710305"/>
          <a:ext cx="3388995" cy="94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09700" imgH="393700" progId="Equation.3">
                  <p:embed/>
                </p:oleObj>
              </mc:Choice>
              <mc:Fallback>
                <p:oleObj r:id="rId15" imgW="1409700" imgH="3937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22780" y="3710305"/>
                        <a:ext cx="3388995" cy="94678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7"/>
          <p:cNvSpPr txBox="1"/>
          <p:nvPr>
            <p:custDataLst>
              <p:tags r:id="rId5"/>
            </p:custDataLst>
          </p:nvPr>
        </p:nvSpPr>
        <p:spPr>
          <a:xfrm>
            <a:off x="339725" y="4644390"/>
            <a:ext cx="655510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刹车后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末的速度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v</a:t>
            </a:r>
            <a:r>
              <a:rPr lang="en-US" altLang="zh-CN" sz="2800" i="1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=v</a:t>
            </a:r>
            <a:r>
              <a:rPr lang="en-US" altLang="zh-CN" sz="2800" i="1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+at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=18+(-6)×2=6m/s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刹车后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5s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时汽车早已停止运动，故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5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=0</a:t>
            </a:r>
          </a:p>
        </p:txBody>
      </p:sp>
      <p:sp>
        <p:nvSpPr>
          <p:cNvPr id="15366" name="文本框 15365"/>
          <p:cNvSpPr txBox="1"/>
          <p:nvPr>
            <p:custDataLst>
              <p:tags r:id="rId6"/>
            </p:custDataLst>
          </p:nvPr>
        </p:nvSpPr>
        <p:spPr>
          <a:xfrm>
            <a:off x="7458710" y="3216910"/>
            <a:ext cx="4411345" cy="521970"/>
          </a:xfrm>
          <a:prstGeom prst="rect">
            <a:avLst/>
          </a:prstGeom>
          <a:solidFill>
            <a:srgbClr val="0C76B2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求出刹车停止所用的时间</a:t>
            </a:r>
            <a:r>
              <a:rPr lang="zh-CN" altLang="en-US" sz="28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</a:t>
            </a:r>
          </a:p>
        </p:txBody>
      </p:sp>
      <p:sp>
        <p:nvSpPr>
          <p:cNvPr id="15367" name="下箭头 15366"/>
          <p:cNvSpPr/>
          <p:nvPr>
            <p:custDataLst>
              <p:tags r:id="rId7"/>
            </p:custDataLst>
          </p:nvPr>
        </p:nvSpPr>
        <p:spPr>
          <a:xfrm>
            <a:off x="9371965" y="3841750"/>
            <a:ext cx="364490" cy="433070"/>
          </a:xfrm>
          <a:prstGeom prst="downArrow">
            <a:avLst>
              <a:gd name="adj1" fmla="val 50000"/>
              <a:gd name="adj2" fmla="val 74999"/>
            </a:avLst>
          </a:prstGeom>
          <a:solidFill>
            <a:srgbClr val="0C76B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5370" name="下箭头 15369"/>
          <p:cNvSpPr/>
          <p:nvPr>
            <p:custDataLst>
              <p:tags r:id="rId8"/>
            </p:custDataLst>
          </p:nvPr>
        </p:nvSpPr>
        <p:spPr>
          <a:xfrm>
            <a:off x="10822305" y="4969510"/>
            <a:ext cx="327025" cy="431800"/>
          </a:xfrm>
          <a:prstGeom prst="downArrow">
            <a:avLst>
              <a:gd name="adj1" fmla="val 50000"/>
              <a:gd name="adj2" fmla="val 74725"/>
            </a:avLst>
          </a:prstGeom>
          <a:solidFill>
            <a:srgbClr val="0C76B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5371" name="下箭头 15370"/>
          <p:cNvSpPr/>
          <p:nvPr>
            <p:custDataLst>
              <p:tags r:id="rId9"/>
            </p:custDataLst>
          </p:nvPr>
        </p:nvSpPr>
        <p:spPr>
          <a:xfrm>
            <a:off x="8249920" y="4969510"/>
            <a:ext cx="335915" cy="431800"/>
          </a:xfrm>
          <a:prstGeom prst="downArrow">
            <a:avLst>
              <a:gd name="adj1" fmla="val 50000"/>
              <a:gd name="adj2" fmla="val 74725"/>
            </a:avLst>
          </a:prstGeom>
          <a:solidFill>
            <a:srgbClr val="0C76B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7757160" y="4314190"/>
            <a:ext cx="1321435" cy="583565"/>
          </a:xfrm>
          <a:prstGeom prst="rect">
            <a:avLst/>
          </a:prstGeom>
          <a:solidFill>
            <a:srgbClr val="0C76B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en-US" altLang="zh-CN" sz="3200" baseline="-250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&gt;</a:t>
            </a:r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</a:p>
        </p:txBody>
      </p:sp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10325100" y="4314190"/>
            <a:ext cx="1321435" cy="583565"/>
          </a:xfrm>
          <a:prstGeom prst="rect">
            <a:avLst/>
          </a:prstGeom>
          <a:solidFill>
            <a:srgbClr val="0C76B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en-US" altLang="zh-CN" sz="3200" baseline="-250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&lt;</a:t>
            </a:r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</a:p>
        </p:txBody>
      </p: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7757160" y="5473065"/>
            <a:ext cx="1321435" cy="583565"/>
          </a:xfrm>
          <a:prstGeom prst="rect">
            <a:avLst/>
          </a:prstGeom>
          <a:solidFill>
            <a:srgbClr val="0C76B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=0</a:t>
            </a: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10211435" y="5473065"/>
            <a:ext cx="1537335" cy="583565"/>
          </a:xfrm>
          <a:prstGeom prst="rect">
            <a:avLst/>
          </a:prstGeom>
          <a:solidFill>
            <a:srgbClr val="0C76B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=</a:t>
            </a:r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 baseline="-250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+</a:t>
            </a:r>
            <a:r>
              <a:rPr lang="en-US" altLang="zh-CN" sz="3200" i="1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15364" grpId="0"/>
      <p:bldP spid="15366" grpId="0" animBg="1"/>
      <p:bldP spid="15367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724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速度与时间的关系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7526" y="1421839"/>
            <a:ext cx="7774770" cy="3231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Rot="1"/>
          </p:cNvSpPr>
          <p:nvPr>
            <p:custDataLst>
              <p:tags r:id="rId3"/>
            </p:custDataLst>
          </p:nvPr>
        </p:nvSpPr>
        <p:spPr>
          <a:xfrm>
            <a:off x="377190" y="917575"/>
            <a:ext cx="2926715" cy="694055"/>
          </a:xfrm>
        </p:spPr>
        <p:txBody>
          <a:bodyPr vert="horz" wrap="square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思考与讨论：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55930" y="4653280"/>
            <a:ext cx="6568440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甲乙中的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图像，速度怎么变化？</a:t>
            </a: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55930" y="5314315"/>
            <a:ext cx="11022965" cy="589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2.甲乙中的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图像，</a:t>
            </a:r>
            <a:r>
              <a:rPr 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在相等的时间间隔内，速度的变化量相等吗？</a:t>
            </a: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55930" y="5940425"/>
            <a:ext cx="1045210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3.甲乙中的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图像，</a:t>
            </a:r>
            <a:r>
              <a:rPr 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物体在做匀变速直线运动吗？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2823845" y="2679065"/>
            <a:ext cx="7023100" cy="1079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本节结束</a:t>
            </a:r>
            <a:r>
              <a:rPr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 </a:t>
            </a:r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谢谢观看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jb3VudCI6NDAsImhkaWQiOiJlNjMzOGEyODcyNTQ1YzE2MzZhNThkYWY1MWFiYTkwYSIsInVzZXJDb3VudCI6Mzl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7"/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8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7"/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8"/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9"/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6"/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2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0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1"/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7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8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3"/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4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5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9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0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1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7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9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0"/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1"/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2"/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6"/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4"/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5"/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7"/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8"/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9"/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2"/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3"/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4"/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3"/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6"/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7"/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8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9"/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0"/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1"/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2"/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6"/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7"/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6"/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9"/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0"/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1"/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2"/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3"/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4"/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5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9"/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0"/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3"/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4"/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1"/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5"/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6"/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7"/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8"/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9"/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0"/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8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2"/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2"/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3"/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5"/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6"/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7"/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8"/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9"/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0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1"/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6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7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9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5"/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6"/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2"/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9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5"/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4"/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5"/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2"/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5"/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0"/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5"/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9"/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"/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8"/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9"/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0"/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4"/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3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6"/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7"/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4"/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5"/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1"/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2"/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7"/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8"/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9"/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5"/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1"/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3"/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4"/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5"/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6"/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7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8"/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9"/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7"/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8"/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9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2"/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3"/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6"/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7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8"/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9"/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3"/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6"/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7"/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0"/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1"/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2"/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3"/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4"/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"/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6"/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"/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"/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"/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"/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"/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0"/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1"/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2"/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3"/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4"/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5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6"/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7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8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9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3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4"/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5"/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6"/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"/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"/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7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宋韵朗黑W"/>
        <a:ea typeface="汉仪宋韵朗黑W"/>
        <a:cs typeface="Arial"/>
      </a:majorFont>
      <a:minorFont>
        <a:latin typeface="汉仪宋韵朗黑W"/>
        <a:ea typeface="汉仪宋韵朗黑W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宽屏</PresentationFormat>
  <Paragraphs>136</Paragraphs>
  <Slides>24</Slides>
  <Notes>0</Notes>
  <HiddenSlides>0</HiddenSlides>
  <MMClips>2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Calibri</vt:lpstr>
      <vt:lpstr>思源黑体 CN Bold</vt:lpstr>
      <vt:lpstr>Wingdings</vt:lpstr>
      <vt:lpstr>汉仪宋韵朗黑W</vt:lpstr>
      <vt:lpstr>黑体</vt:lpstr>
      <vt:lpstr>Arial</vt:lpstr>
      <vt:lpstr>Times New Roman</vt:lpstr>
      <vt:lpstr>Office 主题​​</vt:lpstr>
      <vt:lpstr>Equation.3</vt:lpstr>
      <vt:lpstr>Paintbrush Picture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rbm.xkw.com</dc:creator>
  <cp:lastModifiedBy>敬涛 丁</cp:lastModifiedBy>
  <cp:revision>2</cp:revision>
  <cp:lastPrinted>2024-07-16T14:42:03Z</cp:lastPrinted>
  <dcterms:created xsi:type="dcterms:W3CDTF">2024-07-16T14:42:03Z</dcterms:created>
  <dcterms:modified xsi:type="dcterms:W3CDTF">2025-06-12T01:31:36Z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