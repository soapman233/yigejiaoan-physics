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heme/theme2.xml" ContentType="application/vnd.openxmlformats-officedocument.them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heme/theme3.xml" ContentType="application/vnd.openxmlformats-officedocument.them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82" r:id="rId3"/>
    <p:sldId id="353" r:id="rId4"/>
    <p:sldId id="354" r:id="rId5"/>
    <p:sldId id="299" r:id="rId6"/>
    <p:sldId id="355" r:id="rId7"/>
    <p:sldId id="393" r:id="rId8"/>
    <p:sldId id="357" r:id="rId9"/>
    <p:sldId id="359" r:id="rId10"/>
    <p:sldId id="361" r:id="rId11"/>
    <p:sldId id="362" r:id="rId12"/>
    <p:sldId id="300" r:id="rId13"/>
    <p:sldId id="364" r:id="rId14"/>
    <p:sldId id="365" r:id="rId15"/>
    <p:sldId id="366" r:id="rId16"/>
    <p:sldId id="367" r:id="rId17"/>
    <p:sldId id="368" r:id="rId18"/>
    <p:sldId id="369" r:id="rId19"/>
    <p:sldId id="370" r:id="rId20"/>
    <p:sldId id="371" r:id="rId21"/>
    <p:sldId id="372" r:id="rId22"/>
    <p:sldId id="342" r:id="rId23"/>
    <p:sldId id="373" r:id="rId24"/>
    <p:sldId id="374" r:id="rId25"/>
    <p:sldId id="375" r:id="rId26"/>
    <p:sldId id="376" r:id="rId27"/>
    <p:sldId id="377" r:id="rId28"/>
    <p:sldId id="378" r:id="rId29"/>
    <p:sldId id="379" r:id="rId30"/>
    <p:sldId id="276" r:id="rId31"/>
  </p:sldIdLst>
  <p:sldSz cx="12192000" cy="6858000"/>
  <p:notesSz cx="6858000" cy="9144000"/>
  <p:embeddedFontLst>
    <p:embeddedFont>
      <p:font typeface="汉仪宋韵朗黑W" panose="02010600030101010101" charset="-122"/>
      <p:regular r:id="rId34"/>
    </p:embeddedFont>
    <p:embeddedFont>
      <p:font typeface="Book Antiqua" panose="02040602050305030304" pitchFamily="18" charset="0"/>
      <p:regular r:id="rId35"/>
      <p:bold r:id="rId36"/>
      <p:italic r:id="rId37"/>
      <p:boldItalic r:id="rId38"/>
    </p:embeddedFont>
    <p:embeddedFont>
      <p:font typeface="黑体" panose="02010609060101010101" pitchFamily="49" charset="-122"/>
      <p:regular r:id="rId39"/>
    </p:embeddedFont>
  </p:embeddedFontLst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8" userDrawn="1">
          <p15:clr>
            <a:srgbClr val="A4A3A4"/>
          </p15:clr>
        </p15:guide>
        <p15:guide id="2" pos="381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D" initials="H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120" y="57"/>
      </p:cViewPr>
      <p:guideLst>
        <p:guide orient="horz" pos="2048"/>
        <p:guide pos="381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tags" Target="tags/tag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heme" Target="../theme/theme3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宋韵朗黑W"/>
              <a:ea typeface="汉仪宋韵朗黑W"/>
              <a:cs typeface="汉仪宋韵朗黑W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汉仪宋韵朗黑W" panose="00020600040101010101" charset="-122"/>
              </a:rPr>
              <a:t>2025/6/12</a:t>
            </a:fld>
            <a:endParaRPr lang="zh-CN" altLang="en-US">
              <a:cs typeface="汉仪宋韵朗黑W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宋韵朗黑W"/>
              <a:ea typeface="汉仪宋韵朗黑W"/>
              <a:cs typeface="汉仪宋韵朗黑W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汉仪宋韵朗黑W" panose="00020600040101010101" charset="-122"/>
              </a:rPr>
              <a:t>‹#›</a:t>
            </a:fld>
            <a:endParaRPr lang="zh-CN" altLang="en-US">
              <a:cs typeface="汉仪宋韵朗黑W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theme" Target="../theme/theme2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宋韵朗黑W"/>
                <a:ea typeface="汉仪宋韵朗黑W"/>
                <a:cs typeface="汉仪宋韵朗黑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宋韵朗黑W"/>
                <a:ea typeface="汉仪宋韵朗黑W"/>
                <a:cs typeface="汉仪宋韵朗黑W" panose="0002060004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宋韵朗黑W"/>
                <a:ea typeface="汉仪宋韵朗黑W"/>
                <a:cs typeface="汉仪宋韵朗黑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宋韵朗黑W"/>
                <a:ea typeface="汉仪宋韵朗黑W"/>
                <a:cs typeface="汉仪宋韵朗黑W" panose="00020600040101010101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宋韵朗黑W"/>
        <a:ea typeface="汉仪宋韵朗黑W"/>
        <a:cs typeface="汉仪宋韵朗黑W" panose="0002060004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宋韵朗黑W"/>
        <a:ea typeface="汉仪宋韵朗黑W"/>
        <a:cs typeface="汉仪宋韵朗黑W" panose="0002060004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宋韵朗黑W"/>
        <a:ea typeface="汉仪宋韵朗黑W"/>
        <a:cs typeface="汉仪宋韵朗黑W" panose="0002060004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宋韵朗黑W"/>
        <a:ea typeface="汉仪宋韵朗黑W"/>
        <a:cs typeface="汉仪宋韵朗黑W" panose="0002060004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宋韵朗黑W"/>
        <a:ea typeface="汉仪宋韵朗黑W"/>
        <a:cs typeface="汉仪宋韵朗黑W" panose="0002060004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41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>
            <p:custDataLst>
              <p:tags r:id="rId1"/>
            </p:custDataLst>
          </p:nvPr>
        </p:nvGrpSpPr>
        <p:grpSpPr>
          <a:xfrm>
            <a:off x="0" y="2541905"/>
            <a:ext cx="4665980" cy="4316095"/>
            <a:chOff x="0" y="5348"/>
            <a:chExt cx="5894" cy="5452"/>
          </a:xfrm>
        </p:grpSpPr>
        <p:sp>
          <p:nvSpPr>
            <p:cNvPr id="22" name="直角三角形 21"/>
            <p:cNvSpPr/>
            <p:nvPr userDrawn="1">
              <p:custDataLst>
                <p:tags r:id="rId9"/>
              </p:custDataLst>
            </p:nvPr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3" name="直角三角形 22"/>
            <p:cNvSpPr/>
            <p:nvPr userDrawn="1">
              <p:custDataLst>
                <p:tags r:id="rId10"/>
              </p:custDataLst>
            </p:nvPr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4" name="直角三角形 23"/>
            <p:cNvSpPr/>
            <p:nvPr userDrawn="1">
              <p:custDataLst>
                <p:tags r:id="rId11"/>
              </p:custDataLst>
            </p:nvPr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5" name="直角三角形 24"/>
            <p:cNvSpPr/>
            <p:nvPr userDrawn="1">
              <p:custDataLst>
                <p:tags r:id="rId12"/>
              </p:custDataLst>
            </p:nvPr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6" name="直角三角形 25"/>
            <p:cNvSpPr/>
            <p:nvPr userDrawn="1">
              <p:custDataLst>
                <p:tags r:id="rId13"/>
              </p:custDataLst>
            </p:nvPr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7" name="直角三角形 26"/>
            <p:cNvSpPr/>
            <p:nvPr userDrawn="1">
              <p:custDataLst>
                <p:tags r:id="rId14"/>
              </p:custDataLst>
            </p:nvPr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  <p:grpSp>
        <p:nvGrpSpPr>
          <p:cNvPr id="28" name="组合 27"/>
          <p:cNvGrpSpPr/>
          <p:nvPr userDrawn="1">
            <p:custDataLst>
              <p:tags r:id="rId2"/>
            </p:custDataLst>
          </p:nvPr>
        </p:nvGrpSpPr>
        <p:grpSpPr>
          <a:xfrm flipH="1" flipV="1">
            <a:off x="7526020" y="0"/>
            <a:ext cx="4665980" cy="4316095"/>
            <a:chOff x="0" y="5348"/>
            <a:chExt cx="5894" cy="5452"/>
          </a:xfrm>
        </p:grpSpPr>
        <p:sp>
          <p:nvSpPr>
            <p:cNvPr id="29" name="直角三角形 28"/>
            <p:cNvSpPr/>
            <p:nvPr userDrawn="1">
              <p:custDataLst>
                <p:tags r:id="rId3"/>
              </p:custDataLst>
            </p:nvPr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0" name="直角三角形 29"/>
            <p:cNvSpPr/>
            <p:nvPr userDrawn="1">
              <p:custDataLst>
                <p:tags r:id="rId4"/>
              </p:custDataLst>
            </p:nvPr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1" name="直角三角形 30"/>
            <p:cNvSpPr/>
            <p:nvPr userDrawn="1">
              <p:custDataLst>
                <p:tags r:id="rId5"/>
              </p:custDataLst>
            </p:nvPr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2" name="直角三角形 31"/>
            <p:cNvSpPr/>
            <p:nvPr userDrawn="1">
              <p:custDataLst>
                <p:tags r:id="rId6"/>
              </p:custDataLst>
            </p:nvPr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3" name="直角三角形 32"/>
            <p:cNvSpPr/>
            <p:nvPr userDrawn="1">
              <p:custDataLst>
                <p:tags r:id="rId7"/>
              </p:custDataLst>
            </p:nvPr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4" name="直角三角形 33"/>
            <p:cNvSpPr/>
            <p:nvPr userDrawn="1">
              <p:custDataLst>
                <p:tags r:id="rId8"/>
              </p:custDataLst>
            </p:nvPr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>
            <p:custDataLst>
              <p:tags r:id="rId1"/>
            </p:custDataLst>
          </p:nvPr>
        </p:nvGrpSpPr>
        <p:grpSpPr>
          <a:xfrm>
            <a:off x="0" y="3395980"/>
            <a:ext cx="3742690" cy="3462020"/>
            <a:chOff x="0" y="5348"/>
            <a:chExt cx="5894" cy="5452"/>
          </a:xfrm>
        </p:grpSpPr>
        <p:sp>
          <p:nvSpPr>
            <p:cNvPr id="22" name="直角三角形 21"/>
            <p:cNvSpPr/>
            <p:nvPr userDrawn="1">
              <p:custDataLst>
                <p:tags r:id="rId9"/>
              </p:custDataLst>
            </p:nvPr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3" name="直角三角形 22"/>
            <p:cNvSpPr/>
            <p:nvPr userDrawn="1">
              <p:custDataLst>
                <p:tags r:id="rId10"/>
              </p:custDataLst>
            </p:nvPr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4" name="直角三角形 23"/>
            <p:cNvSpPr/>
            <p:nvPr userDrawn="1">
              <p:custDataLst>
                <p:tags r:id="rId11"/>
              </p:custDataLst>
            </p:nvPr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5" name="直角三角形 24"/>
            <p:cNvSpPr/>
            <p:nvPr userDrawn="1">
              <p:custDataLst>
                <p:tags r:id="rId12"/>
              </p:custDataLst>
            </p:nvPr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6" name="直角三角形 25"/>
            <p:cNvSpPr/>
            <p:nvPr userDrawn="1">
              <p:custDataLst>
                <p:tags r:id="rId13"/>
              </p:custDataLst>
            </p:nvPr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7" name="直角三角形 26"/>
            <p:cNvSpPr/>
            <p:nvPr userDrawn="1">
              <p:custDataLst>
                <p:tags r:id="rId14"/>
              </p:custDataLst>
            </p:nvPr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  <p:grpSp>
        <p:nvGrpSpPr>
          <p:cNvPr id="28" name="组合 27"/>
          <p:cNvGrpSpPr/>
          <p:nvPr userDrawn="1">
            <p:custDataLst>
              <p:tags r:id="rId2"/>
            </p:custDataLst>
          </p:nvPr>
        </p:nvGrpSpPr>
        <p:grpSpPr>
          <a:xfrm flipH="1" flipV="1">
            <a:off x="8449310" y="0"/>
            <a:ext cx="3742690" cy="3462020"/>
            <a:chOff x="0" y="5348"/>
            <a:chExt cx="5894" cy="5452"/>
          </a:xfrm>
        </p:grpSpPr>
        <p:sp>
          <p:nvSpPr>
            <p:cNvPr id="29" name="直角三角形 28"/>
            <p:cNvSpPr/>
            <p:nvPr userDrawn="1">
              <p:custDataLst>
                <p:tags r:id="rId3"/>
              </p:custDataLst>
            </p:nvPr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0" name="直角三角形 29"/>
            <p:cNvSpPr/>
            <p:nvPr userDrawn="1">
              <p:custDataLst>
                <p:tags r:id="rId4"/>
              </p:custDataLst>
            </p:nvPr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1" name="直角三角形 30"/>
            <p:cNvSpPr/>
            <p:nvPr userDrawn="1">
              <p:custDataLst>
                <p:tags r:id="rId5"/>
              </p:custDataLst>
            </p:nvPr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2" name="直角三角形 31"/>
            <p:cNvSpPr/>
            <p:nvPr userDrawn="1">
              <p:custDataLst>
                <p:tags r:id="rId6"/>
              </p:custDataLst>
            </p:nvPr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3" name="直角三角形 32"/>
            <p:cNvSpPr/>
            <p:nvPr userDrawn="1">
              <p:custDataLst>
                <p:tags r:id="rId7"/>
              </p:custDataLst>
            </p:nvPr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34" name="直角三角形 33"/>
            <p:cNvSpPr/>
            <p:nvPr userDrawn="1">
              <p:custDataLst>
                <p:tags r:id="rId8"/>
              </p:custDataLst>
            </p:nvPr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0" y="4622800"/>
            <a:ext cx="2414905" cy="2235200"/>
            <a:chOff x="0" y="5348"/>
            <a:chExt cx="5894" cy="5452"/>
          </a:xfrm>
        </p:grpSpPr>
        <p:sp>
          <p:nvSpPr>
            <p:cNvPr id="9" name="直角三角形 8"/>
            <p:cNvSpPr/>
            <p:nvPr userDrawn="1">
              <p:custDataLst>
                <p:tags r:id="rId9"/>
              </p:custDataLst>
            </p:nvPr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8" name="直角三角形 7"/>
            <p:cNvSpPr/>
            <p:nvPr userDrawn="1">
              <p:custDataLst>
                <p:tags r:id="rId10"/>
              </p:custDataLst>
            </p:nvPr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7" name="直角三角形 6"/>
            <p:cNvSpPr/>
            <p:nvPr userDrawn="1">
              <p:custDataLst>
                <p:tags r:id="rId11"/>
              </p:custDataLst>
            </p:nvPr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1" name="直角三角形 10"/>
            <p:cNvSpPr/>
            <p:nvPr userDrawn="1">
              <p:custDataLst>
                <p:tags r:id="rId12"/>
              </p:custDataLst>
            </p:nvPr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2" name="直角三角形 11"/>
            <p:cNvSpPr/>
            <p:nvPr userDrawn="1">
              <p:custDataLst>
                <p:tags r:id="rId13"/>
              </p:custDataLst>
            </p:nvPr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3" name="直角三角形 12"/>
            <p:cNvSpPr/>
            <p:nvPr userDrawn="1">
              <p:custDataLst>
                <p:tags r:id="rId14"/>
              </p:custDataLst>
            </p:nvPr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2"/>
            </p:custDataLst>
          </p:nvPr>
        </p:nvGrpSpPr>
        <p:grpSpPr>
          <a:xfrm flipH="1" flipV="1">
            <a:off x="9777095" y="0"/>
            <a:ext cx="2414905" cy="2235200"/>
            <a:chOff x="0" y="5348"/>
            <a:chExt cx="5894" cy="5452"/>
          </a:xfrm>
        </p:grpSpPr>
        <p:sp>
          <p:nvSpPr>
            <p:cNvPr id="15" name="直角三角形 14"/>
            <p:cNvSpPr/>
            <p:nvPr userDrawn="1">
              <p:custDataLst>
                <p:tags r:id="rId3"/>
              </p:custDataLst>
            </p:nvPr>
          </p:nvSpPr>
          <p:spPr>
            <a:xfrm>
              <a:off x="0" y="5348"/>
              <a:ext cx="2960" cy="5452"/>
            </a:xfrm>
            <a:prstGeom prst="rtTriangle">
              <a:avLst/>
            </a:prstGeom>
            <a:solidFill>
              <a:srgbClr val="0299D8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6" name="直角三角形 15"/>
            <p:cNvSpPr/>
            <p:nvPr userDrawn="1">
              <p:custDataLst>
                <p:tags r:id="rId4"/>
              </p:custDataLst>
            </p:nvPr>
          </p:nvSpPr>
          <p:spPr>
            <a:xfrm>
              <a:off x="0" y="7695"/>
              <a:ext cx="5895" cy="3105"/>
            </a:xfrm>
            <a:prstGeom prst="rtTriangle">
              <a:avLst/>
            </a:prstGeom>
            <a:solidFill>
              <a:srgbClr val="0299D8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7" name="直角三角形 16"/>
            <p:cNvSpPr/>
            <p:nvPr userDrawn="1">
              <p:custDataLst>
                <p:tags r:id="rId5"/>
              </p:custDataLst>
            </p:nvPr>
          </p:nvSpPr>
          <p:spPr>
            <a:xfrm>
              <a:off x="0" y="6496"/>
              <a:ext cx="2960" cy="4304"/>
            </a:xfrm>
            <a:prstGeom prst="rtTriangle">
              <a:avLst/>
            </a:prstGeom>
            <a:solidFill>
              <a:srgbClr val="95E1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8" name="直角三角形 17"/>
            <p:cNvSpPr/>
            <p:nvPr userDrawn="1">
              <p:custDataLst>
                <p:tags r:id="rId6"/>
              </p:custDataLst>
            </p:nvPr>
          </p:nvSpPr>
          <p:spPr>
            <a:xfrm>
              <a:off x="0" y="8180"/>
              <a:ext cx="4567" cy="2620"/>
            </a:xfrm>
            <a:prstGeom prst="rtTriangle">
              <a:avLst/>
            </a:prstGeom>
            <a:solidFill>
              <a:schemeClr val="accent2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19" name="直角三角形 18"/>
            <p:cNvSpPr/>
            <p:nvPr userDrawn="1">
              <p:custDataLst>
                <p:tags r:id="rId7"/>
              </p:custDataLst>
            </p:nvPr>
          </p:nvSpPr>
          <p:spPr>
            <a:xfrm>
              <a:off x="0" y="7287"/>
              <a:ext cx="2471" cy="3513"/>
            </a:xfrm>
            <a:prstGeom prst="rtTriangle">
              <a:avLst/>
            </a:prstGeom>
            <a:solidFill>
              <a:srgbClr val="02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  <p:sp>
          <p:nvSpPr>
            <p:cNvPr id="20" name="直角三角形 19"/>
            <p:cNvSpPr/>
            <p:nvPr userDrawn="1">
              <p:custDataLst>
                <p:tags r:id="rId8"/>
              </p:custDataLst>
            </p:nvPr>
          </p:nvSpPr>
          <p:spPr>
            <a:xfrm>
              <a:off x="0" y="8599"/>
              <a:ext cx="2959" cy="2201"/>
            </a:xfrm>
            <a:prstGeom prst="rtTriangle">
              <a:avLst/>
            </a:prstGeom>
            <a:solidFill>
              <a:srgbClr val="0C76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汉仪宋韵朗黑W" panose="00020600040101010101" charset="-122"/>
              </a:endParaRPr>
            </a:p>
          </p:txBody>
        </p:sp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file:///D:\qq&#25991;&#20214;\712321467\Image\C2C\Image2\%7b75232B38-A165-1FB7-499C-2E1C792CACB5%7d.png" TargetMode="Externa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73743875" descr="学科网 zxxk.com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r:link="rId8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custDataLst>
      <p:tags r:id="rId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6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66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4.xml"/><Relationship Id="rId4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18" Type="http://schemas.openxmlformats.org/officeDocument/2006/relationships/tags" Target="../tags/tag9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10" Type="http://schemas.openxmlformats.org/officeDocument/2006/relationships/tags" Target="../tags/tag91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image" Target="../media/image4.wmf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oleObject" Target="../embeddings/oleObject1.bin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04.xml"/><Relationship Id="rId10" Type="http://schemas.openxmlformats.org/officeDocument/2006/relationships/tags" Target="../tags/tag109.xml"/><Relationship Id="rId4" Type="http://schemas.openxmlformats.org/officeDocument/2006/relationships/tags" Target="../tags/tag103.xml"/><Relationship Id="rId9" Type="http://schemas.openxmlformats.org/officeDocument/2006/relationships/tags" Target="../tags/tag10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4.xml"/><Relationship Id="rId4" Type="http://schemas.openxmlformats.org/officeDocument/2006/relationships/tags" Target="../tags/tag1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12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image" Target="../media/image6.wmf"/><Relationship Id="rId5" Type="http://schemas.openxmlformats.org/officeDocument/2006/relationships/tags" Target="../tags/tag125.xml"/><Relationship Id="rId10" Type="http://schemas.openxmlformats.org/officeDocument/2006/relationships/oleObject" Target="../embeddings/oleObject3.bin"/><Relationship Id="rId4" Type="http://schemas.openxmlformats.org/officeDocument/2006/relationships/tags" Target="../tags/tag124.xml"/><Relationship Id="rId9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1.xml"/><Relationship Id="rId4" Type="http://schemas.openxmlformats.org/officeDocument/2006/relationships/tags" Target="../tags/tag13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6.xml"/><Relationship Id="rId4" Type="http://schemas.openxmlformats.org/officeDocument/2006/relationships/tags" Target="../tags/tag135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149.xml"/><Relationship Id="rId18" Type="http://schemas.openxmlformats.org/officeDocument/2006/relationships/tags" Target="../tags/tag154.xml"/><Relationship Id="rId26" Type="http://schemas.openxmlformats.org/officeDocument/2006/relationships/tags" Target="../tags/tag162.xml"/><Relationship Id="rId39" Type="http://schemas.openxmlformats.org/officeDocument/2006/relationships/tags" Target="../tags/tag175.xml"/><Relationship Id="rId21" Type="http://schemas.openxmlformats.org/officeDocument/2006/relationships/tags" Target="../tags/tag157.xml"/><Relationship Id="rId34" Type="http://schemas.openxmlformats.org/officeDocument/2006/relationships/tags" Target="../tags/tag170.xml"/><Relationship Id="rId42" Type="http://schemas.openxmlformats.org/officeDocument/2006/relationships/tags" Target="../tags/tag178.xml"/><Relationship Id="rId7" Type="http://schemas.openxmlformats.org/officeDocument/2006/relationships/tags" Target="../tags/tag143.xml"/><Relationship Id="rId2" Type="http://schemas.openxmlformats.org/officeDocument/2006/relationships/tags" Target="../tags/tag138.xml"/><Relationship Id="rId16" Type="http://schemas.openxmlformats.org/officeDocument/2006/relationships/tags" Target="../tags/tag152.xml"/><Relationship Id="rId29" Type="http://schemas.openxmlformats.org/officeDocument/2006/relationships/tags" Target="../tags/tag165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24" Type="http://schemas.openxmlformats.org/officeDocument/2006/relationships/tags" Target="../tags/tag160.xml"/><Relationship Id="rId32" Type="http://schemas.openxmlformats.org/officeDocument/2006/relationships/tags" Target="../tags/tag168.xml"/><Relationship Id="rId37" Type="http://schemas.openxmlformats.org/officeDocument/2006/relationships/tags" Target="../tags/tag173.xml"/><Relationship Id="rId40" Type="http://schemas.openxmlformats.org/officeDocument/2006/relationships/tags" Target="../tags/tag176.xml"/><Relationship Id="rId45" Type="http://schemas.openxmlformats.org/officeDocument/2006/relationships/slideLayout" Target="../slideLayouts/slideLayout2.xml"/><Relationship Id="rId5" Type="http://schemas.openxmlformats.org/officeDocument/2006/relationships/tags" Target="../tags/tag141.xml"/><Relationship Id="rId15" Type="http://schemas.openxmlformats.org/officeDocument/2006/relationships/tags" Target="../tags/tag151.xml"/><Relationship Id="rId23" Type="http://schemas.openxmlformats.org/officeDocument/2006/relationships/tags" Target="../tags/tag159.xml"/><Relationship Id="rId28" Type="http://schemas.openxmlformats.org/officeDocument/2006/relationships/tags" Target="../tags/tag164.xml"/><Relationship Id="rId36" Type="http://schemas.openxmlformats.org/officeDocument/2006/relationships/tags" Target="../tags/tag172.xml"/><Relationship Id="rId10" Type="http://schemas.openxmlformats.org/officeDocument/2006/relationships/tags" Target="../tags/tag146.xml"/><Relationship Id="rId19" Type="http://schemas.openxmlformats.org/officeDocument/2006/relationships/tags" Target="../tags/tag155.xml"/><Relationship Id="rId31" Type="http://schemas.openxmlformats.org/officeDocument/2006/relationships/tags" Target="../tags/tag167.xml"/><Relationship Id="rId44" Type="http://schemas.openxmlformats.org/officeDocument/2006/relationships/tags" Target="../tags/tag180.xml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4" Type="http://schemas.openxmlformats.org/officeDocument/2006/relationships/tags" Target="../tags/tag150.xml"/><Relationship Id="rId22" Type="http://schemas.openxmlformats.org/officeDocument/2006/relationships/tags" Target="../tags/tag158.xml"/><Relationship Id="rId27" Type="http://schemas.openxmlformats.org/officeDocument/2006/relationships/tags" Target="../tags/tag163.xml"/><Relationship Id="rId30" Type="http://schemas.openxmlformats.org/officeDocument/2006/relationships/tags" Target="../tags/tag166.xml"/><Relationship Id="rId35" Type="http://schemas.openxmlformats.org/officeDocument/2006/relationships/tags" Target="../tags/tag171.xml"/><Relationship Id="rId43" Type="http://schemas.openxmlformats.org/officeDocument/2006/relationships/tags" Target="../tags/tag179.xml"/><Relationship Id="rId8" Type="http://schemas.openxmlformats.org/officeDocument/2006/relationships/tags" Target="../tags/tag144.xml"/><Relationship Id="rId3" Type="http://schemas.openxmlformats.org/officeDocument/2006/relationships/tags" Target="../tags/tag139.xml"/><Relationship Id="rId12" Type="http://schemas.openxmlformats.org/officeDocument/2006/relationships/tags" Target="../tags/tag148.xml"/><Relationship Id="rId17" Type="http://schemas.openxmlformats.org/officeDocument/2006/relationships/tags" Target="../tags/tag153.xml"/><Relationship Id="rId25" Type="http://schemas.openxmlformats.org/officeDocument/2006/relationships/tags" Target="../tags/tag161.xml"/><Relationship Id="rId33" Type="http://schemas.openxmlformats.org/officeDocument/2006/relationships/tags" Target="../tags/tag169.xml"/><Relationship Id="rId38" Type="http://schemas.openxmlformats.org/officeDocument/2006/relationships/tags" Target="../tags/tag174.xml"/><Relationship Id="rId20" Type="http://schemas.openxmlformats.org/officeDocument/2006/relationships/tags" Target="../tags/tag156.xml"/><Relationship Id="rId41" Type="http://schemas.openxmlformats.org/officeDocument/2006/relationships/tags" Target="../tags/tag177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193.xml"/><Relationship Id="rId18" Type="http://schemas.openxmlformats.org/officeDocument/2006/relationships/tags" Target="../tags/tag198.xml"/><Relationship Id="rId26" Type="http://schemas.openxmlformats.org/officeDocument/2006/relationships/tags" Target="../tags/tag206.xml"/><Relationship Id="rId39" Type="http://schemas.openxmlformats.org/officeDocument/2006/relationships/tags" Target="../tags/tag219.xml"/><Relationship Id="rId21" Type="http://schemas.openxmlformats.org/officeDocument/2006/relationships/tags" Target="../tags/tag201.xml"/><Relationship Id="rId34" Type="http://schemas.openxmlformats.org/officeDocument/2006/relationships/tags" Target="../tags/tag214.xml"/><Relationship Id="rId42" Type="http://schemas.openxmlformats.org/officeDocument/2006/relationships/tags" Target="../tags/tag222.xml"/><Relationship Id="rId7" Type="http://schemas.openxmlformats.org/officeDocument/2006/relationships/tags" Target="../tags/tag187.xml"/><Relationship Id="rId2" Type="http://schemas.openxmlformats.org/officeDocument/2006/relationships/tags" Target="../tags/tag182.xml"/><Relationship Id="rId16" Type="http://schemas.openxmlformats.org/officeDocument/2006/relationships/tags" Target="../tags/tag196.xml"/><Relationship Id="rId29" Type="http://schemas.openxmlformats.org/officeDocument/2006/relationships/tags" Target="../tags/tag209.xml"/><Relationship Id="rId1" Type="http://schemas.openxmlformats.org/officeDocument/2006/relationships/tags" Target="../tags/tag181.xml"/><Relationship Id="rId6" Type="http://schemas.openxmlformats.org/officeDocument/2006/relationships/tags" Target="../tags/tag186.xml"/><Relationship Id="rId11" Type="http://schemas.openxmlformats.org/officeDocument/2006/relationships/tags" Target="../tags/tag191.xml"/><Relationship Id="rId24" Type="http://schemas.openxmlformats.org/officeDocument/2006/relationships/tags" Target="../tags/tag204.xml"/><Relationship Id="rId32" Type="http://schemas.openxmlformats.org/officeDocument/2006/relationships/tags" Target="../tags/tag212.xml"/><Relationship Id="rId37" Type="http://schemas.openxmlformats.org/officeDocument/2006/relationships/tags" Target="../tags/tag217.xml"/><Relationship Id="rId40" Type="http://schemas.openxmlformats.org/officeDocument/2006/relationships/tags" Target="../tags/tag220.xml"/><Relationship Id="rId45" Type="http://schemas.openxmlformats.org/officeDocument/2006/relationships/slideLayout" Target="../slideLayouts/slideLayout2.xml"/><Relationship Id="rId5" Type="http://schemas.openxmlformats.org/officeDocument/2006/relationships/tags" Target="../tags/tag185.xml"/><Relationship Id="rId15" Type="http://schemas.openxmlformats.org/officeDocument/2006/relationships/tags" Target="../tags/tag195.xml"/><Relationship Id="rId23" Type="http://schemas.openxmlformats.org/officeDocument/2006/relationships/tags" Target="../tags/tag203.xml"/><Relationship Id="rId28" Type="http://schemas.openxmlformats.org/officeDocument/2006/relationships/tags" Target="../tags/tag208.xml"/><Relationship Id="rId36" Type="http://schemas.openxmlformats.org/officeDocument/2006/relationships/tags" Target="../tags/tag216.xml"/><Relationship Id="rId10" Type="http://schemas.openxmlformats.org/officeDocument/2006/relationships/tags" Target="../tags/tag190.xml"/><Relationship Id="rId19" Type="http://schemas.openxmlformats.org/officeDocument/2006/relationships/tags" Target="../tags/tag199.xml"/><Relationship Id="rId31" Type="http://schemas.openxmlformats.org/officeDocument/2006/relationships/tags" Target="../tags/tag211.xml"/><Relationship Id="rId44" Type="http://schemas.openxmlformats.org/officeDocument/2006/relationships/tags" Target="../tags/tag224.xml"/><Relationship Id="rId4" Type="http://schemas.openxmlformats.org/officeDocument/2006/relationships/tags" Target="../tags/tag184.xml"/><Relationship Id="rId9" Type="http://schemas.openxmlformats.org/officeDocument/2006/relationships/tags" Target="../tags/tag189.xml"/><Relationship Id="rId14" Type="http://schemas.openxmlformats.org/officeDocument/2006/relationships/tags" Target="../tags/tag194.xml"/><Relationship Id="rId22" Type="http://schemas.openxmlformats.org/officeDocument/2006/relationships/tags" Target="../tags/tag202.xml"/><Relationship Id="rId27" Type="http://schemas.openxmlformats.org/officeDocument/2006/relationships/tags" Target="../tags/tag207.xml"/><Relationship Id="rId30" Type="http://schemas.openxmlformats.org/officeDocument/2006/relationships/tags" Target="../tags/tag210.xml"/><Relationship Id="rId35" Type="http://schemas.openxmlformats.org/officeDocument/2006/relationships/tags" Target="../tags/tag215.xml"/><Relationship Id="rId43" Type="http://schemas.openxmlformats.org/officeDocument/2006/relationships/tags" Target="../tags/tag223.xml"/><Relationship Id="rId8" Type="http://schemas.openxmlformats.org/officeDocument/2006/relationships/tags" Target="../tags/tag188.xml"/><Relationship Id="rId3" Type="http://schemas.openxmlformats.org/officeDocument/2006/relationships/tags" Target="../tags/tag183.xml"/><Relationship Id="rId12" Type="http://schemas.openxmlformats.org/officeDocument/2006/relationships/tags" Target="../tags/tag192.xml"/><Relationship Id="rId17" Type="http://schemas.openxmlformats.org/officeDocument/2006/relationships/tags" Target="../tags/tag197.xml"/><Relationship Id="rId25" Type="http://schemas.openxmlformats.org/officeDocument/2006/relationships/tags" Target="../tags/tag205.xml"/><Relationship Id="rId33" Type="http://schemas.openxmlformats.org/officeDocument/2006/relationships/tags" Target="../tags/tag213.xml"/><Relationship Id="rId38" Type="http://schemas.openxmlformats.org/officeDocument/2006/relationships/tags" Target="../tags/tag218.xml"/><Relationship Id="rId20" Type="http://schemas.openxmlformats.org/officeDocument/2006/relationships/tags" Target="../tags/tag200.xml"/><Relationship Id="rId41" Type="http://schemas.openxmlformats.org/officeDocument/2006/relationships/tags" Target="../tags/tag2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240.xml"/><Relationship Id="rId18" Type="http://schemas.openxmlformats.org/officeDocument/2006/relationships/tags" Target="../tags/tag245.xml"/><Relationship Id="rId26" Type="http://schemas.openxmlformats.org/officeDocument/2006/relationships/tags" Target="../tags/tag253.xml"/><Relationship Id="rId3" Type="http://schemas.openxmlformats.org/officeDocument/2006/relationships/tags" Target="../tags/tag230.xml"/><Relationship Id="rId21" Type="http://schemas.openxmlformats.org/officeDocument/2006/relationships/tags" Target="../tags/tag248.xml"/><Relationship Id="rId34" Type="http://schemas.openxmlformats.org/officeDocument/2006/relationships/tags" Target="../tags/tag261.xml"/><Relationship Id="rId7" Type="http://schemas.openxmlformats.org/officeDocument/2006/relationships/tags" Target="../tags/tag234.xml"/><Relationship Id="rId12" Type="http://schemas.openxmlformats.org/officeDocument/2006/relationships/tags" Target="../tags/tag239.xml"/><Relationship Id="rId17" Type="http://schemas.openxmlformats.org/officeDocument/2006/relationships/tags" Target="../tags/tag244.xml"/><Relationship Id="rId25" Type="http://schemas.openxmlformats.org/officeDocument/2006/relationships/tags" Target="../tags/tag252.xml"/><Relationship Id="rId33" Type="http://schemas.openxmlformats.org/officeDocument/2006/relationships/tags" Target="../tags/tag260.xml"/><Relationship Id="rId2" Type="http://schemas.openxmlformats.org/officeDocument/2006/relationships/tags" Target="../tags/tag229.xml"/><Relationship Id="rId16" Type="http://schemas.openxmlformats.org/officeDocument/2006/relationships/tags" Target="../tags/tag243.xml"/><Relationship Id="rId20" Type="http://schemas.openxmlformats.org/officeDocument/2006/relationships/tags" Target="../tags/tag247.xml"/><Relationship Id="rId29" Type="http://schemas.openxmlformats.org/officeDocument/2006/relationships/tags" Target="../tags/tag256.xml"/><Relationship Id="rId1" Type="http://schemas.openxmlformats.org/officeDocument/2006/relationships/tags" Target="../tags/tag228.xml"/><Relationship Id="rId6" Type="http://schemas.openxmlformats.org/officeDocument/2006/relationships/tags" Target="../tags/tag233.xml"/><Relationship Id="rId11" Type="http://schemas.openxmlformats.org/officeDocument/2006/relationships/tags" Target="../tags/tag238.xml"/><Relationship Id="rId24" Type="http://schemas.openxmlformats.org/officeDocument/2006/relationships/tags" Target="../tags/tag251.xml"/><Relationship Id="rId32" Type="http://schemas.openxmlformats.org/officeDocument/2006/relationships/tags" Target="../tags/tag259.xml"/><Relationship Id="rId5" Type="http://schemas.openxmlformats.org/officeDocument/2006/relationships/tags" Target="../tags/tag232.xml"/><Relationship Id="rId15" Type="http://schemas.openxmlformats.org/officeDocument/2006/relationships/tags" Target="../tags/tag242.xml"/><Relationship Id="rId23" Type="http://schemas.openxmlformats.org/officeDocument/2006/relationships/tags" Target="../tags/tag250.xml"/><Relationship Id="rId28" Type="http://schemas.openxmlformats.org/officeDocument/2006/relationships/tags" Target="../tags/tag255.xml"/><Relationship Id="rId10" Type="http://schemas.openxmlformats.org/officeDocument/2006/relationships/tags" Target="../tags/tag237.xml"/><Relationship Id="rId19" Type="http://schemas.openxmlformats.org/officeDocument/2006/relationships/tags" Target="../tags/tag246.xml"/><Relationship Id="rId31" Type="http://schemas.openxmlformats.org/officeDocument/2006/relationships/tags" Target="../tags/tag258.xml"/><Relationship Id="rId4" Type="http://schemas.openxmlformats.org/officeDocument/2006/relationships/tags" Target="../tags/tag231.xml"/><Relationship Id="rId9" Type="http://schemas.openxmlformats.org/officeDocument/2006/relationships/tags" Target="../tags/tag236.xml"/><Relationship Id="rId14" Type="http://schemas.openxmlformats.org/officeDocument/2006/relationships/tags" Target="../tags/tag241.xml"/><Relationship Id="rId22" Type="http://schemas.openxmlformats.org/officeDocument/2006/relationships/tags" Target="../tags/tag249.xml"/><Relationship Id="rId27" Type="http://schemas.openxmlformats.org/officeDocument/2006/relationships/tags" Target="../tags/tag254.xml"/><Relationship Id="rId30" Type="http://schemas.openxmlformats.org/officeDocument/2006/relationships/tags" Target="../tags/tag257.xml"/><Relationship Id="rId35" Type="http://schemas.openxmlformats.org/officeDocument/2006/relationships/slideLayout" Target="../slideLayouts/slideLayout2.xml"/><Relationship Id="rId8" Type="http://schemas.openxmlformats.org/officeDocument/2006/relationships/tags" Target="../tags/tag235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74.xml"/><Relationship Id="rId18" Type="http://schemas.openxmlformats.org/officeDocument/2006/relationships/tags" Target="../tags/tag279.xml"/><Relationship Id="rId26" Type="http://schemas.openxmlformats.org/officeDocument/2006/relationships/tags" Target="../tags/tag287.xml"/><Relationship Id="rId3" Type="http://schemas.openxmlformats.org/officeDocument/2006/relationships/tags" Target="../tags/tag264.xml"/><Relationship Id="rId21" Type="http://schemas.openxmlformats.org/officeDocument/2006/relationships/tags" Target="../tags/tag282.xml"/><Relationship Id="rId34" Type="http://schemas.openxmlformats.org/officeDocument/2006/relationships/tags" Target="../tags/tag295.xml"/><Relationship Id="rId7" Type="http://schemas.openxmlformats.org/officeDocument/2006/relationships/tags" Target="../tags/tag268.xml"/><Relationship Id="rId12" Type="http://schemas.openxmlformats.org/officeDocument/2006/relationships/tags" Target="../tags/tag273.xml"/><Relationship Id="rId17" Type="http://schemas.openxmlformats.org/officeDocument/2006/relationships/tags" Target="../tags/tag278.xml"/><Relationship Id="rId25" Type="http://schemas.openxmlformats.org/officeDocument/2006/relationships/tags" Target="../tags/tag286.xml"/><Relationship Id="rId33" Type="http://schemas.openxmlformats.org/officeDocument/2006/relationships/tags" Target="../tags/tag294.xml"/><Relationship Id="rId2" Type="http://schemas.openxmlformats.org/officeDocument/2006/relationships/tags" Target="../tags/tag263.xml"/><Relationship Id="rId16" Type="http://schemas.openxmlformats.org/officeDocument/2006/relationships/tags" Target="../tags/tag277.xml"/><Relationship Id="rId20" Type="http://schemas.openxmlformats.org/officeDocument/2006/relationships/tags" Target="../tags/tag281.xml"/><Relationship Id="rId29" Type="http://schemas.openxmlformats.org/officeDocument/2006/relationships/tags" Target="../tags/tag290.xml"/><Relationship Id="rId1" Type="http://schemas.openxmlformats.org/officeDocument/2006/relationships/tags" Target="../tags/tag262.xml"/><Relationship Id="rId6" Type="http://schemas.openxmlformats.org/officeDocument/2006/relationships/tags" Target="../tags/tag267.xml"/><Relationship Id="rId11" Type="http://schemas.openxmlformats.org/officeDocument/2006/relationships/tags" Target="../tags/tag272.xml"/><Relationship Id="rId24" Type="http://schemas.openxmlformats.org/officeDocument/2006/relationships/tags" Target="../tags/tag285.xml"/><Relationship Id="rId32" Type="http://schemas.openxmlformats.org/officeDocument/2006/relationships/tags" Target="../tags/tag293.xml"/><Relationship Id="rId5" Type="http://schemas.openxmlformats.org/officeDocument/2006/relationships/tags" Target="../tags/tag266.xml"/><Relationship Id="rId15" Type="http://schemas.openxmlformats.org/officeDocument/2006/relationships/tags" Target="../tags/tag276.xml"/><Relationship Id="rId23" Type="http://schemas.openxmlformats.org/officeDocument/2006/relationships/tags" Target="../tags/tag284.xml"/><Relationship Id="rId28" Type="http://schemas.openxmlformats.org/officeDocument/2006/relationships/tags" Target="../tags/tag289.xml"/><Relationship Id="rId10" Type="http://schemas.openxmlformats.org/officeDocument/2006/relationships/tags" Target="../tags/tag271.xml"/><Relationship Id="rId19" Type="http://schemas.openxmlformats.org/officeDocument/2006/relationships/tags" Target="../tags/tag280.xml"/><Relationship Id="rId31" Type="http://schemas.openxmlformats.org/officeDocument/2006/relationships/tags" Target="../tags/tag292.xml"/><Relationship Id="rId4" Type="http://schemas.openxmlformats.org/officeDocument/2006/relationships/tags" Target="../tags/tag265.xml"/><Relationship Id="rId9" Type="http://schemas.openxmlformats.org/officeDocument/2006/relationships/tags" Target="../tags/tag270.xml"/><Relationship Id="rId14" Type="http://schemas.openxmlformats.org/officeDocument/2006/relationships/tags" Target="../tags/tag275.xml"/><Relationship Id="rId22" Type="http://schemas.openxmlformats.org/officeDocument/2006/relationships/tags" Target="../tags/tag283.xml"/><Relationship Id="rId27" Type="http://schemas.openxmlformats.org/officeDocument/2006/relationships/tags" Target="../tags/tag288.xml"/><Relationship Id="rId30" Type="http://schemas.openxmlformats.org/officeDocument/2006/relationships/tags" Target="../tags/tag291.xml"/><Relationship Id="rId35" Type="http://schemas.openxmlformats.org/officeDocument/2006/relationships/slideLayout" Target="../slideLayouts/slideLayout2.xml"/><Relationship Id="rId8" Type="http://schemas.openxmlformats.org/officeDocument/2006/relationships/tags" Target="../tags/tag26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298.xml"/><Relationship Id="rId2" Type="http://schemas.openxmlformats.org/officeDocument/2006/relationships/tags" Target="../tags/tag297.xml"/><Relationship Id="rId1" Type="http://schemas.openxmlformats.org/officeDocument/2006/relationships/tags" Target="../tags/tag296.xml"/><Relationship Id="rId5" Type="http://schemas.openxmlformats.org/officeDocument/2006/relationships/image" Target="../media/image7.jpe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306.xml"/><Relationship Id="rId3" Type="http://schemas.openxmlformats.org/officeDocument/2006/relationships/tags" Target="../tags/tag301.xml"/><Relationship Id="rId7" Type="http://schemas.openxmlformats.org/officeDocument/2006/relationships/tags" Target="../tags/tag305.xml"/><Relationship Id="rId2" Type="http://schemas.openxmlformats.org/officeDocument/2006/relationships/tags" Target="../tags/tag300.xml"/><Relationship Id="rId1" Type="http://schemas.openxmlformats.org/officeDocument/2006/relationships/tags" Target="../tags/tag299.xml"/><Relationship Id="rId6" Type="http://schemas.openxmlformats.org/officeDocument/2006/relationships/tags" Target="../tags/tag304.xml"/><Relationship Id="rId5" Type="http://schemas.openxmlformats.org/officeDocument/2006/relationships/tags" Target="../tags/tag303.xml"/><Relationship Id="rId4" Type="http://schemas.openxmlformats.org/officeDocument/2006/relationships/tags" Target="../tags/tag302.xml"/><Relationship Id="rId9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314.xml"/><Relationship Id="rId3" Type="http://schemas.openxmlformats.org/officeDocument/2006/relationships/tags" Target="../tags/tag309.xml"/><Relationship Id="rId7" Type="http://schemas.openxmlformats.org/officeDocument/2006/relationships/tags" Target="../tags/tag313.xml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9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" Type="http://schemas.openxmlformats.org/officeDocument/2006/relationships/tags" Target="../tags/tag31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19.xml"/><Relationship Id="rId4" Type="http://schemas.openxmlformats.org/officeDocument/2006/relationships/tags" Target="../tags/tag3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322.xml"/><Relationship Id="rId7" Type="http://schemas.openxmlformats.org/officeDocument/2006/relationships/image" Target="../media/image8.png"/><Relationship Id="rId2" Type="http://schemas.openxmlformats.org/officeDocument/2006/relationships/tags" Target="../tags/tag321.xml"/><Relationship Id="rId1" Type="http://schemas.openxmlformats.org/officeDocument/2006/relationships/tags" Target="../tags/tag32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24.xml"/><Relationship Id="rId4" Type="http://schemas.openxmlformats.org/officeDocument/2006/relationships/tags" Target="../tags/tag3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327.xml"/><Relationship Id="rId7" Type="http://schemas.openxmlformats.org/officeDocument/2006/relationships/image" Target="../media/image8.png"/><Relationship Id="rId2" Type="http://schemas.openxmlformats.org/officeDocument/2006/relationships/tags" Target="../tags/tag326.xml"/><Relationship Id="rId1" Type="http://schemas.openxmlformats.org/officeDocument/2006/relationships/tags" Target="../tags/tag32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29.xml"/><Relationship Id="rId4" Type="http://schemas.openxmlformats.org/officeDocument/2006/relationships/tags" Target="../tags/tag32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337.xml"/><Relationship Id="rId3" Type="http://schemas.openxmlformats.org/officeDocument/2006/relationships/tags" Target="../tags/tag332.xml"/><Relationship Id="rId7" Type="http://schemas.openxmlformats.org/officeDocument/2006/relationships/tags" Target="../tags/tag336.xml"/><Relationship Id="rId2" Type="http://schemas.openxmlformats.org/officeDocument/2006/relationships/tags" Target="../tags/tag331.xml"/><Relationship Id="rId1" Type="http://schemas.openxmlformats.org/officeDocument/2006/relationships/tags" Target="../tags/tag330.xml"/><Relationship Id="rId6" Type="http://schemas.openxmlformats.org/officeDocument/2006/relationships/tags" Target="../tags/tag335.xml"/><Relationship Id="rId5" Type="http://schemas.openxmlformats.org/officeDocument/2006/relationships/tags" Target="../tags/tag334.xml"/><Relationship Id="rId10" Type="http://schemas.openxmlformats.org/officeDocument/2006/relationships/image" Target="../media/image8.png"/><Relationship Id="rId4" Type="http://schemas.openxmlformats.org/officeDocument/2006/relationships/tags" Target="../tags/tag333.xml"/><Relationship Id="rId9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tags" Target="../tags/tag350.xml"/><Relationship Id="rId18" Type="http://schemas.openxmlformats.org/officeDocument/2006/relationships/tags" Target="../tags/tag355.xml"/><Relationship Id="rId26" Type="http://schemas.openxmlformats.org/officeDocument/2006/relationships/tags" Target="../tags/tag363.xml"/><Relationship Id="rId39" Type="http://schemas.openxmlformats.org/officeDocument/2006/relationships/tags" Target="../tags/tag376.xml"/><Relationship Id="rId21" Type="http://schemas.openxmlformats.org/officeDocument/2006/relationships/tags" Target="../tags/tag358.xml"/><Relationship Id="rId34" Type="http://schemas.openxmlformats.org/officeDocument/2006/relationships/tags" Target="../tags/tag371.xml"/><Relationship Id="rId42" Type="http://schemas.openxmlformats.org/officeDocument/2006/relationships/tags" Target="../tags/tag379.xml"/><Relationship Id="rId7" Type="http://schemas.openxmlformats.org/officeDocument/2006/relationships/tags" Target="../tags/tag344.xml"/><Relationship Id="rId2" Type="http://schemas.openxmlformats.org/officeDocument/2006/relationships/tags" Target="../tags/tag339.xml"/><Relationship Id="rId16" Type="http://schemas.openxmlformats.org/officeDocument/2006/relationships/tags" Target="../tags/tag353.xml"/><Relationship Id="rId20" Type="http://schemas.openxmlformats.org/officeDocument/2006/relationships/tags" Target="../tags/tag357.xml"/><Relationship Id="rId29" Type="http://schemas.openxmlformats.org/officeDocument/2006/relationships/tags" Target="../tags/tag366.xml"/><Relationship Id="rId41" Type="http://schemas.openxmlformats.org/officeDocument/2006/relationships/tags" Target="../tags/tag378.xml"/><Relationship Id="rId1" Type="http://schemas.openxmlformats.org/officeDocument/2006/relationships/tags" Target="../tags/tag338.xml"/><Relationship Id="rId6" Type="http://schemas.openxmlformats.org/officeDocument/2006/relationships/tags" Target="../tags/tag343.xml"/><Relationship Id="rId11" Type="http://schemas.openxmlformats.org/officeDocument/2006/relationships/tags" Target="../tags/tag348.xml"/><Relationship Id="rId24" Type="http://schemas.openxmlformats.org/officeDocument/2006/relationships/tags" Target="../tags/tag361.xml"/><Relationship Id="rId32" Type="http://schemas.openxmlformats.org/officeDocument/2006/relationships/tags" Target="../tags/tag369.xml"/><Relationship Id="rId37" Type="http://schemas.openxmlformats.org/officeDocument/2006/relationships/tags" Target="../tags/tag374.xml"/><Relationship Id="rId40" Type="http://schemas.openxmlformats.org/officeDocument/2006/relationships/tags" Target="../tags/tag377.xml"/><Relationship Id="rId5" Type="http://schemas.openxmlformats.org/officeDocument/2006/relationships/tags" Target="../tags/tag342.xml"/><Relationship Id="rId15" Type="http://schemas.openxmlformats.org/officeDocument/2006/relationships/tags" Target="../tags/tag352.xml"/><Relationship Id="rId23" Type="http://schemas.openxmlformats.org/officeDocument/2006/relationships/tags" Target="../tags/tag360.xml"/><Relationship Id="rId28" Type="http://schemas.openxmlformats.org/officeDocument/2006/relationships/tags" Target="../tags/tag365.xml"/><Relationship Id="rId36" Type="http://schemas.openxmlformats.org/officeDocument/2006/relationships/tags" Target="../tags/tag373.xml"/><Relationship Id="rId10" Type="http://schemas.openxmlformats.org/officeDocument/2006/relationships/tags" Target="../tags/tag347.xml"/><Relationship Id="rId19" Type="http://schemas.openxmlformats.org/officeDocument/2006/relationships/tags" Target="../tags/tag356.xml"/><Relationship Id="rId31" Type="http://schemas.openxmlformats.org/officeDocument/2006/relationships/tags" Target="../tags/tag368.xml"/><Relationship Id="rId44" Type="http://schemas.openxmlformats.org/officeDocument/2006/relationships/slideLayout" Target="../slideLayouts/slideLayout2.xml"/><Relationship Id="rId4" Type="http://schemas.openxmlformats.org/officeDocument/2006/relationships/tags" Target="../tags/tag341.xml"/><Relationship Id="rId9" Type="http://schemas.openxmlformats.org/officeDocument/2006/relationships/tags" Target="../tags/tag346.xml"/><Relationship Id="rId14" Type="http://schemas.openxmlformats.org/officeDocument/2006/relationships/tags" Target="../tags/tag351.xml"/><Relationship Id="rId22" Type="http://schemas.openxmlformats.org/officeDocument/2006/relationships/tags" Target="../tags/tag359.xml"/><Relationship Id="rId27" Type="http://schemas.openxmlformats.org/officeDocument/2006/relationships/tags" Target="../tags/tag364.xml"/><Relationship Id="rId30" Type="http://schemas.openxmlformats.org/officeDocument/2006/relationships/tags" Target="../tags/tag367.xml"/><Relationship Id="rId35" Type="http://schemas.openxmlformats.org/officeDocument/2006/relationships/tags" Target="../tags/tag372.xml"/><Relationship Id="rId43" Type="http://schemas.openxmlformats.org/officeDocument/2006/relationships/tags" Target="../tags/tag380.xml"/><Relationship Id="rId8" Type="http://schemas.openxmlformats.org/officeDocument/2006/relationships/tags" Target="../tags/tag345.xml"/><Relationship Id="rId3" Type="http://schemas.openxmlformats.org/officeDocument/2006/relationships/tags" Target="../tags/tag340.xml"/><Relationship Id="rId12" Type="http://schemas.openxmlformats.org/officeDocument/2006/relationships/tags" Target="../tags/tag349.xml"/><Relationship Id="rId17" Type="http://schemas.openxmlformats.org/officeDocument/2006/relationships/tags" Target="../tags/tag354.xml"/><Relationship Id="rId25" Type="http://schemas.openxmlformats.org/officeDocument/2006/relationships/tags" Target="../tags/tag362.xml"/><Relationship Id="rId33" Type="http://schemas.openxmlformats.org/officeDocument/2006/relationships/tags" Target="../tags/tag370.xml"/><Relationship Id="rId38" Type="http://schemas.openxmlformats.org/officeDocument/2006/relationships/tags" Target="../tags/tag375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tags" Target="../tags/tag393.xml"/><Relationship Id="rId18" Type="http://schemas.openxmlformats.org/officeDocument/2006/relationships/tags" Target="../tags/tag398.xml"/><Relationship Id="rId26" Type="http://schemas.openxmlformats.org/officeDocument/2006/relationships/tags" Target="../tags/tag406.xml"/><Relationship Id="rId39" Type="http://schemas.openxmlformats.org/officeDocument/2006/relationships/tags" Target="../tags/tag419.xml"/><Relationship Id="rId21" Type="http://schemas.openxmlformats.org/officeDocument/2006/relationships/tags" Target="../tags/tag401.xml"/><Relationship Id="rId34" Type="http://schemas.openxmlformats.org/officeDocument/2006/relationships/tags" Target="../tags/tag414.xml"/><Relationship Id="rId42" Type="http://schemas.openxmlformats.org/officeDocument/2006/relationships/tags" Target="../tags/tag422.xml"/><Relationship Id="rId7" Type="http://schemas.openxmlformats.org/officeDocument/2006/relationships/tags" Target="../tags/tag387.xml"/><Relationship Id="rId2" Type="http://schemas.openxmlformats.org/officeDocument/2006/relationships/tags" Target="../tags/tag382.xml"/><Relationship Id="rId16" Type="http://schemas.openxmlformats.org/officeDocument/2006/relationships/tags" Target="../tags/tag396.xml"/><Relationship Id="rId20" Type="http://schemas.openxmlformats.org/officeDocument/2006/relationships/tags" Target="../tags/tag400.xml"/><Relationship Id="rId29" Type="http://schemas.openxmlformats.org/officeDocument/2006/relationships/tags" Target="../tags/tag409.xml"/><Relationship Id="rId41" Type="http://schemas.openxmlformats.org/officeDocument/2006/relationships/tags" Target="../tags/tag421.xml"/><Relationship Id="rId1" Type="http://schemas.openxmlformats.org/officeDocument/2006/relationships/tags" Target="../tags/tag381.xml"/><Relationship Id="rId6" Type="http://schemas.openxmlformats.org/officeDocument/2006/relationships/tags" Target="../tags/tag386.xml"/><Relationship Id="rId11" Type="http://schemas.openxmlformats.org/officeDocument/2006/relationships/tags" Target="../tags/tag391.xml"/><Relationship Id="rId24" Type="http://schemas.openxmlformats.org/officeDocument/2006/relationships/tags" Target="../tags/tag404.xml"/><Relationship Id="rId32" Type="http://schemas.openxmlformats.org/officeDocument/2006/relationships/tags" Target="../tags/tag412.xml"/><Relationship Id="rId37" Type="http://schemas.openxmlformats.org/officeDocument/2006/relationships/tags" Target="../tags/tag417.xml"/><Relationship Id="rId40" Type="http://schemas.openxmlformats.org/officeDocument/2006/relationships/tags" Target="../tags/tag420.xml"/><Relationship Id="rId5" Type="http://schemas.openxmlformats.org/officeDocument/2006/relationships/tags" Target="../tags/tag385.xml"/><Relationship Id="rId15" Type="http://schemas.openxmlformats.org/officeDocument/2006/relationships/tags" Target="../tags/tag395.xml"/><Relationship Id="rId23" Type="http://schemas.openxmlformats.org/officeDocument/2006/relationships/tags" Target="../tags/tag403.xml"/><Relationship Id="rId28" Type="http://schemas.openxmlformats.org/officeDocument/2006/relationships/tags" Target="../tags/tag408.xml"/><Relationship Id="rId36" Type="http://schemas.openxmlformats.org/officeDocument/2006/relationships/tags" Target="../tags/tag416.xml"/><Relationship Id="rId10" Type="http://schemas.openxmlformats.org/officeDocument/2006/relationships/tags" Target="../tags/tag390.xml"/><Relationship Id="rId19" Type="http://schemas.openxmlformats.org/officeDocument/2006/relationships/tags" Target="../tags/tag399.xml"/><Relationship Id="rId31" Type="http://schemas.openxmlformats.org/officeDocument/2006/relationships/tags" Target="../tags/tag411.xml"/><Relationship Id="rId4" Type="http://schemas.openxmlformats.org/officeDocument/2006/relationships/tags" Target="../tags/tag384.xml"/><Relationship Id="rId9" Type="http://schemas.openxmlformats.org/officeDocument/2006/relationships/tags" Target="../tags/tag389.xml"/><Relationship Id="rId14" Type="http://schemas.openxmlformats.org/officeDocument/2006/relationships/tags" Target="../tags/tag394.xml"/><Relationship Id="rId22" Type="http://schemas.openxmlformats.org/officeDocument/2006/relationships/tags" Target="../tags/tag402.xml"/><Relationship Id="rId27" Type="http://schemas.openxmlformats.org/officeDocument/2006/relationships/tags" Target="../tags/tag407.xml"/><Relationship Id="rId30" Type="http://schemas.openxmlformats.org/officeDocument/2006/relationships/tags" Target="../tags/tag410.xml"/><Relationship Id="rId35" Type="http://schemas.openxmlformats.org/officeDocument/2006/relationships/tags" Target="../tags/tag415.xml"/><Relationship Id="rId43" Type="http://schemas.openxmlformats.org/officeDocument/2006/relationships/slideLayout" Target="../slideLayouts/slideLayout2.xml"/><Relationship Id="rId8" Type="http://schemas.openxmlformats.org/officeDocument/2006/relationships/tags" Target="../tags/tag388.xml"/><Relationship Id="rId3" Type="http://schemas.openxmlformats.org/officeDocument/2006/relationships/tags" Target="../tags/tag383.xml"/><Relationship Id="rId12" Type="http://schemas.openxmlformats.org/officeDocument/2006/relationships/tags" Target="../tags/tag392.xml"/><Relationship Id="rId17" Type="http://schemas.openxmlformats.org/officeDocument/2006/relationships/tags" Target="../tags/tag397.xml"/><Relationship Id="rId25" Type="http://schemas.openxmlformats.org/officeDocument/2006/relationships/tags" Target="../tags/tag405.xml"/><Relationship Id="rId33" Type="http://schemas.openxmlformats.org/officeDocument/2006/relationships/tags" Target="../tags/tag413.xml"/><Relationship Id="rId38" Type="http://schemas.openxmlformats.org/officeDocument/2006/relationships/tags" Target="../tags/tag418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tags" Target="../tags/tag435.xml"/><Relationship Id="rId18" Type="http://schemas.openxmlformats.org/officeDocument/2006/relationships/tags" Target="../tags/tag440.xml"/><Relationship Id="rId26" Type="http://schemas.openxmlformats.org/officeDocument/2006/relationships/tags" Target="../tags/tag448.xml"/><Relationship Id="rId39" Type="http://schemas.openxmlformats.org/officeDocument/2006/relationships/tags" Target="../tags/tag461.xml"/><Relationship Id="rId21" Type="http://schemas.openxmlformats.org/officeDocument/2006/relationships/tags" Target="../tags/tag443.xml"/><Relationship Id="rId34" Type="http://schemas.openxmlformats.org/officeDocument/2006/relationships/tags" Target="../tags/tag456.xml"/><Relationship Id="rId42" Type="http://schemas.openxmlformats.org/officeDocument/2006/relationships/tags" Target="../tags/tag464.xml"/><Relationship Id="rId7" Type="http://schemas.openxmlformats.org/officeDocument/2006/relationships/tags" Target="../tags/tag429.xml"/><Relationship Id="rId2" Type="http://schemas.openxmlformats.org/officeDocument/2006/relationships/tags" Target="../tags/tag424.xml"/><Relationship Id="rId16" Type="http://schemas.openxmlformats.org/officeDocument/2006/relationships/tags" Target="../tags/tag438.xml"/><Relationship Id="rId20" Type="http://schemas.openxmlformats.org/officeDocument/2006/relationships/tags" Target="../tags/tag442.xml"/><Relationship Id="rId29" Type="http://schemas.openxmlformats.org/officeDocument/2006/relationships/tags" Target="../tags/tag451.xml"/><Relationship Id="rId41" Type="http://schemas.openxmlformats.org/officeDocument/2006/relationships/tags" Target="../tags/tag463.xml"/><Relationship Id="rId1" Type="http://schemas.openxmlformats.org/officeDocument/2006/relationships/tags" Target="../tags/tag423.xml"/><Relationship Id="rId6" Type="http://schemas.openxmlformats.org/officeDocument/2006/relationships/tags" Target="../tags/tag428.xml"/><Relationship Id="rId11" Type="http://schemas.openxmlformats.org/officeDocument/2006/relationships/tags" Target="../tags/tag433.xml"/><Relationship Id="rId24" Type="http://schemas.openxmlformats.org/officeDocument/2006/relationships/tags" Target="../tags/tag446.xml"/><Relationship Id="rId32" Type="http://schemas.openxmlformats.org/officeDocument/2006/relationships/tags" Target="../tags/tag454.xml"/><Relationship Id="rId37" Type="http://schemas.openxmlformats.org/officeDocument/2006/relationships/tags" Target="../tags/tag459.xml"/><Relationship Id="rId40" Type="http://schemas.openxmlformats.org/officeDocument/2006/relationships/tags" Target="../tags/tag462.xml"/><Relationship Id="rId5" Type="http://schemas.openxmlformats.org/officeDocument/2006/relationships/tags" Target="../tags/tag427.xml"/><Relationship Id="rId15" Type="http://schemas.openxmlformats.org/officeDocument/2006/relationships/tags" Target="../tags/tag437.xml"/><Relationship Id="rId23" Type="http://schemas.openxmlformats.org/officeDocument/2006/relationships/tags" Target="../tags/tag445.xml"/><Relationship Id="rId28" Type="http://schemas.openxmlformats.org/officeDocument/2006/relationships/tags" Target="../tags/tag450.xml"/><Relationship Id="rId36" Type="http://schemas.openxmlformats.org/officeDocument/2006/relationships/tags" Target="../tags/tag458.xml"/><Relationship Id="rId10" Type="http://schemas.openxmlformats.org/officeDocument/2006/relationships/tags" Target="../tags/tag432.xml"/><Relationship Id="rId19" Type="http://schemas.openxmlformats.org/officeDocument/2006/relationships/tags" Target="../tags/tag441.xml"/><Relationship Id="rId31" Type="http://schemas.openxmlformats.org/officeDocument/2006/relationships/tags" Target="../tags/tag453.xml"/><Relationship Id="rId4" Type="http://schemas.openxmlformats.org/officeDocument/2006/relationships/tags" Target="../tags/tag426.xml"/><Relationship Id="rId9" Type="http://schemas.openxmlformats.org/officeDocument/2006/relationships/tags" Target="../tags/tag431.xml"/><Relationship Id="rId14" Type="http://schemas.openxmlformats.org/officeDocument/2006/relationships/tags" Target="../tags/tag436.xml"/><Relationship Id="rId22" Type="http://schemas.openxmlformats.org/officeDocument/2006/relationships/tags" Target="../tags/tag444.xml"/><Relationship Id="rId27" Type="http://schemas.openxmlformats.org/officeDocument/2006/relationships/tags" Target="../tags/tag449.xml"/><Relationship Id="rId30" Type="http://schemas.openxmlformats.org/officeDocument/2006/relationships/tags" Target="../tags/tag452.xml"/><Relationship Id="rId35" Type="http://schemas.openxmlformats.org/officeDocument/2006/relationships/tags" Target="../tags/tag457.xml"/><Relationship Id="rId43" Type="http://schemas.openxmlformats.org/officeDocument/2006/relationships/slideLayout" Target="../slideLayouts/slideLayout2.xml"/><Relationship Id="rId8" Type="http://schemas.openxmlformats.org/officeDocument/2006/relationships/tags" Target="../tags/tag430.xml"/><Relationship Id="rId3" Type="http://schemas.openxmlformats.org/officeDocument/2006/relationships/tags" Target="../tags/tag425.xml"/><Relationship Id="rId12" Type="http://schemas.openxmlformats.org/officeDocument/2006/relationships/tags" Target="../tags/tag434.xml"/><Relationship Id="rId17" Type="http://schemas.openxmlformats.org/officeDocument/2006/relationships/tags" Target="../tags/tag439.xml"/><Relationship Id="rId25" Type="http://schemas.openxmlformats.org/officeDocument/2006/relationships/tags" Target="../tags/tag447.xml"/><Relationship Id="rId33" Type="http://schemas.openxmlformats.org/officeDocument/2006/relationships/tags" Target="../tags/tag455.xml"/><Relationship Id="rId38" Type="http://schemas.openxmlformats.org/officeDocument/2006/relationships/tags" Target="../tags/tag460.xm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tags" Target="../tags/tag477.xml"/><Relationship Id="rId18" Type="http://schemas.openxmlformats.org/officeDocument/2006/relationships/tags" Target="../tags/tag482.xml"/><Relationship Id="rId26" Type="http://schemas.openxmlformats.org/officeDocument/2006/relationships/tags" Target="../tags/tag490.xml"/><Relationship Id="rId39" Type="http://schemas.openxmlformats.org/officeDocument/2006/relationships/tags" Target="../tags/tag503.xml"/><Relationship Id="rId21" Type="http://schemas.openxmlformats.org/officeDocument/2006/relationships/tags" Target="../tags/tag485.xml"/><Relationship Id="rId34" Type="http://schemas.openxmlformats.org/officeDocument/2006/relationships/tags" Target="../tags/tag498.xml"/><Relationship Id="rId7" Type="http://schemas.openxmlformats.org/officeDocument/2006/relationships/tags" Target="../tags/tag471.xml"/><Relationship Id="rId2" Type="http://schemas.openxmlformats.org/officeDocument/2006/relationships/tags" Target="../tags/tag466.xml"/><Relationship Id="rId16" Type="http://schemas.openxmlformats.org/officeDocument/2006/relationships/tags" Target="../tags/tag480.xml"/><Relationship Id="rId20" Type="http://schemas.openxmlformats.org/officeDocument/2006/relationships/tags" Target="../tags/tag484.xml"/><Relationship Id="rId29" Type="http://schemas.openxmlformats.org/officeDocument/2006/relationships/tags" Target="../tags/tag493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465.xml"/><Relationship Id="rId6" Type="http://schemas.openxmlformats.org/officeDocument/2006/relationships/tags" Target="../tags/tag470.xml"/><Relationship Id="rId11" Type="http://schemas.openxmlformats.org/officeDocument/2006/relationships/tags" Target="../tags/tag475.xml"/><Relationship Id="rId24" Type="http://schemas.openxmlformats.org/officeDocument/2006/relationships/tags" Target="../tags/tag488.xml"/><Relationship Id="rId32" Type="http://schemas.openxmlformats.org/officeDocument/2006/relationships/tags" Target="../tags/tag496.xml"/><Relationship Id="rId37" Type="http://schemas.openxmlformats.org/officeDocument/2006/relationships/tags" Target="../tags/tag501.xml"/><Relationship Id="rId40" Type="http://schemas.openxmlformats.org/officeDocument/2006/relationships/tags" Target="../tags/tag504.xml"/><Relationship Id="rId5" Type="http://schemas.openxmlformats.org/officeDocument/2006/relationships/tags" Target="../tags/tag469.xml"/><Relationship Id="rId15" Type="http://schemas.openxmlformats.org/officeDocument/2006/relationships/tags" Target="../tags/tag479.xml"/><Relationship Id="rId23" Type="http://schemas.openxmlformats.org/officeDocument/2006/relationships/tags" Target="../tags/tag487.xml"/><Relationship Id="rId28" Type="http://schemas.openxmlformats.org/officeDocument/2006/relationships/tags" Target="../tags/tag492.xml"/><Relationship Id="rId36" Type="http://schemas.openxmlformats.org/officeDocument/2006/relationships/tags" Target="../tags/tag500.xml"/><Relationship Id="rId10" Type="http://schemas.openxmlformats.org/officeDocument/2006/relationships/tags" Target="../tags/tag474.xml"/><Relationship Id="rId19" Type="http://schemas.openxmlformats.org/officeDocument/2006/relationships/tags" Target="../tags/tag483.xml"/><Relationship Id="rId31" Type="http://schemas.openxmlformats.org/officeDocument/2006/relationships/tags" Target="../tags/tag495.xml"/><Relationship Id="rId4" Type="http://schemas.openxmlformats.org/officeDocument/2006/relationships/tags" Target="../tags/tag468.xml"/><Relationship Id="rId9" Type="http://schemas.openxmlformats.org/officeDocument/2006/relationships/tags" Target="../tags/tag473.xml"/><Relationship Id="rId14" Type="http://schemas.openxmlformats.org/officeDocument/2006/relationships/tags" Target="../tags/tag478.xml"/><Relationship Id="rId22" Type="http://schemas.openxmlformats.org/officeDocument/2006/relationships/tags" Target="../tags/tag486.xml"/><Relationship Id="rId27" Type="http://schemas.openxmlformats.org/officeDocument/2006/relationships/tags" Target="../tags/tag491.xml"/><Relationship Id="rId30" Type="http://schemas.openxmlformats.org/officeDocument/2006/relationships/tags" Target="../tags/tag494.xml"/><Relationship Id="rId35" Type="http://schemas.openxmlformats.org/officeDocument/2006/relationships/tags" Target="../tags/tag499.xml"/><Relationship Id="rId8" Type="http://schemas.openxmlformats.org/officeDocument/2006/relationships/tags" Target="../tags/tag472.xml"/><Relationship Id="rId3" Type="http://schemas.openxmlformats.org/officeDocument/2006/relationships/tags" Target="../tags/tag467.xml"/><Relationship Id="rId12" Type="http://schemas.openxmlformats.org/officeDocument/2006/relationships/tags" Target="../tags/tag476.xml"/><Relationship Id="rId17" Type="http://schemas.openxmlformats.org/officeDocument/2006/relationships/tags" Target="../tags/tag481.xml"/><Relationship Id="rId25" Type="http://schemas.openxmlformats.org/officeDocument/2006/relationships/tags" Target="../tags/tag489.xml"/><Relationship Id="rId33" Type="http://schemas.openxmlformats.org/officeDocument/2006/relationships/tags" Target="../tags/tag497.xml"/><Relationship Id="rId38" Type="http://schemas.openxmlformats.org/officeDocument/2006/relationships/tags" Target="../tags/tag50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06.xml"/><Relationship Id="rId1" Type="http://schemas.openxmlformats.org/officeDocument/2006/relationships/tags" Target="../tags/tag5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3794125" y="1800860"/>
            <a:ext cx="4603750" cy="554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sz="4000" cap="all">
                <a:solidFill>
                  <a:srgbClr val="38ABE3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宋韵朗黑W"/>
              </a:rPr>
              <a:t>第一章 运动的描述</a:t>
            </a: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1591310" y="2959735"/>
            <a:ext cx="9093835" cy="1325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/>
            <a:r>
              <a:rPr lang="zh-CN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1.4 速度变化快慢的描述—加速度</a:t>
            </a: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212090" y="245110"/>
            <a:ext cx="3735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38ABE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人教版</a:t>
            </a:r>
            <a:r>
              <a:rPr lang="en-US" altLang="zh-CN" sz="2000">
                <a:solidFill>
                  <a:srgbClr val="38ABE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(2019)</a:t>
            </a:r>
            <a:r>
              <a:rPr lang="zh-CN" altLang="en-US" sz="2000">
                <a:solidFill>
                  <a:srgbClr val="38ABE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必修 第一册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179570" y="1863090"/>
            <a:ext cx="3832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cap="all">
                <a:solidFill>
                  <a:srgbClr val="38ABE3">
                    <a:alpha val="12000"/>
                  </a:srgbClr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conclusion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5095240" y="2211705"/>
            <a:ext cx="2001520" cy="488950"/>
          </a:xfrm>
          <a:prstGeom prst="roundRect">
            <a:avLst>
              <a:gd name="adj" fmla="val 50000"/>
            </a:avLst>
          </a:prstGeom>
          <a:solidFill>
            <a:srgbClr val="38A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4179570" y="3022600"/>
            <a:ext cx="38912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/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新课引入</a:t>
            </a: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5526405" y="2211705"/>
            <a:ext cx="119316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01</a:t>
            </a:r>
          </a:p>
        </p:txBody>
      </p:sp>
      <p:pic>
        <p:nvPicPr>
          <p:cNvPr id="3" name="Picture 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8"/>
          <a:stretch>
            <a:fillRect/>
          </a:stretch>
        </p:blipFill>
        <p:spPr>
          <a:xfrm flipH="1">
            <a:off x="12585700" y="11442700"/>
            <a:ext cx="0" cy="0"/>
          </a:xfrm>
          <a:prstGeom prst="rect">
            <a:avLst/>
          </a:prstGeom>
          <a:ln>
            <a:noFill/>
          </a:ln>
        </p:spPr>
      </p:pic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观看视频</a:t>
            </a:r>
          </a:p>
        </p:txBody>
      </p:sp>
      <p:pic>
        <p:nvPicPr>
          <p:cNvPr id="4" name="汽车加速">
            <a:hlinkClick r:id="" action="ppaction://media"/>
          </p:cNvPr>
          <p:cNvPicPr/>
          <p:nvPr>
            <a:videoFile r:link="rId3"/>
            <p:custDataLst>
              <p:tags r:id="rId4"/>
            </p:custDataLst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87680" y="902335"/>
            <a:ext cx="11216640" cy="54864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45770" y="1114425"/>
            <a:ext cx="11287125" cy="4533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    </a:t>
            </a:r>
            <a:r>
              <a:rPr lang="zh-CN"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灰色汽车</a:t>
            </a:r>
            <a:r>
              <a:rPr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在</a:t>
            </a:r>
            <a:r>
              <a:rPr lang="en-US"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10.9s</a:t>
            </a:r>
            <a:r>
              <a:rPr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内，速度从</a:t>
            </a:r>
            <a:r>
              <a:rPr lang="en-US"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达到</a:t>
            </a:r>
            <a:r>
              <a:rPr lang="en-US"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60</a:t>
            </a:r>
            <a:r>
              <a:rPr lang="en-US" sz="36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m/s</a:t>
            </a:r>
            <a:r>
              <a:rPr lang="zh-CN"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，绿色汽车</a:t>
            </a:r>
            <a:r>
              <a:rPr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在</a:t>
            </a:r>
            <a:r>
              <a:rPr lang="en-US"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11.4</a:t>
            </a:r>
            <a:r>
              <a:rPr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s内速度也从</a:t>
            </a:r>
            <a:r>
              <a:rPr lang="en-US"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达到</a:t>
            </a:r>
            <a:r>
              <a:rPr lang="en-US"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6</a:t>
            </a:r>
            <a:r>
              <a:rPr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sz="36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m/s</a:t>
            </a:r>
            <a:r>
              <a:rPr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。虽然</a:t>
            </a:r>
            <a:r>
              <a:rPr lang="zh-CN"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灰色</a:t>
            </a:r>
            <a:r>
              <a:rPr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和</a:t>
            </a:r>
            <a:r>
              <a:rPr lang="zh-CN"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绿色汽车</a:t>
            </a:r>
            <a:r>
              <a:rPr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速度都从0达到</a:t>
            </a:r>
            <a:r>
              <a:rPr lang="en-US"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6</a:t>
            </a:r>
            <a:r>
              <a:rPr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0</a:t>
            </a:r>
            <a:r>
              <a:rPr sz="36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m/s</a:t>
            </a:r>
            <a:r>
              <a:rPr sz="36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，但是它们的运动情况显然不同。你觉得用“速度大”或“速度变化大”能描述这种不同吗？如果不能，应该怎样描述呢？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179570" y="1863090"/>
            <a:ext cx="3832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cap="all">
                <a:solidFill>
                  <a:srgbClr val="38ABE3">
                    <a:alpha val="12000"/>
                  </a:srgbClr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conclusion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5095240" y="2211705"/>
            <a:ext cx="2001520" cy="488950"/>
          </a:xfrm>
          <a:prstGeom prst="roundRect">
            <a:avLst>
              <a:gd name="adj" fmla="val 50000"/>
            </a:avLst>
          </a:prstGeom>
          <a:solidFill>
            <a:srgbClr val="38A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3169285" y="3022600"/>
            <a:ext cx="5908040" cy="781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/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加速度</a:t>
            </a: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5526405" y="2211705"/>
            <a:ext cx="119316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02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586740" y="4098290"/>
            <a:ext cx="10743565" cy="1285875"/>
          </a:xfrm>
          <a:prstGeom prst="rect">
            <a:avLst/>
          </a:prstGeom>
          <a:solidFill>
            <a:srgbClr val="CADFFF"/>
          </a:solidFill>
        </p:spPr>
        <p:txBody>
          <a:bodyPr wrap="square" rtlCol="0">
            <a:noAutofit/>
          </a:bodyPr>
          <a:lstStyle/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586740" y="3429000"/>
            <a:ext cx="10743565" cy="1285875"/>
          </a:xfrm>
          <a:prstGeom prst="rect">
            <a:avLst/>
          </a:prstGeom>
          <a:solidFill>
            <a:srgbClr val="CADFFF"/>
          </a:solidFill>
        </p:spPr>
        <p:txBody>
          <a:bodyPr wrap="square" rtlCol="0">
            <a:noAutofit/>
          </a:bodyPr>
          <a:lstStyle/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86105" y="2785745"/>
            <a:ext cx="10743565" cy="1285875"/>
          </a:xfrm>
          <a:prstGeom prst="rect">
            <a:avLst/>
          </a:prstGeom>
          <a:solidFill>
            <a:srgbClr val="CADFFF"/>
          </a:solidFill>
        </p:spPr>
        <p:txBody>
          <a:bodyPr wrap="square" rtlCol="0">
            <a:noAutofit/>
          </a:bodyPr>
          <a:lstStyle/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  <a:p>
            <a:pPr algn="l"/>
            <a:endParaRPr lang="zh-CN" altLang="en-US" sz="1400">
              <a:latin typeface="思源黑体 CN Light" panose="020B0400000000000000" pitchFamily="34" charset="-122"/>
              <a:ea typeface="思源黑体 CN Light" panose="020B0400000000000000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graphicFrame>
        <p:nvGraphicFramePr>
          <p:cNvPr id="4099" name="表格 4098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586105" y="1818640"/>
          <a:ext cx="10744200" cy="3584575"/>
        </p:xfrm>
        <a:graphic>
          <a:graphicData uri="http://schemas.openxmlformats.org/drawingml/2006/table">
            <a:tbl>
              <a:tblPr/>
              <a:tblGrid>
                <a:gridCol w="2843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5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zh-CN" altLang="en-US" sz="2800" b="1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初速度</a:t>
                      </a: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800" b="1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v</a:t>
                      </a:r>
                      <a:r>
                        <a:rPr lang="en-US" altLang="zh-CN" sz="2800" b="1" baseline="-2500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0</a:t>
                      </a: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/m.s</a:t>
                      </a:r>
                      <a:r>
                        <a:rPr lang="en-US" altLang="zh-CN" sz="2800" b="1" baseline="3000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-1</a:t>
                      </a:r>
                      <a:endParaRPr lang="zh-CN" altLang="en-US" sz="2800" b="1" baseline="30000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经过时间</a:t>
                      </a:r>
                    </a:p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∆t</a:t>
                      </a: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/s</a:t>
                      </a:r>
                      <a:endParaRPr lang="zh-CN" altLang="en-US" sz="2800" b="1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末速度</a:t>
                      </a: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800" b="1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v</a:t>
                      </a:r>
                      <a:r>
                        <a:rPr lang="en-US" altLang="zh-CN" sz="2800" b="1" baseline="-2500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t</a:t>
                      </a: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/m.s</a:t>
                      </a:r>
                      <a:r>
                        <a:rPr lang="en-US" altLang="zh-CN" sz="2800" b="1" baseline="3000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-1</a:t>
                      </a:r>
                      <a:endParaRPr lang="zh-CN" altLang="en-US" sz="2800" b="1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A. </a:t>
                      </a: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自行车下坡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11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B. </a:t>
                      </a: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公共汽车出站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6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C. </a:t>
                      </a: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某舰艇出航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20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6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D. </a:t>
                      </a: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火车出站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100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20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230505" y="1141095"/>
            <a:ext cx="11490325" cy="677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  <a:sym typeface="+mn-ea"/>
              </a:rPr>
              <a:t>(1)</a:t>
            </a:r>
            <a:r>
              <a:rPr kumimoji="1" lang="zh-CN" altLang="en-US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  <a:sym typeface="+mn-ea"/>
              </a:rPr>
              <a:t>下列物体的运动速度变化，谁变化大？谁的速度变化的快？如何比较？</a:t>
            </a:r>
          </a:p>
        </p:txBody>
      </p:sp>
      <p:sp>
        <p:nvSpPr>
          <p:cNvPr id="8230" name="文本框 8229"/>
          <p:cNvSpPr txBox="1"/>
          <p:nvPr>
            <p:custDataLst>
              <p:tags r:id="rId7"/>
            </p:custDataLst>
          </p:nvPr>
        </p:nvSpPr>
        <p:spPr>
          <a:xfrm>
            <a:off x="2846705" y="5723255"/>
            <a:ext cx="6339205" cy="5664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algn="ctr"/>
            <a:r>
              <a:rPr lang="zh-CN" altLang="en-US" sz="3200">
                <a:solidFill>
                  <a:srgbClr val="0C76B2"/>
                </a:solidFill>
                <a:uFillTx/>
                <a:latin typeface="黑体" panose="02010609060101010101" charset="-122"/>
                <a:ea typeface="黑体" panose="02010609060101010101" charset="-122"/>
              </a:rPr>
              <a:t>比较单位时间内速度变化量的大小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1" grpId="1" animBg="1"/>
      <p:bldP spid="5" grpId="0" animBg="1"/>
      <p:bldP spid="5" grpId="1" animBg="1"/>
      <p:bldP spid="82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4291013" y="909003"/>
            <a:ext cx="3540125" cy="1836737"/>
            <a:chOff x="7340868" y="4046217"/>
            <a:chExt cx="3540154" cy="1837189"/>
          </a:xfrm>
        </p:grpSpPr>
        <p:sp>
          <p:nvSpPr>
            <p:cNvPr id="7" name="爆炸形 1 6"/>
            <p:cNvSpPr/>
            <p:nvPr>
              <p:custDataLst>
                <p:tags r:id="rId17"/>
              </p:custDataLst>
            </p:nvPr>
          </p:nvSpPr>
          <p:spPr>
            <a:xfrm>
              <a:off x="7340868" y="4046217"/>
              <a:ext cx="3540154" cy="1837189"/>
            </a:xfrm>
            <a:prstGeom prst="irregularSeal1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 eaLnBrk="1" fontAlgn="auto" hangingPunct="1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1791" name="矩形 5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>
            <a:xfrm>
              <a:off x="8120543" y="4572682"/>
              <a:ext cx="2055303" cy="768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lnSpc>
                  <a:spcPct val="130000"/>
                </a:lnSpc>
                <a:spcAft>
                  <a:spcPts val="1000"/>
                </a:spcAft>
                <a:buFont typeface="Arial" panose="020B0604020202020204" pitchFamily="34" charset="0"/>
                <a:buChar char="●"/>
                <a:defRPr sz="1800" kern="120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●"/>
                <a:tabLst>
                  <a:tab pos="1609725" algn="l"/>
                </a:tabLst>
                <a:defRPr sz="1600" kern="120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●"/>
                <a:defRPr sz="1600" kern="120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Aft>
                  <a:spcPts val="300"/>
                </a:spcAft>
                <a:buFont typeface="Wingdings" panose="05000000000000000000" pitchFamily="2" charset="2"/>
                <a:buChar char=""/>
                <a:defRPr sz="1400" kern="120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5pPr>
              <a:lvl6pPr marL="2514600" indent="-22860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6pPr>
              <a:lvl7pPr marL="2971800" indent="-22860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7pPr>
              <a:lvl8pPr marL="3429000" indent="-22860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400" kern="120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cs typeface="+mn-cs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  <a:defRPr sz="140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r>
                <a:rPr lang="zh-CN" altLang="en-US" sz="4400">
                  <a:solidFill>
                    <a:srgbClr val="0C76B2"/>
                  </a:solidFill>
                  <a:latin typeface="黑体" panose="02010609060101010101" charset="-122"/>
                  <a:ea typeface="黑体" panose="02010609060101010101" charset="-122"/>
                  <a:cs typeface="Arial" panose="020B0604020202020204" pitchFamily="34" charset="0"/>
                </a:rPr>
                <a:t>加速度</a:t>
              </a:r>
            </a:p>
          </p:txBody>
        </p:sp>
      </p:grpSp>
      <p:sp>
        <p:nvSpPr>
          <p:cNvPr id="13" name="空心弧 12"/>
          <p:cNvSpPr/>
          <p:nvPr>
            <p:custDataLst>
              <p:tags r:id="rId2"/>
            </p:custDataLst>
          </p:nvPr>
        </p:nvSpPr>
        <p:spPr>
          <a:xfrm>
            <a:off x="1667377" y="2472967"/>
            <a:ext cx="3125166" cy="3125166"/>
          </a:xfrm>
          <a:prstGeom prst="blockArc">
            <a:avLst>
              <a:gd name="adj1" fmla="val 9000000"/>
              <a:gd name="adj2" fmla="val 16200000"/>
              <a:gd name="adj3" fmla="val 4644"/>
            </a:avLst>
          </a:prstGeom>
          <a:solidFill>
            <a:schemeClr val="accent2">
              <a:lumMod val="40000"/>
              <a:lumOff val="6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5pPr>
            <a:lvl6pPr marL="25146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6pPr>
            <a:lvl7pPr marL="29718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7pPr>
            <a:lvl8pPr marL="34290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8pPr>
            <a:lvl9pPr marL="38862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Arial"/>
                <a:sym typeface="Wingdings" panose="05000000000000000000" charset="0"/>
              </a:defRPr>
            </a:lvl9pPr>
          </a:lstStyle>
          <a:p>
            <a:pPr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4" name="空心弧 13"/>
          <p:cNvSpPr/>
          <p:nvPr>
            <p:custDataLst>
              <p:tags r:id="rId3"/>
            </p:custDataLst>
          </p:nvPr>
        </p:nvSpPr>
        <p:spPr>
          <a:xfrm>
            <a:off x="1681982" y="2485032"/>
            <a:ext cx="3125166" cy="3125166"/>
          </a:xfrm>
          <a:prstGeom prst="blockArc">
            <a:avLst>
              <a:gd name="adj1" fmla="val 1800000"/>
              <a:gd name="adj2" fmla="val 9000000"/>
              <a:gd name="adj3" fmla="val 4644"/>
            </a:avLst>
          </a:prstGeom>
          <a:solidFill>
            <a:schemeClr val="accent2">
              <a:lumMod val="40000"/>
              <a:lumOff val="6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5pPr>
            <a:lvl6pPr marL="25146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6pPr>
            <a:lvl7pPr marL="29718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7pPr>
            <a:lvl8pPr marL="34290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8pPr>
            <a:lvl9pPr marL="38862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Arial"/>
                <a:sym typeface="Wingdings" panose="05000000000000000000" charset="0"/>
              </a:defRPr>
            </a:lvl9pPr>
          </a:lstStyle>
          <a:p>
            <a:pPr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5" name="空心弧 14"/>
          <p:cNvSpPr/>
          <p:nvPr>
            <p:custDataLst>
              <p:tags r:id="rId4"/>
            </p:custDataLst>
          </p:nvPr>
        </p:nvSpPr>
        <p:spPr>
          <a:xfrm>
            <a:off x="1692142" y="2472967"/>
            <a:ext cx="3125166" cy="3125166"/>
          </a:xfrm>
          <a:prstGeom prst="blockArc">
            <a:avLst>
              <a:gd name="adj1" fmla="val 16200000"/>
              <a:gd name="adj2" fmla="val 1800000"/>
              <a:gd name="adj3" fmla="val 4644"/>
            </a:avLst>
          </a:prstGeom>
          <a:solidFill>
            <a:schemeClr val="accent2">
              <a:lumMod val="40000"/>
              <a:lumOff val="6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5pPr>
            <a:lvl6pPr marL="25146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6pPr>
            <a:lvl7pPr marL="29718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7pPr>
            <a:lvl8pPr marL="34290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8pPr>
            <a:lvl9pPr marL="38862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Arial"/>
                <a:sym typeface="Wingdings" panose="05000000000000000000" charset="0"/>
              </a:defRPr>
            </a:lvl9pPr>
          </a:lstStyle>
          <a:p>
            <a:pPr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6" name="任意多边形 15"/>
          <p:cNvSpPr/>
          <p:nvPr>
            <p:custDataLst>
              <p:tags r:id="rId5"/>
            </p:custDataLst>
          </p:nvPr>
        </p:nvSpPr>
        <p:spPr>
          <a:xfrm>
            <a:off x="2689327" y="3429512"/>
            <a:ext cx="1079996" cy="1079996"/>
          </a:xfrm>
          <a:custGeom>
            <a:avLst/>
            <a:gdLst>
              <a:gd name="connsiteX0" fmla="*/ 0 w 1079996"/>
              <a:gd name="connsiteY0" fmla="*/ 539998 h 1079996"/>
              <a:gd name="connsiteX1" fmla="*/ 539998 w 1079996"/>
              <a:gd name="connsiteY1" fmla="*/ 0 h 1079996"/>
              <a:gd name="connsiteX2" fmla="*/ 1079996 w 1079996"/>
              <a:gd name="connsiteY2" fmla="*/ 539998 h 1079996"/>
              <a:gd name="connsiteX3" fmla="*/ 539998 w 1079996"/>
              <a:gd name="connsiteY3" fmla="*/ 1079996 h 1079996"/>
              <a:gd name="connsiteX4" fmla="*/ 0 w 1079996"/>
              <a:gd name="connsiteY4" fmla="*/ 539998 h 1079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9996" h="1079996">
                <a:moveTo>
                  <a:pt x="0" y="539998"/>
                </a:moveTo>
                <a:cubicBezTo>
                  <a:pt x="0" y="241765"/>
                  <a:pt x="241765" y="0"/>
                  <a:pt x="539998" y="0"/>
                </a:cubicBezTo>
                <a:cubicBezTo>
                  <a:pt x="838231" y="0"/>
                  <a:pt x="1079996" y="241765"/>
                  <a:pt x="1079996" y="539998"/>
                </a:cubicBezTo>
                <a:cubicBezTo>
                  <a:pt x="1079996" y="838231"/>
                  <a:pt x="838231" y="1079996"/>
                  <a:pt x="539998" y="1079996"/>
                </a:cubicBezTo>
                <a:cubicBezTo>
                  <a:pt x="241765" y="1079996"/>
                  <a:pt x="0" y="838231"/>
                  <a:pt x="0" y="539998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81022" tIns="181022" rIns="181022" bIns="181022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9pPr>
          </a:lstStyle>
          <a:p>
            <a:pPr algn="ctr" defTabSz="80010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运动的快慢</a:t>
            </a:r>
          </a:p>
        </p:txBody>
      </p:sp>
      <p:sp>
        <p:nvSpPr>
          <p:cNvPr id="17" name="任意多边形 16"/>
          <p:cNvSpPr/>
          <p:nvPr>
            <p:custDataLst>
              <p:tags r:id="rId6"/>
            </p:custDataLst>
          </p:nvPr>
        </p:nvSpPr>
        <p:spPr>
          <a:xfrm>
            <a:off x="2459160" y="1721943"/>
            <a:ext cx="1439999" cy="1439999"/>
          </a:xfrm>
          <a:custGeom>
            <a:avLst/>
            <a:gdLst>
              <a:gd name="connsiteX0" fmla="*/ 0 w 1439999"/>
              <a:gd name="connsiteY0" fmla="*/ 720000 h 1439999"/>
              <a:gd name="connsiteX1" fmla="*/ 720000 w 1439999"/>
              <a:gd name="connsiteY1" fmla="*/ 0 h 1439999"/>
              <a:gd name="connsiteX2" fmla="*/ 1440000 w 1439999"/>
              <a:gd name="connsiteY2" fmla="*/ 720000 h 1439999"/>
              <a:gd name="connsiteX3" fmla="*/ 720000 w 1439999"/>
              <a:gd name="connsiteY3" fmla="*/ 1440000 h 1439999"/>
              <a:gd name="connsiteX4" fmla="*/ 0 w 1439999"/>
              <a:gd name="connsiteY4" fmla="*/ 720000 h 143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999" h="1439999">
                <a:moveTo>
                  <a:pt x="0" y="720000"/>
                </a:moveTo>
                <a:cubicBezTo>
                  <a:pt x="0" y="322355"/>
                  <a:pt x="322355" y="0"/>
                  <a:pt x="720000" y="0"/>
                </a:cubicBezTo>
                <a:cubicBezTo>
                  <a:pt x="1117645" y="0"/>
                  <a:pt x="1440000" y="322355"/>
                  <a:pt x="1440000" y="720000"/>
                </a:cubicBezTo>
                <a:cubicBezTo>
                  <a:pt x="1440000" y="1117645"/>
                  <a:pt x="1117645" y="1440000"/>
                  <a:pt x="720000" y="1440000"/>
                </a:cubicBezTo>
                <a:cubicBezTo>
                  <a:pt x="322355" y="1440000"/>
                  <a:pt x="0" y="1117645"/>
                  <a:pt x="0" y="72000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33743" tIns="233743" rIns="233743" bIns="233743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9pPr>
          </a:lstStyle>
          <a:p>
            <a:pPr algn="ctr" defTabSz="80010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19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位移相同</a:t>
            </a:r>
            <a:endParaRPr lang="en-US" altLang="zh-CN" sz="19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 defTabSz="80010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19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比时间</a:t>
            </a:r>
          </a:p>
        </p:txBody>
      </p:sp>
      <p:sp>
        <p:nvSpPr>
          <p:cNvPr id="18" name="任意多边形 17"/>
          <p:cNvSpPr/>
          <p:nvPr>
            <p:custDataLst>
              <p:tags r:id="rId7"/>
            </p:custDataLst>
          </p:nvPr>
        </p:nvSpPr>
        <p:spPr>
          <a:xfrm>
            <a:off x="3822248" y="4158074"/>
            <a:ext cx="1439999" cy="1439999"/>
          </a:xfrm>
          <a:custGeom>
            <a:avLst/>
            <a:gdLst>
              <a:gd name="connsiteX0" fmla="*/ 0 w 1439999"/>
              <a:gd name="connsiteY0" fmla="*/ 720000 h 1439999"/>
              <a:gd name="connsiteX1" fmla="*/ 720000 w 1439999"/>
              <a:gd name="connsiteY1" fmla="*/ 0 h 1439999"/>
              <a:gd name="connsiteX2" fmla="*/ 1440000 w 1439999"/>
              <a:gd name="connsiteY2" fmla="*/ 720000 h 1439999"/>
              <a:gd name="connsiteX3" fmla="*/ 720000 w 1439999"/>
              <a:gd name="connsiteY3" fmla="*/ 1440000 h 1439999"/>
              <a:gd name="connsiteX4" fmla="*/ 0 w 1439999"/>
              <a:gd name="connsiteY4" fmla="*/ 720000 h 143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999" h="1439999">
                <a:moveTo>
                  <a:pt x="0" y="720000"/>
                </a:moveTo>
                <a:cubicBezTo>
                  <a:pt x="0" y="322355"/>
                  <a:pt x="322355" y="0"/>
                  <a:pt x="720000" y="0"/>
                </a:cubicBezTo>
                <a:cubicBezTo>
                  <a:pt x="1117645" y="0"/>
                  <a:pt x="1440000" y="322355"/>
                  <a:pt x="1440000" y="720000"/>
                </a:cubicBezTo>
                <a:cubicBezTo>
                  <a:pt x="1440000" y="1117645"/>
                  <a:pt x="1117645" y="1440000"/>
                  <a:pt x="720000" y="1440000"/>
                </a:cubicBezTo>
                <a:cubicBezTo>
                  <a:pt x="322355" y="1440000"/>
                  <a:pt x="0" y="1117645"/>
                  <a:pt x="0" y="72000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33743" tIns="233743" rIns="233743" bIns="233743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9pPr>
          </a:lstStyle>
          <a:p>
            <a:pPr algn="ctr" defTabSz="80010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都不同</a:t>
            </a:r>
            <a:endParaRPr lang="en-US" altLang="zh-CN" sz="20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 defTabSz="80010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0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比速度</a:t>
            </a:r>
          </a:p>
        </p:txBody>
      </p:sp>
      <p:sp>
        <p:nvSpPr>
          <p:cNvPr id="19" name="任意多边形 18"/>
          <p:cNvSpPr/>
          <p:nvPr>
            <p:custDataLst>
              <p:tags r:id="rId8"/>
            </p:custDataLst>
          </p:nvPr>
        </p:nvSpPr>
        <p:spPr>
          <a:xfrm>
            <a:off x="1094802" y="4158074"/>
            <a:ext cx="1439999" cy="1439999"/>
          </a:xfrm>
          <a:custGeom>
            <a:avLst/>
            <a:gdLst>
              <a:gd name="connsiteX0" fmla="*/ 0 w 1439999"/>
              <a:gd name="connsiteY0" fmla="*/ 720000 h 1439999"/>
              <a:gd name="connsiteX1" fmla="*/ 720000 w 1439999"/>
              <a:gd name="connsiteY1" fmla="*/ 0 h 1439999"/>
              <a:gd name="connsiteX2" fmla="*/ 1440000 w 1439999"/>
              <a:gd name="connsiteY2" fmla="*/ 720000 h 1439999"/>
              <a:gd name="connsiteX3" fmla="*/ 720000 w 1439999"/>
              <a:gd name="connsiteY3" fmla="*/ 1440000 h 1439999"/>
              <a:gd name="connsiteX4" fmla="*/ 0 w 1439999"/>
              <a:gd name="connsiteY4" fmla="*/ 720000 h 143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999" h="1439999">
                <a:moveTo>
                  <a:pt x="0" y="720000"/>
                </a:moveTo>
                <a:cubicBezTo>
                  <a:pt x="0" y="322355"/>
                  <a:pt x="322355" y="0"/>
                  <a:pt x="720000" y="0"/>
                </a:cubicBezTo>
                <a:cubicBezTo>
                  <a:pt x="1117645" y="0"/>
                  <a:pt x="1440000" y="322355"/>
                  <a:pt x="1440000" y="720000"/>
                </a:cubicBezTo>
                <a:cubicBezTo>
                  <a:pt x="1440000" y="1117645"/>
                  <a:pt x="1117645" y="1440000"/>
                  <a:pt x="720000" y="1440000"/>
                </a:cubicBezTo>
                <a:cubicBezTo>
                  <a:pt x="322355" y="1440000"/>
                  <a:pt x="0" y="1117645"/>
                  <a:pt x="0" y="72000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33743" tIns="233743" rIns="233743" bIns="233743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9pPr>
          </a:lstStyle>
          <a:p>
            <a:pPr algn="ctr" defTabSz="80010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19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时间相同</a:t>
            </a:r>
            <a:endParaRPr lang="en-US" altLang="zh-CN" sz="1900" b="1">
              <a:latin typeface="黑体" panose="02010609060101010101" charset="-122"/>
              <a:ea typeface="黑体" panose="02010609060101010101" charset="-122"/>
            </a:endParaRPr>
          </a:p>
          <a:p>
            <a:pPr algn="ctr" defTabSz="80010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19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比位移</a:t>
            </a:r>
          </a:p>
        </p:txBody>
      </p:sp>
      <p:sp>
        <p:nvSpPr>
          <p:cNvPr id="21" name="空心弧 20"/>
          <p:cNvSpPr/>
          <p:nvPr>
            <p:custDataLst>
              <p:tags r:id="rId9"/>
            </p:custDataLst>
          </p:nvPr>
        </p:nvSpPr>
        <p:spPr>
          <a:xfrm>
            <a:off x="7648093" y="2518687"/>
            <a:ext cx="3125166" cy="3125166"/>
          </a:xfrm>
          <a:prstGeom prst="blockArc">
            <a:avLst>
              <a:gd name="adj1" fmla="val 9000000"/>
              <a:gd name="adj2" fmla="val 16200000"/>
              <a:gd name="adj3" fmla="val 4644"/>
            </a:avLst>
          </a:prstGeom>
          <a:solidFill>
            <a:schemeClr val="accent6">
              <a:lumMod val="20000"/>
              <a:lumOff val="8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5pPr>
            <a:lvl6pPr marL="25146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6pPr>
            <a:lvl7pPr marL="29718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7pPr>
            <a:lvl8pPr marL="34290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8pPr>
            <a:lvl9pPr marL="38862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Arial"/>
                <a:sym typeface="Wingdings" panose="05000000000000000000" charset="0"/>
              </a:defRPr>
            </a:lvl9pPr>
          </a:lstStyle>
          <a:p>
            <a:pPr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2" name="空心弧 21"/>
          <p:cNvSpPr/>
          <p:nvPr>
            <p:custDataLst>
              <p:tags r:id="rId10"/>
            </p:custDataLst>
          </p:nvPr>
        </p:nvSpPr>
        <p:spPr>
          <a:xfrm>
            <a:off x="7649363" y="2533927"/>
            <a:ext cx="3125166" cy="3125166"/>
          </a:xfrm>
          <a:prstGeom prst="blockArc">
            <a:avLst>
              <a:gd name="adj1" fmla="val 1800000"/>
              <a:gd name="adj2" fmla="val 9000000"/>
              <a:gd name="adj3" fmla="val 4644"/>
            </a:avLst>
          </a:prstGeom>
          <a:solidFill>
            <a:schemeClr val="accent6">
              <a:lumMod val="20000"/>
              <a:lumOff val="8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5pPr>
            <a:lvl6pPr marL="25146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6pPr>
            <a:lvl7pPr marL="29718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7pPr>
            <a:lvl8pPr marL="34290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8pPr>
            <a:lvl9pPr marL="38862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Arial"/>
                <a:sym typeface="Wingdings" panose="05000000000000000000" charset="0"/>
              </a:defRPr>
            </a:lvl9pPr>
          </a:lstStyle>
          <a:p>
            <a:pPr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3" name="空心弧 22"/>
          <p:cNvSpPr/>
          <p:nvPr>
            <p:custDataLst>
              <p:tags r:id="rId11"/>
            </p:custDataLst>
          </p:nvPr>
        </p:nvSpPr>
        <p:spPr>
          <a:xfrm>
            <a:off x="7663968" y="2521862"/>
            <a:ext cx="3125166" cy="3125166"/>
          </a:xfrm>
          <a:prstGeom prst="blockArc">
            <a:avLst>
              <a:gd name="adj1" fmla="val 16200000"/>
              <a:gd name="adj2" fmla="val 1800000"/>
              <a:gd name="adj3" fmla="val 4644"/>
            </a:avLst>
          </a:prstGeom>
          <a:solidFill>
            <a:schemeClr val="accent6">
              <a:lumMod val="20000"/>
              <a:lumOff val="8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5pPr>
            <a:lvl6pPr marL="25146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6pPr>
            <a:lvl7pPr marL="29718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7pPr>
            <a:lvl8pPr marL="34290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+mn-cs"/>
                <a:sym typeface="Wingdings" panose="05000000000000000000" charset="0"/>
              </a:defRPr>
            </a:lvl8pPr>
            <a:lvl9pPr marL="3886200" marR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微软雅黑" panose="020B0503020204020204" charset="-122"/>
                <a:cs typeface="Arial"/>
                <a:sym typeface="Wingdings" panose="05000000000000000000" charset="0"/>
              </a:defRPr>
            </a:lvl9pPr>
          </a:lstStyle>
          <a:p>
            <a:pPr eaLnBrk="1" hangingPunct="1">
              <a:defRPr/>
            </a:pPr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24" name="任意多边形 23"/>
          <p:cNvSpPr/>
          <p:nvPr>
            <p:custDataLst>
              <p:tags r:id="rId12"/>
            </p:custDataLst>
          </p:nvPr>
        </p:nvSpPr>
        <p:spPr>
          <a:xfrm>
            <a:off x="8674488" y="3428877"/>
            <a:ext cx="1079996" cy="1079996"/>
          </a:xfrm>
          <a:custGeom>
            <a:avLst/>
            <a:gdLst>
              <a:gd name="connsiteX0" fmla="*/ 0 w 1079996"/>
              <a:gd name="connsiteY0" fmla="*/ 539998 h 1079996"/>
              <a:gd name="connsiteX1" fmla="*/ 539998 w 1079996"/>
              <a:gd name="connsiteY1" fmla="*/ 0 h 1079996"/>
              <a:gd name="connsiteX2" fmla="*/ 1079996 w 1079996"/>
              <a:gd name="connsiteY2" fmla="*/ 539998 h 1079996"/>
              <a:gd name="connsiteX3" fmla="*/ 539998 w 1079996"/>
              <a:gd name="connsiteY3" fmla="*/ 1079996 h 1079996"/>
              <a:gd name="connsiteX4" fmla="*/ 0 w 1079996"/>
              <a:gd name="connsiteY4" fmla="*/ 539998 h 1079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9996" h="1079996">
                <a:moveTo>
                  <a:pt x="0" y="539998"/>
                </a:moveTo>
                <a:cubicBezTo>
                  <a:pt x="0" y="241765"/>
                  <a:pt x="241765" y="0"/>
                  <a:pt x="539998" y="0"/>
                </a:cubicBezTo>
                <a:cubicBezTo>
                  <a:pt x="838231" y="0"/>
                  <a:pt x="1079996" y="241765"/>
                  <a:pt x="1079996" y="539998"/>
                </a:cubicBezTo>
                <a:cubicBezTo>
                  <a:pt x="1079996" y="838231"/>
                  <a:pt x="838231" y="1079996"/>
                  <a:pt x="539998" y="1079996"/>
                </a:cubicBezTo>
                <a:cubicBezTo>
                  <a:pt x="241765" y="1079996"/>
                  <a:pt x="0" y="838231"/>
                  <a:pt x="0" y="539998"/>
                </a:cubicBezTo>
                <a:close/>
              </a:path>
            </a:pathLst>
          </a:custGeom>
          <a:solidFill>
            <a:srgbClr val="FF0000"/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75942" tIns="175942" rIns="175942" bIns="175942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9pPr>
          </a:lstStyle>
          <a:p>
            <a:pPr algn="ctr" defTabSz="62230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速度变化快慢</a:t>
            </a:r>
          </a:p>
        </p:txBody>
      </p:sp>
      <p:sp>
        <p:nvSpPr>
          <p:cNvPr id="25" name="任意多边形 24"/>
          <p:cNvSpPr/>
          <p:nvPr>
            <p:custDataLst>
              <p:tags r:id="rId13"/>
            </p:custDataLst>
          </p:nvPr>
        </p:nvSpPr>
        <p:spPr>
          <a:xfrm>
            <a:off x="8425271" y="1722578"/>
            <a:ext cx="1439999" cy="1439999"/>
          </a:xfrm>
          <a:custGeom>
            <a:avLst/>
            <a:gdLst>
              <a:gd name="connsiteX0" fmla="*/ 0 w 1439999"/>
              <a:gd name="connsiteY0" fmla="*/ 720000 h 1439999"/>
              <a:gd name="connsiteX1" fmla="*/ 720000 w 1439999"/>
              <a:gd name="connsiteY1" fmla="*/ 0 h 1439999"/>
              <a:gd name="connsiteX2" fmla="*/ 1440000 w 1439999"/>
              <a:gd name="connsiteY2" fmla="*/ 720000 h 1439999"/>
              <a:gd name="connsiteX3" fmla="*/ 720000 w 1439999"/>
              <a:gd name="connsiteY3" fmla="*/ 1440000 h 1439999"/>
              <a:gd name="connsiteX4" fmla="*/ 0 w 1439999"/>
              <a:gd name="connsiteY4" fmla="*/ 720000 h 143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999" h="1439999">
                <a:moveTo>
                  <a:pt x="0" y="720000"/>
                </a:moveTo>
                <a:cubicBezTo>
                  <a:pt x="0" y="322355"/>
                  <a:pt x="322355" y="0"/>
                  <a:pt x="720000" y="0"/>
                </a:cubicBezTo>
                <a:cubicBezTo>
                  <a:pt x="1117645" y="0"/>
                  <a:pt x="1440000" y="322355"/>
                  <a:pt x="1440000" y="720000"/>
                </a:cubicBezTo>
                <a:cubicBezTo>
                  <a:pt x="1440000" y="1117645"/>
                  <a:pt x="1117645" y="1440000"/>
                  <a:pt x="720000" y="1440000"/>
                </a:cubicBezTo>
                <a:cubicBezTo>
                  <a:pt x="322355" y="1440000"/>
                  <a:pt x="0" y="1117645"/>
                  <a:pt x="0" y="72000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33743" tIns="233743" rIns="233743" bIns="233743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9pPr>
          </a:lstStyle>
          <a:p>
            <a:pPr algn="ctr" defTabSz="800100" eaLnBrk="1" fontAlgn="auto" hangingPunct="1">
              <a:lnSpc>
                <a:spcPct val="90000"/>
              </a:lnSpc>
              <a:defRPr/>
            </a:pPr>
            <a:r>
              <a:rPr lang="zh-CN" altLang="en-US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速度变化量相同</a:t>
            </a:r>
            <a:endParaRPr lang="en-US" altLang="zh-CN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 defTabSz="800100" eaLnBrk="1" fontAlgn="auto" hangingPunct="1">
              <a:lnSpc>
                <a:spcPct val="90000"/>
              </a:lnSpc>
              <a:defRPr/>
            </a:pPr>
            <a:r>
              <a:rPr lang="zh-CN" altLang="en-US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比时间</a:t>
            </a:r>
          </a:p>
        </p:txBody>
      </p:sp>
      <p:sp>
        <p:nvSpPr>
          <p:cNvPr id="26" name="任意多边形 25"/>
          <p:cNvSpPr/>
          <p:nvPr>
            <p:custDataLst>
              <p:tags r:id="rId14"/>
            </p:custDataLst>
          </p:nvPr>
        </p:nvSpPr>
        <p:spPr>
          <a:xfrm>
            <a:off x="9754704" y="4170139"/>
            <a:ext cx="1439999" cy="1439999"/>
          </a:xfrm>
          <a:custGeom>
            <a:avLst/>
            <a:gdLst>
              <a:gd name="connsiteX0" fmla="*/ 0 w 1439999"/>
              <a:gd name="connsiteY0" fmla="*/ 720000 h 1439999"/>
              <a:gd name="connsiteX1" fmla="*/ 720000 w 1439999"/>
              <a:gd name="connsiteY1" fmla="*/ 0 h 1439999"/>
              <a:gd name="connsiteX2" fmla="*/ 1440000 w 1439999"/>
              <a:gd name="connsiteY2" fmla="*/ 720000 h 1439999"/>
              <a:gd name="connsiteX3" fmla="*/ 720000 w 1439999"/>
              <a:gd name="connsiteY3" fmla="*/ 1440000 h 1439999"/>
              <a:gd name="connsiteX4" fmla="*/ 0 w 1439999"/>
              <a:gd name="connsiteY4" fmla="*/ 720000 h 143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999" h="1439999">
                <a:moveTo>
                  <a:pt x="0" y="720000"/>
                </a:moveTo>
                <a:cubicBezTo>
                  <a:pt x="0" y="322355"/>
                  <a:pt x="322355" y="0"/>
                  <a:pt x="720000" y="0"/>
                </a:cubicBezTo>
                <a:cubicBezTo>
                  <a:pt x="1117645" y="0"/>
                  <a:pt x="1440000" y="322355"/>
                  <a:pt x="1440000" y="720000"/>
                </a:cubicBezTo>
                <a:cubicBezTo>
                  <a:pt x="1440000" y="1117645"/>
                  <a:pt x="1117645" y="1440000"/>
                  <a:pt x="720000" y="1440000"/>
                </a:cubicBezTo>
                <a:cubicBezTo>
                  <a:pt x="322355" y="1440000"/>
                  <a:pt x="0" y="1117645"/>
                  <a:pt x="0" y="720000"/>
                </a:cubicBezTo>
                <a:close/>
              </a:path>
            </a:pathLst>
          </a:custGeom>
          <a:solidFill>
            <a:srgbClr val="F4E0DB"/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33743" tIns="233743" rIns="233743" bIns="233743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9pPr>
          </a:lstStyle>
          <a:p>
            <a:pPr algn="ctr" defTabSz="800100" eaLnBrk="1" fontAlgn="auto" hangingPunct="1">
              <a:lnSpc>
                <a:spcPct val="90000"/>
              </a:lnSpc>
              <a:defRPr/>
            </a:pPr>
            <a:r>
              <a:rPr lang="zh-CN" altLang="en-US"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都不同</a:t>
            </a:r>
            <a:endParaRPr lang="en-US" altLang="zh-CN" sz="24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 defTabSz="800100" eaLnBrk="1" fontAlgn="auto" hangingPunct="1">
              <a:lnSpc>
                <a:spcPct val="90000"/>
              </a:lnSpc>
              <a:defRPr/>
            </a:pPr>
            <a:r>
              <a:rPr lang="zh-CN" altLang="en-US" sz="2800"/>
              <a:t>  </a:t>
            </a:r>
            <a:r>
              <a:rPr lang="zh-CN" altLang="en-US" sz="280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27" name="任意多边形 26"/>
          <p:cNvSpPr/>
          <p:nvPr>
            <p:custDataLst>
              <p:tags r:id="rId15"/>
            </p:custDataLst>
          </p:nvPr>
        </p:nvSpPr>
        <p:spPr>
          <a:xfrm>
            <a:off x="7125683" y="4170139"/>
            <a:ext cx="1439999" cy="1439999"/>
          </a:xfrm>
          <a:custGeom>
            <a:avLst/>
            <a:gdLst>
              <a:gd name="connsiteX0" fmla="*/ 0 w 1439999"/>
              <a:gd name="connsiteY0" fmla="*/ 720000 h 1439999"/>
              <a:gd name="connsiteX1" fmla="*/ 720000 w 1439999"/>
              <a:gd name="connsiteY1" fmla="*/ 0 h 1439999"/>
              <a:gd name="connsiteX2" fmla="*/ 1440000 w 1439999"/>
              <a:gd name="connsiteY2" fmla="*/ 720000 h 1439999"/>
              <a:gd name="connsiteX3" fmla="*/ 720000 w 1439999"/>
              <a:gd name="connsiteY3" fmla="*/ 1440000 h 1439999"/>
              <a:gd name="connsiteX4" fmla="*/ 0 w 1439999"/>
              <a:gd name="connsiteY4" fmla="*/ 720000 h 143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999" h="1439999">
                <a:moveTo>
                  <a:pt x="0" y="720000"/>
                </a:moveTo>
                <a:cubicBezTo>
                  <a:pt x="0" y="322355"/>
                  <a:pt x="322355" y="0"/>
                  <a:pt x="720000" y="0"/>
                </a:cubicBezTo>
                <a:cubicBezTo>
                  <a:pt x="1117645" y="0"/>
                  <a:pt x="1440000" y="322355"/>
                  <a:pt x="1440000" y="720000"/>
                </a:cubicBezTo>
                <a:cubicBezTo>
                  <a:pt x="1440000" y="1117645"/>
                  <a:pt x="1117645" y="1440000"/>
                  <a:pt x="720000" y="1440000"/>
                </a:cubicBezTo>
                <a:cubicBezTo>
                  <a:pt x="322355" y="1440000"/>
                  <a:pt x="0" y="1117645"/>
                  <a:pt x="0" y="720000"/>
                </a:cubicBezTo>
                <a:close/>
              </a:path>
            </a:pathLst>
          </a:custGeom>
          <a:solidFill>
            <a:srgbClr val="F4E0DB"/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33743" tIns="233743" rIns="233743" bIns="233743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libri" panose="020F0502020204030204" charset="0"/>
                <a:ea typeface="Arial"/>
                <a:cs typeface="+mn-cs"/>
                <a:sym typeface="Wingdings" panose="05000000000000000000" charset="0"/>
              </a:defRPr>
            </a:lvl9pPr>
          </a:lstStyle>
          <a:p>
            <a:pPr algn="ctr" defTabSz="800100" eaLnBrk="1" fontAlgn="auto" hangingPunct="1">
              <a:lnSpc>
                <a:spcPct val="90000"/>
              </a:lnSpc>
              <a:defRPr/>
            </a:pPr>
            <a:r>
              <a:rPr lang="zh-CN" altLang="en-US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时间相同</a:t>
            </a:r>
            <a:endParaRPr lang="en-US" altLang="zh-CN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 defTabSz="800100" eaLnBrk="1" fontAlgn="auto" hangingPunct="1">
              <a:lnSpc>
                <a:spcPct val="90000"/>
              </a:lnSpc>
              <a:defRPr/>
            </a:pPr>
            <a:r>
              <a:rPr lang="zh-CN" altLang="en-US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比速度的变化量</a:t>
            </a:r>
          </a:p>
        </p:txBody>
      </p:sp>
      <p:sp>
        <p:nvSpPr>
          <p:cNvPr id="2" name="文本框 1"/>
          <p:cNvSpPr txBox="1"/>
          <p:nvPr>
            <p:custDataLst>
              <p:tags r:id="rId16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 prLst="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 prLst="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 prLst="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 prLst="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 prLst="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 prLst="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 prLst="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 prLst="">
                                      <p:cBhvr>
                                        <p:cTn id="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 prLst="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 prLst="">
                                      <p:cBhvr>
                                        <p:cTn id="4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 prLst="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 prLst="">
                                      <p:cBhvr>
                                        <p:cTn id="5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 prLst="">
                                      <p:cBhvr>
                                        <p:cTn id="5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 prLst="">
                                      <p:cBhvr>
                                        <p:cTn id="6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6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965825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一、加速度</a:t>
            </a:r>
          </a:p>
        </p:txBody>
      </p:sp>
      <p:sp>
        <p:nvSpPr>
          <p:cNvPr id="7170" name="Rectangle 3"/>
          <p:cNvSpPr/>
          <p:nvPr>
            <p:custDataLst>
              <p:tags r:id="rId2"/>
            </p:custDataLst>
          </p:nvPr>
        </p:nvSpPr>
        <p:spPr>
          <a:xfrm>
            <a:off x="378460" y="5277485"/>
            <a:ext cx="11502390" cy="138239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</a:pPr>
            <a:endParaRPr lang="en-US" altLang="zh-CN" sz="28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243" name="文本框 10242"/>
          <p:cNvSpPr txBox="1"/>
          <p:nvPr>
            <p:custDataLst>
              <p:tags r:id="rId3"/>
            </p:custDataLst>
          </p:nvPr>
        </p:nvSpPr>
        <p:spPr>
          <a:xfrm>
            <a:off x="347980" y="1339215"/>
            <a:ext cx="11371580" cy="64770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buClrTx/>
            </a:pPr>
            <a:r>
              <a:rPr lang="en-US" altLang="zh-CN" sz="3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en-US" sz="30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定义：</a:t>
            </a:r>
            <a:r>
              <a:rPr lang="zh-CN" altLang="en-US" sz="3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速度变化量和发生这一变化所用时间的比值叫加速度。</a:t>
            </a:r>
            <a:endParaRPr lang="zh-CN" altLang="en-US" sz="3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246" name="文本框 10245"/>
          <p:cNvSpPr txBox="1"/>
          <p:nvPr>
            <p:custDataLst>
              <p:tags r:id="rId4"/>
            </p:custDataLst>
          </p:nvPr>
        </p:nvSpPr>
        <p:spPr>
          <a:xfrm>
            <a:off x="378460" y="4046855"/>
            <a:ext cx="10153015" cy="7334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buClrTx/>
            </a:pPr>
            <a:r>
              <a:rPr lang="en-US" altLang="zh-CN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物理意义：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用于描述物体速度变化快慢的物理量。</a:t>
            </a:r>
            <a:endParaRPr lang="zh-CN" altLang="en-US" sz="28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buClrTx/>
            </a:pPr>
            <a:endParaRPr lang="zh-CN" altLang="en-US" sz="28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5"/>
            </p:custDataLst>
          </p:nvPr>
        </p:nvGrpSpPr>
        <p:grpSpPr>
          <a:xfrm>
            <a:off x="378460" y="2550160"/>
            <a:ext cx="5263515" cy="1132840"/>
            <a:chOff x="596" y="4775"/>
            <a:chExt cx="8289" cy="1784"/>
          </a:xfrm>
        </p:grpSpPr>
        <p:sp>
          <p:nvSpPr>
            <p:cNvPr id="10245" name="文本框 10244"/>
            <p:cNvSpPr txBox="1"/>
            <p:nvPr>
              <p:custDataLst>
                <p:tags r:id="rId9"/>
              </p:custDataLst>
            </p:nvPr>
          </p:nvSpPr>
          <p:spPr>
            <a:xfrm>
              <a:off x="596" y="5256"/>
              <a:ext cx="2774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>
                <a:buClrTx/>
              </a:pPr>
              <a:r>
                <a:rPr lang="en-US" altLang="zh-CN" sz="28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2.</a:t>
              </a:r>
              <a:r>
                <a:rPr lang="zh-CN" altLang="en-US" sz="2800" b="1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定义式：</a:t>
              </a:r>
            </a:p>
          </p:txBody>
        </p:sp>
        <p:graphicFrame>
          <p:nvGraphicFramePr>
            <p:cNvPr id="10254" name="对象 10253"/>
            <p:cNvGraphicFramePr>
              <a:graphicFrameLocks noChangeAspect="1"/>
            </p:cNvGraphicFramePr>
            <p:nvPr>
              <p:custDataLst>
                <p:tags r:id="rId10"/>
              </p:custDataLst>
            </p:nvPr>
          </p:nvGraphicFramePr>
          <p:xfrm>
            <a:off x="3469" y="4775"/>
            <a:ext cx="5416" cy="1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054100" imgH="393700" progId="Equation.3">
                    <p:embed/>
                  </p:oleObj>
                </mc:Choice>
                <mc:Fallback>
                  <p:oleObj r:id="rId12" imgW="1054100" imgH="393700" progId="Equation.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469" y="4775"/>
                          <a:ext cx="5416" cy="1784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noFill/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9662" name="AutoShape 9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722745" y="2335530"/>
            <a:ext cx="2016125" cy="611505"/>
          </a:xfrm>
          <a:prstGeom prst="wedgeRoundRectCallout">
            <a:avLst>
              <a:gd name="adj1" fmla="val -101842"/>
              <a:gd name="adj2" fmla="val 49792"/>
              <a:gd name="adj3" fmla="val 16667"/>
            </a:avLst>
          </a:prstGeom>
          <a:solidFill>
            <a:srgbClr val="CAD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1629" tIns="40814" rIns="81629" bIns="40814"/>
          <a:lstStyle/>
          <a:p>
            <a:r>
              <a:rPr lang="zh-CN" altLang="en-US" sz="2800" b="1">
                <a:solidFill>
                  <a:schemeClr val="tx1"/>
                </a:solidFill>
                <a:effectLst/>
                <a:latin typeface="黑体" panose="02010609060101010101" charset="-122"/>
                <a:ea typeface="黑体" panose="02010609060101010101" charset="-122"/>
              </a:rPr>
              <a:t>速度变化率</a:t>
            </a:r>
          </a:p>
        </p:txBody>
      </p:sp>
      <p:sp>
        <p:nvSpPr>
          <p:cNvPr id="10248" name="文本框 10247"/>
          <p:cNvSpPr txBox="1"/>
          <p:nvPr>
            <p:custDataLst>
              <p:tags r:id="rId7"/>
            </p:custDataLst>
          </p:nvPr>
        </p:nvSpPr>
        <p:spPr>
          <a:xfrm>
            <a:off x="374015" y="5033010"/>
            <a:ext cx="5542915" cy="4610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buClrTx/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4.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单位：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米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/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秒</a:t>
            </a:r>
            <a:r>
              <a:rPr lang="en-US" altLang="zh-CN" sz="2800" baseline="30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 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m/s</a:t>
            </a:r>
            <a:r>
              <a:rPr lang="en-US" altLang="zh-CN" sz="2800" i="1" baseline="30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或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m.s</a:t>
            </a:r>
            <a:r>
              <a:rPr lang="en-US" altLang="zh-CN" sz="2800" i="1" baseline="30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-2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0251" name="文本框 10250"/>
          <p:cNvSpPr txBox="1"/>
          <p:nvPr>
            <p:custDataLst>
              <p:tags r:id="rId8"/>
            </p:custDataLst>
          </p:nvPr>
        </p:nvSpPr>
        <p:spPr>
          <a:xfrm>
            <a:off x="5568315" y="5033010"/>
            <a:ext cx="3751580" cy="575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buClrTx/>
            </a:pPr>
            <a:r>
              <a:rPr lang="zh-CN" altLang="en-US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读作：</a:t>
            </a:r>
            <a:r>
              <a:rPr lang="en-US" altLang="zh-CN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lang="zh-CN" altLang="en-US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米每二次方秒”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0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/>
      <p:bldP spid="109662" grpId="0" animBg="1"/>
      <p:bldP spid="10248" grpId="0"/>
      <p:bldP spid="102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12750" y="1114425"/>
            <a:ext cx="11295380" cy="840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(1)</a:t>
            </a:r>
            <a:r>
              <a:rPr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速度大，加速度一定大吗？你能举例说明吗？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59740" y="2149475"/>
            <a:ext cx="11248390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(2)</a:t>
            </a:r>
            <a:r>
              <a:rPr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加速度大，速度一定大吗？</a:t>
            </a: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59740" y="3289300"/>
            <a:ext cx="11295380" cy="840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(3)</a:t>
            </a:r>
            <a:r>
              <a:rPr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速度变化量大，则加速度一定大？</a:t>
            </a: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539750" y="4392295"/>
            <a:ext cx="11248390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(4)</a:t>
            </a:r>
            <a:r>
              <a:rPr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速度变化越快，加速度越大？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965825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一、加速度</a:t>
            </a:r>
          </a:p>
        </p:txBody>
      </p:sp>
      <p:sp>
        <p:nvSpPr>
          <p:cNvPr id="7170" name="Rectangle 3"/>
          <p:cNvSpPr/>
          <p:nvPr>
            <p:custDataLst>
              <p:tags r:id="rId2"/>
            </p:custDataLst>
          </p:nvPr>
        </p:nvSpPr>
        <p:spPr>
          <a:xfrm>
            <a:off x="378460" y="5277485"/>
            <a:ext cx="11502390" cy="138239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</a:pPr>
            <a:endParaRPr lang="en-US" altLang="zh-CN" sz="28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78" name="Rectangle 47"/>
          <p:cNvSpPr>
            <a:spLocks noRot="1"/>
          </p:cNvSpPr>
          <p:nvPr>
            <p:custDataLst>
              <p:tags r:id="rId3"/>
            </p:custDataLst>
          </p:nvPr>
        </p:nvSpPr>
        <p:spPr>
          <a:xfrm>
            <a:off x="378460" y="1126490"/>
            <a:ext cx="4625340" cy="6191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5.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加速度的大小</a:t>
            </a:r>
          </a:p>
        </p:txBody>
      </p:sp>
      <p:sp>
        <p:nvSpPr>
          <p:cNvPr id="3079" name="文本框 14"/>
          <p:cNvSpPr txBox="1"/>
          <p:nvPr>
            <p:custDataLst>
              <p:tags r:id="rId4"/>
            </p:custDataLst>
          </p:nvPr>
        </p:nvSpPr>
        <p:spPr>
          <a:xfrm>
            <a:off x="516890" y="1915795"/>
            <a:ext cx="8155305" cy="5626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（</a:t>
            </a:r>
            <a:r>
              <a:rPr lang="en-US" altLang="zh-CN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）加速度</a:t>
            </a:r>
            <a:r>
              <a:rPr lang="en-US" altLang="zh-CN" sz="32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大小与速度</a:t>
            </a:r>
            <a:r>
              <a:rPr lang="en-US" altLang="zh-CN" sz="32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没有直接关系。</a:t>
            </a:r>
          </a:p>
        </p:txBody>
      </p:sp>
      <p:sp>
        <p:nvSpPr>
          <p:cNvPr id="3080" name="文本框 15"/>
          <p:cNvSpPr txBox="1"/>
          <p:nvPr>
            <p:custDataLst>
              <p:tags r:id="rId5"/>
            </p:custDataLst>
          </p:nvPr>
        </p:nvSpPr>
        <p:spPr>
          <a:xfrm>
            <a:off x="579755" y="2687320"/>
            <a:ext cx="9144635" cy="5962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（</a:t>
            </a:r>
            <a:r>
              <a:rPr lang="en-US" altLang="zh-CN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）加速度</a:t>
            </a:r>
            <a:r>
              <a:rPr lang="en-US" altLang="zh-CN" sz="32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大小与速度变化量Δ</a:t>
            </a:r>
            <a:r>
              <a:rPr lang="en-US" altLang="zh-CN" sz="32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没有直接关系。</a:t>
            </a:r>
          </a:p>
        </p:txBody>
      </p:sp>
      <p:sp>
        <p:nvSpPr>
          <p:cNvPr id="3081" name="文本框 16"/>
          <p:cNvSpPr txBox="1"/>
          <p:nvPr>
            <p:custDataLst>
              <p:tags r:id="rId6"/>
            </p:custDataLst>
          </p:nvPr>
        </p:nvSpPr>
        <p:spPr>
          <a:xfrm>
            <a:off x="579755" y="3194685"/>
            <a:ext cx="843851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（</a:t>
            </a:r>
            <a:r>
              <a:rPr lang="en-US" altLang="zh-CN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3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）加速度</a:t>
            </a:r>
            <a:r>
              <a:rPr lang="en-US" altLang="zh-CN" sz="32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大小</a:t>
            </a:r>
          </a:p>
          <a:p>
            <a:pPr>
              <a:lnSpc>
                <a:spcPct val="150000"/>
              </a:lnSpc>
            </a:pP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    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Wingdings" panose="05000000000000000000" charset="0"/>
              </a:rPr>
              <a:t>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由速度变化率Δ</a:t>
            </a:r>
            <a:r>
              <a:rPr lang="en-US" altLang="zh-CN" sz="32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en-US" altLang="zh-CN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/Δ</a:t>
            </a:r>
            <a:r>
              <a:rPr lang="en-US" altLang="zh-CN" sz="32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的大小决定；</a:t>
            </a:r>
          </a:p>
          <a:p>
            <a:pPr>
              <a:lnSpc>
                <a:spcPct val="150000"/>
              </a:lnSpc>
            </a:pP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    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Wingdings" panose="05000000000000000000" charset="0"/>
              </a:rPr>
              <a:t>由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速度变化的快慢决定；</a:t>
            </a:r>
          </a:p>
          <a:p>
            <a:pPr>
              <a:lnSpc>
                <a:spcPct val="150000"/>
              </a:lnSpc>
            </a:pP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     </a:t>
            </a:r>
            <a:r>
              <a:rPr lang="zh-CN" altLang="en-US" sz="32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Wingdings" panose="05000000000000000000" charset="0"/>
              </a:rPr>
              <a:t>由</a:t>
            </a:r>
            <a:r>
              <a:rPr lang="zh-CN" altLang="en-US" sz="32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单位时间内物体速度变化大小决定。</a:t>
            </a:r>
            <a:endParaRPr lang="zh-CN" altLang="en-US" sz="3200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Wingdings" panose="05000000000000000000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/>
      <p:bldP spid="3080" grpId="0"/>
      <p:bldP spid="308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965825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一、加速度</a:t>
            </a:r>
          </a:p>
        </p:txBody>
      </p:sp>
      <p:sp>
        <p:nvSpPr>
          <p:cNvPr id="7170" name="Rectangle 3"/>
          <p:cNvSpPr/>
          <p:nvPr>
            <p:custDataLst>
              <p:tags r:id="rId2"/>
            </p:custDataLst>
          </p:nvPr>
        </p:nvSpPr>
        <p:spPr>
          <a:xfrm>
            <a:off x="378460" y="5277485"/>
            <a:ext cx="11502390" cy="138239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</a:pPr>
            <a:endParaRPr lang="en-US" altLang="zh-CN" sz="28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19113" y="1744345"/>
          <a:ext cx="11112500" cy="4551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1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0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endParaRPr lang="en-US" altLang="en-US" sz="2800" b="0" i="1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速度</a:t>
                      </a:r>
                      <a:r>
                        <a:rPr lang="en-US" sz="2800" b="0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v</a:t>
                      </a:r>
                      <a:endParaRPr lang="en-US" altLang="en-US" sz="2800" b="0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速度的变化量Δ</a:t>
                      </a:r>
                      <a:r>
                        <a:rPr lang="en-US" sz="2800" b="0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v</a:t>
                      </a:r>
                      <a:endParaRPr lang="en-US" altLang="en-US" sz="2800" b="0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加速度</a:t>
                      </a:r>
                      <a:r>
                        <a:rPr lang="en-US" sz="2800" b="0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a</a:t>
                      </a:r>
                      <a:endParaRPr lang="en-US" altLang="en-US" sz="2800" b="0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49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表达式</a:t>
                      </a:r>
                      <a:endParaRPr lang="en-US" altLang="en-US" sz="2800" b="0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endParaRPr lang="en-US" altLang="en-US" sz="2800" b="0" i="1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32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Δ</a:t>
                      </a:r>
                      <a:r>
                        <a:rPr lang="en-US" sz="3200" b="0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v</a:t>
                      </a:r>
                      <a:r>
                        <a:rPr lang="en-US" sz="32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＝</a:t>
                      </a:r>
                      <a:r>
                        <a:rPr lang="en-US" sz="3200" b="0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v</a:t>
                      </a:r>
                      <a:r>
                        <a:rPr lang="en-US" sz="3200" b="0" baseline="-2500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2</a:t>
                      </a:r>
                      <a:r>
                        <a:rPr lang="en-US" sz="32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－</a:t>
                      </a:r>
                      <a:r>
                        <a:rPr lang="en-US" sz="3200" b="0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v</a:t>
                      </a:r>
                      <a:r>
                        <a:rPr lang="en-US" sz="3200" b="0" baseline="-2500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1</a:t>
                      </a:r>
                      <a:endParaRPr lang="en-US" altLang="en-US" sz="3200" b="0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endParaRPr lang="en-US" altLang="en-US" sz="2800" b="0" i="1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24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方向</a:t>
                      </a:r>
                      <a:endParaRPr lang="en-US" altLang="en-US" sz="2800" b="0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b="0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v</a:t>
                      </a: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的方向与Δ</a:t>
                      </a:r>
                      <a:r>
                        <a:rPr lang="en-US" sz="2800" b="0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t</a:t>
                      </a: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内Δ</a:t>
                      </a:r>
                      <a:r>
                        <a:rPr lang="en-US" sz="2800" b="0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x</a:t>
                      </a: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的方向相同</a:t>
                      </a:r>
                      <a:endParaRPr lang="en-US" altLang="en-US" sz="2800" b="0" i="1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Δ</a:t>
                      </a:r>
                      <a:r>
                        <a:rPr lang="en-US" sz="2800" b="0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v</a:t>
                      </a: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的方向由初、末速度决定</a:t>
                      </a:r>
                      <a:endParaRPr lang="en-US" altLang="en-US" sz="2800" b="0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b="0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a</a:t>
                      </a: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的方向与Δ</a:t>
                      </a:r>
                      <a:r>
                        <a:rPr lang="en-US" sz="2800" b="0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t</a:t>
                      </a: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内Δ</a:t>
                      </a:r>
                      <a:r>
                        <a:rPr lang="en-US" sz="2800" b="0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v</a:t>
                      </a: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的方向相同</a:t>
                      </a:r>
                      <a:endParaRPr lang="en-US" altLang="en-US" sz="2800" b="0" i="1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841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物理意义</a:t>
                      </a:r>
                      <a:endParaRPr lang="en-US" altLang="en-US" sz="2800" b="0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表示物体运动的快慢和方向</a:t>
                      </a:r>
                      <a:endParaRPr lang="en-US" altLang="en-US" sz="2800" b="0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表示物体速度变化的大小和方向</a:t>
                      </a:r>
                      <a:endParaRPr lang="en-US" altLang="en-US" sz="2800" b="0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800" b="0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表示物体速度变化的快慢和方向</a:t>
                      </a:r>
                      <a:endParaRPr lang="en-US" altLang="en-US" sz="2800" b="0">
                        <a:latin typeface="Times New Roman" panose="02020603050405020304" charset="0"/>
                        <a:ea typeface="黑体" panose="02010609060101010101" charset="-122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0" name="文本框 99"/>
          <p:cNvSpPr txBox="1"/>
          <p:nvPr>
            <p:custDataLst>
              <p:tags r:id="rId4"/>
            </p:custDataLst>
          </p:nvPr>
        </p:nvSpPr>
        <p:spPr>
          <a:xfrm>
            <a:off x="330835" y="1119505"/>
            <a:ext cx="63976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6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.速度、速度的变化量、加速度的比较</a:t>
            </a:r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3061335" y="2436495"/>
          <a:ext cx="134556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69900" imgH="393700" progId="Equation.KSEE3">
                  <p:embed/>
                </p:oleObj>
              </mc:Choice>
              <mc:Fallback>
                <p:oleObj r:id="rId8" imgW="4699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61335" y="2436495"/>
                        <a:ext cx="1345565" cy="1127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9533255" y="2489835"/>
          <a:ext cx="1309370" cy="1068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82600" imgH="393700" progId="Equation.KSEE3">
                  <p:embed/>
                </p:oleObj>
              </mc:Choice>
              <mc:Fallback>
                <p:oleObj r:id="rId10" imgW="4826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533255" y="2489835"/>
                        <a:ext cx="1309370" cy="1068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179570" y="1863090"/>
            <a:ext cx="3832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cap="all">
                <a:solidFill>
                  <a:srgbClr val="38ABE3">
                    <a:alpha val="12000"/>
                  </a:srgbClr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conclusion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5095240" y="2211705"/>
            <a:ext cx="2001520" cy="488950"/>
          </a:xfrm>
          <a:prstGeom prst="roundRect">
            <a:avLst>
              <a:gd name="adj" fmla="val 50000"/>
            </a:avLst>
          </a:prstGeom>
          <a:solidFill>
            <a:srgbClr val="38A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651760" y="3022600"/>
            <a:ext cx="7226935" cy="1016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/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加速度的方向</a:t>
            </a: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5526405" y="2211705"/>
            <a:ext cx="119316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03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717550" y="1221740"/>
            <a:ext cx="9640570" cy="517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(1)</a:t>
            </a:r>
            <a:r>
              <a:rPr lang="zh-CN" altLang="en-US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rPr>
              <a:t>从表格中你可以发现加速度与速度变化量方向有什么联系？</a:t>
            </a:r>
            <a:endParaRPr kumimoji="1" lang="zh-CN" altLang="en-US" sz="28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13316" name="表格 1331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17550" y="2054860"/>
          <a:ext cx="8230870" cy="2748280"/>
        </p:xfrm>
        <a:graphic>
          <a:graphicData uri="http://schemas.openxmlformats.org/drawingml/2006/table">
            <a:tbl>
              <a:tblPr/>
              <a:tblGrid>
                <a:gridCol w="1887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70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初速度</a:t>
                      </a:r>
                      <a:r>
                        <a:rPr lang="en-US" altLang="zh-CN" sz="2800" b="1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m/s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末速度</a:t>
                      </a:r>
                      <a:r>
                        <a:rPr lang="en-US" altLang="zh-CN" sz="2800" b="1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m/s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时间</a:t>
                      </a:r>
                      <a:r>
                        <a:rPr lang="en-US" altLang="zh-CN" sz="2800" b="1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800" b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速度变化量</a:t>
                      </a:r>
                      <a:r>
                        <a:rPr lang="en-US" altLang="zh-CN" sz="2800" b="1" i="1">
                          <a:latin typeface="Times New Roman" panose="02020603050405020304" charset="0"/>
                          <a:ea typeface="黑体" panose="02010609060101010101" charset="-122"/>
                          <a:cs typeface="Times New Roman" panose="02020603050405020304" charset="0"/>
                        </a:rPr>
                        <a:t>m/s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0000FF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-5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-8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00CC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46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-5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-2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CC00CC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349" name="表格 13348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8948420" y="2054860"/>
          <a:ext cx="2501900" cy="2743835"/>
        </p:xfrm>
        <a:graphic>
          <a:graphicData uri="http://schemas.openxmlformats.org/drawingml/2006/table">
            <a:tbl>
              <a:tblPr/>
              <a:tblGrid>
                <a:gridCol w="250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zh-CN" altLang="en-US" sz="2800" b="1"/>
                        <a:t>加速度</a:t>
                      </a:r>
                      <a:r>
                        <a:rPr lang="en-US" altLang="zh-CN" sz="2800" b="1" i="1">
                          <a:latin typeface="Times New Roman" panose="02020603050405020304" charset="0"/>
                          <a:cs typeface="Times New Roman" panose="02020603050405020304" charset="0"/>
                        </a:rPr>
                        <a:t>m/s</a:t>
                      </a:r>
                      <a:r>
                        <a:rPr lang="en-US" altLang="zh-CN" sz="2800" b="1" i="1" baseline="3000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2800" b="1" i="1" baseline="30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0000FF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-3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00CC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-1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800" b="1">
                          <a:solidFill>
                            <a:srgbClr val="CC00CC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315" name="文本框 13314"/>
          <p:cNvSpPr txBox="1"/>
          <p:nvPr>
            <p:custDataLst>
              <p:tags r:id="rId5"/>
            </p:custDataLst>
          </p:nvPr>
        </p:nvSpPr>
        <p:spPr>
          <a:xfrm>
            <a:off x="2432050" y="5320030"/>
            <a:ext cx="7328535" cy="6737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algn="ctr">
              <a:buClrTx/>
            </a:pPr>
            <a:r>
              <a:rPr lang="zh-CN" altLang="en-US" sz="3600">
                <a:solidFill>
                  <a:srgbClr val="0C76B2"/>
                </a:solidFill>
                <a:latin typeface="黑体" panose="02010609060101010101" charset="-122"/>
                <a:ea typeface="黑体" panose="02010609060101010101" charset="-122"/>
              </a:rPr>
              <a:t>加速度方向与速度变化量方向相同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6487795" y="1942465"/>
            <a:ext cx="4460875" cy="511810"/>
            <a:chOff x="10217" y="3059"/>
            <a:chExt cx="7025" cy="806"/>
          </a:xfrm>
        </p:grpSpPr>
        <p:grpSp>
          <p:nvGrpSpPr>
            <p:cNvPr id="10" name="组合 9"/>
            <p:cNvGrpSpPr/>
            <p:nvPr>
              <p:custDataLst>
                <p:tags r:id="rId41"/>
              </p:custDataLst>
            </p:nvPr>
          </p:nvGrpSpPr>
          <p:grpSpPr>
            <a:xfrm>
              <a:off x="10217" y="3486"/>
              <a:ext cx="4601" cy="378"/>
              <a:chOff x="10217" y="3486"/>
              <a:chExt cx="4601" cy="378"/>
            </a:xfrm>
          </p:grpSpPr>
          <p:sp>
            <p:nvSpPr>
              <p:cNvPr id="123914" name="Rectangle 10"/>
              <p:cNvSpPr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10217" y="3486"/>
                <a:ext cx="531" cy="379"/>
              </a:xfrm>
              <a:prstGeom prst="rect">
                <a:avLst/>
              </a:prstGeom>
              <a:solidFill>
                <a:srgbClr val="4DAEFE"/>
              </a:solidFill>
              <a:ln w="9525" algn="ctr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1386" tIns="40693" rIns="81386" bIns="40693" anchor="ctr"/>
              <a:lstStyle/>
              <a:p>
                <a:endParaRPr lang="zh-CN" altLang="en-US" sz="2800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23917" name="Line 13"/>
              <p:cNvSpPr>
                <a:spLocks noChangeShapeType="1"/>
              </p:cNvSpPr>
              <p:nvPr>
                <p:custDataLst>
                  <p:tags r:id="rId44"/>
                </p:custDataLst>
              </p:nvPr>
            </p:nvSpPr>
            <p:spPr bwMode="auto">
              <a:xfrm flipV="1">
                <a:off x="10748" y="3665"/>
                <a:ext cx="4070" cy="1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1386" tIns="40693" rIns="81386" bIns="40693"/>
              <a:lstStyle/>
              <a:p>
                <a:endParaRPr lang="zh-CN" altLang="en-US" sz="135"/>
              </a:p>
            </p:txBody>
          </p:sp>
        </p:grpSp>
        <p:sp>
          <p:nvSpPr>
            <p:cNvPr id="123984" name="Text Box 80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4920" y="3059"/>
              <a:ext cx="2322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800" i="1"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=5 m/s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4631055" cy="62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二、加速度的方向</a:t>
            </a:r>
          </a:p>
        </p:txBody>
      </p:sp>
      <p:sp>
        <p:nvSpPr>
          <p:cNvPr id="123911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66545" y="2257425"/>
            <a:ext cx="337185" cy="240665"/>
          </a:xfrm>
          <a:prstGeom prst="rect">
            <a:avLst/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1903730" y="2011045"/>
            <a:ext cx="2191385" cy="436880"/>
            <a:chOff x="2998" y="3167"/>
            <a:chExt cx="3451" cy="688"/>
          </a:xfrm>
        </p:grpSpPr>
        <p:sp>
          <p:nvSpPr>
            <p:cNvPr id="123912" name="Line 8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>
              <a:off x="2998" y="3741"/>
              <a:ext cx="929" cy="0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123913" name="Text Box 9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927" y="3167"/>
              <a:ext cx="2522" cy="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no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=2 m/s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23915" name="Line 11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1546225" y="2454275"/>
            <a:ext cx="8272145" cy="43815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/>
          <a:lstStyle/>
          <a:p>
            <a:endParaRPr lang="zh-CN" altLang="en-US" sz="135"/>
          </a:p>
        </p:txBody>
      </p:sp>
      <p:grpSp>
        <p:nvGrpSpPr>
          <p:cNvPr id="124002" name="Group 98"/>
          <p:cNvGrpSpPr/>
          <p:nvPr>
            <p:custDataLst>
              <p:tags r:id="rId6"/>
            </p:custDataLst>
          </p:nvPr>
        </p:nvGrpSpPr>
        <p:grpSpPr>
          <a:xfrm>
            <a:off x="6824970" y="1750191"/>
            <a:ext cx="735836" cy="582252"/>
            <a:chOff x="1679" y="1499"/>
            <a:chExt cx="419" cy="465"/>
          </a:xfrm>
        </p:grpSpPr>
        <p:sp>
          <p:nvSpPr>
            <p:cNvPr id="124001" name="Text Box 97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791" y="1499"/>
              <a:ext cx="307" cy="4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800" i="1"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kumimoji="1" lang="en-US" altLang="zh-CN" sz="2800" baseline="-25000"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endParaRPr kumimoji="1" lang="zh-CN" altLang="en-US" sz="2800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3920" name="Line 16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>
              <a:off x="1679" y="1963"/>
              <a:ext cx="384" cy="1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"/>
            </a:p>
          </p:txBody>
        </p:sp>
      </p:grp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>
            <a:off x="7499350" y="1694815"/>
            <a:ext cx="1888490" cy="514350"/>
            <a:chOff x="11810" y="2669"/>
            <a:chExt cx="2974" cy="810"/>
          </a:xfrm>
        </p:grpSpPr>
        <p:sp>
          <p:nvSpPr>
            <p:cNvPr id="123921" name="Line 17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flipV="1">
              <a:off x="11810" y="3473"/>
              <a:ext cx="2974" cy="6"/>
            </a:xfrm>
            <a:prstGeom prst="line">
              <a:avLst/>
            </a:prstGeom>
            <a:noFill/>
            <a:ln w="28575">
              <a:solidFill>
                <a:srgbClr val="FF99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123923" name="Text Box 19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2813" y="2669"/>
              <a:ext cx="968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Δ</a:t>
              </a:r>
              <a:r>
                <a:rPr kumimoji="1" lang="en-US" altLang="zh-CN" sz="2800" i="1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</a:p>
          </p:txBody>
        </p:sp>
      </p:grpSp>
      <p:sp>
        <p:nvSpPr>
          <p:cNvPr id="123927" name="Text Box 23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345690" y="3091180"/>
            <a:ext cx="3183255" cy="572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no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v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＞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Δ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v=v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-v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kumimoji="1" lang="en-US" altLang="zh-CN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＞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3928" name="AutoShape 24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696585" y="3251200"/>
            <a:ext cx="674370" cy="18034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13" name="组合 12"/>
          <p:cNvGrpSpPr/>
          <p:nvPr>
            <p:custDataLst>
              <p:tags r:id="rId10"/>
            </p:custDataLst>
          </p:nvPr>
        </p:nvGrpSpPr>
        <p:grpSpPr>
          <a:xfrm>
            <a:off x="1188085" y="1067435"/>
            <a:ext cx="1516380" cy="511810"/>
            <a:chOff x="1870" y="1685"/>
            <a:chExt cx="2388" cy="806"/>
          </a:xfrm>
        </p:grpSpPr>
        <p:sp>
          <p:nvSpPr>
            <p:cNvPr id="123959" name="Line 55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2268" y="2491"/>
              <a:ext cx="1991" cy="0"/>
            </a:xfrm>
            <a:prstGeom prst="line">
              <a:avLst/>
            </a:prstGeom>
            <a:noFill/>
            <a:ln w="57150">
              <a:solidFill>
                <a:srgbClr val="4DAEFE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123960" name="Text Box 56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870" y="1685"/>
              <a:ext cx="2389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ctr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Times New Roman" panose="02020603050405020304" charset="0"/>
                </a:rPr>
                <a:t>正方向</a:t>
              </a:r>
            </a:p>
          </p:txBody>
        </p:sp>
      </p:grpSp>
      <p:sp>
        <p:nvSpPr>
          <p:cNvPr id="123967" name="Text Box 63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833870" y="3091180"/>
            <a:ext cx="1113155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＞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</a:p>
        </p:txBody>
      </p:sp>
      <p:sp>
        <p:nvSpPr>
          <p:cNvPr id="5" name="Text Box 2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452485" y="3091180"/>
            <a:ext cx="937260" cy="5118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</a:rPr>
              <a:t>加速</a:t>
            </a:r>
          </a:p>
        </p:txBody>
      </p:sp>
      <p:sp>
        <p:nvSpPr>
          <p:cNvPr id="19" name="Rectangle 7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548765" y="4547235"/>
            <a:ext cx="337185" cy="240665"/>
          </a:xfrm>
          <a:prstGeom prst="rect">
            <a:avLst/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20" name="组合 19"/>
          <p:cNvGrpSpPr/>
          <p:nvPr>
            <p:custDataLst>
              <p:tags r:id="rId14"/>
            </p:custDataLst>
          </p:nvPr>
        </p:nvGrpSpPr>
        <p:grpSpPr>
          <a:xfrm>
            <a:off x="1885950" y="4306570"/>
            <a:ext cx="4193540" cy="437515"/>
            <a:chOff x="2998" y="3176"/>
            <a:chExt cx="6604" cy="689"/>
          </a:xfrm>
        </p:grpSpPr>
        <p:sp>
          <p:nvSpPr>
            <p:cNvPr id="21" name="Line 8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2998" y="3741"/>
              <a:ext cx="4082" cy="0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22" name="Text Box 9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7080" y="3176"/>
              <a:ext cx="2522" cy="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no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=5 m/s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3" name="Line 11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V="1">
            <a:off x="1528445" y="4744085"/>
            <a:ext cx="8272145" cy="43815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/>
          <a:lstStyle/>
          <a:p>
            <a:endParaRPr lang="zh-CN" altLang="en-US" sz="135"/>
          </a:p>
        </p:txBody>
      </p:sp>
      <p:grpSp>
        <p:nvGrpSpPr>
          <p:cNvPr id="37" name="组合 36"/>
          <p:cNvGrpSpPr/>
          <p:nvPr>
            <p:custDataLst>
              <p:tags r:id="rId16"/>
            </p:custDataLst>
          </p:nvPr>
        </p:nvGrpSpPr>
        <p:grpSpPr>
          <a:xfrm>
            <a:off x="7017385" y="4178935"/>
            <a:ext cx="3913505" cy="511810"/>
            <a:chOff x="11051" y="6581"/>
            <a:chExt cx="6163" cy="806"/>
          </a:xfrm>
        </p:grpSpPr>
        <p:sp>
          <p:nvSpPr>
            <p:cNvPr id="18" name="Text Box 80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4892" y="6581"/>
              <a:ext cx="2322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800" i="1"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flipV="1">
              <a:off x="11051" y="7272"/>
              <a:ext cx="4070" cy="10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</p:grpSp>
      <p:grpSp>
        <p:nvGrpSpPr>
          <p:cNvPr id="36" name="组合 35"/>
          <p:cNvGrpSpPr/>
          <p:nvPr>
            <p:custDataLst>
              <p:tags r:id="rId17"/>
            </p:custDataLst>
          </p:nvPr>
        </p:nvGrpSpPr>
        <p:grpSpPr>
          <a:xfrm>
            <a:off x="6680200" y="4040505"/>
            <a:ext cx="2176145" cy="703580"/>
            <a:chOff x="10145" y="5829"/>
            <a:chExt cx="3427" cy="1108"/>
          </a:xfrm>
        </p:grpSpPr>
        <p:sp>
          <p:nvSpPr>
            <p:cNvPr id="16" name="Rectangle 10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0145" y="6559"/>
              <a:ext cx="531" cy="379"/>
            </a:xfrm>
            <a:prstGeom prst="rect">
              <a:avLst/>
            </a:prstGeom>
            <a:solidFill>
              <a:srgbClr val="4DAEFE"/>
            </a:solidFill>
            <a:ln w="9525" algn="ctr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1386" tIns="40693" rIns="81386" bIns="40693" anchor="ctr"/>
            <a:lstStyle/>
            <a:p>
              <a:endPara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grpSp>
          <p:nvGrpSpPr>
            <p:cNvPr id="24" name="Group 98"/>
            <p:cNvGrpSpPr/>
            <p:nvPr>
              <p:custDataLst>
                <p:tags r:id="rId26"/>
              </p:custDataLst>
            </p:nvPr>
          </p:nvGrpSpPr>
          <p:grpSpPr>
            <a:xfrm>
              <a:off x="10676" y="5829"/>
              <a:ext cx="2896" cy="917"/>
              <a:chOff x="1679" y="1499"/>
              <a:chExt cx="1047" cy="465"/>
            </a:xfrm>
          </p:grpSpPr>
          <p:sp>
            <p:nvSpPr>
              <p:cNvPr id="25" name="Text Box 97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1791" y="1499"/>
                <a:ext cx="935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noAutofit/>
              </a:bodyPr>
              <a:lstStyle>
                <a:lvl1pPr marL="342900" indent="-342900"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1pPr>
                <a:lvl2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2pPr>
                <a:lvl3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3pPr>
                <a:lvl4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4pPr>
                <a:lvl5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9pPr>
              </a:lstStyle>
              <a:p>
                <a:pPr algn="l"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kumimoji="1" lang="en-US" altLang="zh-CN" sz="2800" i="1">
                    <a:latin typeface="Times New Roman" panose="02020603050405020304" charset="0"/>
                    <a:cs typeface="Times New Roman" panose="02020603050405020304" charset="0"/>
                  </a:rPr>
                  <a:t>v</a:t>
                </a:r>
                <a:r>
                  <a:rPr kumimoji="1" lang="en-US" altLang="zh-CN" sz="2800" baseline="-25000">
                    <a:latin typeface="Times New Roman" panose="02020603050405020304" charset="0"/>
                    <a:cs typeface="Times New Roman" panose="02020603050405020304" charset="0"/>
                  </a:rPr>
                  <a:t>2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=2 m/s</a:t>
                </a:r>
                <a:endParaRPr kumimoji="1" lang="zh-CN" altLang="en-US" sz="2800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6" name="Line 16"/>
              <p:cNvSpPr>
                <a:spLocks noChangeShapeType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1679" y="1963"/>
                <a:ext cx="384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"/>
              </a:p>
            </p:txBody>
          </p:sp>
        </p:grpSp>
      </p:grpSp>
      <p:grpSp>
        <p:nvGrpSpPr>
          <p:cNvPr id="28" name="组合 27"/>
          <p:cNvGrpSpPr/>
          <p:nvPr>
            <p:custDataLst>
              <p:tags r:id="rId18"/>
            </p:custDataLst>
          </p:nvPr>
        </p:nvGrpSpPr>
        <p:grpSpPr>
          <a:xfrm>
            <a:off x="7691755" y="4773930"/>
            <a:ext cx="1888490" cy="511810"/>
            <a:chOff x="11810" y="3159"/>
            <a:chExt cx="2974" cy="806"/>
          </a:xfrm>
        </p:grpSpPr>
        <p:sp>
          <p:nvSpPr>
            <p:cNvPr id="29" name="Line 17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H="1" flipV="1">
              <a:off x="11810" y="3305"/>
              <a:ext cx="2974" cy="6"/>
            </a:xfrm>
            <a:prstGeom prst="line">
              <a:avLst/>
            </a:prstGeom>
            <a:noFill/>
            <a:ln w="28575">
              <a:solidFill>
                <a:srgbClr val="FF99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30" name="Text Box 19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2939" y="3159"/>
              <a:ext cx="968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Δ</a:t>
              </a:r>
              <a:r>
                <a:rPr kumimoji="1" lang="en-US" altLang="zh-CN" sz="2800" i="1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</a:p>
          </p:txBody>
        </p:sp>
      </p:grpSp>
      <p:sp>
        <p:nvSpPr>
          <p:cNvPr id="31" name="Text Box 23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345690" y="5640070"/>
            <a:ext cx="3183255" cy="572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no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v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＞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Δ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v=v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-v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kumimoji="1" lang="en-US" altLang="zh-CN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&lt;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AutoShape 24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696585" y="5800090"/>
            <a:ext cx="674370" cy="18034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33" name="Text Box 63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941185" y="5638800"/>
            <a:ext cx="1113155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&lt;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</a:p>
        </p:txBody>
      </p:sp>
      <p:sp>
        <p:nvSpPr>
          <p:cNvPr id="34" name="Text Box 23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8452485" y="5638800"/>
            <a:ext cx="937260" cy="5118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</a:rPr>
              <a:t>减速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3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27" grpId="0" animBg="1"/>
      <p:bldP spid="123928" grpId="0" animBg="1"/>
      <p:bldP spid="123967" grpId="0" animBg="1"/>
      <p:bldP spid="5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 flipH="1">
            <a:off x="495935" y="1941830"/>
            <a:ext cx="4460875" cy="929640"/>
            <a:chOff x="10217" y="3059"/>
            <a:chExt cx="7025" cy="1464"/>
          </a:xfrm>
        </p:grpSpPr>
        <p:grpSp>
          <p:nvGrpSpPr>
            <p:cNvPr id="10" name="组合 9"/>
            <p:cNvGrpSpPr/>
            <p:nvPr>
              <p:custDataLst>
                <p:tags r:id="rId41"/>
              </p:custDataLst>
            </p:nvPr>
          </p:nvGrpSpPr>
          <p:grpSpPr>
            <a:xfrm>
              <a:off x="10217" y="3486"/>
              <a:ext cx="4601" cy="378"/>
              <a:chOff x="10217" y="3486"/>
              <a:chExt cx="4601" cy="378"/>
            </a:xfrm>
          </p:grpSpPr>
          <p:sp>
            <p:nvSpPr>
              <p:cNvPr id="123914" name="Rectangle 10"/>
              <p:cNvSpPr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10217" y="3486"/>
                <a:ext cx="531" cy="379"/>
              </a:xfrm>
              <a:prstGeom prst="rect">
                <a:avLst/>
              </a:prstGeom>
              <a:solidFill>
                <a:srgbClr val="4DAEFE"/>
              </a:solidFill>
              <a:ln w="9525" algn="ctr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1386" tIns="40693" rIns="81386" bIns="40693" anchor="ctr"/>
              <a:lstStyle/>
              <a:p>
                <a:endParaRPr lang="zh-CN" altLang="en-US" sz="2800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23917" name="Line 13"/>
              <p:cNvSpPr>
                <a:spLocks noChangeShapeType="1"/>
              </p:cNvSpPr>
              <p:nvPr>
                <p:custDataLst>
                  <p:tags r:id="rId44"/>
                </p:custDataLst>
              </p:nvPr>
            </p:nvSpPr>
            <p:spPr bwMode="auto">
              <a:xfrm flipV="1">
                <a:off x="10748" y="3665"/>
                <a:ext cx="4070" cy="1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1386" tIns="40693" rIns="81386" bIns="40693"/>
              <a:lstStyle/>
              <a:p>
                <a:endParaRPr lang="zh-CN" altLang="en-US" sz="135"/>
              </a:p>
            </p:txBody>
          </p:sp>
        </p:grpSp>
        <p:sp>
          <p:nvSpPr>
            <p:cNvPr id="123984" name="Text Box 80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4655" y="3059"/>
              <a:ext cx="2587" cy="14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no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800" i="1"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=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-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8 m/s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230505" y="200025"/>
            <a:ext cx="4631055" cy="62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二、加速度的方向</a:t>
            </a:r>
          </a:p>
        </p:txBody>
      </p:sp>
      <p:sp>
        <p:nvSpPr>
          <p:cNvPr id="123911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462770" y="2212975"/>
            <a:ext cx="337185" cy="240665"/>
          </a:xfrm>
          <a:prstGeom prst="rect">
            <a:avLst/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 flipH="1">
            <a:off x="7271385" y="1941830"/>
            <a:ext cx="2191385" cy="436880"/>
            <a:chOff x="2998" y="3167"/>
            <a:chExt cx="3451" cy="688"/>
          </a:xfrm>
        </p:grpSpPr>
        <p:sp>
          <p:nvSpPr>
            <p:cNvPr id="123912" name="Line 8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>
              <a:off x="2998" y="3741"/>
              <a:ext cx="929" cy="0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123913" name="Text Box 9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927" y="3167"/>
              <a:ext cx="2522" cy="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no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=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-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5 m/s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23915" name="Line 11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1546225" y="2454275"/>
            <a:ext cx="8272145" cy="43815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/>
          <a:lstStyle/>
          <a:p>
            <a:endParaRPr lang="zh-CN" altLang="en-US" sz="135"/>
          </a:p>
        </p:txBody>
      </p:sp>
      <p:grpSp>
        <p:nvGrpSpPr>
          <p:cNvPr id="124002" name="Group 98"/>
          <p:cNvGrpSpPr/>
          <p:nvPr>
            <p:custDataLst>
              <p:tags r:id="rId6"/>
            </p:custDataLst>
          </p:nvPr>
        </p:nvGrpSpPr>
        <p:grpSpPr>
          <a:xfrm flipH="1">
            <a:off x="3894445" y="1744476"/>
            <a:ext cx="735836" cy="582252"/>
            <a:chOff x="1679" y="1499"/>
            <a:chExt cx="419" cy="465"/>
          </a:xfrm>
        </p:grpSpPr>
        <p:sp>
          <p:nvSpPr>
            <p:cNvPr id="124001" name="Text Box 97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791" y="1499"/>
              <a:ext cx="307" cy="4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800" i="1"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kumimoji="1" lang="en-US" altLang="zh-CN" sz="2800" baseline="-25000"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endParaRPr kumimoji="1" lang="zh-CN" altLang="en-US" sz="2800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3920" name="Line 16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>
              <a:off x="1679" y="1963"/>
              <a:ext cx="384" cy="1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"/>
            </a:p>
          </p:txBody>
        </p:sp>
      </p:grp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 flipH="1">
            <a:off x="2067560" y="1691005"/>
            <a:ext cx="1888490" cy="514350"/>
            <a:chOff x="11810" y="2669"/>
            <a:chExt cx="2974" cy="810"/>
          </a:xfrm>
        </p:grpSpPr>
        <p:sp>
          <p:nvSpPr>
            <p:cNvPr id="123921" name="Line 17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flipV="1">
              <a:off x="11810" y="3473"/>
              <a:ext cx="2974" cy="6"/>
            </a:xfrm>
            <a:prstGeom prst="line">
              <a:avLst/>
            </a:prstGeom>
            <a:noFill/>
            <a:ln w="28575">
              <a:solidFill>
                <a:srgbClr val="FF99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123923" name="Text Box 19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2813" y="2669"/>
              <a:ext cx="968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Δ</a:t>
              </a:r>
              <a:r>
                <a:rPr kumimoji="1" lang="en-US" altLang="zh-CN" sz="2800" i="1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</a:p>
          </p:txBody>
        </p:sp>
      </p:grpSp>
      <p:sp>
        <p:nvSpPr>
          <p:cNvPr id="123927" name="Text Box 23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345690" y="3091180"/>
            <a:ext cx="3183255" cy="572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no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v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&lt;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Δ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v=v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-v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kumimoji="1" lang="en-US" altLang="zh-CN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&lt;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3928" name="AutoShape 24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696585" y="3251200"/>
            <a:ext cx="674370" cy="18034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13" name="组合 12"/>
          <p:cNvGrpSpPr/>
          <p:nvPr>
            <p:custDataLst>
              <p:tags r:id="rId10"/>
            </p:custDataLst>
          </p:nvPr>
        </p:nvGrpSpPr>
        <p:grpSpPr>
          <a:xfrm>
            <a:off x="1188085" y="1067435"/>
            <a:ext cx="1516380" cy="511810"/>
            <a:chOff x="1870" y="1685"/>
            <a:chExt cx="2388" cy="806"/>
          </a:xfrm>
        </p:grpSpPr>
        <p:sp>
          <p:nvSpPr>
            <p:cNvPr id="123959" name="Line 55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2268" y="2491"/>
              <a:ext cx="1991" cy="0"/>
            </a:xfrm>
            <a:prstGeom prst="line">
              <a:avLst/>
            </a:prstGeom>
            <a:noFill/>
            <a:ln w="57150">
              <a:solidFill>
                <a:srgbClr val="4DAEFE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123960" name="Text Box 56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870" y="1685"/>
              <a:ext cx="2389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ctr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Times New Roman" panose="02020603050405020304" charset="0"/>
                </a:rPr>
                <a:t>正方向</a:t>
              </a:r>
            </a:p>
          </p:txBody>
        </p:sp>
      </p:grpSp>
      <p:sp>
        <p:nvSpPr>
          <p:cNvPr id="123967" name="Text Box 63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833870" y="3091180"/>
            <a:ext cx="1113155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&lt;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</a:p>
        </p:txBody>
      </p:sp>
      <p:sp>
        <p:nvSpPr>
          <p:cNvPr id="5" name="Text Box 2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452485" y="3091180"/>
            <a:ext cx="937260" cy="5118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</a:rPr>
              <a:t>加速</a:t>
            </a:r>
          </a:p>
        </p:txBody>
      </p:sp>
      <p:sp>
        <p:nvSpPr>
          <p:cNvPr id="19" name="Rectangle 7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9462770" y="4493895"/>
            <a:ext cx="337185" cy="240665"/>
          </a:xfrm>
          <a:prstGeom prst="rect">
            <a:avLst/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20" name="组合 19"/>
          <p:cNvGrpSpPr/>
          <p:nvPr>
            <p:custDataLst>
              <p:tags r:id="rId14"/>
            </p:custDataLst>
          </p:nvPr>
        </p:nvGrpSpPr>
        <p:grpSpPr>
          <a:xfrm flipH="1">
            <a:off x="6382385" y="4135120"/>
            <a:ext cx="3080385" cy="494665"/>
            <a:chOff x="2998" y="2962"/>
            <a:chExt cx="4851" cy="779"/>
          </a:xfrm>
        </p:grpSpPr>
        <p:sp>
          <p:nvSpPr>
            <p:cNvPr id="21" name="Line 8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2998" y="3741"/>
              <a:ext cx="4082" cy="0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22" name="Text Box 9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327" y="2962"/>
              <a:ext cx="2522" cy="6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no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 i="1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=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-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5 m/s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3" name="Line 11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V="1">
            <a:off x="1528445" y="4744085"/>
            <a:ext cx="8272145" cy="43815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/>
          <a:lstStyle/>
          <a:p>
            <a:endParaRPr lang="zh-CN" altLang="en-US" sz="135"/>
          </a:p>
        </p:txBody>
      </p:sp>
      <p:grpSp>
        <p:nvGrpSpPr>
          <p:cNvPr id="37" name="组合 36"/>
          <p:cNvGrpSpPr/>
          <p:nvPr>
            <p:custDataLst>
              <p:tags r:id="rId16"/>
            </p:custDataLst>
          </p:nvPr>
        </p:nvGrpSpPr>
        <p:grpSpPr>
          <a:xfrm flipH="1">
            <a:off x="1575435" y="4197350"/>
            <a:ext cx="3117215" cy="576580"/>
            <a:chOff x="11051" y="6628"/>
            <a:chExt cx="4909" cy="908"/>
          </a:xfrm>
        </p:grpSpPr>
        <p:sp>
          <p:nvSpPr>
            <p:cNvPr id="18" name="Text Box 80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5073" y="6628"/>
              <a:ext cx="887" cy="9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no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2800" i="1"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  <a:r>
                <a:rPr lang="en-US" altLang="zh-CN" sz="2800" baseline="-250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endParaRPr lang="zh-CN" altLang="en-US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flipV="1">
              <a:off x="11051" y="7272"/>
              <a:ext cx="4070" cy="10"/>
            </a:xfrm>
            <a:prstGeom prst="line">
              <a:avLst/>
            </a:prstGeom>
            <a:noFill/>
            <a:ln w="28575">
              <a:solidFill>
                <a:srgbClr val="00A249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</p:grpSp>
      <p:grpSp>
        <p:nvGrpSpPr>
          <p:cNvPr id="36" name="组合 35"/>
          <p:cNvGrpSpPr/>
          <p:nvPr>
            <p:custDataLst>
              <p:tags r:id="rId17"/>
            </p:custDataLst>
          </p:nvPr>
        </p:nvGrpSpPr>
        <p:grpSpPr>
          <a:xfrm flipH="1">
            <a:off x="2853690" y="4030345"/>
            <a:ext cx="2176145" cy="703580"/>
            <a:chOff x="10145" y="5829"/>
            <a:chExt cx="3427" cy="1108"/>
          </a:xfrm>
        </p:grpSpPr>
        <p:sp>
          <p:nvSpPr>
            <p:cNvPr id="16" name="Rectangle 10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0145" y="6559"/>
              <a:ext cx="531" cy="379"/>
            </a:xfrm>
            <a:prstGeom prst="rect">
              <a:avLst/>
            </a:prstGeom>
            <a:solidFill>
              <a:srgbClr val="4DAEFE"/>
            </a:solidFill>
            <a:ln w="9525" algn="ctr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1386" tIns="40693" rIns="81386" bIns="40693" anchor="ctr"/>
            <a:lstStyle/>
            <a:p>
              <a:endPara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grpSp>
          <p:nvGrpSpPr>
            <p:cNvPr id="24" name="Group 98"/>
            <p:cNvGrpSpPr/>
            <p:nvPr>
              <p:custDataLst>
                <p:tags r:id="rId26"/>
              </p:custDataLst>
            </p:nvPr>
          </p:nvGrpSpPr>
          <p:grpSpPr>
            <a:xfrm>
              <a:off x="10676" y="5829"/>
              <a:ext cx="2896" cy="917"/>
              <a:chOff x="1679" y="1499"/>
              <a:chExt cx="1047" cy="465"/>
            </a:xfrm>
          </p:grpSpPr>
          <p:sp>
            <p:nvSpPr>
              <p:cNvPr id="25" name="Text Box 97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1791" y="1499"/>
                <a:ext cx="935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noAutofit/>
              </a:bodyPr>
              <a:lstStyle>
                <a:lvl1pPr marL="342900" indent="-342900"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1pPr>
                <a:lvl2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2pPr>
                <a:lvl3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3pPr>
                <a:lvl4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4pPr>
                <a:lvl5pPr algn="ctr">
                  <a:spcBef>
                    <a:spcPct val="0"/>
                  </a:spcBef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5pPr>
                <a:lvl6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6pPr>
                <a:lvl7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7pPr>
                <a:lvl8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8pPr>
                <a:lvl9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charset="-122"/>
                  </a:defRPr>
                </a:lvl9pPr>
              </a:lstStyle>
              <a:p>
                <a:pPr algn="l">
                  <a:spcBef>
                    <a:spcPct val="20000"/>
                  </a:spcBef>
                  <a:buFont typeface="Wingdings" panose="05000000000000000000" pitchFamily="2" charset="2"/>
                  <a:buNone/>
                </a:pPr>
                <a:r>
                  <a:rPr kumimoji="1" lang="en-US" altLang="zh-CN" sz="2800" i="1">
                    <a:latin typeface="Times New Roman" panose="02020603050405020304" charset="0"/>
                    <a:cs typeface="Times New Roman" panose="02020603050405020304" charset="0"/>
                  </a:rPr>
                  <a:t>v</a:t>
                </a:r>
                <a:r>
                  <a:rPr kumimoji="1" lang="en-US" altLang="zh-CN" sz="2800" baseline="-25000">
                    <a:latin typeface="Times New Roman" panose="02020603050405020304" charset="0"/>
                    <a:cs typeface="Times New Roman" panose="02020603050405020304" charset="0"/>
                  </a:rPr>
                  <a:t>2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=</a:t>
                </a:r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-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2 m/s</a:t>
                </a:r>
                <a:endParaRPr kumimoji="1" lang="zh-CN" altLang="en-US" sz="2800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6" name="Line 16"/>
              <p:cNvSpPr>
                <a:spLocks noChangeShapeType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1679" y="1963"/>
                <a:ext cx="384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"/>
              </a:p>
            </p:txBody>
          </p:sp>
        </p:grpSp>
      </p:grpSp>
      <p:grpSp>
        <p:nvGrpSpPr>
          <p:cNvPr id="28" name="组合 27"/>
          <p:cNvGrpSpPr/>
          <p:nvPr>
            <p:custDataLst>
              <p:tags r:id="rId18"/>
            </p:custDataLst>
          </p:nvPr>
        </p:nvGrpSpPr>
        <p:grpSpPr>
          <a:xfrm flipH="1">
            <a:off x="2108200" y="4870450"/>
            <a:ext cx="1888490" cy="511810"/>
            <a:chOff x="11810" y="3159"/>
            <a:chExt cx="2974" cy="806"/>
          </a:xfrm>
        </p:grpSpPr>
        <p:sp>
          <p:nvSpPr>
            <p:cNvPr id="29" name="Line 17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H="1" flipV="1">
              <a:off x="11810" y="3305"/>
              <a:ext cx="2974" cy="6"/>
            </a:xfrm>
            <a:prstGeom prst="line">
              <a:avLst/>
            </a:prstGeom>
            <a:noFill/>
            <a:ln w="28575">
              <a:solidFill>
                <a:srgbClr val="FF99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1386" tIns="40693" rIns="81386" bIns="40693"/>
            <a:lstStyle/>
            <a:p>
              <a:endParaRPr lang="zh-CN" altLang="en-US" sz="135"/>
            </a:p>
          </p:txBody>
        </p:sp>
        <p:sp>
          <p:nvSpPr>
            <p:cNvPr id="30" name="Text Box 19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2939" y="3159"/>
              <a:ext cx="968" cy="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386" tIns="40693" rIns="81386" bIns="40693">
              <a:spAutoFit/>
            </a:bodyPr>
            <a:lstStyle>
              <a:lvl1pPr marL="342900" indent="-3429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algn="l">
                <a:spcBef>
                  <a:spcPct val="20000"/>
                </a:spcBef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Δ</a:t>
              </a:r>
              <a:r>
                <a:rPr kumimoji="1" lang="en-US" altLang="zh-CN" sz="2800" i="1">
                  <a:solidFill>
                    <a:srgbClr val="FF99FF"/>
                  </a:solidFill>
                  <a:latin typeface="Times New Roman" panose="02020603050405020304" charset="0"/>
                  <a:cs typeface="Times New Roman" panose="02020603050405020304" charset="0"/>
                </a:rPr>
                <a:t>v</a:t>
              </a:r>
            </a:p>
          </p:txBody>
        </p:sp>
      </p:grpSp>
      <p:sp>
        <p:nvSpPr>
          <p:cNvPr id="31" name="Text Box 23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345690" y="5640070"/>
            <a:ext cx="3183255" cy="572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no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v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&lt;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zh-CN" altLang="en-US" sz="2800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Δ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v=v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kumimoji="1" lang="en-US" altLang="zh-CN" sz="2800" i="1">
                <a:latin typeface="Times New Roman" panose="02020603050405020304" charset="0"/>
                <a:cs typeface="Times New Roman" panose="02020603050405020304" charset="0"/>
              </a:rPr>
              <a:t>-v</a:t>
            </a:r>
            <a:r>
              <a:rPr kumimoji="1" lang="en-US" altLang="zh-CN" sz="2800" i="1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kumimoji="1" lang="en-US" altLang="zh-CN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&gt;</a:t>
            </a: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AutoShape 24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696585" y="5800090"/>
            <a:ext cx="674370" cy="18034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4DAEFE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386" tIns="40693" rIns="81386" bIns="40693" anchor="ctr"/>
          <a:lstStyle/>
          <a:p>
            <a:endParaRPr lang="zh-CN" altLang="en-US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33" name="Text Box 63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941185" y="5638800"/>
            <a:ext cx="1113155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en-US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&gt;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0</a:t>
            </a:r>
          </a:p>
        </p:txBody>
      </p:sp>
      <p:sp>
        <p:nvSpPr>
          <p:cNvPr id="34" name="Text Box 23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8452485" y="5638800"/>
            <a:ext cx="937260" cy="5118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386" tIns="40693" rIns="81386" bIns="40693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charset="0"/>
              </a:rPr>
              <a:t>减速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3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27" grpId="0" animBg="1"/>
      <p:bldP spid="123928" grpId="0" animBg="1"/>
      <p:bldP spid="123967" grpId="0" animBg="1"/>
      <p:bldP spid="5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sp>
        <p:nvSpPr>
          <p:cNvPr id="16392" name="矩形 16391"/>
          <p:cNvSpPr/>
          <p:nvPr>
            <p:custDataLst>
              <p:tags r:id="rId2"/>
            </p:custDataLst>
          </p:nvPr>
        </p:nvSpPr>
        <p:spPr>
          <a:xfrm>
            <a:off x="396875" y="1320165"/>
            <a:ext cx="11414125" cy="8559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</a:rPr>
              <a:t>(2)</a:t>
            </a:r>
            <a:r>
              <a:rPr lang="zh-CN" altLang="en-US" sz="36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</a:rPr>
              <a:t>加速度在减小，而速度在增大，有可能吗？</a:t>
            </a: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396875" y="3429000"/>
            <a:ext cx="9011285" cy="838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</a:rPr>
              <a:t>(3)</a:t>
            </a:r>
            <a:r>
              <a:rPr lang="zh-CN" altLang="en-US" sz="36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加速度在增大，而速度在减小，有可能吗？</a:t>
            </a:r>
            <a:endParaRPr lang="zh-CN" altLang="en-US" sz="3600">
              <a:latin typeface="Times New Roman" panose="02020603050405020304" charset="0"/>
              <a:ea typeface="黑体" panose="02010609060101010101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4631055" cy="62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二、加速度的方向</a:t>
            </a:r>
          </a:p>
        </p:txBody>
      </p:sp>
      <p:sp>
        <p:nvSpPr>
          <p:cNvPr id="16392" name="矩形 16391"/>
          <p:cNvSpPr/>
          <p:nvPr>
            <p:custDataLst>
              <p:tags r:id="rId2"/>
            </p:custDataLst>
          </p:nvPr>
        </p:nvSpPr>
        <p:spPr>
          <a:xfrm>
            <a:off x="396875" y="1124585"/>
            <a:ext cx="9963785" cy="8559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</a:rPr>
              <a:t>(2)</a:t>
            </a:r>
            <a:r>
              <a:rPr lang="zh-CN" altLang="en-US" sz="32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</a:rPr>
              <a:t>加速度在减小，而速度在增大。</a:t>
            </a:r>
            <a:endParaRPr lang="en-US" altLang="zh-CN" sz="3200">
              <a:latin typeface="Times New Roman" panose="0202060305040502030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grpSp>
        <p:nvGrpSpPr>
          <p:cNvPr id="6" name="Group 30"/>
          <p:cNvGrpSpPr/>
          <p:nvPr>
            <p:custDataLst>
              <p:tags r:id="rId3"/>
            </p:custDataLst>
          </p:nvPr>
        </p:nvGrpSpPr>
        <p:grpSpPr>
          <a:xfrm>
            <a:off x="694690" y="2949456"/>
            <a:ext cx="4648200" cy="579189"/>
            <a:chOff x="142" y="1298"/>
            <a:chExt cx="5155" cy="1370"/>
          </a:xfrm>
        </p:grpSpPr>
        <p:grpSp>
          <p:nvGrpSpPr>
            <p:cNvPr id="128005" name="Group 31"/>
            <p:cNvGrpSpPr/>
            <p:nvPr>
              <p:custDataLst>
                <p:tags r:id="rId18"/>
              </p:custDataLst>
            </p:nvPr>
          </p:nvGrpSpPr>
          <p:grpSpPr>
            <a:xfrm>
              <a:off x="340" y="1298"/>
              <a:ext cx="4808" cy="136"/>
              <a:chOff x="476" y="1842"/>
              <a:chExt cx="4808" cy="273"/>
            </a:xfrm>
          </p:grpSpPr>
          <p:sp>
            <p:nvSpPr>
              <p:cNvPr id="128006" name="Line 32"/>
              <p:cNvSpPr>
                <a:spLocks noChangeShapeType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476" y="2115"/>
                <a:ext cx="48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28007" name="Line 33"/>
              <p:cNvSpPr>
                <a:spLocks noChangeShapeType="1"/>
              </p:cNvSpPr>
              <p:nvPr>
                <p:custDataLst>
                  <p:tags r:id="rId28"/>
                </p:custDataLst>
              </p:nvPr>
            </p:nvSpPr>
            <p:spPr bwMode="auto">
              <a:xfrm flipH="1" flipV="1">
                <a:off x="476" y="1842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28008" name="Line 34"/>
              <p:cNvSpPr>
                <a:spLocks noChangeShapeType="1"/>
              </p:cNvSpPr>
              <p:nvPr>
                <p:custDataLst>
                  <p:tags r:id="rId29"/>
                </p:custDataLst>
              </p:nvPr>
            </p:nvSpPr>
            <p:spPr bwMode="auto">
              <a:xfrm flipH="1" flipV="1">
                <a:off x="1111" y="1842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28009" name="Line 35"/>
              <p:cNvSpPr>
                <a:spLocks noChangeShapeType="1"/>
              </p:cNvSpPr>
              <p:nvPr>
                <p:custDataLst>
                  <p:tags r:id="rId30"/>
                </p:custDataLst>
              </p:nvPr>
            </p:nvSpPr>
            <p:spPr bwMode="auto">
              <a:xfrm flipH="1" flipV="1">
                <a:off x="1746" y="1842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28010" name="Line 36"/>
              <p:cNvSpPr>
                <a:spLocks noChangeShapeType="1"/>
              </p:cNvSpPr>
              <p:nvPr>
                <p:custDataLst>
                  <p:tags r:id="rId31"/>
                </p:custDataLst>
              </p:nvPr>
            </p:nvSpPr>
            <p:spPr bwMode="auto">
              <a:xfrm flipH="1" flipV="1">
                <a:off x="2381" y="1842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28011" name="Line 37"/>
              <p:cNvSpPr>
                <a:spLocks noChangeShapeType="1"/>
              </p:cNvSpPr>
              <p:nvPr>
                <p:custDataLst>
                  <p:tags r:id="rId32"/>
                </p:custDataLst>
              </p:nvPr>
            </p:nvSpPr>
            <p:spPr bwMode="auto">
              <a:xfrm flipH="1" flipV="1">
                <a:off x="3016" y="1842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28012" name="Line 38"/>
              <p:cNvSpPr>
                <a:spLocks noChangeShapeType="1"/>
              </p:cNvSpPr>
              <p:nvPr>
                <p:custDataLst>
                  <p:tags r:id="rId33"/>
                </p:custDataLst>
              </p:nvPr>
            </p:nvSpPr>
            <p:spPr bwMode="auto">
              <a:xfrm flipH="1" flipV="1">
                <a:off x="3742" y="1842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28013" name="Line 39"/>
              <p:cNvSpPr>
                <a:spLocks noChangeShapeType="1"/>
              </p:cNvSpPr>
              <p:nvPr>
                <p:custDataLst>
                  <p:tags r:id="rId34"/>
                </p:custDataLst>
              </p:nvPr>
            </p:nvSpPr>
            <p:spPr bwMode="auto">
              <a:xfrm flipH="1" flipV="1">
                <a:off x="4377" y="1842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</p:grpSp>
        <p:sp>
          <p:nvSpPr>
            <p:cNvPr id="2" name="Text Box 40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695" y="1408"/>
              <a:ext cx="602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t</a:t>
              </a: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/s</a:t>
              </a:r>
            </a:p>
          </p:txBody>
        </p:sp>
        <p:sp>
          <p:nvSpPr>
            <p:cNvPr id="3" name="Text Box 4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78" y="1402"/>
              <a:ext cx="407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1</a:t>
              </a:r>
            </a:p>
          </p:txBody>
        </p:sp>
        <p:sp>
          <p:nvSpPr>
            <p:cNvPr id="4" name="Text Box 42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42" y="1419"/>
              <a:ext cx="408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0</a:t>
              </a:r>
            </a:p>
          </p:txBody>
        </p:sp>
        <p:sp>
          <p:nvSpPr>
            <p:cNvPr id="7" name="Text Box 4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397" y="1419"/>
              <a:ext cx="408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2</a:t>
              </a:r>
            </a:p>
          </p:txBody>
        </p:sp>
        <p:sp>
          <p:nvSpPr>
            <p:cNvPr id="8" name="Text Box 44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050" y="1425"/>
              <a:ext cx="407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3</a:t>
              </a:r>
            </a:p>
          </p:txBody>
        </p:sp>
        <p:sp>
          <p:nvSpPr>
            <p:cNvPr id="14" name="Text Box 45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683" y="1411"/>
              <a:ext cx="408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4</a:t>
              </a:r>
            </a:p>
          </p:txBody>
        </p:sp>
        <p:sp>
          <p:nvSpPr>
            <p:cNvPr id="15" name="Text Box 46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380" y="1419"/>
              <a:ext cx="407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5</a:t>
              </a:r>
            </a:p>
          </p:txBody>
        </p:sp>
        <p:sp>
          <p:nvSpPr>
            <p:cNvPr id="35" name="Text Box 4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014" y="1433"/>
              <a:ext cx="408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6</a:t>
              </a:r>
            </a:p>
          </p:txBody>
        </p:sp>
      </p:grpSp>
      <p:sp>
        <p:nvSpPr>
          <p:cNvPr id="128041" name="Text Box 4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21996" y="2437815"/>
            <a:ext cx="340360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0</a:t>
            </a:r>
          </a:p>
        </p:txBody>
      </p:sp>
      <p:sp>
        <p:nvSpPr>
          <p:cNvPr id="128042" name="Text Box 4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268096" y="2461325"/>
            <a:ext cx="429260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4 </a:t>
            </a:r>
          </a:p>
        </p:txBody>
      </p:sp>
      <p:sp>
        <p:nvSpPr>
          <p:cNvPr id="128043" name="Text Box 4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333627" y="2465334"/>
            <a:ext cx="518160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D29FF"/>
                </a:solidFill>
                <a:latin typeface="Times New Roman" panose="02020603050405020304" charset="0"/>
                <a:cs typeface="Times New Roman" panose="02020603050405020304" charset="0"/>
              </a:rPr>
              <a:t>10</a:t>
            </a:r>
          </a:p>
        </p:txBody>
      </p:sp>
      <p:sp>
        <p:nvSpPr>
          <p:cNvPr id="128044" name="Text Box 44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863727" y="2465334"/>
            <a:ext cx="340360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8</a:t>
            </a:r>
          </a:p>
        </p:txBody>
      </p:sp>
      <p:sp>
        <p:nvSpPr>
          <p:cNvPr id="128045" name="Text Box 45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952116" y="2451364"/>
            <a:ext cx="498475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4274FF"/>
                </a:solidFill>
                <a:latin typeface="Times New Roman" panose="02020603050405020304" charset="0"/>
                <a:cs typeface="Times New Roman" panose="02020603050405020304" charset="0"/>
              </a:rPr>
              <a:t>11</a:t>
            </a:r>
          </a:p>
        </p:txBody>
      </p:sp>
      <p:sp>
        <p:nvSpPr>
          <p:cNvPr id="128046" name="Rectangle 46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47090" y="2835189"/>
            <a:ext cx="304800" cy="171400"/>
          </a:xfrm>
          <a:prstGeom prst="rect">
            <a:avLst/>
          </a:prstGeom>
          <a:solidFill>
            <a:srgbClr val="CCECFF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 anchor="ctr"/>
          <a:lstStyle/>
          <a:p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8054" name="Text Box 54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863725" y="3947795"/>
            <a:ext cx="2110105" cy="532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589" tIns="40795" rIns="81589" bIns="40795">
            <a:no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=4 m/s</a:t>
            </a:r>
            <a:r>
              <a:rPr lang="en-US" altLang="zh-CN" sz="2800" baseline="30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zh-CN" sz="2800" baseline="30000">
                <a:latin typeface="Times New Roman" panose="02020603050405020304" charset="0"/>
                <a:cs typeface="Times New Roman" panose="02020603050405020304" charset="0"/>
              </a:rPr>
              <a:t>   </a:t>
            </a:r>
          </a:p>
        </p:txBody>
      </p:sp>
      <p:sp>
        <p:nvSpPr>
          <p:cNvPr id="128056" name="Text Box 56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171700" y="5518785"/>
            <a:ext cx="164655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589" tIns="40795" rIns="81589" bIns="40795">
            <a:no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4274FF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zh-CN" sz="2800" baseline="-25000">
                <a:solidFill>
                  <a:srgbClr val="4274FF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lang="en-US" altLang="zh-CN" sz="2800">
                <a:solidFill>
                  <a:srgbClr val="4274FF"/>
                </a:solidFill>
                <a:latin typeface="Times New Roman" panose="02020603050405020304" charset="0"/>
                <a:cs typeface="Times New Roman" panose="02020603050405020304" charset="0"/>
              </a:rPr>
              <a:t>=1 m/s</a:t>
            </a:r>
            <a:r>
              <a:rPr lang="en-US" altLang="zh-CN" sz="2800" baseline="30000">
                <a:solidFill>
                  <a:srgbClr val="4274FF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</a:p>
        </p:txBody>
      </p:sp>
      <p:sp>
        <p:nvSpPr>
          <p:cNvPr id="128057" name="Text Box 57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160905" y="4768215"/>
            <a:ext cx="1657350" cy="462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589" tIns="40795" rIns="81589" bIns="40795">
            <a:no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FD29FF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zh-CN" sz="2800" baseline="-25000">
                <a:solidFill>
                  <a:srgbClr val="FD29FF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en-US" altLang="zh-CN" sz="2800">
                <a:solidFill>
                  <a:srgbClr val="FD29FF"/>
                </a:solidFill>
                <a:latin typeface="Times New Roman" panose="02020603050405020304" charset="0"/>
                <a:cs typeface="Times New Roman" panose="02020603050405020304" charset="0"/>
              </a:rPr>
              <a:t>=2 m/s</a:t>
            </a:r>
            <a:r>
              <a:rPr lang="en-US" altLang="zh-CN" sz="2800" baseline="30000">
                <a:solidFill>
                  <a:srgbClr val="FD29FF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</a:p>
        </p:txBody>
      </p:sp>
      <p:sp>
        <p:nvSpPr>
          <p:cNvPr id="38" name="Text Box 45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550920" y="2397125"/>
            <a:ext cx="732155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m/s</a:t>
            </a:r>
          </a:p>
        </p:txBody>
      </p:sp>
      <p:sp>
        <p:nvSpPr>
          <p:cNvPr id="128062" name="Text Box 62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958206" y="3522897"/>
            <a:ext cx="1998980" cy="635000"/>
          </a:xfrm>
          <a:prstGeom prst="rect">
            <a:avLst/>
          </a:prstGeom>
          <a:solidFill>
            <a:srgbClr val="7FC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chemeClr val="tx1"/>
                </a:solidFill>
                <a:latin typeface="Times New Roman" panose="02020603050405020304" charset="0"/>
              </a:rPr>
              <a:t>同向加速</a:t>
            </a:r>
          </a:p>
        </p:txBody>
      </p:sp>
      <p:sp>
        <p:nvSpPr>
          <p:cNvPr id="128065" name="AutoShape 65"/>
          <p:cNvSpPr/>
          <p:nvPr>
            <p:custDataLst>
              <p:tags r:id="rId15"/>
            </p:custDataLst>
          </p:nvPr>
        </p:nvSpPr>
        <p:spPr bwMode="auto">
          <a:xfrm>
            <a:off x="7948930" y="2835275"/>
            <a:ext cx="362585" cy="2154555"/>
          </a:xfrm>
          <a:prstGeom prst="leftBrace">
            <a:avLst>
              <a:gd name="adj1" fmla="val 44444"/>
              <a:gd name="adj2" fmla="val 50000"/>
            </a:avLst>
          </a:prstGeom>
          <a:noFill/>
          <a:ln w="38100">
            <a:solidFill>
              <a:srgbClr val="4DAEFE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 anchor="ctr"/>
          <a:lstStyle/>
          <a:p>
            <a:endParaRPr lang="zh-CN" altLang="en-US" sz="100"/>
          </a:p>
        </p:txBody>
      </p:sp>
      <p:sp>
        <p:nvSpPr>
          <p:cNvPr id="128066" name="Text Box 66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8388350" y="2657475"/>
            <a:ext cx="2668270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589" tIns="40795" rIns="81589" bIns="40795">
            <a:no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0" i="1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zh-CN" altLang="en-US" sz="3200" b="0">
                <a:latin typeface="Times New Roman" panose="02020603050405020304" charset="0"/>
                <a:cs typeface="Times New Roman" panose="02020603050405020304" charset="0"/>
              </a:rPr>
              <a:t>减小</a:t>
            </a:r>
            <a:r>
              <a:rPr lang="en-US" altLang="zh-CN" sz="3200" b="0" i="1">
                <a:latin typeface="Times New Roman" panose="02020603050405020304" charset="0"/>
                <a:cs typeface="Times New Roman" panose="02020603050405020304" charset="0"/>
              </a:rPr>
              <a:t>v</a:t>
            </a:r>
            <a:r>
              <a:rPr lang="zh-CN" altLang="en-US" sz="3200" b="0">
                <a:latin typeface="Times New Roman" panose="02020603050405020304" charset="0"/>
                <a:cs typeface="Times New Roman" panose="02020603050405020304" charset="0"/>
              </a:rPr>
              <a:t>增加慢</a:t>
            </a:r>
          </a:p>
        </p:txBody>
      </p:sp>
      <p:sp>
        <p:nvSpPr>
          <p:cNvPr id="128067" name="Text Box 67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8388350" y="4768215"/>
            <a:ext cx="2870835" cy="776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589" tIns="40795" rIns="81589" bIns="40795">
            <a:no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0" i="1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zh-CN" altLang="en-US" sz="3200" b="0">
                <a:latin typeface="Times New Roman" panose="02020603050405020304" charset="0"/>
                <a:cs typeface="Times New Roman" panose="02020603050405020304" charset="0"/>
              </a:rPr>
              <a:t>增大</a:t>
            </a:r>
            <a:r>
              <a:rPr lang="en-US" altLang="zh-CN" sz="3200" b="0" i="1">
                <a:latin typeface="Times New Roman" panose="02020603050405020304" charset="0"/>
                <a:cs typeface="Times New Roman" panose="02020603050405020304" charset="0"/>
              </a:rPr>
              <a:t>v</a:t>
            </a:r>
            <a:r>
              <a:rPr lang="zh-CN" altLang="en-US" sz="3200" b="0">
                <a:latin typeface="Times New Roman" panose="02020603050405020304" charset="0"/>
                <a:cs typeface="Times New Roman" panose="02020603050405020304" charset="0"/>
              </a:rPr>
              <a:t>增加快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128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8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8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8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42" grpId="0" animBg="1"/>
      <p:bldP spid="128043" grpId="0" animBg="1"/>
      <p:bldP spid="128044" grpId="0" animBg="1"/>
      <p:bldP spid="128045" grpId="0" animBg="1"/>
      <p:bldP spid="128054" grpId="0" animBg="1"/>
      <p:bldP spid="128056" grpId="0" animBg="1"/>
      <p:bldP spid="128057" grpId="0" animBg="1"/>
      <p:bldP spid="128062" grpId="0" animBg="1"/>
      <p:bldP spid="128065" grpId="0" animBg="1"/>
      <p:bldP spid="128066" grpId="0" animBg="1"/>
      <p:bldP spid="12806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4631055" cy="62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二、加速度的方向</a:t>
            </a: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396875" y="981710"/>
            <a:ext cx="9011285" cy="8388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</a:rPr>
              <a:t>(3)</a:t>
            </a:r>
            <a:r>
              <a:rPr lang="zh-CN" altLang="en-US" sz="3200">
                <a:latin typeface="Times New Roman" panose="02020603050405020304" charset="0"/>
                <a:ea typeface="黑体" panose="02010609060101010101" charset="-122"/>
                <a:cs typeface="微软雅黑" panose="020B0503020204020204" charset="-122"/>
                <a:sym typeface="+mn-ea"/>
              </a:rPr>
              <a:t>加速度在增大，而速度在减小。</a:t>
            </a:r>
            <a:endParaRPr lang="zh-CN" altLang="en-US" sz="3200">
              <a:latin typeface="Times New Roman" panose="02020603050405020304" charset="0"/>
              <a:ea typeface="黑体" panose="02010609060101010101" charset="-122"/>
              <a:cs typeface="微软雅黑" panose="020B0503020204020204" charset="-122"/>
            </a:endParaRPr>
          </a:p>
        </p:txBody>
      </p:sp>
      <p:grpSp>
        <p:nvGrpSpPr>
          <p:cNvPr id="11" name="Group 30"/>
          <p:cNvGrpSpPr/>
          <p:nvPr>
            <p:custDataLst>
              <p:tags r:id="rId3"/>
            </p:custDataLst>
          </p:nvPr>
        </p:nvGrpSpPr>
        <p:grpSpPr>
          <a:xfrm>
            <a:off x="1209675" y="2807290"/>
            <a:ext cx="4648200" cy="579189"/>
            <a:chOff x="142" y="1298"/>
            <a:chExt cx="5155" cy="1370"/>
          </a:xfrm>
        </p:grpSpPr>
        <p:grpSp>
          <p:nvGrpSpPr>
            <p:cNvPr id="128023" name="Group 31"/>
            <p:cNvGrpSpPr/>
            <p:nvPr>
              <p:custDataLst>
                <p:tags r:id="rId18"/>
              </p:custDataLst>
            </p:nvPr>
          </p:nvGrpSpPr>
          <p:grpSpPr>
            <a:xfrm>
              <a:off x="340" y="1298"/>
              <a:ext cx="4808" cy="136"/>
              <a:chOff x="476" y="1842"/>
              <a:chExt cx="4808" cy="273"/>
            </a:xfrm>
          </p:grpSpPr>
          <p:sp>
            <p:nvSpPr>
              <p:cNvPr id="128024" name="Line 32"/>
              <p:cNvSpPr>
                <a:spLocks noChangeShapeType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476" y="2115"/>
                <a:ext cx="48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28025" name="Line 33"/>
              <p:cNvSpPr>
                <a:spLocks noChangeShapeType="1"/>
              </p:cNvSpPr>
              <p:nvPr>
                <p:custDataLst>
                  <p:tags r:id="rId28"/>
                </p:custDataLst>
              </p:nvPr>
            </p:nvSpPr>
            <p:spPr bwMode="auto">
              <a:xfrm flipH="1" flipV="1">
                <a:off x="476" y="1842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28026" name="Line 34"/>
              <p:cNvSpPr>
                <a:spLocks noChangeShapeType="1"/>
              </p:cNvSpPr>
              <p:nvPr>
                <p:custDataLst>
                  <p:tags r:id="rId29"/>
                </p:custDataLst>
              </p:nvPr>
            </p:nvSpPr>
            <p:spPr bwMode="auto">
              <a:xfrm flipH="1" flipV="1">
                <a:off x="1111" y="1842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28027" name="Line 35"/>
              <p:cNvSpPr>
                <a:spLocks noChangeShapeType="1"/>
              </p:cNvSpPr>
              <p:nvPr>
                <p:custDataLst>
                  <p:tags r:id="rId30"/>
                </p:custDataLst>
              </p:nvPr>
            </p:nvSpPr>
            <p:spPr bwMode="auto">
              <a:xfrm flipH="1" flipV="1">
                <a:off x="1746" y="1842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28028" name="Line 36"/>
              <p:cNvSpPr>
                <a:spLocks noChangeShapeType="1"/>
              </p:cNvSpPr>
              <p:nvPr>
                <p:custDataLst>
                  <p:tags r:id="rId31"/>
                </p:custDataLst>
              </p:nvPr>
            </p:nvSpPr>
            <p:spPr bwMode="auto">
              <a:xfrm flipH="1" flipV="1">
                <a:off x="2381" y="1842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28029" name="Line 37"/>
              <p:cNvSpPr>
                <a:spLocks noChangeShapeType="1"/>
              </p:cNvSpPr>
              <p:nvPr>
                <p:custDataLst>
                  <p:tags r:id="rId32"/>
                </p:custDataLst>
              </p:nvPr>
            </p:nvSpPr>
            <p:spPr bwMode="auto">
              <a:xfrm flipH="1" flipV="1">
                <a:off x="3016" y="1842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28030" name="Line 38"/>
              <p:cNvSpPr>
                <a:spLocks noChangeShapeType="1"/>
              </p:cNvSpPr>
              <p:nvPr>
                <p:custDataLst>
                  <p:tags r:id="rId33"/>
                </p:custDataLst>
              </p:nvPr>
            </p:nvSpPr>
            <p:spPr bwMode="auto">
              <a:xfrm flipH="1" flipV="1">
                <a:off x="3742" y="1842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28031" name="Line 39"/>
              <p:cNvSpPr>
                <a:spLocks noChangeShapeType="1"/>
              </p:cNvSpPr>
              <p:nvPr>
                <p:custDataLst>
                  <p:tags r:id="rId34"/>
                </p:custDataLst>
              </p:nvPr>
            </p:nvSpPr>
            <p:spPr bwMode="auto">
              <a:xfrm flipH="1" flipV="1">
                <a:off x="4377" y="1842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</p:grpSp>
        <p:sp>
          <p:nvSpPr>
            <p:cNvPr id="493608" name="Text Box 40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695" y="1408"/>
              <a:ext cx="602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t</a:t>
              </a: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/s</a:t>
              </a:r>
            </a:p>
          </p:txBody>
        </p:sp>
        <p:sp>
          <p:nvSpPr>
            <p:cNvPr id="493609" name="Text Box 4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78" y="1402"/>
              <a:ext cx="407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1</a:t>
              </a:r>
            </a:p>
          </p:txBody>
        </p:sp>
        <p:sp>
          <p:nvSpPr>
            <p:cNvPr id="493610" name="Text Box 42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42" y="1419"/>
              <a:ext cx="408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0</a:t>
              </a:r>
            </a:p>
          </p:txBody>
        </p:sp>
        <p:sp>
          <p:nvSpPr>
            <p:cNvPr id="493611" name="Text Box 4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397" y="1419"/>
              <a:ext cx="408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2</a:t>
              </a:r>
            </a:p>
          </p:txBody>
        </p:sp>
        <p:sp>
          <p:nvSpPr>
            <p:cNvPr id="493612" name="Text Box 44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050" y="1425"/>
              <a:ext cx="407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3</a:t>
              </a:r>
            </a:p>
          </p:txBody>
        </p:sp>
        <p:sp>
          <p:nvSpPr>
            <p:cNvPr id="493613" name="Text Box 45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683" y="1411"/>
              <a:ext cx="408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4</a:t>
              </a:r>
            </a:p>
          </p:txBody>
        </p:sp>
        <p:sp>
          <p:nvSpPr>
            <p:cNvPr id="493614" name="Text Box 46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380" y="1419"/>
              <a:ext cx="407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5</a:t>
              </a:r>
            </a:p>
          </p:txBody>
        </p:sp>
        <p:sp>
          <p:nvSpPr>
            <p:cNvPr id="493615" name="Text Box 4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014" y="1433"/>
              <a:ext cx="408" cy="1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1pPr>
              <a:lvl2pPr marL="742950" indent="-28575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2pPr>
              <a:lvl3pPr marL="11430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3pPr>
              <a:lvl4pPr marL="16002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4pPr>
              <a:lvl5pPr marL="2057400" indent="-228600" algn="ctr">
                <a:spcBef>
                  <a:spcPct val="0"/>
                </a:spcBef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6</a:t>
              </a:r>
            </a:p>
          </p:txBody>
        </p:sp>
      </p:grpSp>
      <p:sp>
        <p:nvSpPr>
          <p:cNvPr id="128047" name="Text Box 4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27457" y="2246802"/>
            <a:ext cx="518160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20</a:t>
            </a:r>
          </a:p>
        </p:txBody>
      </p:sp>
      <p:sp>
        <p:nvSpPr>
          <p:cNvPr id="128048" name="Text Box 4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276478" y="2260954"/>
            <a:ext cx="518160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18</a:t>
            </a:r>
          </a:p>
        </p:txBody>
      </p:sp>
      <p:sp>
        <p:nvSpPr>
          <p:cNvPr id="128049" name="Text Box 49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74496" y="2260954"/>
            <a:ext cx="518160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19</a:t>
            </a:r>
          </a:p>
        </p:txBody>
      </p:sp>
      <p:sp>
        <p:nvSpPr>
          <p:cNvPr id="128050" name="Text Box 50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886077" y="2260954"/>
            <a:ext cx="518160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D29FF"/>
                </a:solidFill>
                <a:latin typeface="Times New Roman" panose="02020603050405020304" charset="0"/>
                <a:cs typeface="Times New Roman" panose="02020603050405020304" charset="0"/>
              </a:rPr>
              <a:t>16</a:t>
            </a:r>
          </a:p>
        </p:txBody>
      </p:sp>
      <p:sp>
        <p:nvSpPr>
          <p:cNvPr id="128051" name="Text Box 5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483610" y="2246670"/>
            <a:ext cx="518160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4274FF"/>
                </a:solidFill>
                <a:latin typeface="Times New Roman" panose="02020603050405020304" charset="0"/>
                <a:cs typeface="Times New Roman" panose="02020603050405020304" charset="0"/>
              </a:rPr>
              <a:t>12</a:t>
            </a:r>
          </a:p>
        </p:txBody>
      </p:sp>
      <p:sp>
        <p:nvSpPr>
          <p:cNvPr id="128052" name="Rectangle 52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285875" y="2693022"/>
            <a:ext cx="304800" cy="171400"/>
          </a:xfrm>
          <a:prstGeom prst="rect">
            <a:avLst/>
          </a:prstGeom>
          <a:solidFill>
            <a:srgbClr val="CCECFF"/>
          </a:solidFill>
          <a:ln w="9525" algn="ctr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 anchor="ctr"/>
          <a:lstStyle/>
          <a:p>
            <a:endParaRPr lang="zh-CN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8059" name="Text Box 59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960880" y="3739406"/>
            <a:ext cx="2286000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ctr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zh-CN" sz="2800" baseline="-25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=-1 m/s</a:t>
            </a:r>
            <a:r>
              <a:rPr lang="en-US" altLang="zh-CN" sz="2800" baseline="300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 </a:t>
            </a:r>
            <a:r>
              <a:rPr lang="en-US" altLang="zh-CN" sz="2800" baseline="30000">
                <a:latin typeface="Times New Roman" panose="02020603050405020304" charset="0"/>
                <a:cs typeface="Times New Roman" panose="02020603050405020304" charset="0"/>
              </a:rPr>
              <a:t>  </a:t>
            </a:r>
          </a:p>
        </p:txBody>
      </p:sp>
      <p:sp>
        <p:nvSpPr>
          <p:cNvPr id="128060" name="Text Box 60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150111" y="4523515"/>
            <a:ext cx="1905000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ctr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FD29FF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zh-CN" sz="2800" baseline="-25000">
                <a:solidFill>
                  <a:srgbClr val="FD29FF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en-US" altLang="zh-CN" sz="2800">
                <a:solidFill>
                  <a:srgbClr val="FD29FF"/>
                </a:solidFill>
                <a:latin typeface="Times New Roman" panose="02020603050405020304" charset="0"/>
                <a:cs typeface="Times New Roman" panose="02020603050405020304" charset="0"/>
              </a:rPr>
              <a:t>=-2 m/s</a:t>
            </a:r>
            <a:r>
              <a:rPr lang="en-US" altLang="zh-CN" sz="2800" baseline="30000">
                <a:solidFill>
                  <a:srgbClr val="FD29FF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</a:p>
        </p:txBody>
      </p:sp>
      <p:sp>
        <p:nvSpPr>
          <p:cNvPr id="128061" name="Text Box 61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150111" y="5218072"/>
            <a:ext cx="1905000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ctr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i="1">
                <a:solidFill>
                  <a:srgbClr val="4274FF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zh-CN" sz="2800" baseline="-25000">
                <a:solidFill>
                  <a:srgbClr val="4274FF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lang="en-US" altLang="zh-CN" sz="2800">
                <a:solidFill>
                  <a:srgbClr val="4274FF"/>
                </a:solidFill>
                <a:latin typeface="Times New Roman" panose="02020603050405020304" charset="0"/>
                <a:cs typeface="Times New Roman" panose="02020603050405020304" charset="0"/>
              </a:rPr>
              <a:t>=-4 m/s</a:t>
            </a:r>
            <a:r>
              <a:rPr lang="en-US" altLang="zh-CN" sz="2800" baseline="30000">
                <a:solidFill>
                  <a:srgbClr val="4274FF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</a:p>
        </p:txBody>
      </p:sp>
      <p:sp>
        <p:nvSpPr>
          <p:cNvPr id="13" name="Text Box 45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950335" y="2246630"/>
            <a:ext cx="821055" cy="51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m/s</a:t>
            </a:r>
          </a:p>
        </p:txBody>
      </p:sp>
      <p:sp>
        <p:nvSpPr>
          <p:cNvPr id="128063" name="Text Box 63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424930" y="3385191"/>
            <a:ext cx="1795780" cy="573405"/>
          </a:xfrm>
          <a:prstGeom prst="rect">
            <a:avLst/>
          </a:prstGeom>
          <a:solidFill>
            <a:srgbClr val="7FC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>
            <a:sp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3200">
                <a:latin typeface="Times New Roman" panose="02020603050405020304" charset="0"/>
              </a:rPr>
              <a:t>反向减速</a:t>
            </a:r>
          </a:p>
        </p:txBody>
      </p:sp>
      <p:sp>
        <p:nvSpPr>
          <p:cNvPr id="128068" name="Text Box 68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8585200" y="2503805"/>
            <a:ext cx="2926715" cy="683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589" tIns="40795" rIns="81589" bIns="40795">
            <a:no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0" i="1">
                <a:latin typeface="Times New Roman" panose="02020603050405020304" charset="0"/>
              </a:rPr>
              <a:t>a</a:t>
            </a:r>
            <a:r>
              <a:rPr lang="zh-CN" altLang="en-US" sz="3200" b="0">
                <a:latin typeface="Times New Roman" panose="02020603050405020304" charset="0"/>
              </a:rPr>
              <a:t>减小</a:t>
            </a:r>
            <a:r>
              <a:rPr lang="en-US" altLang="zh-CN" sz="3200" b="0" i="1">
                <a:latin typeface="Book Antiqua" panose="02040602050305030304" pitchFamily="18" charset="0"/>
              </a:rPr>
              <a:t>v</a:t>
            </a:r>
            <a:r>
              <a:rPr lang="zh-CN" altLang="en-US" sz="3200" b="0">
                <a:latin typeface="Times New Roman" panose="02020603050405020304" charset="0"/>
              </a:rPr>
              <a:t>减小慢</a:t>
            </a:r>
          </a:p>
        </p:txBody>
      </p:sp>
      <p:sp>
        <p:nvSpPr>
          <p:cNvPr id="128069" name="Text Box 69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8647430" y="4509135"/>
            <a:ext cx="2864485" cy="526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589" tIns="40795" rIns="81589" bIns="40795">
            <a:noAutofit/>
          </a:bodyPr>
          <a:lstStyle>
            <a:lvl1pPr marL="342900" indent="-342900"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algn="ctr">
              <a:spcBef>
                <a:spcPct val="0"/>
              </a:spcBef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l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0" i="1">
                <a:latin typeface="Times New Roman" panose="02020603050405020304" charset="0"/>
              </a:rPr>
              <a:t>a</a:t>
            </a:r>
            <a:r>
              <a:rPr lang="zh-CN" altLang="en-US" sz="3200" b="0">
                <a:latin typeface="Times New Roman" panose="02020603050405020304" charset="0"/>
              </a:rPr>
              <a:t>增大</a:t>
            </a:r>
            <a:r>
              <a:rPr lang="en-US" altLang="zh-CN" sz="3200" b="0" i="1">
                <a:latin typeface="Book Antiqua" panose="02040602050305030304" pitchFamily="18" charset="0"/>
              </a:rPr>
              <a:t>v</a:t>
            </a:r>
            <a:r>
              <a:rPr lang="zh-CN" altLang="en-US" sz="3200" b="0">
                <a:latin typeface="Times New Roman" panose="02020603050405020304" charset="0"/>
              </a:rPr>
              <a:t>减小快</a:t>
            </a:r>
          </a:p>
        </p:txBody>
      </p:sp>
      <p:sp>
        <p:nvSpPr>
          <p:cNvPr id="128070" name="AutoShape 70"/>
          <p:cNvSpPr/>
          <p:nvPr>
            <p:custDataLst>
              <p:tags r:id="rId17"/>
            </p:custDataLst>
          </p:nvPr>
        </p:nvSpPr>
        <p:spPr bwMode="auto">
          <a:xfrm>
            <a:off x="8220710" y="2779395"/>
            <a:ext cx="354330" cy="1976120"/>
          </a:xfrm>
          <a:prstGeom prst="leftBrace">
            <a:avLst>
              <a:gd name="adj1" fmla="val 44444"/>
              <a:gd name="adj2" fmla="val 50000"/>
            </a:avLst>
          </a:prstGeom>
          <a:noFill/>
          <a:ln w="38100">
            <a:solidFill>
              <a:srgbClr val="7FC5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589" tIns="40795" rIns="81589" bIns="40795" anchor="ctr"/>
          <a:lstStyle/>
          <a:p>
            <a:endParaRPr lang="zh-CN" altLang="en-US" sz="1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128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8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8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48" grpId="0" animBg="1"/>
      <p:bldP spid="128049" grpId="0" animBg="1"/>
      <p:bldP spid="128050" grpId="0" animBg="1"/>
      <p:bldP spid="128051" grpId="0" animBg="1"/>
      <p:bldP spid="128059" grpId="0" animBg="1"/>
      <p:bldP spid="128060" grpId="0" animBg="1"/>
      <p:bldP spid="128061" grpId="0" animBg="1"/>
      <p:bldP spid="128063" grpId="0" animBg="1"/>
      <p:bldP spid="128068" grpId="0" animBg="1"/>
      <p:bldP spid="128069" grpId="0" animBg="1"/>
      <p:bldP spid="12807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667" y="200115"/>
            <a:ext cx="39906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sp>
        <p:nvSpPr>
          <p:cNvPr id="16392" name="矩形 16391"/>
          <p:cNvSpPr/>
          <p:nvPr>
            <p:custDataLst>
              <p:tags r:id="rId2"/>
            </p:custDataLst>
          </p:nvPr>
        </p:nvSpPr>
        <p:spPr>
          <a:xfrm>
            <a:off x="396875" y="1320165"/>
            <a:ext cx="11236325" cy="178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alt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(4)</a:t>
            </a:r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通过以上分析，你是否可以总结一下如何判断直线运动中</a:t>
            </a:r>
            <a:r>
              <a:rPr lang="en-US" alt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“</a:t>
            </a:r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加速</a:t>
            </a:r>
            <a:r>
              <a:rPr lang="en-US" alt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”</a:t>
            </a:r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或</a:t>
            </a:r>
            <a:r>
              <a:rPr lang="en-US" alt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“</a:t>
            </a:r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减速</a:t>
            </a:r>
            <a:r>
              <a:rPr lang="en-US" alt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”</a:t>
            </a:r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的情况</a:t>
            </a:r>
            <a:r>
              <a:rPr lang="en-US" altLang="zh-CN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?</a:t>
            </a:r>
          </a:p>
        </p:txBody>
      </p:sp>
      <p:pic>
        <p:nvPicPr>
          <p:cNvPr id="100" name="图片 99"/>
          <p:cNvPicPr/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21480" y="3101340"/>
            <a:ext cx="3806190" cy="32105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4631055" cy="62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二、加速度的方向</a:t>
            </a:r>
          </a:p>
        </p:txBody>
      </p:sp>
      <p:sp>
        <p:nvSpPr>
          <p:cNvPr id="5122" name="文本框 2"/>
          <p:cNvSpPr txBox="1"/>
          <p:nvPr>
            <p:custDataLst>
              <p:tags r:id="rId2"/>
            </p:custDataLst>
          </p:nvPr>
        </p:nvSpPr>
        <p:spPr>
          <a:xfrm>
            <a:off x="352425" y="1257300"/>
            <a:ext cx="1147191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zh-CN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物体做加速运动还是减速运动，关键是看物体的</a:t>
            </a:r>
            <a:r>
              <a:rPr lang="zh-CN" altLang="zh-CN" sz="28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加速度与速度的方向关系，</a:t>
            </a:r>
            <a:r>
              <a:rPr lang="zh-CN" altLang="zh-CN" sz="28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而不是看加速度的大小，加速度的大小只是反映速度变化的快慢。</a:t>
            </a:r>
          </a:p>
        </p:txBody>
      </p:sp>
      <p:grpSp>
        <p:nvGrpSpPr>
          <p:cNvPr id="5" name="组合 11"/>
          <p:cNvGrpSpPr/>
          <p:nvPr>
            <p:custDataLst>
              <p:tags r:id="rId3"/>
            </p:custDataLst>
          </p:nvPr>
        </p:nvGrpSpPr>
        <p:grpSpPr>
          <a:xfrm>
            <a:off x="391160" y="2932638"/>
            <a:ext cx="11229059" cy="2671285"/>
            <a:chOff x="594" y="2765"/>
            <a:chExt cx="12698" cy="5620"/>
          </a:xfrm>
        </p:grpSpPr>
        <p:sp>
          <p:nvSpPr>
            <p:cNvPr id="5124" name="文本框 4"/>
            <p:cNvSpPr txBox="1"/>
            <p:nvPr>
              <p:custDataLst>
                <p:tags r:id="rId4"/>
              </p:custDataLst>
            </p:nvPr>
          </p:nvSpPr>
          <p:spPr>
            <a:xfrm>
              <a:off x="594" y="4504"/>
              <a:ext cx="5952" cy="19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 lvl="0" indent="0">
                <a:lnSpc>
                  <a:spcPct val="150000"/>
                </a:lnSpc>
              </a:pP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（</a:t>
              </a: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1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）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与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同向（加速直线运动）</a:t>
              </a:r>
            </a:p>
          </p:txBody>
        </p:sp>
        <p:sp>
          <p:nvSpPr>
            <p:cNvPr id="7" name="左大括号 6"/>
            <p:cNvSpPr/>
            <p:nvPr>
              <p:custDataLst>
                <p:tags r:id="rId5"/>
              </p:custDataLst>
            </p:nvPr>
          </p:nvSpPr>
          <p:spPr>
            <a:xfrm>
              <a:off x="6433" y="3415"/>
              <a:ext cx="414" cy="4101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fontAlgn="base">
                <a:lnSpc>
                  <a:spcPct val="150000"/>
                </a:lnSpc>
              </a:pPr>
              <a:endParaRPr lang="zh-CN" altLang="en-US" sz="2800" strike="noStrike" noProof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5126" name="文本框 6"/>
            <p:cNvSpPr txBox="1"/>
            <p:nvPr>
              <p:custDataLst>
                <p:tags r:id="rId6"/>
              </p:custDataLst>
            </p:nvPr>
          </p:nvSpPr>
          <p:spPr>
            <a:xfrm>
              <a:off x="6908" y="2765"/>
              <a:ext cx="6384" cy="15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 indent="0">
                <a:lnSpc>
                  <a:spcPct val="150000"/>
                </a:lnSpc>
              </a:pP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不变，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随时间均匀增加</a:t>
              </a:r>
            </a:p>
          </p:txBody>
        </p:sp>
        <p:sp>
          <p:nvSpPr>
            <p:cNvPr id="5127" name="文本框 7"/>
            <p:cNvSpPr txBox="1"/>
            <p:nvPr>
              <p:custDataLst>
                <p:tags r:id="rId7"/>
              </p:custDataLst>
            </p:nvPr>
          </p:nvSpPr>
          <p:spPr>
            <a:xfrm>
              <a:off x="6968" y="6679"/>
              <a:ext cx="6324" cy="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 lvl="0" indent="0">
                <a:lnSpc>
                  <a:spcPct val="150000"/>
                </a:lnSpc>
              </a:pP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增大，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增加的越来越快</a:t>
              </a:r>
            </a:p>
          </p:txBody>
        </p:sp>
        <p:sp>
          <p:nvSpPr>
            <p:cNvPr id="5128" name="文本框 8"/>
            <p:cNvSpPr txBox="1"/>
            <p:nvPr>
              <p:custDataLst>
                <p:tags r:id="rId8"/>
              </p:custDataLst>
            </p:nvPr>
          </p:nvSpPr>
          <p:spPr>
            <a:xfrm>
              <a:off x="6908" y="4787"/>
              <a:ext cx="6384" cy="15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 indent="0">
                <a:lnSpc>
                  <a:spcPct val="150000"/>
                </a:lnSpc>
              </a:pP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减小，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增加的越来越慢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4631055" cy="62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二、加速度的方向</a:t>
            </a:r>
          </a:p>
        </p:txBody>
      </p:sp>
      <p:grpSp>
        <p:nvGrpSpPr>
          <p:cNvPr id="5129" name="组合 12"/>
          <p:cNvGrpSpPr/>
          <p:nvPr>
            <p:custDataLst>
              <p:tags r:id="rId2"/>
            </p:custDataLst>
          </p:nvPr>
        </p:nvGrpSpPr>
        <p:grpSpPr>
          <a:xfrm>
            <a:off x="405821" y="1240790"/>
            <a:ext cx="11407084" cy="2498813"/>
            <a:chOff x="230" y="3669"/>
            <a:chExt cx="13002" cy="3358"/>
          </a:xfrm>
        </p:grpSpPr>
        <p:sp>
          <p:nvSpPr>
            <p:cNvPr id="5130" name="文本框 13"/>
            <p:cNvSpPr txBox="1"/>
            <p:nvPr>
              <p:custDataLst>
                <p:tags r:id="rId4"/>
              </p:custDataLst>
            </p:nvPr>
          </p:nvSpPr>
          <p:spPr>
            <a:xfrm>
              <a:off x="230" y="5006"/>
              <a:ext cx="5884" cy="8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 lvl="0" indent="0"/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（</a:t>
              </a: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2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）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与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反向（减速直线运动）</a:t>
              </a:r>
            </a:p>
          </p:txBody>
        </p:sp>
        <p:sp>
          <p:nvSpPr>
            <p:cNvPr id="15" name="左大括号 14"/>
            <p:cNvSpPr/>
            <p:nvPr>
              <p:custDataLst>
                <p:tags r:id="rId5"/>
              </p:custDataLst>
            </p:nvPr>
          </p:nvSpPr>
          <p:spPr>
            <a:xfrm>
              <a:off x="6205" y="3903"/>
              <a:ext cx="415" cy="2890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fontAlgn="base"/>
              <a:endParaRPr lang="zh-CN" altLang="en-US" sz="2800" b="1" strike="noStrike" noProof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5132" name="文本框 15"/>
            <p:cNvSpPr txBox="1"/>
            <p:nvPr>
              <p:custDataLst>
                <p:tags r:id="rId6"/>
              </p:custDataLst>
            </p:nvPr>
          </p:nvSpPr>
          <p:spPr>
            <a:xfrm>
              <a:off x="6848" y="3669"/>
              <a:ext cx="6384" cy="7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 indent="0"/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不变，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随时间均匀减小</a:t>
              </a:r>
            </a:p>
          </p:txBody>
        </p:sp>
        <p:sp>
          <p:nvSpPr>
            <p:cNvPr id="5133" name="文本框 16"/>
            <p:cNvSpPr txBox="1"/>
            <p:nvPr>
              <p:custDataLst>
                <p:tags r:id="rId7"/>
              </p:custDataLst>
            </p:nvPr>
          </p:nvSpPr>
          <p:spPr>
            <a:xfrm>
              <a:off x="6786" y="4917"/>
              <a:ext cx="6384" cy="7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 indent="0"/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增大，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减小的越来越快</a:t>
              </a:r>
            </a:p>
          </p:txBody>
        </p:sp>
        <p:sp>
          <p:nvSpPr>
            <p:cNvPr id="5134" name="文本框 17"/>
            <p:cNvSpPr txBox="1"/>
            <p:nvPr>
              <p:custDataLst>
                <p:tags r:id="rId8"/>
              </p:custDataLst>
            </p:nvPr>
          </p:nvSpPr>
          <p:spPr>
            <a:xfrm>
              <a:off x="6786" y="6326"/>
              <a:ext cx="6384" cy="7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 indent="0"/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减小，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减小的越来越慢</a:t>
              </a:r>
            </a:p>
          </p:txBody>
        </p:sp>
      </p:grpSp>
      <p:sp>
        <p:nvSpPr>
          <p:cNvPr id="5135" name="文本框 18"/>
          <p:cNvSpPr txBox="1"/>
          <p:nvPr>
            <p:custDataLst>
              <p:tags r:id="rId3"/>
            </p:custDataLst>
          </p:nvPr>
        </p:nvSpPr>
        <p:spPr>
          <a:xfrm>
            <a:off x="520065" y="4549775"/>
            <a:ext cx="1123823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2.</a:t>
            </a:r>
            <a:r>
              <a:rPr lang="en-US" altLang="zh-CN" sz="2800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a</a:t>
            </a:r>
            <a:r>
              <a:rPr lang="zh-CN" altLang="en-US" sz="2800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的正负，只表示加速度的方向与正方向的关系，不表示物体是加速还是减速。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179570" y="1863090"/>
            <a:ext cx="3832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cap="all">
                <a:solidFill>
                  <a:srgbClr val="38ABE3">
                    <a:alpha val="12000"/>
                  </a:srgbClr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conclusion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5095240" y="2211705"/>
            <a:ext cx="2001520" cy="488950"/>
          </a:xfrm>
          <a:prstGeom prst="roundRect">
            <a:avLst>
              <a:gd name="adj" fmla="val 50000"/>
            </a:avLst>
          </a:prstGeom>
          <a:solidFill>
            <a:srgbClr val="38A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616835" y="3022600"/>
            <a:ext cx="7559040" cy="800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/>
            <a:r>
              <a:rPr lang="zh-CN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从</a:t>
            </a:r>
            <a:r>
              <a:rPr lang="zh-CN" altLang="en-US" sz="4800" i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v-t</a:t>
            </a:r>
            <a:r>
              <a:rPr lang="zh-CN" altLang="en-US" sz="48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ea typeface="黑体" panose="02010609060101010101" charset="-122"/>
                <a:cs typeface="汉仪宋韵朗黑W" panose="00020600040101010101" charset="-122"/>
                <a:sym typeface="汉仪宋韵朗黑W"/>
              </a:rPr>
              <a:t>图像看加速度</a:t>
            </a: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5526405" y="2211705"/>
            <a:ext cx="119316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汉仪宋韵朗黑W"/>
              </a:rPr>
              <a:t>04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9023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lum bright="-6000" contrast="12000"/>
          </a:blip>
          <a:stretch>
            <a:fillRect/>
          </a:stretch>
        </p:blipFill>
        <p:spPr>
          <a:xfrm>
            <a:off x="6730365" y="1067435"/>
            <a:ext cx="5170170" cy="5355590"/>
          </a:xfrm>
          <a:prstGeom prst="rect">
            <a:avLst/>
          </a:prstGeom>
        </p:spPr>
      </p:pic>
      <p:sp>
        <p:nvSpPr>
          <p:cNvPr id="16392" name="矩形 16391"/>
          <p:cNvSpPr/>
          <p:nvPr>
            <p:custDataLst>
              <p:tags r:id="rId3"/>
            </p:custDataLst>
          </p:nvPr>
        </p:nvSpPr>
        <p:spPr>
          <a:xfrm>
            <a:off x="230505" y="1067435"/>
            <a:ext cx="6945630" cy="14097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        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如图所示，若坐标纸中纵轴方向每个小格代表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0.1m/s,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横轴方向每个小格代表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0.1s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498475" y="2387600"/>
            <a:ext cx="6478270" cy="13639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(1)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对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图线，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时刻的速度为多大？速度与正方向是相同还是相反？</a:t>
            </a: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498475" y="3679190"/>
            <a:ext cx="6405880" cy="252158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(2)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对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图线，从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到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时刻的速度的变化量为多大？速度的变化率为多大？加速度为多大？加速度的方向与正方向是相同还是相反？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9023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lum bright="-6000" contrast="12000"/>
          </a:blip>
          <a:stretch>
            <a:fillRect/>
          </a:stretch>
        </p:blipFill>
        <p:spPr>
          <a:xfrm>
            <a:off x="6730365" y="1067435"/>
            <a:ext cx="5170170" cy="5355590"/>
          </a:xfrm>
          <a:prstGeom prst="rect">
            <a:avLst/>
          </a:prstGeom>
        </p:spPr>
      </p:pic>
      <p:sp>
        <p:nvSpPr>
          <p:cNvPr id="16392" name="矩形 16391"/>
          <p:cNvSpPr/>
          <p:nvPr>
            <p:custDataLst>
              <p:tags r:id="rId3"/>
            </p:custDataLst>
          </p:nvPr>
        </p:nvSpPr>
        <p:spPr>
          <a:xfrm>
            <a:off x="230505" y="1067435"/>
            <a:ext cx="6945630" cy="14097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        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如图所示，若坐标纸中纵轴方向每个小格代表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0.1m/s,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横轴方向每个小格代表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0.1s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443865" y="2565400"/>
            <a:ext cx="6478270" cy="13639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(3)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的斜率为多大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？它与加速度有何关系？</a:t>
            </a: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570865" y="4095750"/>
            <a:ext cx="6362700" cy="187261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(4)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图线的斜率为多大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？它与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图线的斜率相比谁大？这说明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图线所描述的物体的运动时的加速度谁大？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9023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思考与讨论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lum bright="-6000" contrast="12000"/>
          </a:blip>
          <a:stretch>
            <a:fillRect/>
          </a:stretch>
        </p:blipFill>
        <p:spPr>
          <a:xfrm>
            <a:off x="6730365" y="1067435"/>
            <a:ext cx="5170170" cy="5355590"/>
          </a:xfrm>
          <a:prstGeom prst="rect">
            <a:avLst/>
          </a:prstGeom>
        </p:spPr>
      </p:pic>
      <p:sp>
        <p:nvSpPr>
          <p:cNvPr id="16392" name="矩形 16391"/>
          <p:cNvSpPr/>
          <p:nvPr>
            <p:custDataLst>
              <p:tags r:id="rId3"/>
            </p:custDataLst>
          </p:nvPr>
        </p:nvSpPr>
        <p:spPr>
          <a:xfrm>
            <a:off x="230505" y="1067435"/>
            <a:ext cx="6945630" cy="14097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        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如图所示，若坐标纸中纵轴方向每个小格代表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0.1m/s,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横轴方向每个小格代表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0.1s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。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444500" y="2413635"/>
            <a:ext cx="6489065" cy="25920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(5)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图线所描述物体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的速度方向与正方向是相同还是相反？斜率为多大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？加速度为多大？加速度的方向与正方向是相同还是相反？</a:t>
            </a: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570865" y="4985385"/>
            <a:ext cx="6362700" cy="14414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>
            <a:no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(6)ab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图线分别所描述的物体的运动是加速还是减速运动？你是如何判断的？</a:t>
            </a:r>
            <a:endParaRPr lang="en-US" altLang="zh-CN" sz="280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ea"/>
            </a:endParaRPr>
          </a:p>
        </p:txBody>
      </p:sp>
      <p:grpSp>
        <p:nvGrpSpPr>
          <p:cNvPr id="8" name="组合 7"/>
          <p:cNvGrpSpPr/>
          <p:nvPr>
            <p:custDataLst>
              <p:tags r:id="rId6"/>
            </p:custDataLst>
          </p:nvPr>
        </p:nvGrpSpPr>
        <p:grpSpPr>
          <a:xfrm>
            <a:off x="7359015" y="1955165"/>
            <a:ext cx="2829560" cy="4022090"/>
            <a:chOff x="11589" y="3079"/>
            <a:chExt cx="4456" cy="6334"/>
          </a:xfrm>
        </p:grpSpPr>
        <p:cxnSp>
          <p:nvCxnSpPr>
            <p:cNvPr id="5" name="直接连接符 4"/>
            <p:cNvCxnSpPr/>
            <p:nvPr>
              <p:custDataLst>
                <p:tags r:id="rId7"/>
              </p:custDataLst>
            </p:nvPr>
          </p:nvCxnSpPr>
          <p:spPr>
            <a:xfrm>
              <a:off x="11589" y="3801"/>
              <a:ext cx="4457" cy="5612"/>
            </a:xfrm>
            <a:prstGeom prst="line">
              <a:avLst/>
            </a:prstGeom>
            <a:ln w="22225">
              <a:solidFill>
                <a:srgbClr val="F559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>
              <p:custDataLst>
                <p:tags r:id="rId8"/>
              </p:custDataLst>
            </p:nvPr>
          </p:nvSpPr>
          <p:spPr>
            <a:xfrm>
              <a:off x="11589" y="3079"/>
              <a:ext cx="67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 i="1">
                  <a:latin typeface="Times New Roman" panose="02020603050405020304" charset="0"/>
                  <a:ea typeface="思源黑体 CN Light" panose="020B0400000000000000" pitchFamily="34" charset="-122"/>
                  <a:cs typeface="Times New Roman" panose="02020603050405020304" charset="0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9023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拓展与进阶</a:t>
            </a: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457835" y="1135380"/>
            <a:ext cx="7181215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(7)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在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v-t</a:t>
            </a:r>
            <a:r>
              <a:rPr lang="zh-CN" altLang="en-US" sz="2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图像中认识平均加速度与瞬时加速度</a:t>
            </a:r>
          </a:p>
        </p:txBody>
      </p:sp>
      <p:grpSp>
        <p:nvGrpSpPr>
          <p:cNvPr id="11311" name="Group 11"/>
          <p:cNvGrpSpPr/>
          <p:nvPr>
            <p:custDataLst>
              <p:tags r:id="rId3"/>
            </p:custDataLst>
          </p:nvPr>
        </p:nvGrpSpPr>
        <p:grpSpPr>
          <a:xfrm>
            <a:off x="8258772" y="2187119"/>
            <a:ext cx="3751618" cy="3063696"/>
            <a:chOff x="45" y="384"/>
            <a:chExt cx="2452" cy="2034"/>
          </a:xfrm>
        </p:grpSpPr>
        <p:grpSp>
          <p:nvGrpSpPr>
            <p:cNvPr id="11312" name="Group 12"/>
            <p:cNvGrpSpPr/>
            <p:nvPr>
              <p:custDataLst>
                <p:tags r:id="rId14"/>
              </p:custDataLst>
            </p:nvPr>
          </p:nvGrpSpPr>
          <p:grpSpPr>
            <a:xfrm>
              <a:off x="45" y="384"/>
              <a:ext cx="2452" cy="2034"/>
              <a:chOff x="45" y="384"/>
              <a:chExt cx="2452" cy="2034"/>
            </a:xfrm>
          </p:grpSpPr>
          <p:grpSp>
            <p:nvGrpSpPr>
              <p:cNvPr id="11313" name="Group 13"/>
              <p:cNvGrpSpPr/>
              <p:nvPr>
                <p:custDataLst>
                  <p:tags r:id="rId16"/>
                </p:custDataLst>
              </p:nvPr>
            </p:nvGrpSpPr>
            <p:grpSpPr>
              <a:xfrm>
                <a:off x="45" y="384"/>
                <a:ext cx="2452" cy="2034"/>
                <a:chOff x="44" y="384"/>
                <a:chExt cx="2452" cy="2034"/>
              </a:xfrm>
            </p:grpSpPr>
            <p:grpSp>
              <p:nvGrpSpPr>
                <p:cNvPr id="11314" name="Group 14"/>
                <p:cNvGrpSpPr/>
                <p:nvPr>
                  <p:custDataLst>
                    <p:tags r:id="rId20"/>
                  </p:custDataLst>
                </p:nvPr>
              </p:nvGrpSpPr>
              <p:grpSpPr>
                <a:xfrm>
                  <a:off x="44" y="384"/>
                  <a:ext cx="2308" cy="2034"/>
                  <a:chOff x="44" y="384"/>
                  <a:chExt cx="2308" cy="2034"/>
                </a:xfrm>
              </p:grpSpPr>
              <p:grpSp>
                <p:nvGrpSpPr>
                  <p:cNvPr id="11315" name="Group 15"/>
                  <p:cNvGrpSpPr/>
                  <p:nvPr>
                    <p:custDataLst>
                      <p:tags r:id="rId22"/>
                    </p:custDataLst>
                  </p:nvPr>
                </p:nvGrpSpPr>
                <p:grpSpPr>
                  <a:xfrm>
                    <a:off x="384" y="468"/>
                    <a:ext cx="1872" cy="1644"/>
                    <a:chOff x="0" y="276"/>
                    <a:chExt cx="1872" cy="1644"/>
                  </a:xfrm>
                </p:grpSpPr>
                <p:grpSp>
                  <p:nvGrpSpPr>
                    <p:cNvPr id="11316" name="Group 16"/>
                    <p:cNvGrpSpPr/>
                    <p:nvPr>
                      <p:custDataLst>
                        <p:tags r:id="rId33"/>
                      </p:custDataLst>
                    </p:nvPr>
                  </p:nvGrpSpPr>
                  <p:grpSpPr>
                    <a:xfrm>
                      <a:off x="0" y="276"/>
                      <a:ext cx="1872" cy="1644"/>
                      <a:chOff x="0" y="276"/>
                      <a:chExt cx="1872" cy="1644"/>
                    </a:xfrm>
                  </p:grpSpPr>
                  <p:sp>
                    <p:nvSpPr>
                      <p:cNvPr id="11317" name="Line 17"/>
                      <p:cNvSpPr/>
                      <p:nvPr>
                        <p:custDataLst>
                          <p:tags r:id="rId42"/>
                        </p:custDataLst>
                      </p:nvPr>
                    </p:nvSpPr>
                    <p:spPr>
                      <a:xfrm flipH="1" flipV="1">
                        <a:off x="0" y="276"/>
                        <a:ext cx="0" cy="1644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/>
                      </a:p>
                    </p:txBody>
                  </p:sp>
                  <p:sp>
                    <p:nvSpPr>
                      <p:cNvPr id="11318" name="Line 18"/>
                      <p:cNvSpPr/>
                      <p:nvPr>
                        <p:custDataLst>
                          <p:tags r:id="rId43"/>
                        </p:custDataLst>
                      </p:nvPr>
                    </p:nvSpPr>
                    <p:spPr>
                      <a:xfrm>
                        <a:off x="0" y="1920"/>
                        <a:ext cx="1872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/>
                      </a:p>
                    </p:txBody>
                  </p:sp>
                </p:grpSp>
                <p:sp>
                  <p:nvSpPr>
                    <p:cNvPr id="11319" name="Line 19"/>
                    <p:cNvSpPr/>
                    <p:nvPr>
                      <p:custDataLst>
                        <p:tags r:id="rId34"/>
                      </p:custDataLst>
                    </p:nvPr>
                  </p:nvSpPr>
                  <p:spPr>
                    <a:xfrm flipH="1">
                      <a:off x="384" y="1824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  <p:sp>
                  <p:nvSpPr>
                    <p:cNvPr id="11320" name="Line 20"/>
                    <p:cNvSpPr/>
                    <p:nvPr>
                      <p:custDataLst>
                        <p:tags r:id="rId35"/>
                      </p:custDataLst>
                    </p:nvPr>
                  </p:nvSpPr>
                  <p:spPr>
                    <a:xfrm flipH="1">
                      <a:off x="768" y="1824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  <p:sp>
                  <p:nvSpPr>
                    <p:cNvPr id="11321" name="Line 21"/>
                    <p:cNvSpPr/>
                    <p:nvPr>
                      <p:custDataLst>
                        <p:tags r:id="rId36"/>
                      </p:custDataLst>
                    </p:nvPr>
                  </p:nvSpPr>
                  <p:spPr>
                    <a:xfrm flipH="1">
                      <a:off x="1152" y="1824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  <p:sp>
                  <p:nvSpPr>
                    <p:cNvPr id="11322" name="Line 22"/>
                    <p:cNvSpPr/>
                    <p:nvPr>
                      <p:custDataLst>
                        <p:tags r:id="rId37"/>
                      </p:custDataLst>
                    </p:nvPr>
                  </p:nvSpPr>
                  <p:spPr>
                    <a:xfrm flipH="1">
                      <a:off x="1536" y="1824"/>
                      <a:ext cx="0" cy="96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  <p:sp>
                  <p:nvSpPr>
                    <p:cNvPr id="11323" name="Line 23"/>
                    <p:cNvSpPr/>
                    <p:nvPr>
                      <p:custDataLst>
                        <p:tags r:id="rId38"/>
                      </p:custDataLst>
                    </p:nvPr>
                  </p:nvSpPr>
                  <p:spPr>
                    <a:xfrm>
                      <a:off x="0" y="1584"/>
                      <a:ext cx="96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  <p:sp>
                  <p:nvSpPr>
                    <p:cNvPr id="11324" name="Line 24"/>
                    <p:cNvSpPr/>
                    <p:nvPr>
                      <p:custDataLst>
                        <p:tags r:id="rId39"/>
                      </p:custDataLst>
                    </p:nvPr>
                  </p:nvSpPr>
                  <p:spPr>
                    <a:xfrm>
                      <a:off x="0" y="912"/>
                      <a:ext cx="96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  <p:sp>
                  <p:nvSpPr>
                    <p:cNvPr id="11325" name="Line 25"/>
                    <p:cNvSpPr/>
                    <p:nvPr>
                      <p:custDataLst>
                        <p:tags r:id="rId40"/>
                      </p:custDataLst>
                    </p:nvPr>
                  </p:nvSpPr>
                  <p:spPr>
                    <a:xfrm>
                      <a:off x="0" y="1248"/>
                      <a:ext cx="96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  <p:sp>
                  <p:nvSpPr>
                    <p:cNvPr id="11326" name="Line 26"/>
                    <p:cNvSpPr/>
                    <p:nvPr>
                      <p:custDataLst>
                        <p:tags r:id="rId41"/>
                      </p:custDataLst>
                    </p:nvPr>
                  </p:nvSpPr>
                  <p:spPr>
                    <a:xfrm>
                      <a:off x="0" y="576"/>
                      <a:ext cx="96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/>
                    </a:p>
                  </p:txBody>
                </p:sp>
              </p:grpSp>
              <p:sp>
                <p:nvSpPr>
                  <p:cNvPr id="11327" name="Text Box 27"/>
                  <p:cNvSpPr txBox="1"/>
                  <p:nvPr>
                    <p:custDataLst>
                      <p:tags r:id="rId23"/>
                    </p:custDataLst>
                  </p:nvPr>
                </p:nvSpPr>
                <p:spPr>
                  <a:xfrm>
                    <a:off x="432" y="384"/>
                    <a:ext cx="807" cy="40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no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 i="1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v(m/s)</a:t>
                    </a:r>
                  </a:p>
                </p:txBody>
              </p:sp>
              <p:sp>
                <p:nvSpPr>
                  <p:cNvPr id="11328" name="Text Box 28"/>
                  <p:cNvSpPr txBox="1"/>
                  <p:nvPr>
                    <p:custDataLst>
                      <p:tags r:id="rId24"/>
                    </p:custDataLst>
                  </p:nvPr>
                </p:nvSpPr>
                <p:spPr>
                  <a:xfrm>
                    <a:off x="44" y="624"/>
                    <a:ext cx="362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40</a:t>
                    </a:r>
                  </a:p>
                </p:txBody>
              </p:sp>
              <p:sp>
                <p:nvSpPr>
                  <p:cNvPr id="11329" name="Text Box 29"/>
                  <p:cNvSpPr txBox="1"/>
                  <p:nvPr>
                    <p:custDataLst>
                      <p:tags r:id="rId25"/>
                    </p:custDataLst>
                  </p:nvPr>
                </p:nvSpPr>
                <p:spPr>
                  <a:xfrm>
                    <a:off x="48" y="960"/>
                    <a:ext cx="336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30</a:t>
                    </a:r>
                  </a:p>
                </p:txBody>
              </p:sp>
              <p:sp>
                <p:nvSpPr>
                  <p:cNvPr id="11330" name="Text Box 30"/>
                  <p:cNvSpPr txBox="1"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70" y="1296"/>
                    <a:ext cx="336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20</a:t>
                    </a:r>
                  </a:p>
                </p:txBody>
              </p:sp>
              <p:sp>
                <p:nvSpPr>
                  <p:cNvPr id="11331" name="Text Box 31"/>
                  <p:cNvSpPr txBox="1"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49" y="1632"/>
                    <a:ext cx="335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10</a:t>
                    </a:r>
                  </a:p>
                </p:txBody>
              </p:sp>
              <p:sp>
                <p:nvSpPr>
                  <p:cNvPr id="11332" name="Text Box 32"/>
                  <p:cNvSpPr txBox="1"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192" y="2016"/>
                    <a:ext cx="384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0</a:t>
                    </a:r>
                  </a:p>
                </p:txBody>
              </p:sp>
              <p:sp>
                <p:nvSpPr>
                  <p:cNvPr id="11333" name="Text Box 33"/>
                  <p:cNvSpPr txBox="1"/>
                  <p:nvPr>
                    <p:custDataLst>
                      <p:tags r:id="rId29"/>
                    </p:custDataLst>
                  </p:nvPr>
                </p:nvSpPr>
                <p:spPr>
                  <a:xfrm>
                    <a:off x="672" y="2112"/>
                    <a:ext cx="288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5</a:t>
                    </a:r>
                  </a:p>
                </p:txBody>
              </p:sp>
              <p:sp>
                <p:nvSpPr>
                  <p:cNvPr id="11334" name="Text Box 34"/>
                  <p:cNvSpPr txBox="1"/>
                  <p:nvPr>
                    <p:custDataLst>
                      <p:tags r:id="rId30"/>
                    </p:custDataLst>
                  </p:nvPr>
                </p:nvSpPr>
                <p:spPr>
                  <a:xfrm>
                    <a:off x="960" y="2112"/>
                    <a:ext cx="384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10</a:t>
                    </a:r>
                  </a:p>
                </p:txBody>
              </p:sp>
              <p:sp>
                <p:nvSpPr>
                  <p:cNvPr id="11335" name="Text Box 35"/>
                  <p:cNvSpPr txBox="1"/>
                  <p:nvPr>
                    <p:custDataLst>
                      <p:tags r:id="rId31"/>
                    </p:custDataLst>
                  </p:nvPr>
                </p:nvSpPr>
                <p:spPr>
                  <a:xfrm>
                    <a:off x="1392" y="2112"/>
                    <a:ext cx="480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15</a:t>
                    </a:r>
                  </a:p>
                </p:txBody>
              </p:sp>
              <p:sp>
                <p:nvSpPr>
                  <p:cNvPr id="11336" name="Text Box 36"/>
                  <p:cNvSpPr txBox="1"/>
                  <p:nvPr>
                    <p:custDataLst>
                      <p:tags r:id="rId32"/>
                    </p:custDataLst>
                  </p:nvPr>
                </p:nvSpPr>
                <p:spPr>
                  <a:xfrm>
                    <a:off x="1776" y="2112"/>
                    <a:ext cx="576" cy="3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algn="l">
                      <a:spcBef>
                        <a:spcPct val="50000"/>
                      </a:spcBef>
                    </a:pPr>
                    <a:r>
                      <a:rPr lang="en-US" altLang="zh-CN" sz="2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</a:rPr>
                      <a:t>20</a:t>
                    </a:r>
                  </a:p>
                </p:txBody>
              </p:sp>
            </p:grpSp>
            <p:sp>
              <p:nvSpPr>
                <p:cNvPr id="11337" name="Text Box 37"/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2064" y="2112"/>
                  <a:ext cx="432" cy="30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400" b="0" i="1">
                      <a:solidFill>
                        <a:schemeClr val="tx1"/>
                      </a:solidFill>
                      <a:latin typeface="Times New Roman" panose="02020603050405020304" charset="0"/>
                      <a:ea typeface="宋体" panose="02010600030101010101" pitchFamily="2" charset="-122"/>
                      <a:cs typeface="Times New Roman" panose="02020603050405020304" charset="0"/>
                    </a:rPr>
                    <a:t>t/s</a:t>
                  </a:r>
                </a:p>
              </p:txBody>
            </p:sp>
          </p:grpSp>
          <p:sp>
            <p:nvSpPr>
              <p:cNvPr id="11341" name="Oval 41"/>
              <p:cNvSpPr/>
              <p:nvPr>
                <p:custDataLst>
                  <p:tags r:id="rId17"/>
                </p:custDataLst>
              </p:nvPr>
            </p:nvSpPr>
            <p:spPr>
              <a:xfrm>
                <a:off x="751" y="199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345" name="Oval 45"/>
              <p:cNvSpPr/>
              <p:nvPr>
                <p:custDataLst>
                  <p:tags r:id="rId18"/>
                </p:custDataLst>
              </p:nvPr>
            </p:nvSpPr>
            <p:spPr>
              <a:xfrm>
                <a:off x="1427" y="1440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349" name="Oval 49"/>
              <p:cNvSpPr/>
              <p:nvPr>
                <p:custDataLst>
                  <p:tags r:id="rId19"/>
                </p:custDataLst>
              </p:nvPr>
            </p:nvSpPr>
            <p:spPr>
              <a:xfrm>
                <a:off x="1613" y="1104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11356" name="Rectangle 56"/>
            <p:cNvSpPr/>
            <p:nvPr>
              <p:custDataLst>
                <p:tags r:id="rId15"/>
              </p:custDataLst>
            </p:nvPr>
          </p:nvSpPr>
          <p:spPr>
            <a:xfrm>
              <a:off x="557" y="1769"/>
              <a:ext cx="230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A</a:t>
              </a:r>
            </a:p>
          </p:txBody>
        </p:sp>
      </p:grpSp>
      <p:sp>
        <p:nvSpPr>
          <p:cNvPr id="11357" name="Text Box 91"/>
          <p:cNvSpPr txBox="1"/>
          <p:nvPr>
            <p:custDataLst>
              <p:tags r:id="rId4"/>
            </p:custDataLst>
          </p:nvPr>
        </p:nvSpPr>
        <p:spPr>
          <a:xfrm>
            <a:off x="10417175" y="2997200"/>
            <a:ext cx="37338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</a:t>
            </a:r>
          </a:p>
        </p:txBody>
      </p:sp>
      <p:sp>
        <p:nvSpPr>
          <p:cNvPr id="13" name="任意多边形 12"/>
          <p:cNvSpPr/>
          <p:nvPr>
            <p:custDataLst>
              <p:tags r:id="rId5"/>
            </p:custDataLst>
          </p:nvPr>
        </p:nvSpPr>
        <p:spPr>
          <a:xfrm>
            <a:off x="8763000" y="2646045"/>
            <a:ext cx="2214880" cy="2143125"/>
          </a:xfrm>
          <a:custGeom>
            <a:avLst/>
            <a:gdLst>
              <a:gd name="connisteX0" fmla="*/ 0 w 2473960"/>
              <a:gd name="connsiteY0" fmla="*/ 1477010 h 1477010"/>
              <a:gd name="connisteX1" fmla="*/ 1504315 w 2473960"/>
              <a:gd name="connsiteY1" fmla="*/ 1130300 h 1477010"/>
              <a:gd name="connisteX2" fmla="*/ 2473960 w 2473960"/>
              <a:gd name="connsiteY2" fmla="*/ 0 h 14770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473960" h="1477010">
                <a:moveTo>
                  <a:pt x="0" y="1477010"/>
                </a:moveTo>
                <a:cubicBezTo>
                  <a:pt x="281305" y="1430020"/>
                  <a:pt x="1009650" y="1425575"/>
                  <a:pt x="1504315" y="1130300"/>
                </a:cubicBezTo>
                <a:cubicBezTo>
                  <a:pt x="1998980" y="835025"/>
                  <a:pt x="2310130" y="219075"/>
                  <a:pt x="2473960" y="0"/>
                </a:cubicBezTo>
              </a:path>
            </a:pathLst>
          </a:cu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Line 54"/>
          <p:cNvSpPr/>
          <p:nvPr>
            <p:custDataLst>
              <p:tags r:id="rId6"/>
            </p:custDataLst>
          </p:nvPr>
        </p:nvSpPr>
        <p:spPr>
          <a:xfrm flipV="1">
            <a:off x="9382125" y="3841115"/>
            <a:ext cx="1008380" cy="848995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15" name="Line 54"/>
          <p:cNvSpPr/>
          <p:nvPr>
            <p:custDataLst>
              <p:tags r:id="rId7"/>
            </p:custDataLst>
          </p:nvPr>
        </p:nvSpPr>
        <p:spPr>
          <a:xfrm flipV="1">
            <a:off x="9072880" y="4342765"/>
            <a:ext cx="1477010" cy="44704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16" name="Line 54"/>
          <p:cNvSpPr/>
          <p:nvPr>
            <p:custDataLst>
              <p:tags r:id="rId8"/>
            </p:custDataLst>
          </p:nvPr>
        </p:nvSpPr>
        <p:spPr>
          <a:xfrm flipV="1">
            <a:off x="9357995" y="3272155"/>
            <a:ext cx="1337945" cy="1419225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17" name="文本框 16"/>
          <p:cNvSpPr txBox="1"/>
          <p:nvPr>
            <p:custDataLst>
              <p:tags r:id="rId9"/>
            </p:custDataLst>
          </p:nvPr>
        </p:nvSpPr>
        <p:spPr>
          <a:xfrm>
            <a:off x="332105" y="1780540"/>
            <a:ext cx="7887335" cy="3812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       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若物体做变速直线运动，</a:t>
            </a:r>
            <a:r>
              <a:rPr lang="en-US" altLang="zh-CN" sz="2800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v-t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图像如图所示，过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点的割线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的斜率反映是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AB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段内的平均加速度；缩短了与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点的时间间隔，割线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AC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的斜率反映的</a:t>
            </a:r>
            <a:r>
              <a:rPr 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是这段时间内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的平均加速度；进一步缩短时间间隔，趋近于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0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，过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A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点的切线斜率就反映了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5s</a:t>
            </a:r>
            <a:r>
              <a:rPr lang="zh-CN" altLang="en-US" sz="28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时的瞬时加速度。</a:t>
            </a:r>
          </a:p>
        </p:txBody>
      </p:sp>
      <p:sp>
        <p:nvSpPr>
          <p:cNvPr id="18" name="Text Box 91"/>
          <p:cNvSpPr txBox="1"/>
          <p:nvPr>
            <p:custDataLst>
              <p:tags r:id="rId10"/>
            </p:custDataLst>
          </p:nvPr>
        </p:nvSpPr>
        <p:spPr>
          <a:xfrm>
            <a:off x="10447020" y="3643630"/>
            <a:ext cx="37338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</a:t>
            </a: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8219440" y="244475"/>
            <a:ext cx="3282950" cy="1463040"/>
            <a:chOff x="12824" y="482"/>
            <a:chExt cx="5170" cy="2304"/>
          </a:xfrm>
        </p:grpSpPr>
        <p:sp>
          <p:nvSpPr>
            <p:cNvPr id="6" name="云形标注 5"/>
            <p:cNvSpPr/>
            <p:nvPr>
              <p:custDataLst>
                <p:tags r:id="rId12"/>
              </p:custDataLst>
            </p:nvPr>
          </p:nvSpPr>
          <p:spPr>
            <a:xfrm>
              <a:off x="12824" y="482"/>
              <a:ext cx="5170" cy="2305"/>
            </a:xfrm>
            <a:prstGeom prst="cloudCallout">
              <a:avLst>
                <a:gd name="adj1" fmla="val -71798"/>
                <a:gd name="adj2" fmla="val 2843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>
              <p:custDataLst>
                <p:tags r:id="rId13"/>
              </p:custDataLst>
            </p:nvPr>
          </p:nvSpPr>
          <p:spPr>
            <a:xfrm>
              <a:off x="13180" y="860"/>
              <a:ext cx="4458" cy="154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2800">
                  <a:solidFill>
                    <a:schemeClr val="bg1"/>
                  </a:solidFill>
                  <a:latin typeface="思源黑体 CN Light" panose="020B0400000000000000" pitchFamily="34" charset="-122"/>
                  <a:ea typeface="思源黑体 CN Light" panose="020B0400000000000000" pitchFamily="34" charset="-122"/>
                </a:rPr>
                <a:t>类比平均速度和瞬时速度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9023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三、从</a:t>
            </a:r>
            <a:r>
              <a:rPr lang="zh-CN" altLang="en-US" sz="3200" i="1" spc="600">
                <a:solidFill>
                  <a:srgbClr val="0C76B2"/>
                </a:solidFill>
                <a:latin typeface="Times New Roman" panose="02020603050405020304" charset="0"/>
                <a:ea typeface="思源黑体 CN Bold" panose="020B0800000000000000" pitchFamily="34" charset="-122"/>
                <a:cs typeface="Times New Roman" panose="02020603050405020304" charset="0"/>
              </a:rPr>
              <a:t>v-t</a:t>
            </a:r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图像看加速度</a:t>
            </a:r>
          </a:p>
        </p:txBody>
      </p:sp>
      <p:sp>
        <p:nvSpPr>
          <p:cNvPr id="4097" name="Rectangle 4"/>
          <p:cNvSpPr/>
          <p:nvPr>
            <p:custDataLst>
              <p:tags r:id="rId2"/>
            </p:custDataLst>
          </p:nvPr>
        </p:nvSpPr>
        <p:spPr>
          <a:xfrm>
            <a:off x="379095" y="1123315"/>
            <a:ext cx="7070090" cy="66484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altLang="zh-CN" sz="32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1.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速度时间（</a:t>
            </a:r>
            <a:r>
              <a:rPr lang="en-US" altLang="zh-CN" sz="32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）图像物理意义</a:t>
            </a:r>
          </a:p>
        </p:txBody>
      </p:sp>
      <p:sp>
        <p:nvSpPr>
          <p:cNvPr id="4099" name="Rectangle 2"/>
          <p:cNvSpPr/>
          <p:nvPr>
            <p:custDataLst>
              <p:tags r:id="rId3"/>
            </p:custDataLst>
          </p:nvPr>
        </p:nvSpPr>
        <p:spPr>
          <a:xfrm>
            <a:off x="413385" y="2052320"/>
            <a:ext cx="11069955" cy="11156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(1)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可以读出任意一个时刻对应的速度，也可以读出物体在任意一个速度时所对应的时刻；</a:t>
            </a:r>
          </a:p>
        </p:txBody>
      </p:sp>
      <p:sp>
        <p:nvSpPr>
          <p:cNvPr id="4100" name="Rectangle 2"/>
          <p:cNvSpPr/>
          <p:nvPr>
            <p:custDataLst>
              <p:tags r:id="rId4"/>
            </p:custDataLst>
          </p:nvPr>
        </p:nvSpPr>
        <p:spPr>
          <a:xfrm>
            <a:off x="408940" y="3583940"/>
            <a:ext cx="7131050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(2)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可以求出任意一段时间内的速度变化量；</a:t>
            </a:r>
          </a:p>
        </p:txBody>
      </p:sp>
      <p:sp>
        <p:nvSpPr>
          <p:cNvPr id="4101" name="文本框 1"/>
          <p:cNvSpPr txBox="1"/>
          <p:nvPr>
            <p:custDataLst>
              <p:tags r:id="rId5"/>
            </p:custDataLst>
          </p:nvPr>
        </p:nvSpPr>
        <p:spPr>
          <a:xfrm>
            <a:off x="448310" y="4686935"/>
            <a:ext cx="6563995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(3)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</a:t>
            </a:r>
            <a:r>
              <a:rPr lang="zh-CN" altLang="en-US" sz="28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-t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图像物体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速度随时间变化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的规律。</a:t>
            </a:r>
          </a:p>
        </p:txBody>
      </p:sp>
      <p:grpSp>
        <p:nvGrpSpPr>
          <p:cNvPr id="2" name="组合 1"/>
          <p:cNvGrpSpPr/>
          <p:nvPr>
            <p:custDataLst>
              <p:tags r:id="rId6"/>
            </p:custDataLst>
          </p:nvPr>
        </p:nvGrpSpPr>
        <p:grpSpPr>
          <a:xfrm>
            <a:off x="8455025" y="3112135"/>
            <a:ext cx="3181350" cy="2904490"/>
            <a:chOff x="9381" y="3548"/>
            <a:chExt cx="5010" cy="4574"/>
          </a:xfrm>
        </p:grpSpPr>
        <p:sp>
          <p:nvSpPr>
            <p:cNvPr id="4128" name="Line 42"/>
            <p:cNvSpPr/>
            <p:nvPr>
              <p:custDataLst>
                <p:tags r:id="rId7"/>
              </p:custDataLst>
            </p:nvPr>
          </p:nvSpPr>
          <p:spPr>
            <a:xfrm flipV="1">
              <a:off x="9913" y="4050"/>
              <a:ext cx="3330" cy="28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4105" name="Group 46"/>
            <p:cNvGrpSpPr/>
            <p:nvPr>
              <p:custDataLst>
                <p:tags r:id="rId8"/>
              </p:custDataLst>
            </p:nvPr>
          </p:nvGrpSpPr>
          <p:grpSpPr>
            <a:xfrm>
              <a:off x="9917" y="3836"/>
              <a:ext cx="3510" cy="3093"/>
              <a:chOff x="0" y="270"/>
              <a:chExt cx="1872" cy="1650"/>
            </a:xfrm>
          </p:grpSpPr>
          <p:grpSp>
            <p:nvGrpSpPr>
              <p:cNvPr id="4106" name="Group 47"/>
              <p:cNvGrpSpPr/>
              <p:nvPr>
                <p:custDataLst>
                  <p:tags r:id="rId32"/>
                </p:custDataLst>
              </p:nvPr>
            </p:nvGrpSpPr>
            <p:grpSpPr>
              <a:xfrm>
                <a:off x="0" y="270"/>
                <a:ext cx="1872" cy="1650"/>
                <a:chOff x="0" y="270"/>
                <a:chExt cx="1872" cy="1650"/>
              </a:xfrm>
            </p:grpSpPr>
            <p:sp>
              <p:nvSpPr>
                <p:cNvPr id="4107" name="Line 48"/>
                <p:cNvSpPr/>
                <p:nvPr>
                  <p:custDataLst>
                    <p:tags r:id="rId41"/>
                  </p:custDataLst>
                </p:nvPr>
              </p:nvSpPr>
              <p:spPr>
                <a:xfrm flipH="1" flipV="1">
                  <a:off x="0" y="270"/>
                  <a:ext cx="0" cy="165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108" name="Line 49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0" y="1920"/>
                  <a:ext cx="187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4109" name="Line 50"/>
              <p:cNvSpPr/>
              <p:nvPr>
                <p:custDataLst>
                  <p:tags r:id="rId33"/>
                </p:custDataLst>
              </p:nvPr>
            </p:nvSpPr>
            <p:spPr>
              <a:xfrm flipH="1">
                <a:off x="384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0" name="Line 51"/>
              <p:cNvSpPr/>
              <p:nvPr>
                <p:custDataLst>
                  <p:tags r:id="rId34"/>
                </p:custDataLst>
              </p:nvPr>
            </p:nvSpPr>
            <p:spPr>
              <a:xfrm flipH="1">
                <a:off x="768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1" name="Line 52"/>
              <p:cNvSpPr/>
              <p:nvPr>
                <p:custDataLst>
                  <p:tags r:id="rId35"/>
                </p:custDataLst>
              </p:nvPr>
            </p:nvSpPr>
            <p:spPr>
              <a:xfrm flipH="1">
                <a:off x="1152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2" name="Line 53"/>
              <p:cNvSpPr/>
              <p:nvPr>
                <p:custDataLst>
                  <p:tags r:id="rId36"/>
                </p:custDataLst>
              </p:nvPr>
            </p:nvSpPr>
            <p:spPr>
              <a:xfrm flipH="1">
                <a:off x="1536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3" name="Line 54"/>
              <p:cNvSpPr/>
              <p:nvPr>
                <p:custDataLst>
                  <p:tags r:id="rId37"/>
                </p:custDataLst>
              </p:nvPr>
            </p:nvSpPr>
            <p:spPr>
              <a:xfrm>
                <a:off x="0" y="1584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4" name="Line 55"/>
              <p:cNvSpPr/>
              <p:nvPr>
                <p:custDataLst>
                  <p:tags r:id="rId38"/>
                </p:custDataLst>
              </p:nvPr>
            </p:nvSpPr>
            <p:spPr>
              <a:xfrm>
                <a:off x="0" y="912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5" name="Line 56"/>
              <p:cNvSpPr/>
              <p:nvPr>
                <p:custDataLst>
                  <p:tags r:id="rId39"/>
                </p:custDataLst>
              </p:nvPr>
            </p:nvSpPr>
            <p:spPr>
              <a:xfrm>
                <a:off x="0" y="1248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6" name="Line 57"/>
              <p:cNvSpPr/>
              <p:nvPr>
                <p:custDataLst>
                  <p:tags r:id="rId40"/>
                </p:custDataLst>
              </p:nvPr>
            </p:nvSpPr>
            <p:spPr>
              <a:xfrm>
                <a:off x="0" y="576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4117" name="Text Box 58"/>
            <p:cNvSpPr txBox="1"/>
            <p:nvPr>
              <p:custDataLst>
                <p:tags r:id="rId9"/>
              </p:custDataLst>
            </p:nvPr>
          </p:nvSpPr>
          <p:spPr>
            <a:xfrm>
              <a:off x="9966" y="3548"/>
              <a:ext cx="1841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v(m/s)</a:t>
              </a:r>
            </a:p>
          </p:txBody>
        </p:sp>
        <p:sp>
          <p:nvSpPr>
            <p:cNvPr id="4118" name="Text Box 59"/>
            <p:cNvSpPr txBox="1"/>
            <p:nvPr>
              <p:custDataLst>
                <p:tags r:id="rId10"/>
              </p:custDataLst>
            </p:nvPr>
          </p:nvSpPr>
          <p:spPr>
            <a:xfrm>
              <a:off x="9381" y="4127"/>
              <a:ext cx="532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4</a:t>
              </a:r>
            </a:p>
          </p:txBody>
        </p:sp>
        <p:sp>
          <p:nvSpPr>
            <p:cNvPr id="4119" name="Text Box 60"/>
            <p:cNvSpPr txBox="1"/>
            <p:nvPr>
              <p:custDataLst>
                <p:tags r:id="rId11"/>
              </p:custDataLst>
            </p:nvPr>
          </p:nvSpPr>
          <p:spPr>
            <a:xfrm>
              <a:off x="9439" y="4768"/>
              <a:ext cx="497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3</a:t>
              </a:r>
            </a:p>
          </p:txBody>
        </p:sp>
        <p:sp>
          <p:nvSpPr>
            <p:cNvPr id="4120" name="Text Box 61"/>
            <p:cNvSpPr txBox="1"/>
            <p:nvPr>
              <p:custDataLst>
                <p:tags r:id="rId12"/>
              </p:custDataLst>
            </p:nvPr>
          </p:nvSpPr>
          <p:spPr>
            <a:xfrm>
              <a:off x="9409" y="5398"/>
              <a:ext cx="478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2</a:t>
              </a:r>
            </a:p>
          </p:txBody>
        </p:sp>
        <p:sp>
          <p:nvSpPr>
            <p:cNvPr id="4121" name="Text Box 62"/>
            <p:cNvSpPr txBox="1"/>
            <p:nvPr>
              <p:custDataLst>
                <p:tags r:id="rId13"/>
              </p:custDataLst>
            </p:nvPr>
          </p:nvSpPr>
          <p:spPr>
            <a:xfrm>
              <a:off x="9439" y="6028"/>
              <a:ext cx="416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1</a:t>
              </a:r>
            </a:p>
          </p:txBody>
        </p:sp>
        <p:sp>
          <p:nvSpPr>
            <p:cNvPr id="4122" name="Text Box 63"/>
            <p:cNvSpPr txBox="1"/>
            <p:nvPr>
              <p:custDataLst>
                <p:tags r:id="rId14"/>
              </p:custDataLst>
            </p:nvPr>
          </p:nvSpPr>
          <p:spPr>
            <a:xfrm>
              <a:off x="9557" y="6750"/>
              <a:ext cx="72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0</a:t>
              </a:r>
            </a:p>
          </p:txBody>
        </p:sp>
        <p:sp>
          <p:nvSpPr>
            <p:cNvPr id="4123" name="Text Box 64"/>
            <p:cNvSpPr txBox="1"/>
            <p:nvPr>
              <p:custDataLst>
                <p:tags r:id="rId15"/>
              </p:custDataLst>
            </p:nvPr>
          </p:nvSpPr>
          <p:spPr>
            <a:xfrm>
              <a:off x="10457" y="6930"/>
              <a:ext cx="54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5</a:t>
              </a:r>
            </a:p>
          </p:txBody>
        </p:sp>
        <p:sp>
          <p:nvSpPr>
            <p:cNvPr id="4124" name="Text Box 65"/>
            <p:cNvSpPr txBox="1"/>
            <p:nvPr>
              <p:custDataLst>
                <p:tags r:id="rId16"/>
              </p:custDataLst>
            </p:nvPr>
          </p:nvSpPr>
          <p:spPr>
            <a:xfrm>
              <a:off x="11087" y="6930"/>
              <a:ext cx="989" cy="11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10</a:t>
              </a:r>
            </a:p>
          </p:txBody>
        </p:sp>
        <p:sp>
          <p:nvSpPr>
            <p:cNvPr id="4125" name="Text Box 66"/>
            <p:cNvSpPr txBox="1"/>
            <p:nvPr>
              <p:custDataLst>
                <p:tags r:id="rId17"/>
              </p:custDataLst>
            </p:nvPr>
          </p:nvSpPr>
          <p:spPr>
            <a:xfrm>
              <a:off x="11807" y="6930"/>
              <a:ext cx="90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15</a:t>
              </a:r>
            </a:p>
          </p:txBody>
        </p:sp>
        <p:sp>
          <p:nvSpPr>
            <p:cNvPr id="4126" name="Text Box 67"/>
            <p:cNvSpPr txBox="1"/>
            <p:nvPr>
              <p:custDataLst>
                <p:tags r:id="rId18"/>
              </p:custDataLst>
            </p:nvPr>
          </p:nvSpPr>
          <p:spPr>
            <a:xfrm>
              <a:off x="12495" y="6909"/>
              <a:ext cx="926" cy="10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20</a:t>
              </a:r>
            </a:p>
          </p:txBody>
        </p:sp>
        <p:sp>
          <p:nvSpPr>
            <p:cNvPr id="4127" name="Text Box 68"/>
            <p:cNvSpPr txBox="1"/>
            <p:nvPr>
              <p:custDataLst>
                <p:tags r:id="rId19"/>
              </p:custDataLst>
            </p:nvPr>
          </p:nvSpPr>
          <p:spPr>
            <a:xfrm>
              <a:off x="13301" y="6909"/>
              <a:ext cx="1090" cy="98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t/s</a:t>
              </a:r>
            </a:p>
          </p:txBody>
        </p:sp>
        <p:grpSp>
          <p:nvGrpSpPr>
            <p:cNvPr id="4129" name="Group 34"/>
            <p:cNvGrpSpPr/>
            <p:nvPr>
              <p:custDataLst>
                <p:tags r:id="rId20"/>
              </p:custDataLst>
            </p:nvPr>
          </p:nvGrpSpPr>
          <p:grpSpPr>
            <a:xfrm>
              <a:off x="10096" y="5040"/>
              <a:ext cx="1980" cy="1710"/>
              <a:chOff x="0" y="0"/>
              <a:chExt cx="1056" cy="912"/>
            </a:xfrm>
          </p:grpSpPr>
          <p:sp>
            <p:nvSpPr>
              <p:cNvPr id="4130" name="Line 35"/>
              <p:cNvSpPr/>
              <p:nvPr>
                <p:custDataLst>
                  <p:tags r:id="rId30"/>
                </p:custDataLst>
              </p:nvPr>
            </p:nvSpPr>
            <p:spPr>
              <a:xfrm flipH="1" flipV="1">
                <a:off x="1056" y="0"/>
                <a:ext cx="0" cy="912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31" name="Line 36"/>
              <p:cNvSpPr/>
              <p:nvPr>
                <p:custDataLst>
                  <p:tags r:id="rId31"/>
                </p:custDataLst>
              </p:nvPr>
            </p:nvSpPr>
            <p:spPr>
              <a:xfrm>
                <a:off x="0" y="0"/>
                <a:ext cx="1056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4132" name="Group 26"/>
            <p:cNvGrpSpPr/>
            <p:nvPr>
              <p:custDataLst>
                <p:tags r:id="rId21"/>
              </p:custDataLst>
            </p:nvPr>
          </p:nvGrpSpPr>
          <p:grpSpPr>
            <a:xfrm>
              <a:off x="9916" y="6300"/>
              <a:ext cx="720" cy="540"/>
              <a:chOff x="0" y="0"/>
              <a:chExt cx="384" cy="288"/>
            </a:xfrm>
          </p:grpSpPr>
          <p:sp>
            <p:nvSpPr>
              <p:cNvPr id="4133" name="Line 27"/>
              <p:cNvSpPr/>
              <p:nvPr>
                <p:custDataLst>
                  <p:tags r:id="rId28"/>
                </p:custDataLst>
              </p:nvPr>
            </p:nvSpPr>
            <p:spPr>
              <a:xfrm flipH="1" flipV="1">
                <a:off x="384" y="0"/>
                <a:ext cx="0" cy="288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34" name="Line 28"/>
              <p:cNvSpPr/>
              <p:nvPr>
                <p:custDataLst>
                  <p:tags r:id="rId29"/>
                </p:custDataLst>
              </p:nvPr>
            </p:nvSpPr>
            <p:spPr>
              <a:xfrm>
                <a:off x="0" y="0"/>
                <a:ext cx="384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4135" name="Group 30"/>
            <p:cNvGrpSpPr/>
            <p:nvPr>
              <p:custDataLst>
                <p:tags r:id="rId22"/>
              </p:custDataLst>
            </p:nvPr>
          </p:nvGrpSpPr>
          <p:grpSpPr>
            <a:xfrm>
              <a:off x="10096" y="5670"/>
              <a:ext cx="1260" cy="1080"/>
              <a:chOff x="0" y="0"/>
              <a:chExt cx="672" cy="576"/>
            </a:xfrm>
          </p:grpSpPr>
          <p:sp>
            <p:nvSpPr>
              <p:cNvPr id="4136" name="Line 31"/>
              <p:cNvSpPr/>
              <p:nvPr>
                <p:custDataLst>
                  <p:tags r:id="rId26"/>
                </p:custDataLst>
              </p:nvPr>
            </p:nvSpPr>
            <p:spPr>
              <a:xfrm flipH="1" flipV="1">
                <a:off x="672" y="0"/>
                <a:ext cx="0" cy="576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37" name="Line 32"/>
              <p:cNvSpPr/>
              <p:nvPr>
                <p:custDataLst>
                  <p:tags r:id="rId27"/>
                </p:custDataLst>
              </p:nvPr>
            </p:nvSpPr>
            <p:spPr>
              <a:xfrm>
                <a:off x="0" y="0"/>
                <a:ext cx="672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4138" name="Group 38"/>
            <p:cNvGrpSpPr/>
            <p:nvPr>
              <p:custDataLst>
                <p:tags r:id="rId23"/>
              </p:custDataLst>
            </p:nvPr>
          </p:nvGrpSpPr>
          <p:grpSpPr>
            <a:xfrm>
              <a:off x="10010" y="4416"/>
              <a:ext cx="2790" cy="2430"/>
              <a:chOff x="0" y="0"/>
              <a:chExt cx="1488" cy="1296"/>
            </a:xfrm>
          </p:grpSpPr>
          <p:sp>
            <p:nvSpPr>
              <p:cNvPr id="4139" name="Line 39"/>
              <p:cNvSpPr/>
              <p:nvPr>
                <p:custDataLst>
                  <p:tags r:id="rId24"/>
                </p:custDataLst>
              </p:nvPr>
            </p:nvSpPr>
            <p:spPr>
              <a:xfrm flipH="1" flipV="1">
                <a:off x="1488" y="0"/>
                <a:ext cx="0" cy="1296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40" name="Line 40"/>
              <p:cNvSpPr/>
              <p:nvPr>
                <p:custDataLst>
                  <p:tags r:id="rId25"/>
                </p:custDataLst>
              </p:nvPr>
            </p:nvSpPr>
            <p:spPr>
              <a:xfrm>
                <a:off x="0" y="0"/>
                <a:ext cx="1488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  <p:bldP spid="4100" grpId="0"/>
      <p:bldP spid="410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9023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三、从</a:t>
            </a:r>
            <a:r>
              <a:rPr lang="zh-CN" altLang="en-US" sz="3200" i="1" spc="600">
                <a:solidFill>
                  <a:srgbClr val="0C76B2"/>
                </a:solidFill>
                <a:latin typeface="Times New Roman" panose="02020603050405020304" charset="0"/>
                <a:ea typeface="思源黑体 CN Bold" panose="020B0800000000000000" pitchFamily="34" charset="-122"/>
                <a:cs typeface="Times New Roman" panose="02020603050405020304" charset="0"/>
              </a:rPr>
              <a:t>v-t</a:t>
            </a:r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图像看加速度</a:t>
            </a:r>
          </a:p>
        </p:txBody>
      </p:sp>
      <p:sp>
        <p:nvSpPr>
          <p:cNvPr id="5121" name="Rectangle 4"/>
          <p:cNvSpPr/>
          <p:nvPr>
            <p:custDataLst>
              <p:tags r:id="rId2"/>
            </p:custDataLst>
          </p:nvPr>
        </p:nvSpPr>
        <p:spPr>
          <a:xfrm>
            <a:off x="366395" y="1007745"/>
            <a:ext cx="8769350" cy="97091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altLang="zh-CN" sz="28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2.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速度时间（</a:t>
            </a:r>
            <a:r>
              <a:rPr lang="en-US" altLang="zh-CN" sz="32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）图像的斜率物理意义</a:t>
            </a:r>
          </a:p>
        </p:txBody>
      </p:sp>
      <p:sp>
        <p:nvSpPr>
          <p:cNvPr id="5122" name="文本框 2"/>
          <p:cNvSpPr txBox="1"/>
          <p:nvPr>
            <p:custDataLst>
              <p:tags r:id="rId3"/>
            </p:custDataLst>
          </p:nvPr>
        </p:nvSpPr>
        <p:spPr>
          <a:xfrm>
            <a:off x="495300" y="1825625"/>
            <a:ext cx="7870190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(1)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图像的斜率物理意义：表示物体的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加速度</a:t>
            </a: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495300" y="3757295"/>
            <a:ext cx="8493125" cy="2676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(3)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图像的斜率为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正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，说明物体加速度方向与正方向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一致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，图像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向上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倾斜；</a:t>
            </a: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 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 v-t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图像的斜率为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负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，说明物体加速度方向与正方向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相反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，图像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向下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倾斜。</a:t>
            </a: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484505" y="2562860"/>
            <a:ext cx="876300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(2)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图像的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斜率越大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，说明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加速度越大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，物体速度变化的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越快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宋体" panose="02010600030101010101" pitchFamily="2" charset="-122"/>
              </a:rPr>
              <a:t>。</a:t>
            </a:r>
          </a:p>
        </p:txBody>
      </p:sp>
      <p:grpSp>
        <p:nvGrpSpPr>
          <p:cNvPr id="2" name="组合 1"/>
          <p:cNvGrpSpPr/>
          <p:nvPr>
            <p:custDataLst>
              <p:tags r:id="rId6"/>
            </p:custDataLst>
          </p:nvPr>
        </p:nvGrpSpPr>
        <p:grpSpPr>
          <a:xfrm>
            <a:off x="9135745" y="2371725"/>
            <a:ext cx="3056255" cy="2904490"/>
            <a:chOff x="9381" y="3548"/>
            <a:chExt cx="4813" cy="4574"/>
          </a:xfrm>
        </p:grpSpPr>
        <p:sp>
          <p:nvSpPr>
            <p:cNvPr id="4128" name="Line 42"/>
            <p:cNvSpPr/>
            <p:nvPr>
              <p:custDataLst>
                <p:tags r:id="rId7"/>
              </p:custDataLst>
            </p:nvPr>
          </p:nvSpPr>
          <p:spPr>
            <a:xfrm flipV="1">
              <a:off x="9913" y="4050"/>
              <a:ext cx="3330" cy="28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4105" name="Group 46"/>
            <p:cNvGrpSpPr/>
            <p:nvPr>
              <p:custDataLst>
                <p:tags r:id="rId8"/>
              </p:custDataLst>
            </p:nvPr>
          </p:nvGrpSpPr>
          <p:grpSpPr>
            <a:xfrm>
              <a:off x="9917" y="3836"/>
              <a:ext cx="3510" cy="3093"/>
              <a:chOff x="0" y="270"/>
              <a:chExt cx="1872" cy="1650"/>
            </a:xfrm>
          </p:grpSpPr>
          <p:grpSp>
            <p:nvGrpSpPr>
              <p:cNvPr id="4106" name="Group 47"/>
              <p:cNvGrpSpPr/>
              <p:nvPr>
                <p:custDataLst>
                  <p:tags r:id="rId32"/>
                </p:custDataLst>
              </p:nvPr>
            </p:nvGrpSpPr>
            <p:grpSpPr>
              <a:xfrm>
                <a:off x="0" y="270"/>
                <a:ext cx="1872" cy="1650"/>
                <a:chOff x="0" y="270"/>
                <a:chExt cx="1872" cy="1650"/>
              </a:xfrm>
            </p:grpSpPr>
            <p:sp>
              <p:nvSpPr>
                <p:cNvPr id="4107" name="Line 48"/>
                <p:cNvSpPr/>
                <p:nvPr>
                  <p:custDataLst>
                    <p:tags r:id="rId41"/>
                  </p:custDataLst>
                </p:nvPr>
              </p:nvSpPr>
              <p:spPr>
                <a:xfrm flipH="1" flipV="1">
                  <a:off x="0" y="270"/>
                  <a:ext cx="0" cy="165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108" name="Line 49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0" y="1920"/>
                  <a:ext cx="187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4109" name="Line 50"/>
              <p:cNvSpPr/>
              <p:nvPr>
                <p:custDataLst>
                  <p:tags r:id="rId33"/>
                </p:custDataLst>
              </p:nvPr>
            </p:nvSpPr>
            <p:spPr>
              <a:xfrm flipH="1">
                <a:off x="384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0" name="Line 51"/>
              <p:cNvSpPr/>
              <p:nvPr>
                <p:custDataLst>
                  <p:tags r:id="rId34"/>
                </p:custDataLst>
              </p:nvPr>
            </p:nvSpPr>
            <p:spPr>
              <a:xfrm flipH="1">
                <a:off x="768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1" name="Line 52"/>
              <p:cNvSpPr/>
              <p:nvPr>
                <p:custDataLst>
                  <p:tags r:id="rId35"/>
                </p:custDataLst>
              </p:nvPr>
            </p:nvSpPr>
            <p:spPr>
              <a:xfrm flipH="1">
                <a:off x="1152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2" name="Line 53"/>
              <p:cNvSpPr/>
              <p:nvPr>
                <p:custDataLst>
                  <p:tags r:id="rId36"/>
                </p:custDataLst>
              </p:nvPr>
            </p:nvSpPr>
            <p:spPr>
              <a:xfrm flipH="1">
                <a:off x="1536" y="1824"/>
                <a:ext cx="0" cy="9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3" name="Line 54"/>
              <p:cNvSpPr/>
              <p:nvPr>
                <p:custDataLst>
                  <p:tags r:id="rId37"/>
                </p:custDataLst>
              </p:nvPr>
            </p:nvSpPr>
            <p:spPr>
              <a:xfrm>
                <a:off x="0" y="1584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4" name="Line 55"/>
              <p:cNvSpPr/>
              <p:nvPr>
                <p:custDataLst>
                  <p:tags r:id="rId38"/>
                </p:custDataLst>
              </p:nvPr>
            </p:nvSpPr>
            <p:spPr>
              <a:xfrm>
                <a:off x="0" y="912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5" name="Line 56"/>
              <p:cNvSpPr/>
              <p:nvPr>
                <p:custDataLst>
                  <p:tags r:id="rId39"/>
                </p:custDataLst>
              </p:nvPr>
            </p:nvSpPr>
            <p:spPr>
              <a:xfrm>
                <a:off x="0" y="1248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16" name="Line 57"/>
              <p:cNvSpPr/>
              <p:nvPr>
                <p:custDataLst>
                  <p:tags r:id="rId40"/>
                </p:custDataLst>
              </p:nvPr>
            </p:nvSpPr>
            <p:spPr>
              <a:xfrm>
                <a:off x="0" y="576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4117" name="Text Box 58"/>
            <p:cNvSpPr txBox="1"/>
            <p:nvPr>
              <p:custDataLst>
                <p:tags r:id="rId9"/>
              </p:custDataLst>
            </p:nvPr>
          </p:nvSpPr>
          <p:spPr>
            <a:xfrm>
              <a:off x="9966" y="3548"/>
              <a:ext cx="1841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v(m/s)</a:t>
              </a:r>
            </a:p>
          </p:txBody>
        </p:sp>
        <p:sp>
          <p:nvSpPr>
            <p:cNvPr id="4118" name="Text Box 59"/>
            <p:cNvSpPr txBox="1"/>
            <p:nvPr>
              <p:custDataLst>
                <p:tags r:id="rId10"/>
              </p:custDataLst>
            </p:nvPr>
          </p:nvSpPr>
          <p:spPr>
            <a:xfrm>
              <a:off x="9381" y="4127"/>
              <a:ext cx="532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4</a:t>
              </a:r>
            </a:p>
          </p:txBody>
        </p:sp>
        <p:sp>
          <p:nvSpPr>
            <p:cNvPr id="4119" name="Text Box 60"/>
            <p:cNvSpPr txBox="1"/>
            <p:nvPr>
              <p:custDataLst>
                <p:tags r:id="rId11"/>
              </p:custDataLst>
            </p:nvPr>
          </p:nvSpPr>
          <p:spPr>
            <a:xfrm>
              <a:off x="9439" y="4768"/>
              <a:ext cx="497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3</a:t>
              </a:r>
            </a:p>
          </p:txBody>
        </p:sp>
        <p:sp>
          <p:nvSpPr>
            <p:cNvPr id="4120" name="Text Box 61"/>
            <p:cNvSpPr txBox="1"/>
            <p:nvPr>
              <p:custDataLst>
                <p:tags r:id="rId12"/>
              </p:custDataLst>
            </p:nvPr>
          </p:nvSpPr>
          <p:spPr>
            <a:xfrm>
              <a:off x="9409" y="5398"/>
              <a:ext cx="478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2</a:t>
              </a:r>
            </a:p>
          </p:txBody>
        </p:sp>
        <p:sp>
          <p:nvSpPr>
            <p:cNvPr id="4121" name="Text Box 62"/>
            <p:cNvSpPr txBox="1"/>
            <p:nvPr>
              <p:custDataLst>
                <p:tags r:id="rId13"/>
              </p:custDataLst>
            </p:nvPr>
          </p:nvSpPr>
          <p:spPr>
            <a:xfrm>
              <a:off x="9439" y="6028"/>
              <a:ext cx="416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1</a:t>
              </a:r>
            </a:p>
          </p:txBody>
        </p:sp>
        <p:sp>
          <p:nvSpPr>
            <p:cNvPr id="4122" name="Text Box 63"/>
            <p:cNvSpPr txBox="1"/>
            <p:nvPr>
              <p:custDataLst>
                <p:tags r:id="rId14"/>
              </p:custDataLst>
            </p:nvPr>
          </p:nvSpPr>
          <p:spPr>
            <a:xfrm>
              <a:off x="9557" y="6750"/>
              <a:ext cx="72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0</a:t>
              </a:r>
            </a:p>
          </p:txBody>
        </p:sp>
        <p:sp>
          <p:nvSpPr>
            <p:cNvPr id="4123" name="Text Box 64"/>
            <p:cNvSpPr txBox="1"/>
            <p:nvPr>
              <p:custDataLst>
                <p:tags r:id="rId15"/>
              </p:custDataLst>
            </p:nvPr>
          </p:nvSpPr>
          <p:spPr>
            <a:xfrm>
              <a:off x="10457" y="6930"/>
              <a:ext cx="54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5</a:t>
              </a:r>
            </a:p>
          </p:txBody>
        </p:sp>
        <p:sp>
          <p:nvSpPr>
            <p:cNvPr id="4124" name="Text Box 65"/>
            <p:cNvSpPr txBox="1"/>
            <p:nvPr>
              <p:custDataLst>
                <p:tags r:id="rId16"/>
              </p:custDataLst>
            </p:nvPr>
          </p:nvSpPr>
          <p:spPr>
            <a:xfrm>
              <a:off x="11087" y="6930"/>
              <a:ext cx="990" cy="10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10</a:t>
              </a:r>
            </a:p>
          </p:txBody>
        </p:sp>
        <p:sp>
          <p:nvSpPr>
            <p:cNvPr id="4125" name="Text Box 66"/>
            <p:cNvSpPr txBox="1"/>
            <p:nvPr>
              <p:custDataLst>
                <p:tags r:id="rId17"/>
              </p:custDataLst>
            </p:nvPr>
          </p:nvSpPr>
          <p:spPr>
            <a:xfrm>
              <a:off x="11807" y="6930"/>
              <a:ext cx="90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15</a:t>
              </a:r>
            </a:p>
          </p:txBody>
        </p:sp>
        <p:sp>
          <p:nvSpPr>
            <p:cNvPr id="4126" name="Text Box 67"/>
            <p:cNvSpPr txBox="1"/>
            <p:nvPr>
              <p:custDataLst>
                <p:tags r:id="rId18"/>
              </p:custDataLst>
            </p:nvPr>
          </p:nvSpPr>
          <p:spPr>
            <a:xfrm>
              <a:off x="12495" y="6909"/>
              <a:ext cx="923" cy="12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20</a:t>
              </a:r>
            </a:p>
          </p:txBody>
        </p:sp>
        <p:sp>
          <p:nvSpPr>
            <p:cNvPr id="4127" name="Text Box 68"/>
            <p:cNvSpPr txBox="1"/>
            <p:nvPr>
              <p:custDataLst>
                <p:tags r:id="rId19"/>
              </p:custDataLst>
            </p:nvPr>
          </p:nvSpPr>
          <p:spPr>
            <a:xfrm>
              <a:off x="13161" y="6909"/>
              <a:ext cx="1033" cy="8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t/s</a:t>
              </a:r>
            </a:p>
          </p:txBody>
        </p:sp>
        <p:grpSp>
          <p:nvGrpSpPr>
            <p:cNvPr id="4129" name="Group 34"/>
            <p:cNvGrpSpPr/>
            <p:nvPr>
              <p:custDataLst>
                <p:tags r:id="rId20"/>
              </p:custDataLst>
            </p:nvPr>
          </p:nvGrpSpPr>
          <p:grpSpPr>
            <a:xfrm>
              <a:off x="10096" y="5040"/>
              <a:ext cx="1980" cy="1710"/>
              <a:chOff x="0" y="0"/>
              <a:chExt cx="1056" cy="912"/>
            </a:xfrm>
          </p:grpSpPr>
          <p:sp>
            <p:nvSpPr>
              <p:cNvPr id="4130" name="Line 35"/>
              <p:cNvSpPr/>
              <p:nvPr>
                <p:custDataLst>
                  <p:tags r:id="rId30"/>
                </p:custDataLst>
              </p:nvPr>
            </p:nvSpPr>
            <p:spPr>
              <a:xfrm flipH="1" flipV="1">
                <a:off x="1056" y="0"/>
                <a:ext cx="0" cy="912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31" name="Line 36"/>
              <p:cNvSpPr/>
              <p:nvPr>
                <p:custDataLst>
                  <p:tags r:id="rId31"/>
                </p:custDataLst>
              </p:nvPr>
            </p:nvSpPr>
            <p:spPr>
              <a:xfrm>
                <a:off x="0" y="0"/>
                <a:ext cx="1056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4132" name="Group 26"/>
            <p:cNvGrpSpPr/>
            <p:nvPr>
              <p:custDataLst>
                <p:tags r:id="rId21"/>
              </p:custDataLst>
            </p:nvPr>
          </p:nvGrpSpPr>
          <p:grpSpPr>
            <a:xfrm>
              <a:off x="9916" y="6300"/>
              <a:ext cx="720" cy="540"/>
              <a:chOff x="0" y="0"/>
              <a:chExt cx="384" cy="288"/>
            </a:xfrm>
          </p:grpSpPr>
          <p:sp>
            <p:nvSpPr>
              <p:cNvPr id="4133" name="Line 27"/>
              <p:cNvSpPr/>
              <p:nvPr>
                <p:custDataLst>
                  <p:tags r:id="rId28"/>
                </p:custDataLst>
              </p:nvPr>
            </p:nvSpPr>
            <p:spPr>
              <a:xfrm flipH="1" flipV="1">
                <a:off x="384" y="0"/>
                <a:ext cx="0" cy="288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34" name="Line 28"/>
              <p:cNvSpPr/>
              <p:nvPr>
                <p:custDataLst>
                  <p:tags r:id="rId29"/>
                </p:custDataLst>
              </p:nvPr>
            </p:nvSpPr>
            <p:spPr>
              <a:xfrm>
                <a:off x="0" y="0"/>
                <a:ext cx="384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4135" name="Group 30"/>
            <p:cNvGrpSpPr/>
            <p:nvPr>
              <p:custDataLst>
                <p:tags r:id="rId22"/>
              </p:custDataLst>
            </p:nvPr>
          </p:nvGrpSpPr>
          <p:grpSpPr>
            <a:xfrm>
              <a:off x="10096" y="5670"/>
              <a:ext cx="1260" cy="1080"/>
              <a:chOff x="0" y="0"/>
              <a:chExt cx="672" cy="576"/>
            </a:xfrm>
          </p:grpSpPr>
          <p:sp>
            <p:nvSpPr>
              <p:cNvPr id="4136" name="Line 31"/>
              <p:cNvSpPr/>
              <p:nvPr>
                <p:custDataLst>
                  <p:tags r:id="rId26"/>
                </p:custDataLst>
              </p:nvPr>
            </p:nvSpPr>
            <p:spPr>
              <a:xfrm flipH="1" flipV="1">
                <a:off x="672" y="0"/>
                <a:ext cx="0" cy="576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37" name="Line 32"/>
              <p:cNvSpPr/>
              <p:nvPr>
                <p:custDataLst>
                  <p:tags r:id="rId27"/>
                </p:custDataLst>
              </p:nvPr>
            </p:nvSpPr>
            <p:spPr>
              <a:xfrm>
                <a:off x="0" y="0"/>
                <a:ext cx="672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4138" name="Group 38"/>
            <p:cNvGrpSpPr/>
            <p:nvPr>
              <p:custDataLst>
                <p:tags r:id="rId23"/>
              </p:custDataLst>
            </p:nvPr>
          </p:nvGrpSpPr>
          <p:grpSpPr>
            <a:xfrm>
              <a:off x="10010" y="4416"/>
              <a:ext cx="2790" cy="2430"/>
              <a:chOff x="0" y="0"/>
              <a:chExt cx="1488" cy="1296"/>
            </a:xfrm>
          </p:grpSpPr>
          <p:sp>
            <p:nvSpPr>
              <p:cNvPr id="4139" name="Line 39"/>
              <p:cNvSpPr/>
              <p:nvPr>
                <p:custDataLst>
                  <p:tags r:id="rId24"/>
                </p:custDataLst>
              </p:nvPr>
            </p:nvSpPr>
            <p:spPr>
              <a:xfrm flipH="1" flipV="1">
                <a:off x="1488" y="0"/>
                <a:ext cx="0" cy="1296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40" name="Line 40"/>
              <p:cNvSpPr/>
              <p:nvPr>
                <p:custDataLst>
                  <p:tags r:id="rId25"/>
                </p:custDataLst>
              </p:nvPr>
            </p:nvSpPr>
            <p:spPr>
              <a:xfrm>
                <a:off x="0" y="0"/>
                <a:ext cx="1488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3" grpId="0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>
            <p:custDataLst>
              <p:tags r:id="rId1"/>
            </p:custDataLst>
          </p:nvPr>
        </p:nvSpPr>
        <p:spPr>
          <a:xfrm>
            <a:off x="230505" y="200025"/>
            <a:ext cx="5690235" cy="5105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三、从</a:t>
            </a:r>
            <a:r>
              <a:rPr lang="zh-CN" altLang="en-US" sz="3200" i="1" spc="600">
                <a:solidFill>
                  <a:srgbClr val="0C76B2"/>
                </a:solidFill>
                <a:latin typeface="Times New Roman" panose="02020603050405020304" charset="0"/>
                <a:ea typeface="思源黑体 CN Bold" panose="020B0800000000000000" pitchFamily="34" charset="-122"/>
                <a:cs typeface="Times New Roman" panose="02020603050405020304" charset="0"/>
              </a:rPr>
              <a:t>v-t</a:t>
            </a:r>
            <a:r>
              <a:rPr lang="zh-CN" altLang="en-US" sz="3200" spc="600">
                <a:solidFill>
                  <a:srgbClr val="0C76B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pitchFamily="18" charset="-122"/>
              </a:rPr>
              <a:t>图像看加速度</a:t>
            </a:r>
          </a:p>
        </p:txBody>
      </p:sp>
      <p:sp>
        <p:nvSpPr>
          <p:cNvPr id="6145" name="Rectangle 4"/>
          <p:cNvSpPr/>
          <p:nvPr>
            <p:custDataLst>
              <p:tags r:id="rId2"/>
            </p:custDataLst>
          </p:nvPr>
        </p:nvSpPr>
        <p:spPr>
          <a:xfrm>
            <a:off x="327660" y="1038860"/>
            <a:ext cx="11283315" cy="7969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</a:pPr>
            <a:r>
              <a:rPr lang="en-US" altLang="zh-CN" sz="3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3.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速度时间（</a:t>
            </a:r>
            <a:r>
              <a:rPr lang="en-US" altLang="zh-CN" sz="32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v-t</a:t>
            </a:r>
            <a:r>
              <a:rPr lang="zh-CN" altLang="en-US" sz="32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）图像中速度、加速度方向判断方法</a:t>
            </a:r>
          </a:p>
        </p:txBody>
      </p:sp>
      <p:sp>
        <p:nvSpPr>
          <p:cNvPr id="5122" name="文本框 2"/>
          <p:cNvSpPr txBox="1"/>
          <p:nvPr>
            <p:custDataLst>
              <p:tags r:id="rId3"/>
            </p:custDataLst>
          </p:nvPr>
        </p:nvSpPr>
        <p:spPr>
          <a:xfrm>
            <a:off x="427355" y="1772920"/>
            <a:ext cx="646747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(1)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速度的方向：</a:t>
            </a: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①速度图像在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轴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上方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，速度为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正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②速度图像在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轴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下方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，速度为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负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。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27355" y="3991610"/>
            <a:ext cx="6074410" cy="2030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(2)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加速度方向：</a:t>
            </a: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①速度图像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向上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倾斜，加速度为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正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②速度图像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向下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倾斜，加速度为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负</a:t>
            </a:r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</a:p>
        </p:txBody>
      </p:sp>
      <p:grpSp>
        <p:nvGrpSpPr>
          <p:cNvPr id="5" name="组合 4"/>
          <p:cNvGrpSpPr/>
          <p:nvPr>
            <p:custDataLst>
              <p:tags r:id="rId5"/>
            </p:custDataLst>
          </p:nvPr>
        </p:nvGrpSpPr>
        <p:grpSpPr>
          <a:xfrm>
            <a:off x="8956675" y="2509520"/>
            <a:ext cx="2826385" cy="3723640"/>
            <a:chOff x="8704" y="2616"/>
            <a:chExt cx="4451" cy="5864"/>
          </a:xfrm>
        </p:grpSpPr>
        <p:grpSp>
          <p:nvGrpSpPr>
            <p:cNvPr id="6153" name="Group 45"/>
            <p:cNvGrpSpPr/>
            <p:nvPr>
              <p:custDataLst>
                <p:tags r:id="rId6"/>
              </p:custDataLst>
            </p:nvPr>
          </p:nvGrpSpPr>
          <p:grpSpPr>
            <a:xfrm>
              <a:off x="8704" y="2616"/>
              <a:ext cx="4009" cy="5864"/>
              <a:chOff x="118" y="114"/>
              <a:chExt cx="2138" cy="3130"/>
            </a:xfrm>
          </p:grpSpPr>
          <p:grpSp>
            <p:nvGrpSpPr>
              <p:cNvPr id="6154" name="Group 46"/>
              <p:cNvGrpSpPr/>
              <p:nvPr>
                <p:custDataLst>
                  <p:tags r:id="rId19"/>
                </p:custDataLst>
              </p:nvPr>
            </p:nvGrpSpPr>
            <p:grpSpPr>
              <a:xfrm>
                <a:off x="384" y="192"/>
                <a:ext cx="1872" cy="3052"/>
                <a:chOff x="0" y="0"/>
                <a:chExt cx="1872" cy="3052"/>
              </a:xfrm>
            </p:grpSpPr>
            <p:grpSp>
              <p:nvGrpSpPr>
                <p:cNvPr id="6155" name="Group 47"/>
                <p:cNvGrpSpPr/>
                <p:nvPr>
                  <p:custDataLst>
                    <p:tags r:id="rId30"/>
                  </p:custDataLst>
                </p:nvPr>
              </p:nvGrpSpPr>
              <p:grpSpPr>
                <a:xfrm>
                  <a:off x="0" y="0"/>
                  <a:ext cx="1872" cy="3052"/>
                  <a:chOff x="0" y="0"/>
                  <a:chExt cx="1872" cy="3052"/>
                </a:xfrm>
              </p:grpSpPr>
              <p:sp>
                <p:nvSpPr>
                  <p:cNvPr id="6156" name="Line 48"/>
                  <p:cNvSpPr/>
                  <p:nvPr>
                    <p:custDataLst>
                      <p:tags r:id="rId39"/>
                    </p:custDataLst>
                  </p:nvPr>
                </p:nvSpPr>
                <p:spPr>
                  <a:xfrm flipH="1" flipV="1">
                    <a:off x="0" y="0"/>
                    <a:ext cx="0" cy="3052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6157" name="Line 49"/>
                  <p:cNvSpPr/>
                  <p:nvPr>
                    <p:custDataLst>
                      <p:tags r:id="rId40"/>
                    </p:custDataLst>
                  </p:nvPr>
                </p:nvSpPr>
                <p:spPr>
                  <a:xfrm>
                    <a:off x="0" y="1920"/>
                    <a:ext cx="187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</p:grpSp>
            <p:sp>
              <p:nvSpPr>
                <p:cNvPr id="6158" name="Line 50"/>
                <p:cNvSpPr/>
                <p:nvPr>
                  <p:custDataLst>
                    <p:tags r:id="rId31"/>
                  </p:custDataLst>
                </p:nvPr>
              </p:nvSpPr>
              <p:spPr>
                <a:xfrm flipH="1">
                  <a:off x="384" y="1824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159" name="Line 51"/>
                <p:cNvSpPr/>
                <p:nvPr>
                  <p:custDataLst>
                    <p:tags r:id="rId32"/>
                  </p:custDataLst>
                </p:nvPr>
              </p:nvSpPr>
              <p:spPr>
                <a:xfrm flipH="1">
                  <a:off x="768" y="1824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160" name="Line 52"/>
                <p:cNvSpPr/>
                <p:nvPr>
                  <p:custDataLst>
                    <p:tags r:id="rId33"/>
                  </p:custDataLst>
                </p:nvPr>
              </p:nvSpPr>
              <p:spPr>
                <a:xfrm flipH="1">
                  <a:off x="1152" y="1824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161" name="Line 53"/>
                <p:cNvSpPr/>
                <p:nvPr>
                  <p:custDataLst>
                    <p:tags r:id="rId34"/>
                  </p:custDataLst>
                </p:nvPr>
              </p:nvSpPr>
              <p:spPr>
                <a:xfrm flipH="1">
                  <a:off x="1536" y="1824"/>
                  <a:ext cx="0" cy="96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162" name="Line 54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0" y="1584"/>
                  <a:ext cx="9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163" name="Line 55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0" y="912"/>
                  <a:ext cx="9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164" name="Line 56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0" y="1248"/>
                  <a:ext cx="9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165" name="Line 57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0" y="576"/>
                  <a:ext cx="96" cy="0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6166" name="Text Box 58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434" y="114"/>
                <a:ext cx="766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i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v(m/s)</a:t>
                </a:r>
              </a:p>
            </p:txBody>
          </p:sp>
          <p:sp>
            <p:nvSpPr>
              <p:cNvPr id="6167" name="Text Box 59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28" y="632"/>
                <a:ext cx="233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6168" name="Text Box 60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128" y="959"/>
                <a:ext cx="192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6169" name="Text Box 61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18" y="1294"/>
                <a:ext cx="202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6170" name="Text Box 62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128" y="1633"/>
                <a:ext cx="222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171" name="Text Box 63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192" y="2016"/>
                <a:ext cx="384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172" name="Text Box 64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672" y="2112"/>
                <a:ext cx="288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</a:p>
            </p:txBody>
          </p:sp>
          <p:sp>
            <p:nvSpPr>
              <p:cNvPr id="6173" name="Text Box 65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994" y="2124"/>
                <a:ext cx="370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10</a:t>
                </a:r>
              </a:p>
            </p:txBody>
          </p:sp>
          <p:sp>
            <p:nvSpPr>
              <p:cNvPr id="6174" name="Text Box 66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1392" y="2112"/>
                <a:ext cx="480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15</a:t>
                </a:r>
              </a:p>
            </p:txBody>
          </p:sp>
          <p:sp>
            <p:nvSpPr>
              <p:cNvPr id="6175" name="Text Box 67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1759" y="2101"/>
                <a:ext cx="405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20</a:t>
                </a:r>
              </a:p>
            </p:txBody>
          </p:sp>
        </p:grpSp>
        <p:sp>
          <p:nvSpPr>
            <p:cNvPr id="6176" name="Text Box 68"/>
            <p:cNvSpPr txBox="1"/>
            <p:nvPr>
              <p:custDataLst>
                <p:tags r:id="rId7"/>
              </p:custDataLst>
            </p:nvPr>
          </p:nvSpPr>
          <p:spPr>
            <a:xfrm>
              <a:off x="12345" y="6359"/>
              <a:ext cx="81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t/s</a:t>
              </a:r>
            </a:p>
          </p:txBody>
        </p:sp>
        <p:sp>
          <p:nvSpPr>
            <p:cNvPr id="6177" name="Line 42"/>
            <p:cNvSpPr/>
            <p:nvPr>
              <p:custDataLst>
                <p:tags r:id="rId8"/>
              </p:custDataLst>
            </p:nvPr>
          </p:nvSpPr>
          <p:spPr>
            <a:xfrm flipV="1">
              <a:off x="9237" y="3472"/>
              <a:ext cx="3330" cy="287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8" name="Line 35"/>
            <p:cNvSpPr/>
            <p:nvPr>
              <p:custDataLst>
                <p:tags r:id="rId9"/>
              </p:custDataLst>
            </p:nvPr>
          </p:nvSpPr>
          <p:spPr>
            <a:xfrm flipV="1">
              <a:off x="11363" y="6381"/>
              <a:ext cx="1" cy="1995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9" name="Line 31"/>
            <p:cNvSpPr/>
            <p:nvPr>
              <p:custDataLst>
                <p:tags r:id="rId10"/>
              </p:custDataLst>
            </p:nvPr>
          </p:nvSpPr>
          <p:spPr>
            <a:xfrm flipH="1" flipV="1">
              <a:off x="10643" y="5120"/>
              <a:ext cx="0" cy="1079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6180" name="Group 38"/>
            <p:cNvGrpSpPr/>
            <p:nvPr>
              <p:custDataLst>
                <p:tags r:id="rId11"/>
              </p:custDataLst>
            </p:nvPr>
          </p:nvGrpSpPr>
          <p:grpSpPr>
            <a:xfrm>
              <a:off x="9296" y="3867"/>
              <a:ext cx="2790" cy="2428"/>
              <a:chOff x="0" y="0"/>
              <a:chExt cx="1488" cy="1296"/>
            </a:xfrm>
          </p:grpSpPr>
          <p:sp>
            <p:nvSpPr>
              <p:cNvPr id="6181" name="Line 39"/>
              <p:cNvSpPr/>
              <p:nvPr>
                <p:custDataLst>
                  <p:tags r:id="rId17"/>
                </p:custDataLst>
              </p:nvPr>
            </p:nvSpPr>
            <p:spPr>
              <a:xfrm flipH="1" flipV="1">
                <a:off x="1488" y="0"/>
                <a:ext cx="0" cy="1296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82" name="Line 40"/>
              <p:cNvSpPr/>
              <p:nvPr>
                <p:custDataLst>
                  <p:tags r:id="rId18"/>
                </p:custDataLst>
              </p:nvPr>
            </p:nvSpPr>
            <p:spPr>
              <a:xfrm>
                <a:off x="0" y="0"/>
                <a:ext cx="1488" cy="0"/>
              </a:xfrm>
              <a:prstGeom prst="line">
                <a:avLst/>
              </a:prstGeom>
              <a:ln w="9525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6183" name="Group 48"/>
            <p:cNvGrpSpPr/>
            <p:nvPr>
              <p:custDataLst>
                <p:tags r:id="rId12"/>
              </p:custDataLst>
            </p:nvPr>
          </p:nvGrpSpPr>
          <p:grpSpPr>
            <a:xfrm>
              <a:off x="9161" y="3363"/>
              <a:ext cx="2897" cy="3019"/>
              <a:chOff x="-105" y="-308"/>
              <a:chExt cx="3865" cy="4029"/>
            </a:xfrm>
          </p:grpSpPr>
          <p:sp>
            <p:nvSpPr>
              <p:cNvPr id="6184" name="Line 49"/>
              <p:cNvSpPr/>
              <p:nvPr>
                <p:custDataLst>
                  <p:tags r:id="rId15"/>
                </p:custDataLst>
              </p:nvPr>
            </p:nvSpPr>
            <p:spPr>
              <a:xfrm>
                <a:off x="0" y="351"/>
                <a:ext cx="3760" cy="3370"/>
              </a:xfrm>
              <a:prstGeom prst="line">
                <a:avLst/>
              </a:prstGeom>
              <a:ln w="444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85" name="Text Box 50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-105" y="-308"/>
                <a:ext cx="1015" cy="17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67627" tIns="35242" rIns="67627" bIns="35242" anchor="t">
                <a:spAutoFit/>
              </a:bodyPr>
              <a:lstStyle/>
              <a:p>
                <a:r>
                  <a:rPr lang="zh-CN" altLang="en-US" sz="100">
                    <a:solidFill>
                      <a:schemeClr val="bg1"/>
                    </a:solidFill>
                    <a:latin typeface="Arial" panose="020B0604020202020204" pitchFamily="34" charset="0"/>
                    <a:ea typeface="楷体" panose="02010609060101010101" charset="-122"/>
                  </a:rPr>
                  <a:t>B</a:t>
                </a:r>
              </a:p>
            </p:txBody>
          </p:sp>
        </p:grpSp>
        <p:sp>
          <p:nvSpPr>
            <p:cNvPr id="6187" name="Line 49"/>
            <p:cNvSpPr/>
            <p:nvPr>
              <p:custDataLst>
                <p:tags r:id="rId13"/>
              </p:custDataLst>
            </p:nvPr>
          </p:nvSpPr>
          <p:spPr>
            <a:xfrm>
              <a:off x="9233" y="6383"/>
              <a:ext cx="2129" cy="1995"/>
            </a:xfrm>
            <a:prstGeom prst="line">
              <a:avLst/>
            </a:prstGeom>
            <a:ln w="44450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8" name="文本框 5"/>
            <p:cNvSpPr txBox="1"/>
            <p:nvPr>
              <p:custDataLst>
                <p:tags r:id="rId14"/>
              </p:custDataLst>
            </p:nvPr>
          </p:nvSpPr>
          <p:spPr>
            <a:xfrm>
              <a:off x="11507" y="8147"/>
              <a:ext cx="504" cy="1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0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2823845" y="2679065"/>
            <a:ext cx="7023100" cy="1079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/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宋韵朗黑W"/>
              </a:rPr>
              <a:t>本节结束</a:t>
            </a:r>
            <a:r>
              <a:rPr lang="en-US" altLang="zh-CN" sz="60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宋韵朗黑W"/>
              </a:rPr>
              <a:t> </a:t>
            </a:r>
            <a:r>
              <a:rPr lang="zh-CN" altLang="en-US" sz="60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汉仪宋韵朗黑W"/>
              </a:rPr>
              <a:t>谢谢观看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jb3VudCI6NDUsImhkaWQiOiJlNjMzOGEyODcyNTQ1YzE2MzZhNThkYWY1MWFiYTkwYSIsInVzZXJDb3VudCI6NDR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4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5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69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6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7"/>
  <p:tag name="KSO_WM_MEDIACOVER_FLAG" val="1"/>
  <p:tag name="KSO_WM_UNIT_MEDIACOVER_BTN_POS" val="c"/>
  <p:tag name="KSO_WM_UNIT_MEDIACOVER_BTN_STATE" val="1"/>
  <p:tag name="KSO_WM_UNIT_MEDIACOVER_BTN_STYLE" val="ee0bc779c1f3d7f3e90c96344320e69a"/>
  <p:tag name="KSO_WM_UNIT_MEDIACOVER_BTNRECT" val="8504*3992*655*655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9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0"/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7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9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0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STATE" val="0"/>
  <p:tag name="KSO_WM_UNIT_MEDIACOVER_TRANSPARENCY" val="0.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1"/>
  <p:tag name="KSO_WM_BEAUTIFY_FLAG" val=""/>
  <p:tag name="KSO_WM_UNIT_TABLE_BEAUTIFY" val="smartTable{7e0345ec-17f5-4f8a-b623-18b131ff40f6}"/>
  <p:tag name="TABLE_ENDDRAG_ORIGIN_RECT" val="845*282"/>
  <p:tag name="TABLE_ENDDRAG_RECT" val="46*143*846*28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2"/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3"/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5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8"/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9"/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0"/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1"/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2"/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3"/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4"/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5"/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6"/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7"/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8"/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9"/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0"/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1"/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2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6"/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7"/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4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5"/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6"/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7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8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1"/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3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9"/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0"/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5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6"/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7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8"/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9"/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1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2"/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3"/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4"/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5"/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6"/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8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9"/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0"/>
  <p:tag name="KSO_WM_BEAUTIFY_FLAG" val=""/>
  <p:tag name="KSO_WM_UNIT_TABLE_BEAUTIFY" val="smartTable{c4df0b90-2d59-4ab6-bb5e-d89220da7e4a}"/>
  <p:tag name="TABLE_ENDDRAG_ORIGIN_RECT" val="875*317"/>
  <p:tag name="TABLE_ENDDRAG_RECT" val="38*182*875*317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1"/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2"/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3"/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6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7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8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0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1"/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2"/>
  <p:tag name="KSO_WM_BEAUTIFY_FLAG" val=""/>
  <p:tag name="KSO_WM_UNIT_TABLE_BEAUTIFY" val="smartTable{17941980-3250-4d4d-b5d7-9b2e4e7a4048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3"/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4"/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6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8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7"/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9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1"/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9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5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7"/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1"/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3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4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9"/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0"/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1"/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5"/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7"/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8"/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0"/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4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5"/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6"/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4"/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8"/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9"/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7"/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8"/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7"/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8"/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5"/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6"/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8"/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9"/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7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4"/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0"/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2"/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7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9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7"/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1"/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4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9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2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5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7"/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3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1"/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4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5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6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9"/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0"/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1"/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5"/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7"/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8"/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0"/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4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5"/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6"/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4"/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8"/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9"/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7"/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8"/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7"/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8"/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5"/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6"/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8"/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9"/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8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4"/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0"/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2"/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8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9"/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0"/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2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3"/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4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2"/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3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4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5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6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7"/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8"/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9"/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0"/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1"/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2"/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3"/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4"/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5"/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5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4"/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5"/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6"/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7"/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8"/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9"/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0"/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1"/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6"/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7"/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8"/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9"/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0"/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1"/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2"/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3"/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7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8"/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9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7"/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8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9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0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2"/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3"/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4"/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5"/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6"/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7"/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8"/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9"/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0"/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0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9"/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0"/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1"/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2"/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3"/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4"/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5"/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6"/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1"/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2"/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3"/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4"/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5"/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8"/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2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3"/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4"/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6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7"/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8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9"/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0"/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1"/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2"/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3"/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5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6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2"/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7"/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8"/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9"/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0"/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1"/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4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5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6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7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9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0"/>
  <p:tag name="KSO_WM_BEAUTIFY_FLAG" val=""/>
  <p:tag name="KSO_WM_UNIT_PLACING_PICTURE_USER_VIEWPORT" val="{&quot;height&quot;:8434,&quot;width&quot;:8142}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1"/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2"/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3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5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6"/>
  <p:tag name="KSO_WM_BEAUTIFY_FLAG" val=""/>
  <p:tag name="KSO_WM_UNIT_PLACING_PICTURE_USER_VIEWPORT" val="{&quot;height&quot;:8434,&quot;width&quot;:8142}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7"/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8"/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9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1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2"/>
  <p:tag name="KSO_WM_BEAUTIFY_FLAG" val=""/>
  <p:tag name="KSO_WM_UNIT_PLACING_PICTURE_USER_VIEWPORT" val="{&quot;height&quot;:8434,&quot;width&quot;:8142}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3"/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4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5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6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7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8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0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1"/>
  <p:tag name="KSO_WM_BEAUTIFY_FLAG" val="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2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3"/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4"/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5"/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6"/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7"/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8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9"/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0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1"/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2"/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3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2"/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4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9"/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0"/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1"/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5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8"/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6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8"/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9"/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0"/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1"/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2"/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3"/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4"/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5"/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6"/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7"/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7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0"/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1"/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2"/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3"/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4"/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5"/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6"/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7"/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8"/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9"/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4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5"/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6"/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7"/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8"/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9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0"/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3"/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4"/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5"/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6"/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7"/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8"/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9"/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0"/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1"/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2"/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3"/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4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7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0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3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4"/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5"/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1"/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2"/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8"/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9"/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5"/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6"/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2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5"/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6"/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7"/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8"/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9"/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0"/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1"/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2"/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3"/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4"/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7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8"/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9"/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0"/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1"/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2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3"/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4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6"/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7"/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8"/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9"/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0"/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1"/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2"/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3"/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4"/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5"/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6"/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7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0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3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6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7"/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8"/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4"/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5"/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1"/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2"/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8"/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9"/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5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8"/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9"/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0"/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1"/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2"/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3"/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4"/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5"/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6"/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7"/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0"/>
  <p:tag name="KSO_WM_UNIT_MEDIACOVER_BTN_POS" val="c"/>
  <p:tag name="KSO_WM_UNIT_MEDIACOVER_BTN_STATE" val="1"/>
  <p:tag name="KSO_WM_UNIT_MEDIACOVER_BTN_STYLE" val="ee0bc779c1f3d7f3e90c96344320e69a"/>
  <p:tag name="KSO_WM_UNIT_MEDIACOVER_RGB" val="000000"/>
  <p:tag name="KSO_WM_UNIT_MEDIACOVER_STYLEID" val="1"/>
  <p:tag name="KSO_WM_UNIT_MEDIACOVER_TEXT" val=""/>
  <p:tag name="KSO_WM_UNIT_MEDIACOVER_TEXTSTATE" val="0"/>
  <p:tag name="KSO_WM_UNIT_MEDIACOVER_TRANSPARENCY" val="0.5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1"/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2"/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3"/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4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5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8"/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9"/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0"/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1"/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2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5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8"/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9"/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6"/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7"/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3"/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4"/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6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8"/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9"/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0"/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1"/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2"/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3"/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4"/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5"/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6"/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7"/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7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0"/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1"/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2"/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3"/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4"/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5"/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6"/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7"/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8"/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9"/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7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汉仪宋韵朗黑W"/>
        <a:ea typeface="汉仪宋韵朗黑W"/>
        <a:cs typeface="Arial"/>
      </a:majorFont>
      <a:minorFont>
        <a:latin typeface="汉仪宋韵朗黑W"/>
        <a:ea typeface="汉仪宋韵朗黑W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汉仪宋韵朗黑W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宋韵朗黑W"/>
        <a:ea typeface="汉仪宋韵朗黑W"/>
        <a:cs typeface="Arial"/>
        <a:font script="Jpan" typeface="ＭＳ Ｐゴシック"/>
        <a:font script="Hang" typeface="맑은 고딕"/>
        <a:font script="Hans" typeface="汉仪宋韵朗黑W"/>
        <a:font script="Hant" typeface="新細明體"/>
        <a:font script="Arab" typeface="汉仪宋韵朗黑W"/>
        <a:font script="Hebr" typeface="汉仪宋韵朗黑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宋韵朗黑W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汉仪宋韵朗黑W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宋韵朗黑W"/>
        <a:ea typeface="汉仪宋韵朗黑W"/>
        <a:cs typeface="Arial"/>
        <a:font script="Jpan" typeface="ＭＳ Ｐゴシック"/>
        <a:font script="Hang" typeface="맑은 고딕"/>
        <a:font script="Hans" typeface="汉仪宋韵朗黑W"/>
        <a:font script="Hant" typeface="新細明體"/>
        <a:font script="Arab" typeface="汉仪宋韵朗黑W"/>
        <a:font script="Hebr" typeface="汉仪宋韵朗黑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宋韵朗黑W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1699</Words>
  <Application>Microsoft Office PowerPoint</Application>
  <PresentationFormat>宽屏</PresentationFormat>
  <Paragraphs>313</Paragraphs>
  <Slides>30</Slides>
  <Notes>0</Notes>
  <HiddenSlides>0</HiddenSlides>
  <MMClips>1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Book Antiqua</vt:lpstr>
      <vt:lpstr>Wingdings</vt:lpstr>
      <vt:lpstr>思源黑体 CN Bold</vt:lpstr>
      <vt:lpstr>汉仪宋韵朗黑W</vt:lpstr>
      <vt:lpstr>黑体</vt:lpstr>
      <vt:lpstr>Arial</vt:lpstr>
      <vt:lpstr>Times New Roman</vt:lpstr>
      <vt:lpstr>思源黑体 CN Light</vt:lpstr>
      <vt:lpstr>Office 主题​​</vt:lpstr>
      <vt:lpstr>Equation.3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学科网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rbm.xkw.com</dc:creator>
  <cp:lastModifiedBy>敬涛 丁</cp:lastModifiedBy>
  <cp:revision>2</cp:revision>
  <cp:lastPrinted>2024-07-01T14:23:51Z</cp:lastPrinted>
  <dcterms:created xsi:type="dcterms:W3CDTF">2024-07-01T14:23:51Z</dcterms:created>
  <dcterms:modified xsi:type="dcterms:W3CDTF">2025-06-12T01:29:22Z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