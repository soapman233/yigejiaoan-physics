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fntdata" ContentType="application/x-fontdata"/>
  <Default Extension="png" ContentType="image/png"/>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Java 23.3-->
<p:presentation xmlns:r="http://schemas.openxmlformats.org/officeDocument/2006/relationships" xmlns:a="http://schemas.openxmlformats.org/drawingml/2006/main" xmlns:p="http://schemas.openxmlformats.org/presentationml/2006/main" embedTrueTypeFonts="1">
  <p:sldMasterIdLst>
    <p:sldMasterId id="2147483648" r:id="rId2"/>
  </p:sldMasterIdLst>
  <p:notesMasterIdLst>
    <p:notesMasterId r:id="rId3"/>
  </p:notesMasterIdLst>
  <p:handoutMasterIdLst>
    <p:handoutMasterId r:id="rId4"/>
  </p:handoutMasterIdLst>
  <p:sldIdLst>
    <p:sldId id="256" r:id="rId5"/>
    <p:sldId id="260" r:id="rId6"/>
    <p:sldId id="282" r:id="rId7"/>
    <p:sldId id="534" r:id="rId8"/>
    <p:sldId id="299" r:id="rId9"/>
    <p:sldId id="546" r:id="rId10"/>
    <p:sldId id="547" r:id="rId11"/>
    <p:sldId id="548" r:id="rId12"/>
    <p:sldId id="549" r:id="rId13"/>
    <p:sldId id="550" r:id="rId14"/>
    <p:sldId id="551" r:id="rId15"/>
    <p:sldId id="552" r:id="rId16"/>
    <p:sldId id="553" r:id="rId17"/>
    <p:sldId id="554" r:id="rId18"/>
    <p:sldId id="555" r:id="rId19"/>
    <p:sldId id="556" r:id="rId20"/>
    <p:sldId id="557" r:id="rId21"/>
    <p:sldId id="558" r:id="rId22"/>
    <p:sldId id="559" r:id="rId23"/>
    <p:sldId id="560" r:id="rId24"/>
    <p:sldId id="561" r:id="rId25"/>
    <p:sldId id="562" r:id="rId26"/>
    <p:sldId id="300" r:id="rId27"/>
    <p:sldId id="563" r:id="rId28"/>
    <p:sldId id="564" r:id="rId29"/>
    <p:sldId id="565" r:id="rId30"/>
    <p:sldId id="566" r:id="rId31"/>
    <p:sldId id="567" r:id="rId32"/>
    <p:sldId id="568" r:id="rId33"/>
    <p:sldId id="504" r:id="rId34"/>
    <p:sldId id="318" r:id="rId35"/>
    <p:sldId id="334" r:id="rId36"/>
    <p:sldId id="335" r:id="rId37"/>
    <p:sldId id="336" r:id="rId38"/>
    <p:sldId id="337" r:id="rId39"/>
    <p:sldId id="338" r:id="rId40"/>
    <p:sldId id="339" r:id="rId41"/>
    <p:sldId id="380" r:id="rId42"/>
    <p:sldId id="411" r:id="rId43"/>
    <p:sldId id="412" r:id="rId44"/>
    <p:sldId id="276" r:id="rId45"/>
  </p:sldIdLst>
  <p:sldSz cx="12192000" cy="6858000"/>
  <p:notesSz cx="6858000" cy="9144000"/>
  <p:embeddedFontLst>
    <p:embeddedFont>
      <p:font typeface="汉仪宋韵朗黑W" panose="00020600040101010101" charset="-122"/>
      <p:regular r:id="rId47"/>
    </p:embeddedFont>
    <p:embeddedFont>
      <p:font typeface="黑体" panose="02010609060101010101" charset="-122"/>
      <p:regular r:id="rId48"/>
    </p:embeddedFont>
  </p:embeddedFontLst>
  <p:custDataLst>
    <p:tags r:id="rId4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9" userDrawn="1">
          <p15:clr>
            <a:srgbClr val="A4A3A4"/>
          </p15:clr>
        </p15:guide>
        <p15:guide id="2" pos="3775" userDrawn="1">
          <p15:clr>
            <a:srgbClr val="A4A3A4"/>
          </p15:clr>
        </p15:guide>
      </p15:sldGuideLst>
    </p:ext>
  </p:extLst>
</p:presentation>
</file>

<file path=ppt/commentAuthors.xml><?xml version="1.0" encoding="utf-8"?>
<p:cmAuthorLst xmlns:p="http://schemas.openxmlformats.org/presentationml/2006/main">
  <p:cmAuthor id="1" name="HD" initials="H" lastIdx="0" clrIdx="0"/>
</p:cmAuthorLst>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107" d="100"/>
          <a:sy n="107" d="100"/>
        </p:scale>
        <p:origin x="110" y="394"/>
      </p:cViewPr>
      <p:guideLst>
        <p:guide orient="horz" pos="2119"/>
        <p:guide pos="3775"/>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commentAuthors" Target="commentAuthors.xml" /><Relationship Id="rId10" Type="http://schemas.openxmlformats.org/officeDocument/2006/relationships/slide" Target="slides/slide6.xml" /><Relationship Id="rId11" Type="http://schemas.openxmlformats.org/officeDocument/2006/relationships/slide" Target="slides/slide7.xml" /><Relationship Id="rId12" Type="http://schemas.openxmlformats.org/officeDocument/2006/relationships/slide" Target="slides/slide8.xml" /><Relationship Id="rId13" Type="http://schemas.openxmlformats.org/officeDocument/2006/relationships/slide" Target="slides/slide9.xml" /><Relationship Id="rId14" Type="http://schemas.openxmlformats.org/officeDocument/2006/relationships/slide" Target="slides/slide10.xml" /><Relationship Id="rId15" Type="http://schemas.openxmlformats.org/officeDocument/2006/relationships/slide" Target="slides/slide11.xml" /><Relationship Id="rId16" Type="http://schemas.openxmlformats.org/officeDocument/2006/relationships/slide" Target="slides/slide12.xml" /><Relationship Id="rId17" Type="http://schemas.openxmlformats.org/officeDocument/2006/relationships/slide" Target="slides/slide13.xml" /><Relationship Id="rId18" Type="http://schemas.openxmlformats.org/officeDocument/2006/relationships/slide" Target="slides/slide14.xml" /><Relationship Id="rId19" Type="http://schemas.openxmlformats.org/officeDocument/2006/relationships/slide" Target="slides/slide15.xml" /><Relationship Id="rId2" Type="http://schemas.openxmlformats.org/officeDocument/2006/relationships/slideMaster" Target="slideMasters/slideMaster1.xml" /><Relationship Id="rId20" Type="http://schemas.openxmlformats.org/officeDocument/2006/relationships/slide" Target="slides/slide16.xml" /><Relationship Id="rId21" Type="http://schemas.openxmlformats.org/officeDocument/2006/relationships/slide" Target="slides/slide17.xml" /><Relationship Id="rId22" Type="http://schemas.openxmlformats.org/officeDocument/2006/relationships/slide" Target="slides/slide18.xml" /><Relationship Id="rId23" Type="http://schemas.openxmlformats.org/officeDocument/2006/relationships/slide" Target="slides/slide19.xml" /><Relationship Id="rId24" Type="http://schemas.openxmlformats.org/officeDocument/2006/relationships/slide" Target="slides/slide20.xml" /><Relationship Id="rId25" Type="http://schemas.openxmlformats.org/officeDocument/2006/relationships/slide" Target="slides/slide21.xml" /><Relationship Id="rId26" Type="http://schemas.openxmlformats.org/officeDocument/2006/relationships/slide" Target="slides/slide22.xml" /><Relationship Id="rId27" Type="http://schemas.openxmlformats.org/officeDocument/2006/relationships/slide" Target="slides/slide23.xml" /><Relationship Id="rId28" Type="http://schemas.openxmlformats.org/officeDocument/2006/relationships/slide" Target="slides/slide24.xml" /><Relationship Id="rId29" Type="http://schemas.openxmlformats.org/officeDocument/2006/relationships/slide" Target="slides/slide25.xml" /><Relationship Id="rId3" Type="http://schemas.openxmlformats.org/officeDocument/2006/relationships/notesMaster" Target="notesMasters/notesMaster1.xml" /><Relationship Id="rId30" Type="http://schemas.openxmlformats.org/officeDocument/2006/relationships/slide" Target="slides/slide26.xml" /><Relationship Id="rId31" Type="http://schemas.openxmlformats.org/officeDocument/2006/relationships/slide" Target="slides/slide27.xml" /><Relationship Id="rId32" Type="http://schemas.openxmlformats.org/officeDocument/2006/relationships/slide" Target="slides/slide28.xml" /><Relationship Id="rId33" Type="http://schemas.openxmlformats.org/officeDocument/2006/relationships/slide" Target="slides/slide29.xml" /><Relationship Id="rId34" Type="http://schemas.openxmlformats.org/officeDocument/2006/relationships/slide" Target="slides/slide30.xml" /><Relationship Id="rId35" Type="http://schemas.openxmlformats.org/officeDocument/2006/relationships/slide" Target="slides/slide31.xml" /><Relationship Id="rId36" Type="http://schemas.openxmlformats.org/officeDocument/2006/relationships/slide" Target="slides/slide32.xml" /><Relationship Id="rId37" Type="http://schemas.openxmlformats.org/officeDocument/2006/relationships/slide" Target="slides/slide33.xml" /><Relationship Id="rId38" Type="http://schemas.openxmlformats.org/officeDocument/2006/relationships/slide" Target="slides/slide34.xml" /><Relationship Id="rId39" Type="http://schemas.openxmlformats.org/officeDocument/2006/relationships/slide" Target="slides/slide35.xml" /><Relationship Id="rId4" Type="http://schemas.openxmlformats.org/officeDocument/2006/relationships/handoutMaster" Target="handoutMasters/handoutMaster1.xml" /><Relationship Id="rId40" Type="http://schemas.openxmlformats.org/officeDocument/2006/relationships/slide" Target="slides/slide36.xml" /><Relationship Id="rId41" Type="http://schemas.openxmlformats.org/officeDocument/2006/relationships/slide" Target="slides/slide37.xml" /><Relationship Id="rId42" Type="http://schemas.openxmlformats.org/officeDocument/2006/relationships/slide" Target="slides/slide38.xml" /><Relationship Id="rId43" Type="http://schemas.openxmlformats.org/officeDocument/2006/relationships/slide" Target="slides/slide39.xml" /><Relationship Id="rId44" Type="http://schemas.openxmlformats.org/officeDocument/2006/relationships/slide" Target="slides/slide40.xml" /><Relationship Id="rId45" Type="http://schemas.openxmlformats.org/officeDocument/2006/relationships/slide" Target="slides/slide41.xml" /><Relationship Id="rId46" Type="http://schemas.openxmlformats.org/officeDocument/2006/relationships/tags" Target="tags/tag273.xml" /><Relationship Id="rId47" Type="http://schemas.openxmlformats.org/officeDocument/2006/relationships/font" Target="fonts/font1.fntdata" /><Relationship Id="rId48" Type="http://schemas.openxmlformats.org/officeDocument/2006/relationships/font" Target="fonts/font2.fntdata" /><Relationship Id="rId49" Type="http://schemas.openxmlformats.org/officeDocument/2006/relationships/presProps" Target="presProps.xml" /><Relationship Id="rId5" Type="http://schemas.openxmlformats.org/officeDocument/2006/relationships/slide" Target="slides/slide1.xml" /><Relationship Id="rId50" Type="http://schemas.openxmlformats.org/officeDocument/2006/relationships/viewProps" Target="viewProps.xml" /><Relationship Id="rId51" Type="http://schemas.openxmlformats.org/officeDocument/2006/relationships/theme" Target="theme/theme1.xml" /><Relationship Id="rId52" Type="http://schemas.openxmlformats.org/officeDocument/2006/relationships/tableStyles" Target="tableStyles.xml" /><Relationship Id="rId6" Type="http://schemas.openxmlformats.org/officeDocument/2006/relationships/slide" Target="slides/slide2.xml" /><Relationship Id="rId7" Type="http://schemas.openxmlformats.org/officeDocument/2006/relationships/slide" Target="slides/slide3.xml" /><Relationship Id="rId8" Type="http://schemas.openxmlformats.org/officeDocument/2006/relationships/slide" Target="slides/slide4.xml" /><Relationship Id="rId9" Type="http://schemas.openxmlformats.org/officeDocument/2006/relationships/slide" Target="slides/slide5.xml" /></Relationships>
</file>

<file path=ppt/handoutMasters/_rels/handoutMaster1.xml.rels>&#65279;<?xml version="1.0" encoding="utf-8" standalone="yes"?><Relationships xmlns="http://schemas.openxmlformats.org/package/2006/relationships"><Relationship Id="rId1" Type="http://schemas.openxmlformats.org/officeDocument/2006/relationships/tags" Target="../tags/tag56.xml" /><Relationship Id="rId2" Type="http://schemas.openxmlformats.org/officeDocument/2006/relationships/tags" Target="../tags/tag57.xml" /><Relationship Id="rId3" Type="http://schemas.openxmlformats.org/officeDocument/2006/relationships/tags" Target="../tags/tag58.xml" /><Relationship Id="rId4" Type="http://schemas.openxmlformats.org/officeDocument/2006/relationships/tags" Target="../tags/tag59.xml" /><Relationship Id="rId5" Type="http://schemas.openxmlformats.org/officeDocument/2006/relationships/tags" Target="../tags/tag60.xml" /><Relationship Id="rId6"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custDataLst>
            <p:tags r:id="rId1"/>
          </p:custDataLst>
        </p:nvPr>
      </p:nvGrpSpPr>
      <p:grpSpPr>
        <a:xfrm>
          <a:off x="0" y="0"/>
          <a:ext cx="0" cy="0"/>
        </a:xfrm>
      </p:grpSpPr>
      <p:sp>
        <p:nvSpPr>
          <p:cNvPr id="2" name="页眉占位符 1"/>
          <p:cNvSpPr>
            <a:spLocks noGrp="1"/>
          </p:cNvSpPr>
          <p:nvPr>
            <p:ph type="hdr" sz="quarter"/>
            <p:custDataLst>
              <p:tags r:id="rId2"/>
            </p:custDataLst>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汉仪宋韵朗黑W"/>
              <a:ea typeface="汉仪宋韵朗黑W"/>
              <a:cs typeface="汉仪宋韵朗黑W" panose="00020600040101010101" charset="-122"/>
            </a:endParaRPr>
          </a:p>
        </p:txBody>
      </p:sp>
      <p:sp>
        <p:nvSpPr>
          <p:cNvPr id="3" name="日期占位符 2"/>
          <p:cNvSpPr>
            <a:spLocks noGrp="1"/>
          </p:cNvSpPr>
          <p:nvPr>
            <p:ph type="dt" sz="quarter" idx="1"/>
            <p:custDataLst>
              <p:tags r:id="rId3"/>
            </p:custDataLst>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汉仪宋韵朗黑W" panose="00020600040101010101" charset="-122"/>
              </a:rPr>
              <a:t/>
            </a:fld>
            <a:endParaRPr lang="zh-CN" altLang="en-US">
              <a:cs typeface="汉仪宋韵朗黑W" panose="00020600040101010101" charset="-122"/>
            </a:endParaRPr>
          </a:p>
        </p:txBody>
      </p:sp>
      <p:sp>
        <p:nvSpPr>
          <p:cNvPr id="4" name="页脚占位符 3"/>
          <p:cNvSpPr>
            <a:spLocks noGrp="1"/>
          </p:cNvSpPr>
          <p:nvPr>
            <p:ph type="ftr" sz="quarter" idx="2"/>
            <p:custDataLst>
              <p:tags r:id="rId4"/>
            </p:custDataLst>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汉仪宋韵朗黑W"/>
              <a:ea typeface="汉仪宋韵朗黑W"/>
              <a:cs typeface="汉仪宋韵朗黑W" panose="00020600040101010101" charset="-122"/>
            </a:endParaRPr>
          </a:p>
        </p:txBody>
      </p:sp>
      <p:sp>
        <p:nvSpPr>
          <p:cNvPr id="5" name="灯片编号占位符 4"/>
          <p:cNvSpPr>
            <a:spLocks noGrp="1"/>
          </p:cNvSpPr>
          <p:nvPr>
            <p:ph type="sldNum" sz="quarter" idx="3"/>
            <p:custDataLst>
              <p:tags r:id="rId5"/>
            </p:custDataLst>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汉仪宋韵朗黑W" panose="00020600040101010101" charset="-122"/>
              </a:rPr>
              <a:t/>
            </a:fld>
            <a:endParaRPr lang="zh-CN" altLang="en-US">
              <a:cs typeface="汉仪宋韵朗黑W" panose="0002060004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&#65279;<?xml version="1.0" encoding="utf-8" standalone="yes"?><Relationships xmlns="http://schemas.openxmlformats.org/package/2006/relationships"><Relationship Id="rId1" Type="http://schemas.openxmlformats.org/officeDocument/2006/relationships/tags" Target="../tags/tag49.xml" /><Relationship Id="rId2" Type="http://schemas.openxmlformats.org/officeDocument/2006/relationships/tags" Target="../tags/tag50.xml" /><Relationship Id="rId3" Type="http://schemas.openxmlformats.org/officeDocument/2006/relationships/tags" Target="../tags/tag51.xml" /><Relationship Id="rId4" Type="http://schemas.openxmlformats.org/officeDocument/2006/relationships/tags" Target="../tags/tag52.xml" /><Relationship Id="rId5" Type="http://schemas.openxmlformats.org/officeDocument/2006/relationships/tags" Target="../tags/tag53.xml" /><Relationship Id="rId6" Type="http://schemas.openxmlformats.org/officeDocument/2006/relationships/tags" Target="../tags/tag54.xml" /><Relationship Id="rId7" Type="http://schemas.openxmlformats.org/officeDocument/2006/relationships/tags" Target="../tags/tag55.xml" /><Relationship Id="rId8"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custDataLst>
            <p:tags r:id="rId1"/>
          </p:custDataLst>
        </p:nvPr>
      </p:nvGrpSpPr>
      <p:grpSpPr>
        <a:xfrm>
          <a:off x="0" y="0"/>
          <a:ext cx="0" cy="0"/>
        </a:xfrm>
      </p:grpSpPr>
      <p:sp>
        <p:nvSpPr>
          <p:cNvPr id="2" name="页眉占位符 1"/>
          <p:cNvSpPr>
            <a:spLocks noGrp="1"/>
          </p:cNvSpPr>
          <p:nvPr>
            <p:ph type="hdr" sz="quarter"/>
            <p:custDataLst>
              <p:tags r:id="rId2"/>
            </p:custDataLst>
          </p:nvPr>
        </p:nvSpPr>
        <p:spPr>
          <a:xfrm>
            <a:off x="0" y="0"/>
            <a:ext cx="2971800" cy="458788"/>
          </a:xfrm>
          <a:prstGeom prst="rect">
            <a:avLst/>
          </a:prstGeom>
        </p:spPr>
        <p:txBody>
          <a:bodyPr vert="horz" lIns="91440" tIns="45720" rIns="91440" bIns="45720" rtlCol="0"/>
          <a:lstStyle>
            <a:lvl1pPr algn="l">
              <a:defRPr sz="1200">
                <a:latin typeface="汉仪宋韵朗黑W"/>
                <a:ea typeface="汉仪宋韵朗黑W"/>
                <a:cs typeface="汉仪宋韵朗黑W" panose="00020600040101010101" charset="-122"/>
              </a:defRPr>
            </a:lvl1pPr>
          </a:lstStyle>
          <a:p>
            <a:endParaRPr lang="zh-CN" altLang="en-US"/>
          </a:p>
        </p:txBody>
      </p:sp>
      <p:sp>
        <p:nvSpPr>
          <p:cNvPr id="3" name="日期占位符 2"/>
          <p:cNvSpPr>
            <a:spLocks noGrp="1"/>
          </p:cNvSpPr>
          <p:nvPr>
            <p:ph type="dt" idx="1"/>
            <p:custDataLst>
              <p:tags r:id="rId3"/>
            </p:custDataLst>
          </p:nvPr>
        </p:nvSpPr>
        <p:spPr>
          <a:xfrm>
            <a:off x="3884613" y="0"/>
            <a:ext cx="2971800" cy="458788"/>
          </a:xfrm>
          <a:prstGeom prst="rect">
            <a:avLst/>
          </a:prstGeom>
        </p:spPr>
        <p:txBody>
          <a:bodyPr vert="horz" lIns="91440" tIns="45720" rIns="91440" bIns="45720" rtlCol="0"/>
          <a:lstStyle>
            <a:lvl1pPr algn="r">
              <a:defRPr sz="1200">
                <a:latin typeface="汉仪宋韵朗黑W"/>
                <a:ea typeface="汉仪宋韵朗黑W"/>
                <a:cs typeface="汉仪宋韵朗黑W" panose="00020600040101010101" charset="-122"/>
              </a:defRPr>
            </a:lvl1pPr>
          </a:lstStyle>
          <a:p>
            <a:fld id="{D2A48B96-639E-45A3-A0BA-2464DFDB1FAA}" type="datetimeFigureOut">
              <a:rPr lang="zh-CN" altLang="en-US" smtClean="0"/>
              <a:t/>
            </a:fld>
            <a:endParaRPr lang="zh-CN" altLang="en-US"/>
          </a:p>
        </p:txBody>
      </p:sp>
      <p:sp>
        <p:nvSpPr>
          <p:cNvPr id="4" name="幻灯片图像占位符 3"/>
          <p:cNvSpPr>
            <a:spLocks noGrp="1" noRot="1" noChangeAspect="1"/>
          </p:cNvSpPr>
          <p:nvPr>
            <p:ph type="sldImg" idx="2"/>
            <p:custDataLst>
              <p:tags r:id="rId4"/>
            </p:custDataLst>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custDataLst>
              <p:tags r:id="rId5"/>
            </p:custDataLst>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custDataLst>
              <p:tags r:id="rId6"/>
            </p:custDataLst>
          </p:nvPr>
        </p:nvSpPr>
        <p:spPr>
          <a:xfrm>
            <a:off x="0" y="8685213"/>
            <a:ext cx="2971800" cy="458787"/>
          </a:xfrm>
          <a:prstGeom prst="rect">
            <a:avLst/>
          </a:prstGeom>
        </p:spPr>
        <p:txBody>
          <a:bodyPr vert="horz" lIns="91440" tIns="45720" rIns="91440" bIns="45720" rtlCol="0" anchor="b"/>
          <a:lstStyle>
            <a:lvl1pPr algn="l">
              <a:defRPr sz="1200">
                <a:latin typeface="汉仪宋韵朗黑W"/>
                <a:ea typeface="汉仪宋韵朗黑W"/>
                <a:cs typeface="汉仪宋韵朗黑W" panose="00020600040101010101" charset="-122"/>
              </a:defRPr>
            </a:lvl1pPr>
          </a:lstStyle>
          <a:p>
            <a:endParaRPr lang="zh-CN" altLang="en-US"/>
          </a:p>
        </p:txBody>
      </p:sp>
      <p:sp>
        <p:nvSpPr>
          <p:cNvPr id="7" name="灯片编号占位符 6"/>
          <p:cNvSpPr>
            <a:spLocks noGrp="1"/>
          </p:cNvSpPr>
          <p:nvPr>
            <p:ph type="sldNum" sz="quarter" idx="5"/>
            <p:custDataLst>
              <p:tags r:id="rId7"/>
            </p:custDataLst>
          </p:nvPr>
        </p:nvSpPr>
        <p:spPr>
          <a:xfrm>
            <a:off x="3884613" y="8685213"/>
            <a:ext cx="2971800" cy="458787"/>
          </a:xfrm>
          <a:prstGeom prst="rect">
            <a:avLst/>
          </a:prstGeom>
        </p:spPr>
        <p:txBody>
          <a:bodyPr vert="horz" lIns="91440" tIns="45720" rIns="91440" bIns="45720" rtlCol="0" anchor="b"/>
          <a:lstStyle>
            <a:lvl1pPr algn="r">
              <a:defRPr sz="1200">
                <a:latin typeface="汉仪宋韵朗黑W"/>
                <a:ea typeface="汉仪宋韵朗黑W"/>
                <a:cs typeface="汉仪宋韵朗黑W" panose="00020600040101010101" charset="-122"/>
              </a:defRPr>
            </a:lvl1pPr>
          </a:lstStyle>
          <a:p>
            <a:fld id="{A6837353-30EB-4A48-80EB-173D804AEFBD}" type="slidenum">
              <a:rPr lang="zh-CN" altLang="en-US" smtClean="0"/>
              <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汉仪宋韵朗黑W"/>
        <a:ea typeface="汉仪宋韵朗黑W"/>
        <a:cs typeface="汉仪宋韵朗黑W" panose="00020600040101010101" charset="-122"/>
      </a:defRPr>
    </a:lvl1pPr>
    <a:lvl2pPr marL="457200" algn="l" defTabSz="914400" rtl="0" eaLnBrk="1" latinLnBrk="0" hangingPunct="1">
      <a:defRPr sz="1200" kern="1200">
        <a:solidFill>
          <a:schemeClr val="tx1"/>
        </a:solidFill>
        <a:latin typeface="汉仪宋韵朗黑W"/>
        <a:ea typeface="汉仪宋韵朗黑W"/>
        <a:cs typeface="汉仪宋韵朗黑W" panose="00020600040101010101" charset="-122"/>
      </a:defRPr>
    </a:lvl2pPr>
    <a:lvl3pPr marL="914400" algn="l" defTabSz="914400" rtl="0" eaLnBrk="1" latinLnBrk="0" hangingPunct="1">
      <a:defRPr sz="1200" kern="1200">
        <a:solidFill>
          <a:schemeClr val="tx1"/>
        </a:solidFill>
        <a:latin typeface="汉仪宋韵朗黑W"/>
        <a:ea typeface="汉仪宋韵朗黑W"/>
        <a:cs typeface="汉仪宋韵朗黑W" panose="00020600040101010101" charset="-122"/>
      </a:defRPr>
    </a:lvl3pPr>
    <a:lvl4pPr marL="1371600" algn="l" defTabSz="914400" rtl="0" eaLnBrk="1" latinLnBrk="0" hangingPunct="1">
      <a:defRPr sz="1200" kern="1200">
        <a:solidFill>
          <a:schemeClr val="tx1"/>
        </a:solidFill>
        <a:latin typeface="汉仪宋韵朗黑W"/>
        <a:ea typeface="汉仪宋韵朗黑W"/>
        <a:cs typeface="汉仪宋韵朗黑W" panose="00020600040101010101" charset="-122"/>
      </a:defRPr>
    </a:lvl4pPr>
    <a:lvl5pPr marL="1828800" algn="l" defTabSz="914400" rtl="0" eaLnBrk="1" latinLnBrk="0" hangingPunct="1">
      <a:defRPr sz="1200" kern="1200">
        <a:solidFill>
          <a:schemeClr val="tx1"/>
        </a:solidFill>
        <a:latin typeface="汉仪宋韵朗黑W"/>
        <a:ea typeface="汉仪宋韵朗黑W"/>
        <a:cs typeface="汉仪宋韵朗黑W" panose="0002060004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&#65279;<?xml version="1.0" encoding="utf-8" standalone="yes"?><Relationships xmlns="http://schemas.openxmlformats.org/package/2006/relationships"><Relationship Id="rId1" Type="http://schemas.openxmlformats.org/officeDocument/2006/relationships/tags" Target="../tags/tag1.xml" /><Relationship Id="rId10" Type="http://schemas.openxmlformats.org/officeDocument/2006/relationships/tags" Target="../tags/tag10.xml" /><Relationship Id="rId11" Type="http://schemas.openxmlformats.org/officeDocument/2006/relationships/tags" Target="../tags/tag11.xml" /><Relationship Id="rId12" Type="http://schemas.openxmlformats.org/officeDocument/2006/relationships/tags" Target="../tags/tag12.xml" /><Relationship Id="rId13" Type="http://schemas.openxmlformats.org/officeDocument/2006/relationships/tags" Target="../tags/tag13.xml" /><Relationship Id="rId14" Type="http://schemas.openxmlformats.org/officeDocument/2006/relationships/tags" Target="../tags/tag14.xml" /><Relationship Id="rId15" Type="http://schemas.openxmlformats.org/officeDocument/2006/relationships/tags" Target="../tags/tag15.xml" /><Relationship Id="rId16" Type="http://schemas.openxmlformats.org/officeDocument/2006/relationships/slideMaster" Target="../slideMasters/slideMaster1.xml" /><Relationship Id="rId2" Type="http://schemas.openxmlformats.org/officeDocument/2006/relationships/tags" Target="../tags/tag2.xml" /><Relationship Id="rId3" Type="http://schemas.openxmlformats.org/officeDocument/2006/relationships/tags" Target="../tags/tag3.xml" /><Relationship Id="rId4" Type="http://schemas.openxmlformats.org/officeDocument/2006/relationships/tags" Target="../tags/tag4.xml" /><Relationship Id="rId5" Type="http://schemas.openxmlformats.org/officeDocument/2006/relationships/tags" Target="../tags/tag5.xml" /><Relationship Id="rId6" Type="http://schemas.openxmlformats.org/officeDocument/2006/relationships/tags" Target="../tags/tag6.xml" /><Relationship Id="rId7" Type="http://schemas.openxmlformats.org/officeDocument/2006/relationships/tags" Target="../tags/tag7.xml" /><Relationship Id="rId8" Type="http://schemas.openxmlformats.org/officeDocument/2006/relationships/tags" Target="../tags/tag8.xml" /><Relationship Id="rId9" Type="http://schemas.openxmlformats.org/officeDocument/2006/relationships/tags" Target="../tags/tag9.xml" /></Relationships>
</file>

<file path=ppt/slideLayouts/_rels/slideLayout2.xml.rels>&#65279;<?xml version="1.0" encoding="utf-8" standalone="yes"?><Relationships xmlns="http://schemas.openxmlformats.org/package/2006/relationships"><Relationship Id="rId1" Type="http://schemas.openxmlformats.org/officeDocument/2006/relationships/tags" Target="../tags/tag16.xml" /><Relationship Id="rId10" Type="http://schemas.openxmlformats.org/officeDocument/2006/relationships/tags" Target="../tags/tag25.xml" /><Relationship Id="rId11" Type="http://schemas.openxmlformats.org/officeDocument/2006/relationships/tags" Target="../tags/tag26.xml" /><Relationship Id="rId12" Type="http://schemas.openxmlformats.org/officeDocument/2006/relationships/tags" Target="../tags/tag27.xml" /><Relationship Id="rId13" Type="http://schemas.openxmlformats.org/officeDocument/2006/relationships/tags" Target="../tags/tag28.xml" /><Relationship Id="rId14" Type="http://schemas.openxmlformats.org/officeDocument/2006/relationships/tags" Target="../tags/tag29.xml" /><Relationship Id="rId15" Type="http://schemas.openxmlformats.org/officeDocument/2006/relationships/tags" Target="../tags/tag30.xml" /><Relationship Id="rId16" Type="http://schemas.openxmlformats.org/officeDocument/2006/relationships/slideMaster" Target="../slideMasters/slideMaster1.xml" /><Relationship Id="rId2" Type="http://schemas.openxmlformats.org/officeDocument/2006/relationships/tags" Target="../tags/tag17.xml" /><Relationship Id="rId3" Type="http://schemas.openxmlformats.org/officeDocument/2006/relationships/tags" Target="../tags/tag18.xml" /><Relationship Id="rId4" Type="http://schemas.openxmlformats.org/officeDocument/2006/relationships/tags" Target="../tags/tag19.xml" /><Relationship Id="rId5" Type="http://schemas.openxmlformats.org/officeDocument/2006/relationships/tags" Target="../tags/tag20.xml" /><Relationship Id="rId6" Type="http://schemas.openxmlformats.org/officeDocument/2006/relationships/tags" Target="../tags/tag21.xml" /><Relationship Id="rId7" Type="http://schemas.openxmlformats.org/officeDocument/2006/relationships/tags" Target="../tags/tag22.xml" /><Relationship Id="rId8" Type="http://schemas.openxmlformats.org/officeDocument/2006/relationships/tags" Target="../tags/tag23.xml" /><Relationship Id="rId9" Type="http://schemas.openxmlformats.org/officeDocument/2006/relationships/tags" Target="../tags/tag24.xml" /></Relationships>
</file>

<file path=ppt/slideLayouts/_rels/slideLayout3.xml.rels>&#65279;<?xml version="1.0" encoding="utf-8" standalone="yes"?><Relationships xmlns="http://schemas.openxmlformats.org/package/2006/relationships"><Relationship Id="rId1" Type="http://schemas.openxmlformats.org/officeDocument/2006/relationships/tags" Target="../tags/tag31.xml" /><Relationship Id="rId10" Type="http://schemas.openxmlformats.org/officeDocument/2006/relationships/tags" Target="../tags/tag40.xml" /><Relationship Id="rId11" Type="http://schemas.openxmlformats.org/officeDocument/2006/relationships/tags" Target="../tags/tag41.xml" /><Relationship Id="rId12" Type="http://schemas.openxmlformats.org/officeDocument/2006/relationships/tags" Target="../tags/tag42.xml" /><Relationship Id="rId13" Type="http://schemas.openxmlformats.org/officeDocument/2006/relationships/tags" Target="../tags/tag43.xml" /><Relationship Id="rId14" Type="http://schemas.openxmlformats.org/officeDocument/2006/relationships/tags" Target="../tags/tag44.xml" /><Relationship Id="rId15" Type="http://schemas.openxmlformats.org/officeDocument/2006/relationships/tags" Target="../tags/tag45.xml" /><Relationship Id="rId16" Type="http://schemas.openxmlformats.org/officeDocument/2006/relationships/slideMaster" Target="../slideMasters/slideMaster1.xml" /><Relationship Id="rId2" Type="http://schemas.openxmlformats.org/officeDocument/2006/relationships/tags" Target="../tags/tag32.xml" /><Relationship Id="rId3" Type="http://schemas.openxmlformats.org/officeDocument/2006/relationships/tags" Target="../tags/tag33.xml" /><Relationship Id="rId4" Type="http://schemas.openxmlformats.org/officeDocument/2006/relationships/tags" Target="../tags/tag34.xml" /><Relationship Id="rId5" Type="http://schemas.openxmlformats.org/officeDocument/2006/relationships/tags" Target="../tags/tag35.xml" /><Relationship Id="rId6" Type="http://schemas.openxmlformats.org/officeDocument/2006/relationships/tags" Target="../tags/tag36.xml" /><Relationship Id="rId7" Type="http://schemas.openxmlformats.org/officeDocument/2006/relationships/tags" Target="../tags/tag37.xml" /><Relationship Id="rId8" Type="http://schemas.openxmlformats.org/officeDocument/2006/relationships/tags" Target="../tags/tag38.xml" /><Relationship Id="rId9" Type="http://schemas.openxmlformats.org/officeDocument/2006/relationships/tags" Target="../tags/tag39.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标题幻灯片">
    <p:spTree>
      <p:nvGrpSpPr>
        <p:cNvPr id="1" name=""/>
        <p:cNvGrpSpPr/>
        <p:nvPr>
          <p:custDataLst>
            <p:tags r:id="rId1"/>
          </p:custDataLst>
        </p:nvPr>
      </p:nvGrpSpPr>
      <p:grpSpPr>
        <a:xfrm>
          <a:off x="0" y="0"/>
          <a:ext cx="0" cy="0"/>
        </a:xfrm>
      </p:grpSpPr>
      <p:grpSp>
        <p:nvGrpSpPr>
          <p:cNvPr id="21" name="组合 20"/>
          <p:cNvGrpSpPr/>
          <p:nvPr userDrawn="1">
            <p:custDataLst>
              <p:tags r:id="rId2"/>
            </p:custDataLst>
          </p:nvPr>
        </p:nvGrpSpPr>
        <p:grpSpPr>
          <a:xfrm>
            <a:off x="0" y="2541905"/>
            <a:ext cx="4665980" cy="4316095"/>
            <a:chOff x="0" y="5348"/>
            <a:chExt cx="5894" cy="5452"/>
          </a:xfrm>
        </p:grpSpPr>
        <p:sp>
          <p:nvSpPr>
            <p:cNvPr id="22" name="直角三角形 21"/>
            <p:cNvSpPr/>
            <p:nvPr userDrawn="1">
              <p:custDataLst>
                <p:tags r:id="rId3"/>
              </p:custDataLst>
            </p:nvPr>
          </p:nvSpPr>
          <p:spPr>
            <a:xfrm>
              <a:off x="0" y="5348"/>
              <a:ext cx="2960" cy="5452"/>
            </a:xfrm>
            <a:prstGeom prst="rtTriangle">
              <a:avLst/>
            </a:prstGeom>
            <a:solidFill>
              <a:srgbClr val="0299D8">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23" name="直角三角形 22"/>
            <p:cNvSpPr/>
            <p:nvPr userDrawn="1">
              <p:custDataLst>
                <p:tags r:id="rId4"/>
              </p:custDataLst>
            </p:nvPr>
          </p:nvSpPr>
          <p:spPr>
            <a:xfrm>
              <a:off x="0" y="7695"/>
              <a:ext cx="5895" cy="3105"/>
            </a:xfrm>
            <a:prstGeom prst="rtTriangle">
              <a:avLst/>
            </a:prstGeom>
            <a:solidFill>
              <a:srgbClr val="0299D8">
                <a:alpha val="1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24" name="直角三角形 23"/>
            <p:cNvSpPr/>
            <p:nvPr userDrawn="1">
              <p:custDataLst>
                <p:tags r:id="rId5"/>
              </p:custDataLst>
            </p:nvPr>
          </p:nvSpPr>
          <p:spPr>
            <a:xfrm>
              <a:off x="0" y="6496"/>
              <a:ext cx="2960" cy="4304"/>
            </a:xfrm>
            <a:prstGeom prst="rtTriangle">
              <a:avLst/>
            </a:prstGeom>
            <a:solidFill>
              <a:srgbClr val="95E1E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25" name="直角三角形 24"/>
            <p:cNvSpPr/>
            <p:nvPr userDrawn="1">
              <p:custDataLst>
                <p:tags r:id="rId6"/>
              </p:custDataLst>
            </p:nvPr>
          </p:nvSpPr>
          <p:spPr>
            <a:xfrm>
              <a:off x="0" y="8180"/>
              <a:ext cx="4567" cy="2620"/>
            </a:xfrm>
            <a:prstGeom prst="rtTriangle">
              <a:avLst/>
            </a:prstGeom>
            <a:solidFill>
              <a:schemeClr val="accent2">
                <a:lumMod val="75000"/>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26" name="直角三角形 25"/>
            <p:cNvSpPr/>
            <p:nvPr userDrawn="1">
              <p:custDataLst>
                <p:tags r:id="rId7"/>
              </p:custDataLst>
            </p:nvPr>
          </p:nvSpPr>
          <p:spPr>
            <a:xfrm>
              <a:off x="0" y="7287"/>
              <a:ext cx="2471" cy="3513"/>
            </a:xfrm>
            <a:prstGeom prst="rtTriangle">
              <a:avLst/>
            </a:prstGeom>
            <a:solidFill>
              <a:srgbClr val="0299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27" name="直角三角形 26"/>
            <p:cNvSpPr/>
            <p:nvPr userDrawn="1">
              <p:custDataLst>
                <p:tags r:id="rId8"/>
              </p:custDataLst>
            </p:nvPr>
          </p:nvSpPr>
          <p:spPr>
            <a:xfrm>
              <a:off x="0" y="8599"/>
              <a:ext cx="2959" cy="2201"/>
            </a:xfrm>
            <a:prstGeom prst="rtTriangle">
              <a:avLst/>
            </a:prstGeom>
            <a:solidFill>
              <a:srgbClr val="0C7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grpSp>
      <p:grpSp>
        <p:nvGrpSpPr>
          <p:cNvPr id="28" name="组合 27"/>
          <p:cNvGrpSpPr/>
          <p:nvPr userDrawn="1">
            <p:custDataLst>
              <p:tags r:id="rId9"/>
            </p:custDataLst>
          </p:nvPr>
        </p:nvGrpSpPr>
        <p:grpSpPr>
          <a:xfrm flipH="1" flipV="1">
            <a:off x="7526020" y="0"/>
            <a:ext cx="4665980" cy="4316095"/>
            <a:chOff x="0" y="5348"/>
            <a:chExt cx="5894" cy="5452"/>
          </a:xfrm>
        </p:grpSpPr>
        <p:sp>
          <p:nvSpPr>
            <p:cNvPr id="29" name="直角三角形 28"/>
            <p:cNvSpPr/>
            <p:nvPr userDrawn="1">
              <p:custDataLst>
                <p:tags r:id="rId10"/>
              </p:custDataLst>
            </p:nvPr>
          </p:nvSpPr>
          <p:spPr>
            <a:xfrm>
              <a:off x="0" y="5348"/>
              <a:ext cx="2960" cy="5452"/>
            </a:xfrm>
            <a:prstGeom prst="rtTriangle">
              <a:avLst/>
            </a:prstGeom>
            <a:solidFill>
              <a:srgbClr val="0299D8">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30" name="直角三角形 29"/>
            <p:cNvSpPr/>
            <p:nvPr userDrawn="1">
              <p:custDataLst>
                <p:tags r:id="rId11"/>
              </p:custDataLst>
            </p:nvPr>
          </p:nvSpPr>
          <p:spPr>
            <a:xfrm>
              <a:off x="0" y="7695"/>
              <a:ext cx="5895" cy="3105"/>
            </a:xfrm>
            <a:prstGeom prst="rtTriangle">
              <a:avLst/>
            </a:prstGeom>
            <a:solidFill>
              <a:srgbClr val="0299D8">
                <a:alpha val="1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31" name="直角三角形 30"/>
            <p:cNvSpPr/>
            <p:nvPr userDrawn="1">
              <p:custDataLst>
                <p:tags r:id="rId12"/>
              </p:custDataLst>
            </p:nvPr>
          </p:nvSpPr>
          <p:spPr>
            <a:xfrm>
              <a:off x="0" y="6496"/>
              <a:ext cx="2960" cy="4304"/>
            </a:xfrm>
            <a:prstGeom prst="rtTriangle">
              <a:avLst/>
            </a:prstGeom>
            <a:solidFill>
              <a:srgbClr val="95E1E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32" name="直角三角形 31"/>
            <p:cNvSpPr/>
            <p:nvPr userDrawn="1">
              <p:custDataLst>
                <p:tags r:id="rId13"/>
              </p:custDataLst>
            </p:nvPr>
          </p:nvSpPr>
          <p:spPr>
            <a:xfrm>
              <a:off x="0" y="8180"/>
              <a:ext cx="4567" cy="2620"/>
            </a:xfrm>
            <a:prstGeom prst="rtTriangle">
              <a:avLst/>
            </a:prstGeom>
            <a:solidFill>
              <a:schemeClr val="accent2">
                <a:lumMod val="75000"/>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33" name="直角三角形 32"/>
            <p:cNvSpPr/>
            <p:nvPr userDrawn="1">
              <p:custDataLst>
                <p:tags r:id="rId14"/>
              </p:custDataLst>
            </p:nvPr>
          </p:nvSpPr>
          <p:spPr>
            <a:xfrm>
              <a:off x="0" y="7287"/>
              <a:ext cx="2471" cy="3513"/>
            </a:xfrm>
            <a:prstGeom prst="rtTriangle">
              <a:avLst/>
            </a:prstGeom>
            <a:solidFill>
              <a:srgbClr val="0299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34" name="直角三角形 33"/>
            <p:cNvSpPr/>
            <p:nvPr userDrawn="1">
              <p:custDataLst>
                <p:tags r:id="rId15"/>
              </p:custDataLst>
            </p:nvPr>
          </p:nvSpPr>
          <p:spPr>
            <a:xfrm>
              <a:off x="0" y="8599"/>
              <a:ext cx="2959" cy="2201"/>
            </a:xfrm>
            <a:prstGeom prst="rtTriangle">
              <a:avLst/>
            </a:prstGeom>
            <a:solidFill>
              <a:srgbClr val="0C7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gr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标题和内容">
    <p:spTree>
      <p:nvGrpSpPr>
        <p:cNvPr id="1" name=""/>
        <p:cNvGrpSpPr/>
        <p:nvPr>
          <p:custDataLst>
            <p:tags r:id="rId1"/>
          </p:custDataLst>
        </p:nvPr>
      </p:nvGrpSpPr>
      <p:grpSpPr>
        <a:xfrm>
          <a:off x="0" y="0"/>
          <a:ext cx="0" cy="0"/>
        </a:xfrm>
      </p:grpSpPr>
      <p:grpSp>
        <p:nvGrpSpPr>
          <p:cNvPr id="21" name="组合 20"/>
          <p:cNvGrpSpPr/>
          <p:nvPr userDrawn="1">
            <p:custDataLst>
              <p:tags r:id="rId2"/>
            </p:custDataLst>
          </p:nvPr>
        </p:nvGrpSpPr>
        <p:grpSpPr>
          <a:xfrm>
            <a:off x="0" y="3395980"/>
            <a:ext cx="3742690" cy="3462020"/>
            <a:chOff x="0" y="5348"/>
            <a:chExt cx="5894" cy="5452"/>
          </a:xfrm>
        </p:grpSpPr>
        <p:sp>
          <p:nvSpPr>
            <p:cNvPr id="22" name="直角三角形 21"/>
            <p:cNvSpPr/>
            <p:nvPr userDrawn="1">
              <p:custDataLst>
                <p:tags r:id="rId3"/>
              </p:custDataLst>
            </p:nvPr>
          </p:nvSpPr>
          <p:spPr>
            <a:xfrm>
              <a:off x="0" y="5348"/>
              <a:ext cx="2960" cy="5452"/>
            </a:xfrm>
            <a:prstGeom prst="rtTriangle">
              <a:avLst/>
            </a:prstGeom>
            <a:solidFill>
              <a:srgbClr val="0299D8">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23" name="直角三角形 22"/>
            <p:cNvSpPr/>
            <p:nvPr userDrawn="1">
              <p:custDataLst>
                <p:tags r:id="rId4"/>
              </p:custDataLst>
            </p:nvPr>
          </p:nvSpPr>
          <p:spPr>
            <a:xfrm>
              <a:off x="0" y="7695"/>
              <a:ext cx="5895" cy="3105"/>
            </a:xfrm>
            <a:prstGeom prst="rtTriangle">
              <a:avLst/>
            </a:prstGeom>
            <a:solidFill>
              <a:srgbClr val="0299D8">
                <a:alpha val="1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24" name="直角三角形 23"/>
            <p:cNvSpPr/>
            <p:nvPr userDrawn="1">
              <p:custDataLst>
                <p:tags r:id="rId5"/>
              </p:custDataLst>
            </p:nvPr>
          </p:nvSpPr>
          <p:spPr>
            <a:xfrm>
              <a:off x="0" y="6496"/>
              <a:ext cx="2960" cy="4304"/>
            </a:xfrm>
            <a:prstGeom prst="rtTriangle">
              <a:avLst/>
            </a:prstGeom>
            <a:solidFill>
              <a:srgbClr val="95E1E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25" name="直角三角形 24"/>
            <p:cNvSpPr/>
            <p:nvPr userDrawn="1">
              <p:custDataLst>
                <p:tags r:id="rId6"/>
              </p:custDataLst>
            </p:nvPr>
          </p:nvSpPr>
          <p:spPr>
            <a:xfrm>
              <a:off x="0" y="8180"/>
              <a:ext cx="4567" cy="2620"/>
            </a:xfrm>
            <a:prstGeom prst="rtTriangle">
              <a:avLst/>
            </a:prstGeom>
            <a:solidFill>
              <a:schemeClr val="accent2">
                <a:lumMod val="75000"/>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26" name="直角三角形 25"/>
            <p:cNvSpPr/>
            <p:nvPr userDrawn="1">
              <p:custDataLst>
                <p:tags r:id="rId7"/>
              </p:custDataLst>
            </p:nvPr>
          </p:nvSpPr>
          <p:spPr>
            <a:xfrm>
              <a:off x="0" y="7287"/>
              <a:ext cx="2471" cy="3513"/>
            </a:xfrm>
            <a:prstGeom prst="rtTriangle">
              <a:avLst/>
            </a:prstGeom>
            <a:solidFill>
              <a:srgbClr val="0299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27" name="直角三角形 26"/>
            <p:cNvSpPr/>
            <p:nvPr userDrawn="1">
              <p:custDataLst>
                <p:tags r:id="rId8"/>
              </p:custDataLst>
            </p:nvPr>
          </p:nvSpPr>
          <p:spPr>
            <a:xfrm>
              <a:off x="0" y="8599"/>
              <a:ext cx="2959" cy="2201"/>
            </a:xfrm>
            <a:prstGeom prst="rtTriangle">
              <a:avLst/>
            </a:prstGeom>
            <a:solidFill>
              <a:srgbClr val="0C7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grpSp>
      <p:grpSp>
        <p:nvGrpSpPr>
          <p:cNvPr id="28" name="组合 27"/>
          <p:cNvGrpSpPr/>
          <p:nvPr userDrawn="1">
            <p:custDataLst>
              <p:tags r:id="rId9"/>
            </p:custDataLst>
          </p:nvPr>
        </p:nvGrpSpPr>
        <p:grpSpPr>
          <a:xfrm flipH="1" flipV="1">
            <a:off x="8449310" y="0"/>
            <a:ext cx="3742690" cy="3462020"/>
            <a:chOff x="0" y="5348"/>
            <a:chExt cx="5894" cy="5452"/>
          </a:xfrm>
        </p:grpSpPr>
        <p:sp>
          <p:nvSpPr>
            <p:cNvPr id="29" name="直角三角形 28"/>
            <p:cNvSpPr/>
            <p:nvPr userDrawn="1">
              <p:custDataLst>
                <p:tags r:id="rId10"/>
              </p:custDataLst>
            </p:nvPr>
          </p:nvSpPr>
          <p:spPr>
            <a:xfrm>
              <a:off x="0" y="5348"/>
              <a:ext cx="2960" cy="5452"/>
            </a:xfrm>
            <a:prstGeom prst="rtTriangle">
              <a:avLst/>
            </a:prstGeom>
            <a:solidFill>
              <a:srgbClr val="0299D8">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30" name="直角三角形 29"/>
            <p:cNvSpPr/>
            <p:nvPr userDrawn="1">
              <p:custDataLst>
                <p:tags r:id="rId11"/>
              </p:custDataLst>
            </p:nvPr>
          </p:nvSpPr>
          <p:spPr>
            <a:xfrm>
              <a:off x="0" y="7695"/>
              <a:ext cx="5895" cy="3105"/>
            </a:xfrm>
            <a:prstGeom prst="rtTriangle">
              <a:avLst/>
            </a:prstGeom>
            <a:solidFill>
              <a:srgbClr val="0299D8">
                <a:alpha val="1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31" name="直角三角形 30"/>
            <p:cNvSpPr/>
            <p:nvPr userDrawn="1">
              <p:custDataLst>
                <p:tags r:id="rId12"/>
              </p:custDataLst>
            </p:nvPr>
          </p:nvSpPr>
          <p:spPr>
            <a:xfrm>
              <a:off x="0" y="6496"/>
              <a:ext cx="2960" cy="4304"/>
            </a:xfrm>
            <a:prstGeom prst="rtTriangle">
              <a:avLst/>
            </a:prstGeom>
            <a:solidFill>
              <a:srgbClr val="95E1E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32" name="直角三角形 31"/>
            <p:cNvSpPr/>
            <p:nvPr userDrawn="1">
              <p:custDataLst>
                <p:tags r:id="rId13"/>
              </p:custDataLst>
            </p:nvPr>
          </p:nvSpPr>
          <p:spPr>
            <a:xfrm>
              <a:off x="0" y="8180"/>
              <a:ext cx="4567" cy="2620"/>
            </a:xfrm>
            <a:prstGeom prst="rtTriangle">
              <a:avLst/>
            </a:prstGeom>
            <a:solidFill>
              <a:schemeClr val="accent2">
                <a:lumMod val="75000"/>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33" name="直角三角形 32"/>
            <p:cNvSpPr/>
            <p:nvPr userDrawn="1">
              <p:custDataLst>
                <p:tags r:id="rId14"/>
              </p:custDataLst>
            </p:nvPr>
          </p:nvSpPr>
          <p:spPr>
            <a:xfrm>
              <a:off x="0" y="7287"/>
              <a:ext cx="2471" cy="3513"/>
            </a:xfrm>
            <a:prstGeom prst="rtTriangle">
              <a:avLst/>
            </a:prstGeom>
            <a:solidFill>
              <a:srgbClr val="0299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34" name="直角三角形 33"/>
            <p:cNvSpPr/>
            <p:nvPr userDrawn="1">
              <p:custDataLst>
                <p:tags r:id="rId15"/>
              </p:custDataLst>
            </p:nvPr>
          </p:nvSpPr>
          <p:spPr>
            <a:xfrm>
              <a:off x="0" y="8599"/>
              <a:ext cx="2959" cy="2201"/>
            </a:xfrm>
            <a:prstGeom prst="rtTriangle">
              <a:avLst/>
            </a:prstGeom>
            <a:solidFill>
              <a:srgbClr val="0C7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gr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节标题">
    <p:spTree>
      <p:nvGrpSpPr>
        <p:cNvPr id="1" name=""/>
        <p:cNvGrpSpPr/>
        <p:nvPr>
          <p:custDataLst>
            <p:tags r:id="rId1"/>
          </p:custDataLst>
        </p:nvPr>
      </p:nvGrpSpPr>
      <p:grpSpPr>
        <a:xfrm>
          <a:off x="0" y="0"/>
          <a:ext cx="0" cy="0"/>
        </a:xfrm>
      </p:grpSpPr>
      <p:grpSp>
        <p:nvGrpSpPr>
          <p:cNvPr id="10" name="组合 9"/>
          <p:cNvGrpSpPr/>
          <p:nvPr userDrawn="1">
            <p:custDataLst>
              <p:tags r:id="rId2"/>
            </p:custDataLst>
          </p:nvPr>
        </p:nvGrpSpPr>
        <p:grpSpPr>
          <a:xfrm>
            <a:off x="0" y="4622800"/>
            <a:ext cx="2414905" cy="2235200"/>
            <a:chOff x="0" y="5348"/>
            <a:chExt cx="5894" cy="5452"/>
          </a:xfrm>
        </p:grpSpPr>
        <p:sp>
          <p:nvSpPr>
            <p:cNvPr id="9" name="直角三角形 8"/>
            <p:cNvSpPr/>
            <p:nvPr userDrawn="1">
              <p:custDataLst>
                <p:tags r:id="rId3"/>
              </p:custDataLst>
            </p:nvPr>
          </p:nvSpPr>
          <p:spPr>
            <a:xfrm>
              <a:off x="0" y="5348"/>
              <a:ext cx="2960" cy="5452"/>
            </a:xfrm>
            <a:prstGeom prst="rtTriangle">
              <a:avLst/>
            </a:prstGeom>
            <a:solidFill>
              <a:srgbClr val="0299D8">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8" name="直角三角形 7"/>
            <p:cNvSpPr/>
            <p:nvPr userDrawn="1">
              <p:custDataLst>
                <p:tags r:id="rId4"/>
              </p:custDataLst>
            </p:nvPr>
          </p:nvSpPr>
          <p:spPr>
            <a:xfrm>
              <a:off x="0" y="7695"/>
              <a:ext cx="5895" cy="3105"/>
            </a:xfrm>
            <a:prstGeom prst="rtTriangle">
              <a:avLst/>
            </a:prstGeom>
            <a:solidFill>
              <a:srgbClr val="0299D8">
                <a:alpha val="1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7" name="直角三角形 6"/>
            <p:cNvSpPr/>
            <p:nvPr userDrawn="1">
              <p:custDataLst>
                <p:tags r:id="rId5"/>
              </p:custDataLst>
            </p:nvPr>
          </p:nvSpPr>
          <p:spPr>
            <a:xfrm>
              <a:off x="0" y="6496"/>
              <a:ext cx="2960" cy="4304"/>
            </a:xfrm>
            <a:prstGeom prst="rtTriangle">
              <a:avLst/>
            </a:prstGeom>
            <a:solidFill>
              <a:srgbClr val="95E1E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11" name="直角三角形 10"/>
            <p:cNvSpPr/>
            <p:nvPr userDrawn="1">
              <p:custDataLst>
                <p:tags r:id="rId6"/>
              </p:custDataLst>
            </p:nvPr>
          </p:nvSpPr>
          <p:spPr>
            <a:xfrm>
              <a:off x="0" y="8180"/>
              <a:ext cx="4567" cy="2620"/>
            </a:xfrm>
            <a:prstGeom prst="rtTriangle">
              <a:avLst/>
            </a:prstGeom>
            <a:solidFill>
              <a:schemeClr val="accent2">
                <a:lumMod val="75000"/>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12" name="直角三角形 11"/>
            <p:cNvSpPr/>
            <p:nvPr userDrawn="1">
              <p:custDataLst>
                <p:tags r:id="rId7"/>
              </p:custDataLst>
            </p:nvPr>
          </p:nvSpPr>
          <p:spPr>
            <a:xfrm>
              <a:off x="0" y="7287"/>
              <a:ext cx="2471" cy="3513"/>
            </a:xfrm>
            <a:prstGeom prst="rtTriangle">
              <a:avLst/>
            </a:prstGeom>
            <a:solidFill>
              <a:srgbClr val="0299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13" name="直角三角形 12"/>
            <p:cNvSpPr/>
            <p:nvPr userDrawn="1">
              <p:custDataLst>
                <p:tags r:id="rId8"/>
              </p:custDataLst>
            </p:nvPr>
          </p:nvSpPr>
          <p:spPr>
            <a:xfrm>
              <a:off x="0" y="8599"/>
              <a:ext cx="2959" cy="2201"/>
            </a:xfrm>
            <a:prstGeom prst="rtTriangle">
              <a:avLst/>
            </a:prstGeom>
            <a:solidFill>
              <a:srgbClr val="0C7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grpSp>
      <p:grpSp>
        <p:nvGrpSpPr>
          <p:cNvPr id="14" name="组合 13"/>
          <p:cNvGrpSpPr/>
          <p:nvPr userDrawn="1">
            <p:custDataLst>
              <p:tags r:id="rId9"/>
            </p:custDataLst>
          </p:nvPr>
        </p:nvGrpSpPr>
        <p:grpSpPr>
          <a:xfrm flipH="1" flipV="1">
            <a:off x="9777095" y="0"/>
            <a:ext cx="2414905" cy="2235200"/>
            <a:chOff x="0" y="5348"/>
            <a:chExt cx="5894" cy="5452"/>
          </a:xfrm>
        </p:grpSpPr>
        <p:sp>
          <p:nvSpPr>
            <p:cNvPr id="15" name="直角三角形 14"/>
            <p:cNvSpPr/>
            <p:nvPr userDrawn="1">
              <p:custDataLst>
                <p:tags r:id="rId10"/>
              </p:custDataLst>
            </p:nvPr>
          </p:nvSpPr>
          <p:spPr>
            <a:xfrm>
              <a:off x="0" y="5348"/>
              <a:ext cx="2960" cy="5452"/>
            </a:xfrm>
            <a:prstGeom prst="rtTriangle">
              <a:avLst/>
            </a:prstGeom>
            <a:solidFill>
              <a:srgbClr val="0299D8">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16" name="直角三角形 15"/>
            <p:cNvSpPr/>
            <p:nvPr userDrawn="1">
              <p:custDataLst>
                <p:tags r:id="rId11"/>
              </p:custDataLst>
            </p:nvPr>
          </p:nvSpPr>
          <p:spPr>
            <a:xfrm>
              <a:off x="0" y="7695"/>
              <a:ext cx="5895" cy="3105"/>
            </a:xfrm>
            <a:prstGeom prst="rtTriangle">
              <a:avLst/>
            </a:prstGeom>
            <a:solidFill>
              <a:srgbClr val="0299D8">
                <a:alpha val="1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17" name="直角三角形 16"/>
            <p:cNvSpPr/>
            <p:nvPr userDrawn="1">
              <p:custDataLst>
                <p:tags r:id="rId12"/>
              </p:custDataLst>
            </p:nvPr>
          </p:nvSpPr>
          <p:spPr>
            <a:xfrm>
              <a:off x="0" y="6496"/>
              <a:ext cx="2960" cy="4304"/>
            </a:xfrm>
            <a:prstGeom prst="rtTriangle">
              <a:avLst/>
            </a:prstGeom>
            <a:solidFill>
              <a:srgbClr val="95E1E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18" name="直角三角形 17"/>
            <p:cNvSpPr/>
            <p:nvPr userDrawn="1">
              <p:custDataLst>
                <p:tags r:id="rId13"/>
              </p:custDataLst>
            </p:nvPr>
          </p:nvSpPr>
          <p:spPr>
            <a:xfrm>
              <a:off x="0" y="8180"/>
              <a:ext cx="4567" cy="2620"/>
            </a:xfrm>
            <a:prstGeom prst="rtTriangle">
              <a:avLst/>
            </a:prstGeom>
            <a:solidFill>
              <a:schemeClr val="accent2">
                <a:lumMod val="75000"/>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19" name="直角三角形 18"/>
            <p:cNvSpPr/>
            <p:nvPr userDrawn="1">
              <p:custDataLst>
                <p:tags r:id="rId14"/>
              </p:custDataLst>
            </p:nvPr>
          </p:nvSpPr>
          <p:spPr>
            <a:xfrm>
              <a:off x="0" y="7287"/>
              <a:ext cx="2471" cy="3513"/>
            </a:xfrm>
            <a:prstGeom prst="rtTriangle">
              <a:avLst/>
            </a:prstGeom>
            <a:solidFill>
              <a:srgbClr val="0299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sp>
          <p:nvSpPr>
            <p:cNvPr id="20" name="直角三角形 19"/>
            <p:cNvSpPr/>
            <p:nvPr userDrawn="1">
              <p:custDataLst>
                <p:tags r:id="rId15"/>
              </p:custDataLst>
            </p:nvPr>
          </p:nvSpPr>
          <p:spPr>
            <a:xfrm>
              <a:off x="0" y="8599"/>
              <a:ext cx="2959" cy="2201"/>
            </a:xfrm>
            <a:prstGeom prst="rtTriangle">
              <a:avLst/>
            </a:prstGeom>
            <a:solidFill>
              <a:srgbClr val="0C7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宋韵朗黑W" panose="00020600040101010101" charset="-122"/>
              </a:endParaRPr>
            </a:p>
          </p:txBody>
        </p:sp>
      </p:gr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tags" Target="../tags/tag46.xml" /><Relationship Id="rId5" Type="http://schemas.openxmlformats.org/officeDocument/2006/relationships/image" Target="file:///D:\qq&#25991;&#20214;\712321467\Image\C2C\Image2\%7b75232B38-A165-1FB7-499C-2E1C792CACB5%7d.png" TargetMode="External" /><Relationship Id="rId6" Type="http://schemas.openxmlformats.org/officeDocument/2006/relationships/image" Target="../media/image1.png" /><Relationship Id="rId7" Type="http://schemas.openxmlformats.org/officeDocument/2006/relationships/tags" Target="../tags/tag47.xml" /><Relationship Id="rId8" Type="http://schemas.openxmlformats.org/officeDocument/2006/relationships/tags" Target="../tags/tag48.xml" /><Relationship Id="rId9"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noFill/>
        <a:effectLst/>
      </p:bgPr>
    </p:bg>
    <p:spTree>
      <p:nvGrpSpPr>
        <p:cNvPr id="1" name=""/>
        <p:cNvGrpSpPr/>
        <p:nvPr>
          <p:custDataLst>
            <p:tags r:id="rId4"/>
          </p:custDataLst>
        </p:nvPr>
      </p:nvGrpSpPr>
      <p:grpSpPr>
        <a:xfrm>
          <a:off x="0" y="0"/>
          <a:ext cx="0" cy="0"/>
        </a:xfrm>
      </p:grpSpPr>
      <p:pic>
        <p:nvPicPr>
          <p:cNvPr id="2" name="图片 1073743875" descr="学科网 zxxk.com" title=""/>
          <p:cNvPicPr>
            <a:picLocks noChangeAspect="1"/>
          </p:cNvPicPr>
          <p:nvPr>
            <p:custDataLst>
              <p:tags r:id="rId7"/>
            </p:custDataLst>
          </p:nvPr>
        </p:nvPicPr>
        <p:blipFill>
          <a:blip r:embed="rId6" r:link="rId5"/>
          <a:stretch>
            <a:fillRect/>
          </a:stretch>
        </p:blipFill>
        <p:spPr>
          <a:xfrm>
            <a:off x="838200" y="365125"/>
            <a:ext cx="9525" cy="9525"/>
          </a:xfrm>
          <a:prstGeom prst="rect">
            <a:avLst/>
          </a:prstGeom>
          <a:noFill/>
          <a:ln>
            <a:noFill/>
            <a:miter lim="800000"/>
          </a:ln>
        </p:spPr>
      </p:pic>
    </p:spTree>
    <p:custDataLst>
      <p:tags r:id="rId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p:timing/>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09725"/>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ct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61.xml" /><Relationship Id="rId3" Type="http://schemas.openxmlformats.org/officeDocument/2006/relationships/tags" Target="../tags/tag62.xml" /><Relationship Id="rId4" Type="http://schemas.openxmlformats.org/officeDocument/2006/relationships/tags" Target="../tags/tag63.xml" /><Relationship Id="rId5" Type="http://schemas.openxmlformats.org/officeDocument/2006/relationships/tags" Target="../tags/tag64.xml" /><Relationship Id="rId6" Type="http://schemas.openxmlformats.org/officeDocument/2006/relationships/tags" Target="../tags/tag65.xml" /><Relationship Id="rId7" Type="http://schemas.openxmlformats.org/officeDocument/2006/relationships/tags" Target="../tags/tag66.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2.xml" /><Relationship Id="rId10" Type="http://schemas.openxmlformats.org/officeDocument/2006/relationships/tags" Target="../tags/tag75.xml" /><Relationship Id="rId11" Type="http://schemas.openxmlformats.org/officeDocument/2006/relationships/tags" Target="../tags/tag76.xml" /><Relationship Id="rId12" Type="http://schemas.openxmlformats.org/officeDocument/2006/relationships/tags" Target="../tags/tag77.xml" /><Relationship Id="rId13" Type="http://schemas.openxmlformats.org/officeDocument/2006/relationships/tags" Target="../tags/tag78.xml" /><Relationship Id="rId14" Type="http://schemas.openxmlformats.org/officeDocument/2006/relationships/tags" Target="../tags/tag79.xml" /><Relationship Id="rId15" Type="http://schemas.openxmlformats.org/officeDocument/2006/relationships/tags" Target="../tags/tag80.xml" /><Relationship Id="rId16" Type="http://schemas.openxmlformats.org/officeDocument/2006/relationships/tags" Target="../tags/tag81.xml" /><Relationship Id="rId17" Type="http://schemas.openxmlformats.org/officeDocument/2006/relationships/tags" Target="../tags/tag82.xml" /><Relationship Id="rId18" Type="http://schemas.openxmlformats.org/officeDocument/2006/relationships/tags" Target="../tags/tag83.xml" /><Relationship Id="rId19" Type="http://schemas.openxmlformats.org/officeDocument/2006/relationships/tags" Target="../tags/tag84.xml" /><Relationship Id="rId2" Type="http://schemas.openxmlformats.org/officeDocument/2006/relationships/tags" Target="../tags/tag67.xml" /><Relationship Id="rId3" Type="http://schemas.openxmlformats.org/officeDocument/2006/relationships/tags" Target="../tags/tag68.xml" /><Relationship Id="rId4" Type="http://schemas.openxmlformats.org/officeDocument/2006/relationships/tags" Target="../tags/tag69.xml" /><Relationship Id="rId5" Type="http://schemas.openxmlformats.org/officeDocument/2006/relationships/tags" Target="../tags/tag70.xml" /><Relationship Id="rId6" Type="http://schemas.openxmlformats.org/officeDocument/2006/relationships/tags" Target="../tags/tag71.xml" /><Relationship Id="rId7" Type="http://schemas.openxmlformats.org/officeDocument/2006/relationships/tags" Target="../tags/tag72.xml" /><Relationship Id="rId8" Type="http://schemas.openxmlformats.org/officeDocument/2006/relationships/tags" Target="../tags/tag73.xml" /><Relationship Id="rId9" Type="http://schemas.openxmlformats.org/officeDocument/2006/relationships/tags" Target="../tags/tag74.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85.xml" /><Relationship Id="rId3" Type="http://schemas.openxmlformats.org/officeDocument/2006/relationships/tags" Target="../tags/tag86.xml" /><Relationship Id="rId4" Type="http://schemas.openxmlformats.org/officeDocument/2006/relationships/tags" Target="../tags/tag87.xml" /><Relationship Id="rId5" Type="http://schemas.openxmlformats.org/officeDocument/2006/relationships/tags" Target="../tags/tag88.xml" /><Relationship Id="rId6" Type="http://schemas.openxmlformats.org/officeDocument/2006/relationships/tags" Target="../tags/tag89.xml" /><Relationship Id="rId7" Type="http://schemas.openxmlformats.org/officeDocument/2006/relationships/tags" Target="../tags/tag90.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91.xml" /><Relationship Id="rId3" Type="http://schemas.openxmlformats.org/officeDocument/2006/relationships/tags" Target="../tags/tag92.xml" /><Relationship Id="rId4" Type="http://schemas.openxmlformats.org/officeDocument/2006/relationships/image" Target="../media/image2.jpeg" /><Relationship Id="rId5" Type="http://schemas.openxmlformats.org/officeDocument/2006/relationships/tags" Target="../tags/tag93.xml" /><Relationship Id="rId6" Type="http://schemas.openxmlformats.org/officeDocument/2006/relationships/tags" Target="../tags/tag94.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95.xml" /><Relationship Id="rId3" Type="http://schemas.openxmlformats.org/officeDocument/2006/relationships/tags" Target="../tags/tag96.xml" /><Relationship Id="rId4" Type="http://schemas.openxmlformats.org/officeDocument/2006/relationships/tags" Target="../tags/tag97.xml" /><Relationship Id="rId5" Type="http://schemas.openxmlformats.org/officeDocument/2006/relationships/tags" Target="../tags/tag98.xml" /><Relationship Id="rId6" Type="http://schemas.openxmlformats.org/officeDocument/2006/relationships/tags" Target="../tags/tag99.xml" /><Relationship Id="rId7" Type="http://schemas.openxmlformats.org/officeDocument/2006/relationships/tags" Target="../tags/tag100.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101.xml" /><Relationship Id="rId3" Type="http://schemas.openxmlformats.org/officeDocument/2006/relationships/tags" Target="../tags/tag102.xml" /><Relationship Id="rId4" Type="http://schemas.openxmlformats.org/officeDocument/2006/relationships/tags" Target="../tags/tag103.xml" /><Relationship Id="rId5" Type="http://schemas.openxmlformats.org/officeDocument/2006/relationships/image" Target="../media/image3.png" /><Relationship Id="rId6" Type="http://schemas.openxmlformats.org/officeDocument/2006/relationships/tags" Target="../tags/tag104.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105.xml" /><Relationship Id="rId3" Type="http://schemas.openxmlformats.org/officeDocument/2006/relationships/tags" Target="../tags/tag106.xml" /><Relationship Id="rId4" Type="http://schemas.openxmlformats.org/officeDocument/2006/relationships/tags" Target="../tags/tag107.xml" /><Relationship Id="rId5" Type="http://schemas.openxmlformats.org/officeDocument/2006/relationships/image" Target="../media/image3.png" /><Relationship Id="rId6" Type="http://schemas.openxmlformats.org/officeDocument/2006/relationships/tags" Target="../tags/tag108.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109.xml" /><Relationship Id="rId3" Type="http://schemas.openxmlformats.org/officeDocument/2006/relationships/tags" Target="../tags/tag110.xml" /><Relationship Id="rId4" Type="http://schemas.openxmlformats.org/officeDocument/2006/relationships/tags" Target="../tags/tag111.xml" /><Relationship Id="rId5" Type="http://schemas.openxmlformats.org/officeDocument/2006/relationships/image" Target="../media/image3.png" /><Relationship Id="rId6" Type="http://schemas.openxmlformats.org/officeDocument/2006/relationships/tags" Target="../tags/tag112.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113.xml" /><Relationship Id="rId3" Type="http://schemas.openxmlformats.org/officeDocument/2006/relationships/tags" Target="../tags/tag114.xml" /><Relationship Id="rId4" Type="http://schemas.openxmlformats.org/officeDocument/2006/relationships/tags" Target="../tags/tag115.xml" /><Relationship Id="rId5" Type="http://schemas.openxmlformats.org/officeDocument/2006/relationships/image" Target="../media/image3.png" /><Relationship Id="rId6" Type="http://schemas.openxmlformats.org/officeDocument/2006/relationships/tags" Target="../tags/tag116.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117.xml" /><Relationship Id="rId3" Type="http://schemas.openxmlformats.org/officeDocument/2006/relationships/tags" Target="../tags/tag118.xml" /><Relationship Id="rId4" Type="http://schemas.openxmlformats.org/officeDocument/2006/relationships/tags" Target="../tags/tag119.xml" /><Relationship Id="rId5" Type="http://schemas.openxmlformats.org/officeDocument/2006/relationships/image" Target="../media/image4.png" /><Relationship Id="rId6" Type="http://schemas.openxmlformats.org/officeDocument/2006/relationships/tags" Target="../tags/tag120.xml" /><Relationship Id="rId7" Type="http://schemas.openxmlformats.org/officeDocument/2006/relationships/image" Target="../media/image5.png" /><Relationship Id="rId8" Type="http://schemas.openxmlformats.org/officeDocument/2006/relationships/tags" Target="../tags/tag121.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122.xml" /><Relationship Id="rId3" Type="http://schemas.openxmlformats.org/officeDocument/2006/relationships/tags" Target="../tags/tag123.xml" /><Relationship Id="rId4" Type="http://schemas.openxmlformats.org/officeDocument/2006/relationships/tags" Target="../tags/tag124.xml" /><Relationship Id="rId5" Type="http://schemas.openxmlformats.org/officeDocument/2006/relationships/image" Target="../media/image4.png" /><Relationship Id="rId6" Type="http://schemas.openxmlformats.org/officeDocument/2006/relationships/tags" Target="../tags/tag125.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126.xml" /><Relationship Id="rId3" Type="http://schemas.openxmlformats.org/officeDocument/2006/relationships/tags" Target="../tags/tag127.xml" /><Relationship Id="rId4" Type="http://schemas.openxmlformats.org/officeDocument/2006/relationships/tags" Target="../tags/tag128.xml" /><Relationship Id="rId5" Type="http://schemas.openxmlformats.org/officeDocument/2006/relationships/image" Target="../media/image4.png" /><Relationship Id="rId6" Type="http://schemas.openxmlformats.org/officeDocument/2006/relationships/tags" Target="../tags/tag129.xml"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130.xml" /><Relationship Id="rId3" Type="http://schemas.openxmlformats.org/officeDocument/2006/relationships/tags" Target="../tags/tag131.xml" /><Relationship Id="rId4" Type="http://schemas.openxmlformats.org/officeDocument/2006/relationships/tags" Target="../tags/tag132.xml" /><Relationship Id="rId5" Type="http://schemas.openxmlformats.org/officeDocument/2006/relationships/image" Target="../media/image4.png" /><Relationship Id="rId6" Type="http://schemas.openxmlformats.org/officeDocument/2006/relationships/tags" Target="../tags/tag133.xml"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134.xml" /><Relationship Id="rId3" Type="http://schemas.openxmlformats.org/officeDocument/2006/relationships/tags" Target="../tags/tag135.xml" /><Relationship Id="rId4" Type="http://schemas.openxmlformats.org/officeDocument/2006/relationships/tags" Target="../tags/tag136.xml" /><Relationship Id="rId5" Type="http://schemas.openxmlformats.org/officeDocument/2006/relationships/image" Target="../media/image4.png" /><Relationship Id="rId6" Type="http://schemas.openxmlformats.org/officeDocument/2006/relationships/tags" Target="../tags/tag137.xml"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138.xml" /><Relationship Id="rId3" Type="http://schemas.openxmlformats.org/officeDocument/2006/relationships/image" Target="../media/image6.png" /><Relationship Id="rId4" Type="http://schemas.openxmlformats.org/officeDocument/2006/relationships/tags" Target="../tags/tag139.xml" /><Relationship Id="rId5" Type="http://schemas.openxmlformats.org/officeDocument/2006/relationships/tags" Target="../tags/tag140.xml" /><Relationship Id="rId6" Type="http://schemas.openxmlformats.org/officeDocument/2006/relationships/image" Target="../media/image7.png" /><Relationship Id="rId7" Type="http://schemas.openxmlformats.org/officeDocument/2006/relationships/tags" Target="../tags/tag141.xml"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142.xml" /><Relationship Id="rId3" Type="http://schemas.openxmlformats.org/officeDocument/2006/relationships/tags" Target="../tags/tag143.xml" /><Relationship Id="rId4" Type="http://schemas.openxmlformats.org/officeDocument/2006/relationships/tags" Target="../tags/tag144.xml" /><Relationship Id="rId5" Type="http://schemas.openxmlformats.org/officeDocument/2006/relationships/image" Target="../media/image7.png" /><Relationship Id="rId6" Type="http://schemas.openxmlformats.org/officeDocument/2006/relationships/tags" Target="../tags/tag145.xml"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146.xml" /><Relationship Id="rId3" Type="http://schemas.openxmlformats.org/officeDocument/2006/relationships/tags" Target="../tags/tag147.xml" /><Relationship Id="rId4" Type="http://schemas.openxmlformats.org/officeDocument/2006/relationships/tags" Target="../tags/tag148.xml" /><Relationship Id="rId5" Type="http://schemas.openxmlformats.org/officeDocument/2006/relationships/image" Target="../media/image7.png" /><Relationship Id="rId6" Type="http://schemas.openxmlformats.org/officeDocument/2006/relationships/tags" Target="../tags/tag149.xml"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150.xml" /><Relationship Id="rId3" Type="http://schemas.openxmlformats.org/officeDocument/2006/relationships/tags" Target="../tags/tag151.xml" /><Relationship Id="rId4" Type="http://schemas.openxmlformats.org/officeDocument/2006/relationships/image" Target="../media/image8.png" /><Relationship Id="rId5" Type="http://schemas.openxmlformats.org/officeDocument/2006/relationships/tags" Target="../tags/tag152.xml" /><Relationship Id="rId6" Type="http://schemas.openxmlformats.org/officeDocument/2006/relationships/image" Target="../media/image9.png" /><Relationship Id="rId7" Type="http://schemas.openxmlformats.org/officeDocument/2006/relationships/tags" Target="../tags/tag153.xml"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154.xml" /><Relationship Id="rId3" Type="http://schemas.openxmlformats.org/officeDocument/2006/relationships/tags" Target="../tags/tag155.xml" /><Relationship Id="rId4" Type="http://schemas.openxmlformats.org/officeDocument/2006/relationships/tags" Target="../tags/tag156.xml" /><Relationship Id="rId5" Type="http://schemas.openxmlformats.org/officeDocument/2006/relationships/image" Target="../media/image8.png" /><Relationship Id="rId6" Type="http://schemas.openxmlformats.org/officeDocument/2006/relationships/tags" Target="../tags/tag157.xml"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158.xml" /><Relationship Id="rId3" Type="http://schemas.openxmlformats.org/officeDocument/2006/relationships/tags" Target="../tags/tag159.xml" /><Relationship Id="rId4" Type="http://schemas.openxmlformats.org/officeDocument/2006/relationships/tags" Target="../tags/tag160.xml" /><Relationship Id="rId5" Type="http://schemas.openxmlformats.org/officeDocument/2006/relationships/image" Target="../media/image8.png" /><Relationship Id="rId6" Type="http://schemas.openxmlformats.org/officeDocument/2006/relationships/tags" Target="../tags/tag161.xml"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162.xml" /><Relationship Id="rId3" Type="http://schemas.openxmlformats.org/officeDocument/2006/relationships/tags" Target="../tags/tag163.xml" /><Relationship Id="rId4" Type="http://schemas.openxmlformats.org/officeDocument/2006/relationships/tags" Target="../tags/tag164.xml" /><Relationship Id="rId5" Type="http://schemas.openxmlformats.org/officeDocument/2006/relationships/image" Target="../media/image8.png" /><Relationship Id="rId6" Type="http://schemas.openxmlformats.org/officeDocument/2006/relationships/tags" Target="../tags/tag165.xml"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2.xml" /><Relationship Id="rId10" Type="http://schemas.openxmlformats.org/officeDocument/2006/relationships/tags" Target="../tags/tag174.xml" /><Relationship Id="rId11" Type="http://schemas.openxmlformats.org/officeDocument/2006/relationships/tags" Target="../tags/tag175.xml" /><Relationship Id="rId12" Type="http://schemas.openxmlformats.org/officeDocument/2006/relationships/tags" Target="../tags/tag176.xml" /><Relationship Id="rId13" Type="http://schemas.openxmlformats.org/officeDocument/2006/relationships/tags" Target="../tags/tag177.xml" /><Relationship Id="rId14" Type="http://schemas.openxmlformats.org/officeDocument/2006/relationships/tags" Target="../tags/tag178.xml" /><Relationship Id="rId15" Type="http://schemas.openxmlformats.org/officeDocument/2006/relationships/tags" Target="../tags/tag179.xml" /><Relationship Id="rId16" Type="http://schemas.openxmlformats.org/officeDocument/2006/relationships/tags" Target="../tags/tag180.xml" /><Relationship Id="rId17" Type="http://schemas.openxmlformats.org/officeDocument/2006/relationships/tags" Target="../tags/tag181.xml" /><Relationship Id="rId18" Type="http://schemas.openxmlformats.org/officeDocument/2006/relationships/tags" Target="../tags/tag182.xml" /><Relationship Id="rId19" Type="http://schemas.openxmlformats.org/officeDocument/2006/relationships/tags" Target="../tags/tag183.xml" /><Relationship Id="rId2" Type="http://schemas.openxmlformats.org/officeDocument/2006/relationships/tags" Target="../tags/tag166.xml" /><Relationship Id="rId20" Type="http://schemas.openxmlformats.org/officeDocument/2006/relationships/tags" Target="../tags/tag184.xml" /><Relationship Id="rId21" Type="http://schemas.openxmlformats.org/officeDocument/2006/relationships/tags" Target="../tags/tag185.xml" /><Relationship Id="rId3" Type="http://schemas.openxmlformats.org/officeDocument/2006/relationships/tags" Target="../tags/tag167.xml" /><Relationship Id="rId4" Type="http://schemas.openxmlformats.org/officeDocument/2006/relationships/tags" Target="../tags/tag168.xml" /><Relationship Id="rId5" Type="http://schemas.openxmlformats.org/officeDocument/2006/relationships/tags" Target="../tags/tag169.xml" /><Relationship Id="rId6" Type="http://schemas.openxmlformats.org/officeDocument/2006/relationships/tags" Target="../tags/tag170.xml" /><Relationship Id="rId7" Type="http://schemas.openxmlformats.org/officeDocument/2006/relationships/tags" Target="../tags/tag171.xml" /><Relationship Id="rId8" Type="http://schemas.openxmlformats.org/officeDocument/2006/relationships/tags" Target="../tags/tag172.xml" /><Relationship Id="rId9" Type="http://schemas.openxmlformats.org/officeDocument/2006/relationships/tags" Target="../tags/tag173.xml"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186.xml" /><Relationship Id="rId3" Type="http://schemas.openxmlformats.org/officeDocument/2006/relationships/tags" Target="../tags/tag187.xml" /><Relationship Id="rId4" Type="http://schemas.openxmlformats.org/officeDocument/2006/relationships/tags" Target="../tags/tag188.xml" /><Relationship Id="rId5" Type="http://schemas.openxmlformats.org/officeDocument/2006/relationships/tags" Target="../tags/tag189.xml" /><Relationship Id="rId6" Type="http://schemas.openxmlformats.org/officeDocument/2006/relationships/tags" Target="../tags/tag190.xml" /><Relationship Id="rId7" Type="http://schemas.openxmlformats.org/officeDocument/2006/relationships/tags" Target="../tags/tag191.xml"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192.xml" /><Relationship Id="rId3" Type="http://schemas.openxmlformats.org/officeDocument/2006/relationships/tags" Target="../tags/tag193.xml" /><Relationship Id="rId4" Type="http://schemas.openxmlformats.org/officeDocument/2006/relationships/tags" Target="../tags/tag194.xml" /><Relationship Id="rId5" Type="http://schemas.openxmlformats.org/officeDocument/2006/relationships/image" Target="../media/image10.png" /><Relationship Id="rId6" Type="http://schemas.openxmlformats.org/officeDocument/2006/relationships/tags" Target="../tags/tag195.xml" /></Relationships>
</file>

<file path=ppt/slides/_rels/slide25.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196.xml" /><Relationship Id="rId3" Type="http://schemas.openxmlformats.org/officeDocument/2006/relationships/tags" Target="../tags/tag197.xml" /><Relationship Id="rId4" Type="http://schemas.openxmlformats.org/officeDocument/2006/relationships/tags" Target="../tags/tag198.xml" /><Relationship Id="rId5" Type="http://schemas.openxmlformats.org/officeDocument/2006/relationships/image" Target="../media/image10.png" /><Relationship Id="rId6" Type="http://schemas.openxmlformats.org/officeDocument/2006/relationships/tags" Target="../tags/tag199.xml" /></Relationships>
</file>

<file path=ppt/slides/_rels/slide26.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200.xml" /><Relationship Id="rId3" Type="http://schemas.openxmlformats.org/officeDocument/2006/relationships/tags" Target="../tags/tag201.xml" /><Relationship Id="rId4" Type="http://schemas.openxmlformats.org/officeDocument/2006/relationships/tags" Target="../tags/tag202.xml" /><Relationship Id="rId5" Type="http://schemas.openxmlformats.org/officeDocument/2006/relationships/image" Target="../media/image11.png" /><Relationship Id="rId6" Type="http://schemas.openxmlformats.org/officeDocument/2006/relationships/tags" Target="../tags/tag203.xml" /></Relationships>
</file>

<file path=ppt/slides/_rels/slide27.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204.xml" /><Relationship Id="rId3" Type="http://schemas.openxmlformats.org/officeDocument/2006/relationships/tags" Target="../tags/tag205.xml" /><Relationship Id="rId4" Type="http://schemas.openxmlformats.org/officeDocument/2006/relationships/tags" Target="../tags/tag206.xml" /><Relationship Id="rId5" Type="http://schemas.openxmlformats.org/officeDocument/2006/relationships/image" Target="../media/image11.png" /><Relationship Id="rId6" Type="http://schemas.openxmlformats.org/officeDocument/2006/relationships/tags" Target="../tags/tag207.xml" /></Relationships>
</file>

<file path=ppt/slides/_rels/slide28.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208.xml" /><Relationship Id="rId3" Type="http://schemas.openxmlformats.org/officeDocument/2006/relationships/tags" Target="../tags/tag209.xml" /><Relationship Id="rId4" Type="http://schemas.openxmlformats.org/officeDocument/2006/relationships/tags" Target="../tags/tag210.xml" /><Relationship Id="rId5" Type="http://schemas.openxmlformats.org/officeDocument/2006/relationships/image" Target="../media/image11.png" /><Relationship Id="rId6" Type="http://schemas.openxmlformats.org/officeDocument/2006/relationships/tags" Target="../tags/tag211.xml" /></Relationships>
</file>

<file path=ppt/slides/_rels/slide29.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212.xml" /><Relationship Id="rId3" Type="http://schemas.openxmlformats.org/officeDocument/2006/relationships/tags" Target="../tags/tag213.xml" /><Relationship Id="rId4" Type="http://schemas.openxmlformats.org/officeDocument/2006/relationships/tags" Target="../tags/tag214.xml" /></Relationships>
</file>

<file path=ppt/slides/_rels/slide30.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215.xml" /><Relationship Id="rId3" Type="http://schemas.openxmlformats.org/officeDocument/2006/relationships/tags" Target="../tags/tag216.xml" /><Relationship Id="rId4" Type="http://schemas.openxmlformats.org/officeDocument/2006/relationships/tags" Target="../tags/tag217.xml" /><Relationship Id="rId5" Type="http://schemas.openxmlformats.org/officeDocument/2006/relationships/tags" Target="../tags/tag218.xml" /><Relationship Id="rId6" Type="http://schemas.openxmlformats.org/officeDocument/2006/relationships/tags" Target="../tags/tag219.xml" /><Relationship Id="rId7" Type="http://schemas.openxmlformats.org/officeDocument/2006/relationships/tags" Target="../tags/tag220.xml" /></Relationships>
</file>

<file path=ppt/slides/_rels/slide31.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221.xml" /><Relationship Id="rId3" Type="http://schemas.openxmlformats.org/officeDocument/2006/relationships/tags" Target="../tags/tag222.xml" /><Relationship Id="rId4" Type="http://schemas.openxmlformats.org/officeDocument/2006/relationships/tags" Target="../tags/tag223.xml" /><Relationship Id="rId5" Type="http://schemas.openxmlformats.org/officeDocument/2006/relationships/image" Target="../media/image12.png" /><Relationship Id="rId6" Type="http://schemas.openxmlformats.org/officeDocument/2006/relationships/tags" Target="../tags/tag224.xml" /><Relationship Id="rId7" Type="http://schemas.openxmlformats.org/officeDocument/2006/relationships/image" Target="../media/image13.png" /><Relationship Id="rId8" Type="http://schemas.openxmlformats.org/officeDocument/2006/relationships/tags" Target="../tags/tag225.xml" /><Relationship Id="rId9" Type="http://schemas.openxmlformats.org/officeDocument/2006/relationships/tags" Target="../tags/tag226.xml" /></Relationships>
</file>

<file path=ppt/slides/_rels/slide32.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227.xml" /><Relationship Id="rId3" Type="http://schemas.openxmlformats.org/officeDocument/2006/relationships/tags" Target="../tags/tag228.xml" /><Relationship Id="rId4" Type="http://schemas.openxmlformats.org/officeDocument/2006/relationships/tags" Target="../tags/tag229.xml" /><Relationship Id="rId5" Type="http://schemas.openxmlformats.org/officeDocument/2006/relationships/image" Target="../media/image14.png" /><Relationship Id="rId6" Type="http://schemas.openxmlformats.org/officeDocument/2006/relationships/tags" Target="../tags/tag230.xml" /></Relationships>
</file>

<file path=ppt/slides/_rels/slide33.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231.xml" /><Relationship Id="rId3" Type="http://schemas.openxmlformats.org/officeDocument/2006/relationships/tags" Target="../tags/tag232.xml" /><Relationship Id="rId4" Type="http://schemas.openxmlformats.org/officeDocument/2006/relationships/tags" Target="../tags/tag233.xml" /><Relationship Id="rId5" Type="http://schemas.openxmlformats.org/officeDocument/2006/relationships/image" Target="../media/image15.png" /><Relationship Id="rId6" Type="http://schemas.openxmlformats.org/officeDocument/2006/relationships/tags" Target="../tags/tag234.xml" /><Relationship Id="rId7" Type="http://schemas.openxmlformats.org/officeDocument/2006/relationships/image" Target="../media/image16.png" /><Relationship Id="rId8" Type="http://schemas.openxmlformats.org/officeDocument/2006/relationships/tags" Target="../tags/tag235.xml" /><Relationship Id="rId9" Type="http://schemas.openxmlformats.org/officeDocument/2006/relationships/tags" Target="../tags/tag236.xml" /></Relationships>
</file>

<file path=ppt/slides/_rels/slide34.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237.xml" /><Relationship Id="rId3" Type="http://schemas.openxmlformats.org/officeDocument/2006/relationships/tags" Target="../tags/tag238.xml" /><Relationship Id="rId4" Type="http://schemas.openxmlformats.org/officeDocument/2006/relationships/tags" Target="../tags/tag239.xml" /><Relationship Id="rId5" Type="http://schemas.openxmlformats.org/officeDocument/2006/relationships/image" Target="../media/image17.png" /><Relationship Id="rId6" Type="http://schemas.openxmlformats.org/officeDocument/2006/relationships/tags" Target="../tags/tag240.xml" /></Relationships>
</file>

<file path=ppt/slides/_rels/slide35.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241.xml" /><Relationship Id="rId3" Type="http://schemas.openxmlformats.org/officeDocument/2006/relationships/tags" Target="../tags/tag242.xml" /><Relationship Id="rId4" Type="http://schemas.openxmlformats.org/officeDocument/2006/relationships/tags" Target="../tags/tag243.xml" /><Relationship Id="rId5" Type="http://schemas.openxmlformats.org/officeDocument/2006/relationships/image" Target="../media/image18.png" /><Relationship Id="rId6" Type="http://schemas.openxmlformats.org/officeDocument/2006/relationships/tags" Target="../tags/tag244.xml" /><Relationship Id="rId7" Type="http://schemas.openxmlformats.org/officeDocument/2006/relationships/image" Target="../media/image19.png" /><Relationship Id="rId8" Type="http://schemas.openxmlformats.org/officeDocument/2006/relationships/tags" Target="../tags/tag245.xml" /><Relationship Id="rId9" Type="http://schemas.openxmlformats.org/officeDocument/2006/relationships/tags" Target="../tags/tag246.xml" /></Relationships>
</file>

<file path=ppt/slides/_rels/slide36.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247.xml" /><Relationship Id="rId3" Type="http://schemas.openxmlformats.org/officeDocument/2006/relationships/tags" Target="../tags/tag248.xml" /><Relationship Id="rId4" Type="http://schemas.openxmlformats.org/officeDocument/2006/relationships/tags" Target="../tags/tag249.xml" /><Relationship Id="rId5" Type="http://schemas.openxmlformats.org/officeDocument/2006/relationships/image" Target="../media/image20.png" /><Relationship Id="rId6" Type="http://schemas.openxmlformats.org/officeDocument/2006/relationships/tags" Target="../tags/tag250.xml" /></Relationships>
</file>

<file path=ppt/slides/_rels/slide37.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251.xml" /><Relationship Id="rId3" Type="http://schemas.openxmlformats.org/officeDocument/2006/relationships/tags" Target="../tags/tag252.xml" /><Relationship Id="rId4" Type="http://schemas.openxmlformats.org/officeDocument/2006/relationships/tags" Target="../tags/tag253.xml" /><Relationship Id="rId5" Type="http://schemas.openxmlformats.org/officeDocument/2006/relationships/image" Target="../media/image21.png" /><Relationship Id="rId6" Type="http://schemas.openxmlformats.org/officeDocument/2006/relationships/tags" Target="../tags/tag254.xml" /><Relationship Id="rId7" Type="http://schemas.openxmlformats.org/officeDocument/2006/relationships/tags" Target="../tags/tag255.xml" /></Relationships>
</file>

<file path=ppt/slides/_rels/slide38.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256.xml" /><Relationship Id="rId3" Type="http://schemas.openxmlformats.org/officeDocument/2006/relationships/tags" Target="../tags/tag257.xml" /><Relationship Id="rId4" Type="http://schemas.openxmlformats.org/officeDocument/2006/relationships/tags" Target="../tags/tag258.xml" /><Relationship Id="rId5" Type="http://schemas.openxmlformats.org/officeDocument/2006/relationships/image" Target="../media/image22.png" /><Relationship Id="rId6" Type="http://schemas.openxmlformats.org/officeDocument/2006/relationships/tags" Target="../tags/tag259.xml" /></Relationships>
</file>

<file path=ppt/slides/_rels/slide39.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260.xml" /><Relationship Id="rId3" Type="http://schemas.openxmlformats.org/officeDocument/2006/relationships/tags" Target="../tags/tag261.xml" /><Relationship Id="rId4" Type="http://schemas.openxmlformats.org/officeDocument/2006/relationships/tags" Target="../tags/tag262.xml" /><Relationship Id="rId5" Type="http://schemas.openxmlformats.org/officeDocument/2006/relationships/image" Target="../media/image23.png" /><Relationship Id="rId6" Type="http://schemas.openxmlformats.org/officeDocument/2006/relationships/tags" Target="../tags/tag263.xml" /><Relationship Id="rId7" Type="http://schemas.openxmlformats.org/officeDocument/2006/relationships/image" Target="../media/image24.png" /><Relationship Id="rId8" Type="http://schemas.openxmlformats.org/officeDocument/2006/relationships/tags" Target="../tags/tag264.xml" /><Relationship Id="rId9" Type="http://schemas.openxmlformats.org/officeDocument/2006/relationships/tags" Target="../tags/tag265.xml" /></Relationships>
</file>

<file path=ppt/slides/_rels/slide40.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ags" Target="../tags/tag266.xml" /><Relationship Id="rId3" Type="http://schemas.openxmlformats.org/officeDocument/2006/relationships/tags" Target="../tags/tag267.xml" /><Relationship Id="rId4" Type="http://schemas.openxmlformats.org/officeDocument/2006/relationships/tags" Target="../tags/tag268.xml" /><Relationship Id="rId5" Type="http://schemas.openxmlformats.org/officeDocument/2006/relationships/image" Target="../media/image25.png" /><Relationship Id="rId6" Type="http://schemas.openxmlformats.org/officeDocument/2006/relationships/tags" Target="../tags/tag269.xml" /></Relationships>
</file>

<file path=ppt/slides/_rels/slide4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270.xml" /><Relationship Id="rId3" Type="http://schemas.openxmlformats.org/officeDocument/2006/relationships/tags" Target="../tags/tag271.xml" /><Relationship Id="rId4" Type="http://schemas.openxmlformats.org/officeDocument/2006/relationships/tags" Target="../tags/tag272.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7" name="文本框 6" title=""/>
          <p:cNvSpPr txBox="1"/>
          <p:nvPr>
            <p:custDataLst>
              <p:tags r:id="rId3"/>
            </p:custDataLst>
          </p:nvPr>
        </p:nvSpPr>
        <p:spPr>
          <a:xfrm>
            <a:off x="2296795" y="1800860"/>
            <a:ext cx="7334885" cy="546735"/>
          </a:xfrm>
          <a:prstGeom prst="rect">
            <a:avLst/>
          </a:prstGeom>
          <a:noFill/>
        </p:spPr>
        <p:txBody>
          <a:bodyPr wrap="square" rtlCol="0">
            <a:noAutofit/>
          </a:bodyPr>
          <a:lstStyle/>
          <a:p>
            <a:pPr indent="0" algn="ctr" fontAlgn="auto"/>
            <a:r>
              <a:rPr sz="4000" cap="all">
                <a:solidFill>
                  <a:srgbClr val="38ABE3"/>
                </a:solidFill>
                <a:uFillTx/>
                <a:latin typeface="黑体" panose="02010609060101010101" charset="-122"/>
                <a:ea typeface="黑体" panose="02010609060101010101" charset="-122"/>
                <a:cs typeface="黑体" panose="02010609060101010101" charset="-122"/>
                <a:sym typeface="汉仪宋韵朗黑W"/>
              </a:rPr>
              <a:t>第四章 运动和力的关系</a:t>
            </a:r>
            <a:endParaRPr sz="4000" cap="all">
              <a:solidFill>
                <a:srgbClr val="38ABE3"/>
              </a:solidFill>
              <a:uFillTx/>
              <a:latin typeface="黑体" panose="02010609060101010101" charset="-122"/>
              <a:ea typeface="黑体" panose="02010609060101010101" charset="-122"/>
              <a:cs typeface="黑体" panose="02010609060101010101" charset="-122"/>
              <a:sym typeface="汉仪宋韵朗黑W"/>
            </a:endParaRPr>
          </a:p>
        </p:txBody>
      </p:sp>
      <p:sp>
        <p:nvSpPr>
          <p:cNvPr id="13" name="文本框 12" title=""/>
          <p:cNvSpPr txBox="1"/>
          <p:nvPr>
            <p:custDataLst>
              <p:tags r:id="rId4"/>
            </p:custDataLst>
          </p:nvPr>
        </p:nvSpPr>
        <p:spPr>
          <a:xfrm>
            <a:off x="972185" y="3049905"/>
            <a:ext cx="10046335" cy="1014730"/>
          </a:xfrm>
          <a:prstGeom prst="rect">
            <a:avLst/>
          </a:prstGeom>
          <a:noFill/>
        </p:spPr>
        <p:txBody>
          <a:bodyPr wrap="square" rtlCol="0">
            <a:spAutoFit/>
          </a:bodyPr>
          <a:lstStyle/>
          <a:p>
            <a:pPr indent="0" algn="ctr" fontAlgn="auto"/>
            <a:r>
              <a:rPr sz="6000">
                <a:solidFill>
                  <a:schemeClr val="tx1">
                    <a:lumMod val="75000"/>
                    <a:lumOff val="25000"/>
                  </a:schemeClr>
                </a:solidFill>
                <a:latin typeface="Times New Roman" panose="02020603050405020304" charset="0"/>
                <a:ea typeface="黑体" panose="02010609060101010101" charset="-122"/>
                <a:cs typeface="Times New Roman" panose="02020603050405020304" charset="0"/>
                <a:sym typeface="汉仪宋韵朗黑W"/>
              </a:rPr>
              <a:t>4.5 牛顿运动定律的应用</a:t>
            </a:r>
            <a:endParaRPr sz="6000">
              <a:solidFill>
                <a:schemeClr val="tx1">
                  <a:lumMod val="75000"/>
                  <a:lumOff val="25000"/>
                </a:schemeClr>
              </a:solidFill>
              <a:latin typeface="Times New Roman" panose="02020603050405020304" charset="0"/>
              <a:ea typeface="黑体" panose="02010609060101010101" charset="-122"/>
              <a:cs typeface="Times New Roman" panose="02020603050405020304" charset="0"/>
              <a:sym typeface="汉仪宋韵朗黑W"/>
            </a:endParaRPr>
          </a:p>
        </p:txBody>
      </p:sp>
      <p:sp>
        <p:nvSpPr>
          <p:cNvPr id="2" name="文本框 1" title=""/>
          <p:cNvSpPr txBox="1"/>
          <p:nvPr>
            <p:custDataLst>
              <p:tags r:id="rId5"/>
            </p:custDataLst>
          </p:nvPr>
        </p:nvSpPr>
        <p:spPr>
          <a:xfrm>
            <a:off x="212090" y="245110"/>
            <a:ext cx="3735705" cy="398780"/>
          </a:xfrm>
          <a:prstGeom prst="rect">
            <a:avLst/>
          </a:prstGeom>
          <a:noFill/>
        </p:spPr>
        <p:txBody>
          <a:bodyPr wrap="square" rtlCol="0" anchor="t">
            <a:spAutoFit/>
          </a:bodyPr>
          <a:lstStyle/>
          <a:p>
            <a:r>
              <a:rPr lang="zh-CN" altLang="en-US" sz="2000">
                <a:solidFill>
                  <a:srgbClr val="38ABE3"/>
                </a:solidFill>
                <a:latin typeface="黑体" panose="02010609060101010101" charset="-122"/>
                <a:ea typeface="黑体" panose="02010609060101010101" charset="-122"/>
                <a:cs typeface="黑体" panose="02010609060101010101" charset="-122"/>
                <a:sym typeface="+mn-ea"/>
              </a:rPr>
              <a:t>人教版</a:t>
            </a:r>
            <a:r>
              <a:rPr lang="en-US" altLang="zh-CN" sz="2000">
                <a:solidFill>
                  <a:srgbClr val="38ABE3"/>
                </a:solidFill>
                <a:latin typeface="黑体" panose="02010609060101010101" charset="-122"/>
                <a:ea typeface="黑体" panose="02010609060101010101" charset="-122"/>
                <a:cs typeface="黑体" panose="02010609060101010101" charset="-122"/>
                <a:sym typeface="+mn-ea"/>
              </a:rPr>
              <a:t>(2019)</a:t>
            </a:r>
            <a:r>
              <a:rPr lang="zh-CN" altLang="en-US" sz="2000">
                <a:solidFill>
                  <a:srgbClr val="38ABE3"/>
                </a:solidFill>
                <a:latin typeface="黑体" panose="02010609060101010101" charset="-122"/>
                <a:ea typeface="黑体" panose="02010609060101010101" charset="-122"/>
                <a:cs typeface="黑体" panose="02010609060101010101" charset="-122"/>
                <a:sym typeface="+mn-ea"/>
              </a:rPr>
              <a:t>必修 第一册</a:t>
            </a:r>
            <a:endParaRPr lang="zh-CN" altLang="en-US" sz="2000">
              <a:solidFill>
                <a:srgbClr val="38ABE3"/>
              </a:solidFill>
              <a:latin typeface="黑体" panose="02010609060101010101" charset="-122"/>
              <a:ea typeface="黑体" panose="02010609060101010101" charset="-122"/>
              <a:cs typeface="黑体" panose="02010609060101010101" charset="-122"/>
              <a:sym typeface="+mn-ea"/>
            </a:endParaRPr>
          </a:p>
        </p:txBody>
      </p:sp>
      <p:sp>
        <p:nvSpPr>
          <p:cNvPr id="3" name="文本框 2" title=""/>
          <p:cNvSpPr txBox="1"/>
          <p:nvPr>
            <p:custDataLst>
              <p:tags r:id="rId6"/>
            </p:custDataLst>
          </p:nvPr>
        </p:nvSpPr>
        <p:spPr>
          <a:xfrm>
            <a:off x="4178300" y="4245610"/>
            <a:ext cx="3862070" cy="583565"/>
          </a:xfrm>
          <a:prstGeom prst="rect">
            <a:avLst/>
          </a:prstGeom>
          <a:noFill/>
        </p:spPr>
        <p:txBody>
          <a:bodyPr wrap="square" rtlCol="0">
            <a:spAutoFit/>
          </a:bodyPr>
          <a:lstStyle/>
          <a:p>
            <a:pPr algn="ctr"/>
            <a:r>
              <a:rPr lang="en-US" altLang="zh-CN" sz="3200">
                <a:latin typeface="Times New Roman" panose="02020603050405020304" charset="0"/>
                <a:ea typeface="黑体" panose="02010609060101010101" charset="-122"/>
                <a:cs typeface="Times New Roman" panose="02020603050405020304" charset="0"/>
              </a:rPr>
              <a:t>(</a:t>
            </a:r>
            <a:r>
              <a:rPr lang="zh-CN" altLang="en-US" sz="3200">
                <a:latin typeface="Times New Roman" panose="02020603050405020304" charset="0"/>
                <a:ea typeface="黑体" panose="02010609060101010101" charset="-122"/>
                <a:cs typeface="Times New Roman" panose="02020603050405020304" charset="0"/>
              </a:rPr>
              <a:t>第</a:t>
            </a:r>
            <a:r>
              <a:rPr lang="en-US" altLang="zh-CN" sz="3200">
                <a:latin typeface="Times New Roman" panose="02020603050405020304" charset="0"/>
                <a:ea typeface="黑体" panose="02010609060101010101" charset="-122"/>
                <a:cs typeface="Times New Roman" panose="02020603050405020304" charset="0"/>
              </a:rPr>
              <a:t>2</a:t>
            </a:r>
            <a:r>
              <a:rPr lang="zh-CN" altLang="en-US" sz="3200">
                <a:latin typeface="Times New Roman" panose="02020603050405020304" charset="0"/>
                <a:ea typeface="黑体" panose="02010609060101010101" charset="-122"/>
                <a:cs typeface="Times New Roman" panose="02020603050405020304" charset="0"/>
              </a:rPr>
              <a:t>课时</a:t>
            </a:r>
            <a:r>
              <a:rPr lang="en-US" altLang="zh-CN" sz="3200">
                <a:latin typeface="Times New Roman" panose="02020603050405020304" charset="0"/>
                <a:ea typeface="黑体" panose="02010609060101010101" charset="-122"/>
                <a:cs typeface="Times New Roman" panose="02020603050405020304" charset="0"/>
              </a:rPr>
              <a:t>)</a:t>
            </a:r>
            <a:endParaRPr lang="en-US" altLang="zh-CN" sz="3200">
              <a:latin typeface="Times New Roman" panose="02020603050405020304" charset="0"/>
              <a:ea typeface="黑体" panose="02010609060101010101" charset="-122"/>
              <a:cs typeface="Times New Roman" panose="02020603050405020304" charset="0"/>
            </a:endParaRPr>
          </a:p>
        </p:txBody>
      </p:sp>
    </p:spTree>
    <p:custDataLst>
      <p:tags r:id="rId7"/>
    </p:custDataLst>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 name="文本框 1" title=""/>
          <p:cNvSpPr txBox="1"/>
          <p:nvPr>
            <p:custDataLst>
              <p:tags r:id="rId3"/>
            </p:custDataLst>
          </p:nvPr>
        </p:nvSpPr>
        <p:spPr>
          <a:xfrm>
            <a:off x="1547178" y="2230120"/>
            <a:ext cx="3070860" cy="706755"/>
          </a:xfrm>
          <a:prstGeom prst="rect">
            <a:avLst/>
          </a:prstGeom>
          <a:noFill/>
        </p:spPr>
        <p:txBody>
          <a:bodyPr wrap="square" rtlCol="0">
            <a:spAutoFit/>
          </a:bodyPr>
          <a:lstStyle/>
          <a:p>
            <a:pPr algn="ctr"/>
            <a:r>
              <a:rPr lang="en-US" sz="4000" cap="all">
                <a:solidFill>
                  <a:srgbClr val="38ABE3"/>
                </a:solidFill>
                <a:uFillTx/>
                <a:latin typeface="Times New Roman" panose="02020603050405020304" charset="0"/>
                <a:ea typeface="汉仪宋韵朗黑W"/>
                <a:cs typeface="Times New Roman" panose="02020603050405020304" charset="0"/>
                <a:sym typeface="汉仪宋韵朗黑W"/>
              </a:rPr>
              <a:t>D</a:t>
            </a:r>
            <a:r>
              <a:rPr sz="4000" cap="all">
                <a:solidFill>
                  <a:srgbClr val="38ABE3"/>
                </a:solidFill>
                <a:uFillTx/>
                <a:latin typeface="Times New Roman" panose="02020603050405020304" charset="0"/>
                <a:ea typeface="汉仪宋韵朗黑W"/>
                <a:cs typeface="Times New Roman" panose="02020603050405020304" charset="0"/>
                <a:sym typeface="汉仪宋韵朗黑W"/>
              </a:rPr>
              <a:t>irectory</a:t>
            </a:r>
            <a:endParaRPr sz="4000" cap="all">
              <a:solidFill>
                <a:srgbClr val="38ABE3"/>
              </a:solidFill>
              <a:uFillTx/>
              <a:latin typeface="Times New Roman" panose="02020603050405020304" charset="0"/>
              <a:ea typeface="汉仪宋韵朗黑W"/>
              <a:cs typeface="Times New Roman" panose="02020603050405020304" charset="0"/>
              <a:sym typeface="汉仪宋韵朗黑W"/>
            </a:endParaRPr>
          </a:p>
        </p:txBody>
      </p:sp>
      <p:sp>
        <p:nvSpPr>
          <p:cNvPr id="3" name="文本框 2" title=""/>
          <p:cNvSpPr txBox="1"/>
          <p:nvPr>
            <p:custDataLst>
              <p:tags r:id="rId4"/>
            </p:custDataLst>
          </p:nvPr>
        </p:nvSpPr>
        <p:spPr>
          <a:xfrm>
            <a:off x="1681798" y="2949575"/>
            <a:ext cx="2801620" cy="783590"/>
          </a:xfrm>
          <a:prstGeom prst="rect">
            <a:avLst/>
          </a:prstGeom>
          <a:noFill/>
        </p:spPr>
        <p:txBody>
          <a:bodyPr wrap="square" rtlCol="0">
            <a:spAutoFit/>
          </a:bodyPr>
          <a:lstStyle/>
          <a:p>
            <a:pPr algn="ctr"/>
            <a:r>
              <a:rPr lang="zh-CN" altLang="en-US" sz="4500">
                <a:solidFill>
                  <a:schemeClr val="tx1">
                    <a:lumMod val="75000"/>
                    <a:lumOff val="25000"/>
                  </a:schemeClr>
                </a:solidFill>
                <a:latin typeface="黑体" panose="02010609060101010101" charset="-122"/>
                <a:ea typeface="黑体" panose="02010609060101010101" charset="-122"/>
                <a:cs typeface="汉仪宋韵朗黑W" panose="00020600040101010101" charset="-122"/>
                <a:sym typeface="汉仪宋韵朗黑W"/>
              </a:rPr>
              <a:t>目录</a:t>
            </a:r>
            <a:endParaRPr lang="zh-CN" altLang="en-US" sz="4500">
              <a:solidFill>
                <a:schemeClr val="tx1">
                  <a:lumMod val="75000"/>
                  <a:lumOff val="25000"/>
                </a:schemeClr>
              </a:solidFill>
              <a:latin typeface="黑体" panose="02010609060101010101" charset="-122"/>
              <a:ea typeface="黑体" panose="02010609060101010101" charset="-122"/>
              <a:cs typeface="汉仪宋韵朗黑W" panose="00020600040101010101" charset="-122"/>
              <a:sym typeface="汉仪宋韵朗黑W"/>
            </a:endParaRPr>
          </a:p>
        </p:txBody>
      </p:sp>
      <p:sp>
        <p:nvSpPr>
          <p:cNvPr id="35" name="圆角矩形 34" title=""/>
          <p:cNvSpPr/>
          <p:nvPr>
            <p:custDataLst>
              <p:tags r:id="rId5"/>
            </p:custDataLst>
          </p:nvPr>
        </p:nvSpPr>
        <p:spPr>
          <a:xfrm>
            <a:off x="2723515" y="3745865"/>
            <a:ext cx="718185" cy="110490"/>
          </a:xfrm>
          <a:prstGeom prst="roundRect">
            <a:avLst>
              <a:gd name="adj" fmla="val 50000"/>
            </a:avLst>
          </a:prstGeom>
          <a:solidFill>
            <a:srgbClr val="0299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Times New Roman" panose="02020603050405020304" charset="0"/>
              <a:ea typeface="汉仪宋韵朗黑W"/>
              <a:cs typeface="Times New Roman" panose="02020603050405020304" charset="0"/>
            </a:endParaRPr>
          </a:p>
        </p:txBody>
      </p:sp>
      <p:grpSp>
        <p:nvGrpSpPr>
          <p:cNvPr id="7" name="组合 6" title=""/>
          <p:cNvGrpSpPr/>
          <p:nvPr>
            <p:custDataLst>
              <p:tags r:id="rId6"/>
            </p:custDataLst>
          </p:nvPr>
        </p:nvGrpSpPr>
        <p:grpSpPr>
          <a:xfrm>
            <a:off x="5850890" y="1597025"/>
            <a:ext cx="4582160" cy="3488690"/>
            <a:chOff x="10004" y="2368"/>
            <a:chExt cx="7216" cy="5494"/>
          </a:xfrm>
        </p:grpSpPr>
        <p:sp>
          <p:nvSpPr>
            <p:cNvPr id="8" name="椭圆 7"/>
            <p:cNvSpPr/>
            <p:nvPr>
              <p:custDataLst>
                <p:tags r:id="rId7"/>
              </p:custDataLst>
            </p:nvPr>
          </p:nvSpPr>
          <p:spPr>
            <a:xfrm>
              <a:off x="10005" y="5304"/>
              <a:ext cx="1026" cy="1026"/>
            </a:xfrm>
            <a:prstGeom prst="ellipse">
              <a:avLst/>
            </a:prstGeom>
            <a:solidFill>
              <a:srgbClr val="0C7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汉仪宋韵朗黑W" panose="00020600040101010101" charset="-122"/>
              </a:endParaRPr>
            </a:p>
          </p:txBody>
        </p:sp>
        <p:sp>
          <p:nvSpPr>
            <p:cNvPr id="9" name="文本框 8"/>
            <p:cNvSpPr txBox="1"/>
            <p:nvPr>
              <p:custDataLst>
                <p:tags r:id="rId8"/>
              </p:custDataLst>
            </p:nvPr>
          </p:nvSpPr>
          <p:spPr>
            <a:xfrm>
              <a:off x="11183" y="5523"/>
              <a:ext cx="6037" cy="822"/>
            </a:xfrm>
            <a:prstGeom prst="rect">
              <a:avLst/>
            </a:prstGeom>
            <a:noFill/>
          </p:spPr>
          <p:txBody>
            <a:bodyPr wrap="square" rtlCol="0">
              <a:spAutoFit/>
            </a:bodyPr>
            <a:lstStyle/>
            <a:p>
              <a:pPr algn="l"/>
              <a:r>
                <a:rPr lang="zh-CN" altLang="en-US" sz="2800">
                  <a:ln w="0" cmpd="sng">
                    <a:noFill/>
                    <a:prstDash val="solid"/>
                  </a:ln>
                  <a:solidFill>
                    <a:schemeClr val="tx1">
                      <a:lumMod val="75000"/>
                      <a:lumOff val="25000"/>
                    </a:schemeClr>
                  </a:solidFill>
                  <a:latin typeface="黑体" panose="02010609060101010101" charset="-122"/>
                  <a:ea typeface="黑体" panose="02010609060101010101" charset="-122"/>
                  <a:cs typeface="汉仪宋韵朗黑W" panose="00020600040101010101" charset="-122"/>
                  <a:sym typeface="+mn-ea"/>
                </a:rPr>
                <a:t>板块问题</a:t>
              </a:r>
              <a:endParaRPr lang="zh-CN" altLang="en-US" sz="2800">
                <a:ln w="0" cmpd="sng">
                  <a:noFill/>
                  <a:prstDash val="solid"/>
                </a:ln>
                <a:solidFill>
                  <a:schemeClr val="tx1">
                    <a:lumMod val="75000"/>
                    <a:lumOff val="25000"/>
                  </a:schemeClr>
                </a:solidFill>
                <a:latin typeface="黑体" panose="02010609060101010101" charset="-122"/>
                <a:ea typeface="黑体" panose="02010609060101010101" charset="-122"/>
                <a:cs typeface="汉仪宋韵朗黑W" panose="00020600040101010101" charset="-122"/>
                <a:sym typeface="+mn-ea"/>
              </a:endParaRPr>
            </a:p>
          </p:txBody>
        </p:sp>
        <p:sp>
          <p:nvSpPr>
            <p:cNvPr id="11" name="椭圆 10"/>
            <p:cNvSpPr/>
            <p:nvPr>
              <p:custDataLst>
                <p:tags r:id="rId9"/>
              </p:custDataLst>
            </p:nvPr>
          </p:nvSpPr>
          <p:spPr>
            <a:xfrm>
              <a:off x="10004" y="2368"/>
              <a:ext cx="1026" cy="1026"/>
            </a:xfrm>
            <a:prstGeom prst="ellipse">
              <a:avLst/>
            </a:prstGeom>
            <a:solidFill>
              <a:srgbClr val="0C7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汉仪宋韵朗黑W" panose="00020600040101010101" charset="-122"/>
              </a:endParaRPr>
            </a:p>
          </p:txBody>
        </p:sp>
        <p:sp>
          <p:nvSpPr>
            <p:cNvPr id="12" name="文本框 11" descr="7b0a20202020227461726765744d6f64756c65223a202270726f636573734f6e6c696e65466f6e7473220a7d0a"/>
            <p:cNvSpPr txBox="1"/>
            <p:nvPr>
              <p:custDataLst>
                <p:tags r:id="rId10"/>
              </p:custDataLst>
            </p:nvPr>
          </p:nvSpPr>
          <p:spPr>
            <a:xfrm>
              <a:off x="10077" y="2516"/>
              <a:ext cx="889" cy="878"/>
            </a:xfrm>
            <a:prstGeom prst="rect">
              <a:avLst/>
            </a:prstGeom>
            <a:noFill/>
          </p:spPr>
          <p:txBody>
            <a:bodyPr wrap="square" rtlCol="0">
              <a:noAutofit/>
            </a:bodyPr>
            <a:lstStyle/>
            <a:p>
              <a:pPr indent="0" algn="ctr" fontAlgn="auto"/>
              <a:r>
                <a:rPr lang="en-US" altLang="zh-CN" sz="2400">
                  <a:solidFill>
                    <a:schemeClr val="bg1"/>
                  </a:solidFill>
                  <a:latin typeface="Times New Roman" panose="02020603050405020304" charset="0"/>
                  <a:ea typeface="汉仪宋韵朗黑W"/>
                  <a:cs typeface="Times New Roman" panose="02020603050405020304" charset="0"/>
                  <a:sym typeface="汉仪宋韵朗黑W"/>
                </a:rPr>
                <a:t>01</a:t>
              </a:r>
              <a:endParaRPr lang="en-US" altLang="zh-CN" sz="2400">
                <a:solidFill>
                  <a:schemeClr val="bg1"/>
                </a:solidFill>
                <a:latin typeface="Times New Roman" panose="02020603050405020304" charset="0"/>
                <a:ea typeface="汉仪宋韵朗黑W"/>
                <a:cs typeface="Times New Roman" panose="02020603050405020304" charset="0"/>
                <a:sym typeface="汉仪宋韵朗黑W"/>
              </a:endParaRPr>
            </a:p>
          </p:txBody>
        </p:sp>
        <p:sp>
          <p:nvSpPr>
            <p:cNvPr id="13" name="文本框 12"/>
            <p:cNvSpPr txBox="1"/>
            <p:nvPr>
              <p:custDataLst>
                <p:tags r:id="rId11"/>
              </p:custDataLst>
            </p:nvPr>
          </p:nvSpPr>
          <p:spPr>
            <a:xfrm>
              <a:off x="11183" y="2489"/>
              <a:ext cx="3989" cy="822"/>
            </a:xfrm>
            <a:prstGeom prst="rect">
              <a:avLst/>
            </a:prstGeom>
            <a:noFill/>
          </p:spPr>
          <p:txBody>
            <a:bodyPr wrap="square" rtlCol="0">
              <a:spAutoFit/>
            </a:bodyPr>
            <a:lstStyle/>
            <a:p>
              <a:pPr algn="l"/>
              <a:r>
                <a:rPr lang="zh-CN" altLang="en-US" sz="2800">
                  <a:ln w="0" cmpd="sng">
                    <a:noFill/>
                    <a:prstDash val="solid"/>
                  </a:ln>
                  <a:solidFill>
                    <a:schemeClr val="tx1">
                      <a:lumMod val="75000"/>
                      <a:lumOff val="25000"/>
                    </a:schemeClr>
                  </a:solidFill>
                  <a:latin typeface="黑体" panose="02010609060101010101" charset="-122"/>
                  <a:ea typeface="黑体" panose="02010609060101010101" charset="-122"/>
                  <a:cs typeface="汉仪宋韵朗黑W" panose="00020600040101010101" charset="-122"/>
                  <a:sym typeface="+mn-ea"/>
                </a:rPr>
                <a:t>新课引入</a:t>
              </a:r>
              <a:endParaRPr lang="zh-CN" altLang="en-US" sz="2800">
                <a:ln w="0" cmpd="sng">
                  <a:noFill/>
                  <a:prstDash val="solid"/>
                </a:ln>
                <a:solidFill>
                  <a:schemeClr val="tx1">
                    <a:lumMod val="75000"/>
                    <a:lumOff val="25000"/>
                  </a:schemeClr>
                </a:solidFill>
                <a:latin typeface="黑体" panose="02010609060101010101" charset="-122"/>
                <a:ea typeface="黑体" panose="02010609060101010101" charset="-122"/>
                <a:cs typeface="汉仪宋韵朗黑W" panose="00020600040101010101" charset="-122"/>
                <a:sym typeface="+mn-ea"/>
              </a:endParaRPr>
            </a:p>
          </p:txBody>
        </p:sp>
        <p:sp>
          <p:nvSpPr>
            <p:cNvPr id="14" name="文本框 13" descr="7b0a20202020227461726765744d6f64756c65223a202270726f636573734f6e6c696e65466f6e7473220a7d0a"/>
            <p:cNvSpPr txBox="1"/>
            <p:nvPr>
              <p:custDataLst>
                <p:tags r:id="rId12"/>
              </p:custDataLst>
            </p:nvPr>
          </p:nvSpPr>
          <p:spPr>
            <a:xfrm>
              <a:off x="10068" y="5440"/>
              <a:ext cx="889" cy="878"/>
            </a:xfrm>
            <a:prstGeom prst="rect">
              <a:avLst/>
            </a:prstGeom>
            <a:noFill/>
          </p:spPr>
          <p:txBody>
            <a:bodyPr wrap="square" rtlCol="0">
              <a:noAutofit/>
            </a:bodyPr>
            <a:lstStyle/>
            <a:p>
              <a:pPr indent="0" algn="ctr" fontAlgn="auto"/>
              <a:r>
                <a:rPr lang="en-US" altLang="zh-CN" sz="2400">
                  <a:solidFill>
                    <a:schemeClr val="bg1"/>
                  </a:solidFill>
                  <a:latin typeface="Times New Roman" panose="02020603050405020304" charset="0"/>
                  <a:ea typeface="汉仪宋韵朗黑W"/>
                  <a:cs typeface="Times New Roman" panose="02020603050405020304" charset="0"/>
                  <a:sym typeface="汉仪宋韵朗黑W"/>
                </a:rPr>
                <a:t>03</a:t>
              </a:r>
              <a:endParaRPr lang="en-US" altLang="zh-CN" sz="2400">
                <a:solidFill>
                  <a:schemeClr val="bg1"/>
                </a:solidFill>
                <a:latin typeface="Times New Roman" panose="02020603050405020304" charset="0"/>
                <a:ea typeface="汉仪宋韵朗黑W"/>
                <a:cs typeface="Times New Roman" panose="02020603050405020304" charset="0"/>
                <a:sym typeface="汉仪宋韵朗黑W"/>
              </a:endParaRPr>
            </a:p>
          </p:txBody>
        </p:sp>
        <p:sp>
          <p:nvSpPr>
            <p:cNvPr id="15" name="椭圆 14"/>
            <p:cNvSpPr/>
            <p:nvPr>
              <p:custDataLst>
                <p:tags r:id="rId13"/>
              </p:custDataLst>
            </p:nvPr>
          </p:nvSpPr>
          <p:spPr>
            <a:xfrm>
              <a:off x="10004" y="3856"/>
              <a:ext cx="1026" cy="1026"/>
            </a:xfrm>
            <a:prstGeom prst="ellipse">
              <a:avLst/>
            </a:prstGeom>
            <a:solidFill>
              <a:srgbClr val="0C7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汉仪宋韵朗黑W" panose="00020600040101010101" charset="-122"/>
              </a:endParaRPr>
            </a:p>
          </p:txBody>
        </p:sp>
        <p:sp>
          <p:nvSpPr>
            <p:cNvPr id="16" name="文本框 15" descr="7b0a20202020227461726765744d6f64756c65223a202270726f636573734f6e6c696e65466f6e7473220a7d0a"/>
            <p:cNvSpPr txBox="1"/>
            <p:nvPr>
              <p:custDataLst>
                <p:tags r:id="rId14"/>
              </p:custDataLst>
            </p:nvPr>
          </p:nvSpPr>
          <p:spPr>
            <a:xfrm>
              <a:off x="10077" y="4004"/>
              <a:ext cx="889" cy="878"/>
            </a:xfrm>
            <a:prstGeom prst="rect">
              <a:avLst/>
            </a:prstGeom>
            <a:noFill/>
          </p:spPr>
          <p:txBody>
            <a:bodyPr wrap="square" rtlCol="0">
              <a:noAutofit/>
            </a:bodyPr>
            <a:lstStyle/>
            <a:p>
              <a:pPr indent="0" algn="ctr" fontAlgn="auto"/>
              <a:r>
                <a:rPr lang="en-US" altLang="zh-CN" sz="2400">
                  <a:solidFill>
                    <a:schemeClr val="bg1"/>
                  </a:solidFill>
                  <a:latin typeface="Times New Roman" panose="02020603050405020304" charset="0"/>
                  <a:ea typeface="汉仪宋韵朗黑W"/>
                  <a:cs typeface="Times New Roman" panose="02020603050405020304" charset="0"/>
                  <a:sym typeface="汉仪宋韵朗黑W"/>
                </a:rPr>
                <a:t>02</a:t>
              </a:r>
              <a:endParaRPr lang="en-US" altLang="zh-CN" sz="2400">
                <a:solidFill>
                  <a:schemeClr val="bg1"/>
                </a:solidFill>
                <a:latin typeface="Times New Roman" panose="02020603050405020304" charset="0"/>
                <a:ea typeface="汉仪宋韵朗黑W"/>
                <a:cs typeface="Times New Roman" panose="02020603050405020304" charset="0"/>
                <a:sym typeface="汉仪宋韵朗黑W"/>
              </a:endParaRPr>
            </a:p>
          </p:txBody>
        </p:sp>
        <p:sp>
          <p:nvSpPr>
            <p:cNvPr id="17" name="文本框 16"/>
            <p:cNvSpPr txBox="1"/>
            <p:nvPr>
              <p:custDataLst>
                <p:tags r:id="rId15"/>
              </p:custDataLst>
            </p:nvPr>
          </p:nvSpPr>
          <p:spPr>
            <a:xfrm>
              <a:off x="11183" y="4004"/>
              <a:ext cx="5673" cy="878"/>
            </a:xfrm>
            <a:prstGeom prst="rect">
              <a:avLst/>
            </a:prstGeom>
            <a:noFill/>
          </p:spPr>
          <p:txBody>
            <a:bodyPr wrap="square" rtlCol="0">
              <a:noAutofit/>
            </a:bodyPr>
            <a:lstStyle/>
            <a:p>
              <a:pPr algn="l"/>
              <a:r>
                <a:rPr lang="zh-CN" altLang="en-US" sz="2800">
                  <a:ln w="0" cmpd="sng">
                    <a:noFill/>
                    <a:prstDash val="solid"/>
                  </a:ln>
                  <a:solidFill>
                    <a:schemeClr val="tx1">
                      <a:lumMod val="75000"/>
                      <a:lumOff val="25000"/>
                    </a:schemeClr>
                  </a:solidFill>
                  <a:latin typeface="黑体" panose="02010609060101010101" charset="-122"/>
                  <a:ea typeface="黑体" panose="02010609060101010101" charset="-122"/>
                  <a:cs typeface="汉仪宋韵朗黑W" panose="00020600040101010101" charset="-122"/>
                  <a:sym typeface="+mn-ea"/>
                </a:rPr>
                <a:t>传送带问题</a:t>
              </a:r>
              <a:endParaRPr lang="zh-CN" altLang="en-US" sz="2800">
                <a:ln w="0" cmpd="sng">
                  <a:noFill/>
                  <a:prstDash val="solid"/>
                </a:ln>
                <a:solidFill>
                  <a:schemeClr val="tx1">
                    <a:lumMod val="75000"/>
                    <a:lumOff val="25000"/>
                  </a:schemeClr>
                </a:solidFill>
                <a:latin typeface="黑体" panose="02010609060101010101" charset="-122"/>
                <a:ea typeface="黑体" panose="02010609060101010101" charset="-122"/>
                <a:cs typeface="汉仪宋韵朗黑W" panose="00020600040101010101" charset="-122"/>
                <a:sym typeface="+mn-ea"/>
              </a:endParaRPr>
            </a:p>
          </p:txBody>
        </p:sp>
        <p:sp>
          <p:nvSpPr>
            <p:cNvPr id="18" name="椭圆 17"/>
            <p:cNvSpPr/>
            <p:nvPr>
              <p:custDataLst>
                <p:tags r:id="rId16"/>
              </p:custDataLst>
            </p:nvPr>
          </p:nvSpPr>
          <p:spPr>
            <a:xfrm>
              <a:off x="10004" y="6828"/>
              <a:ext cx="1026" cy="1026"/>
            </a:xfrm>
            <a:prstGeom prst="ellipse">
              <a:avLst/>
            </a:prstGeom>
            <a:solidFill>
              <a:srgbClr val="0C7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cs typeface="汉仪宋韵朗黑W" panose="00020600040101010101" charset="-122"/>
              </a:endParaRPr>
            </a:p>
          </p:txBody>
        </p:sp>
        <p:sp>
          <p:nvSpPr>
            <p:cNvPr id="19" name="文本框 18"/>
            <p:cNvSpPr txBox="1"/>
            <p:nvPr>
              <p:custDataLst>
                <p:tags r:id="rId17"/>
              </p:custDataLst>
            </p:nvPr>
          </p:nvSpPr>
          <p:spPr>
            <a:xfrm>
              <a:off x="11183" y="7040"/>
              <a:ext cx="4716" cy="822"/>
            </a:xfrm>
            <a:prstGeom prst="rect">
              <a:avLst/>
            </a:prstGeom>
            <a:noFill/>
          </p:spPr>
          <p:txBody>
            <a:bodyPr wrap="square" rtlCol="0">
              <a:spAutoFit/>
            </a:bodyPr>
            <a:lstStyle/>
            <a:p>
              <a:pPr algn="l"/>
              <a:r>
                <a:rPr lang="zh-CN" altLang="en-US" sz="2800">
                  <a:ln w="0" cmpd="sng">
                    <a:noFill/>
                    <a:prstDash val="solid"/>
                  </a:ln>
                  <a:solidFill>
                    <a:schemeClr val="tx1">
                      <a:lumMod val="75000"/>
                      <a:lumOff val="25000"/>
                    </a:schemeClr>
                  </a:solidFill>
                  <a:latin typeface="黑体" panose="02010609060101010101" charset="-122"/>
                  <a:ea typeface="黑体" panose="02010609060101010101" charset="-122"/>
                  <a:cs typeface="汉仪宋韵朗黑W" panose="00020600040101010101" charset="-122"/>
                  <a:sym typeface="+mn-ea"/>
                </a:rPr>
                <a:t>课堂练习</a:t>
              </a:r>
              <a:endParaRPr lang="zh-CN" altLang="en-US" sz="2800">
                <a:ln w="0" cmpd="sng">
                  <a:noFill/>
                  <a:prstDash val="solid"/>
                </a:ln>
                <a:solidFill>
                  <a:schemeClr val="tx1">
                    <a:lumMod val="75000"/>
                    <a:lumOff val="25000"/>
                  </a:schemeClr>
                </a:solidFill>
                <a:latin typeface="黑体" panose="02010609060101010101" charset="-122"/>
                <a:ea typeface="黑体" panose="02010609060101010101" charset="-122"/>
                <a:cs typeface="汉仪宋韵朗黑W" panose="00020600040101010101" charset="-122"/>
                <a:sym typeface="+mn-ea"/>
              </a:endParaRPr>
            </a:p>
          </p:txBody>
        </p:sp>
        <p:sp>
          <p:nvSpPr>
            <p:cNvPr id="20" name="文本框 19" descr="7b0a20202020227461726765744d6f64756c65223a202270726f636573734f6e6c696e65466f6e7473220a7d0a"/>
            <p:cNvSpPr txBox="1"/>
            <p:nvPr>
              <p:custDataLst>
                <p:tags r:id="rId18"/>
              </p:custDataLst>
            </p:nvPr>
          </p:nvSpPr>
          <p:spPr>
            <a:xfrm>
              <a:off x="10077" y="6952"/>
              <a:ext cx="889" cy="878"/>
            </a:xfrm>
            <a:prstGeom prst="rect">
              <a:avLst/>
            </a:prstGeom>
            <a:noFill/>
          </p:spPr>
          <p:txBody>
            <a:bodyPr wrap="square" rtlCol="0">
              <a:noAutofit/>
            </a:bodyPr>
            <a:lstStyle/>
            <a:p>
              <a:pPr indent="0" algn="ctr" fontAlgn="auto"/>
              <a:r>
                <a:rPr lang="en-US" altLang="zh-CN" sz="2400">
                  <a:solidFill>
                    <a:schemeClr val="bg1"/>
                  </a:solidFill>
                  <a:latin typeface="Times New Roman" panose="02020603050405020304" charset="0"/>
                  <a:ea typeface="汉仪宋韵朗黑W"/>
                  <a:cs typeface="Times New Roman" panose="02020603050405020304" charset="0"/>
                  <a:sym typeface="汉仪宋韵朗黑W"/>
                </a:rPr>
                <a:t>04</a:t>
              </a:r>
              <a:endParaRPr lang="en-US" altLang="zh-CN" sz="2400">
                <a:solidFill>
                  <a:schemeClr val="bg1"/>
                </a:solidFill>
                <a:latin typeface="Times New Roman" panose="02020603050405020304" charset="0"/>
                <a:ea typeface="汉仪宋韵朗黑W"/>
                <a:cs typeface="Times New Roman" panose="02020603050405020304" charset="0"/>
                <a:sym typeface="汉仪宋韵朗黑W"/>
              </a:endParaRPr>
            </a:p>
          </p:txBody>
        </p:sp>
      </p:grpSp>
    </p:spTree>
    <p:custDataLst>
      <p:tags r:id="rId19"/>
    </p:custDataLst>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 name="文本框 1" title=""/>
          <p:cNvSpPr txBox="1"/>
          <p:nvPr>
            <p:custDataLst>
              <p:tags r:id="rId3"/>
            </p:custDataLst>
          </p:nvPr>
        </p:nvSpPr>
        <p:spPr>
          <a:xfrm>
            <a:off x="4179570" y="1863090"/>
            <a:ext cx="3832860" cy="706755"/>
          </a:xfrm>
          <a:prstGeom prst="rect">
            <a:avLst/>
          </a:prstGeom>
          <a:noFill/>
        </p:spPr>
        <p:txBody>
          <a:bodyPr wrap="square" rtlCol="0">
            <a:spAutoFit/>
          </a:bodyPr>
          <a:lstStyle/>
          <a:p>
            <a:pPr algn="ctr"/>
            <a:r>
              <a:rPr sz="4000" cap="all">
                <a:solidFill>
                  <a:srgbClr val="38ABE3">
                    <a:alpha val="12000"/>
                  </a:srgbClr>
                </a:solidFill>
                <a:uFillTx/>
                <a:latin typeface="Times New Roman" panose="02020603050405020304" charset="0"/>
                <a:ea typeface="黑体" panose="02010609060101010101" charset="-122"/>
                <a:cs typeface="Times New Roman" panose="02020603050405020304" charset="0"/>
                <a:sym typeface="汉仪宋韵朗黑W"/>
              </a:rPr>
              <a:t>conclusion</a:t>
            </a:r>
            <a:endParaRPr sz="4000" cap="all">
              <a:solidFill>
                <a:srgbClr val="38ABE3">
                  <a:alpha val="12000"/>
                </a:srgbClr>
              </a:solidFill>
              <a:uFillTx/>
              <a:latin typeface="Times New Roman" panose="02020603050405020304" charset="0"/>
              <a:ea typeface="黑体" panose="02010609060101010101" charset="-122"/>
              <a:cs typeface="Times New Roman" panose="02020603050405020304" charset="0"/>
              <a:sym typeface="汉仪宋韵朗黑W"/>
            </a:endParaRPr>
          </a:p>
        </p:txBody>
      </p:sp>
      <p:sp>
        <p:nvSpPr>
          <p:cNvPr id="4" name="圆角矩形 3" title=""/>
          <p:cNvSpPr/>
          <p:nvPr>
            <p:custDataLst>
              <p:tags r:id="rId4"/>
            </p:custDataLst>
          </p:nvPr>
        </p:nvSpPr>
        <p:spPr>
          <a:xfrm>
            <a:off x="5095240" y="2211705"/>
            <a:ext cx="2001520" cy="488950"/>
          </a:xfrm>
          <a:prstGeom prst="roundRect">
            <a:avLst>
              <a:gd name="adj" fmla="val 50000"/>
            </a:avLst>
          </a:prstGeom>
          <a:solidFill>
            <a:srgbClr val="38AB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ea typeface="黑体" panose="02010609060101010101" charset="-122"/>
              <a:cs typeface="Times New Roman" panose="02020603050405020304" charset="0"/>
            </a:endParaRPr>
          </a:p>
        </p:txBody>
      </p:sp>
      <p:sp>
        <p:nvSpPr>
          <p:cNvPr id="13" name="文本框 12" title=""/>
          <p:cNvSpPr txBox="1"/>
          <p:nvPr>
            <p:custDataLst>
              <p:tags r:id="rId5"/>
            </p:custDataLst>
          </p:nvPr>
        </p:nvSpPr>
        <p:spPr>
          <a:xfrm>
            <a:off x="4179570" y="3022600"/>
            <a:ext cx="3891280" cy="1014730"/>
          </a:xfrm>
          <a:prstGeom prst="rect">
            <a:avLst/>
          </a:prstGeom>
          <a:noFill/>
        </p:spPr>
        <p:txBody>
          <a:bodyPr wrap="square" rtlCol="0">
            <a:spAutoFit/>
          </a:bodyPr>
          <a:lstStyle/>
          <a:p>
            <a:pPr indent="0" algn="ctr" fontAlgn="auto"/>
            <a:r>
              <a:rPr lang="zh-CN" altLang="en-US" sz="6000">
                <a:solidFill>
                  <a:schemeClr val="tx1">
                    <a:lumMod val="75000"/>
                    <a:lumOff val="25000"/>
                  </a:schemeClr>
                </a:solidFill>
                <a:latin typeface="Times New Roman" panose="02020603050405020304" charset="0"/>
                <a:ea typeface="黑体" panose="02010609060101010101" charset="-122"/>
                <a:cs typeface="汉仪宋韵朗黑W" panose="00020600040101010101" charset="-122"/>
                <a:sym typeface="汉仪宋韵朗黑W"/>
              </a:rPr>
              <a:t>新课引入</a:t>
            </a:r>
            <a:endParaRPr lang="zh-CN" altLang="en-US" sz="6000">
              <a:solidFill>
                <a:schemeClr val="tx1">
                  <a:lumMod val="75000"/>
                  <a:lumOff val="25000"/>
                </a:schemeClr>
              </a:solidFill>
              <a:latin typeface="Times New Roman" panose="02020603050405020304" charset="0"/>
              <a:ea typeface="黑体" panose="02010609060101010101" charset="-122"/>
              <a:cs typeface="汉仪宋韵朗黑W" panose="00020600040101010101" charset="-122"/>
              <a:sym typeface="汉仪宋韵朗黑W"/>
            </a:endParaRPr>
          </a:p>
        </p:txBody>
      </p:sp>
      <p:sp>
        <p:nvSpPr>
          <p:cNvPr id="14" name="文本框 13" title=""/>
          <p:cNvSpPr txBox="1"/>
          <p:nvPr>
            <p:custDataLst>
              <p:tags r:id="rId6"/>
            </p:custDataLst>
          </p:nvPr>
        </p:nvSpPr>
        <p:spPr>
          <a:xfrm>
            <a:off x="5526405" y="2211705"/>
            <a:ext cx="1193165" cy="443865"/>
          </a:xfrm>
          <a:prstGeom prst="rect">
            <a:avLst/>
          </a:prstGeom>
          <a:noFill/>
        </p:spPr>
        <p:txBody>
          <a:bodyPr wrap="square" rtlCol="0">
            <a:noAutofit/>
          </a:bodyPr>
          <a:lstStyle/>
          <a:p>
            <a:pPr algn="ctr"/>
            <a:r>
              <a:rPr lang="en-US" sz="2800">
                <a:solidFill>
                  <a:schemeClr val="bg1"/>
                </a:solidFill>
                <a:latin typeface="Times New Roman" panose="02020603050405020304" charset="0"/>
                <a:ea typeface="黑体" panose="02010609060101010101" charset="-122"/>
                <a:cs typeface="Times New Roman" panose="02020603050405020304" charset="0"/>
                <a:sym typeface="汉仪宋韵朗黑W"/>
              </a:rPr>
              <a:t>01</a:t>
            </a:r>
            <a:endParaRPr lang="en-US" sz="2800">
              <a:solidFill>
                <a:schemeClr val="bg1"/>
              </a:solidFill>
              <a:latin typeface="Times New Roman" panose="02020603050405020304" charset="0"/>
              <a:ea typeface="黑体" panose="02010609060101010101" charset="-122"/>
              <a:cs typeface="Times New Roman" panose="02020603050405020304" charset="0"/>
              <a:sym typeface="汉仪宋韵朗黑W"/>
            </a:endParaRPr>
          </a:p>
        </p:txBody>
      </p:sp>
    </p:spTree>
    <p:custDataLst>
      <p:tags r:id="rId7"/>
    </p:custDataLst>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思考与讨论</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pic>
        <p:nvPicPr>
          <p:cNvPr id="2" name="图片 1" title=""/>
          <p:cNvPicPr/>
          <p:nvPr>
            <p:custDataLst>
              <p:tags r:id="rId5"/>
            </p:custDataLst>
          </p:nvPr>
        </p:nvPicPr>
        <p:blipFill>
          <a:blip r:embed="rId4"/>
          <a:stretch>
            <a:fillRect/>
          </a:stretch>
        </p:blipFill>
        <p:spPr>
          <a:xfrm>
            <a:off x="3479165" y="2555875"/>
            <a:ext cx="5520690" cy="3260725"/>
          </a:xfrm>
          <a:prstGeom prst="rect">
            <a:avLst/>
          </a:prstGeom>
        </p:spPr>
      </p:pic>
      <p:sp>
        <p:nvSpPr>
          <p:cNvPr id="3" name="Text Box 6" title=""/>
          <p:cNvSpPr txBox="1">
            <a:spLocks noChangeArrowheads="1"/>
          </p:cNvSpPr>
          <p:nvPr>
            <p:custDataLst>
              <p:tags r:id="rId6"/>
            </p:custDataLst>
          </p:nvPr>
        </p:nvSpPr>
        <p:spPr bwMode="auto">
          <a:xfrm>
            <a:off x="342265" y="1049655"/>
            <a:ext cx="11455400" cy="1465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wrap="square" lIns="108896" tIns="54448" rIns="108896" bIns="54448">
            <a:noAutofit/>
          </a:bodyPr>
          <a:lstStyle/>
          <a:p>
            <a:pPr algn="just">
              <a:lnSpc>
                <a:spcPct val="150000"/>
              </a:lnSpc>
              <a:spcBef>
                <a:spcPct val="50000"/>
              </a:spcBef>
            </a:pPr>
            <a:r>
              <a:rPr lang="en-US" altLang="zh-CN" sz="2800">
                <a:latin typeface="Times New Roman" panose="02020603050405020304" charset="0"/>
                <a:ea typeface="黑体" panose="02010609060101010101" charset="-122"/>
                <a:cs typeface="Times New Roman" panose="02020603050405020304" charset="0"/>
              </a:rPr>
              <a:t>        </a:t>
            </a:r>
            <a:r>
              <a:rPr lang="zh-CN" sz="2800">
                <a:latin typeface="Times New Roman" panose="02020603050405020304" charset="0"/>
                <a:ea typeface="黑体" panose="02010609060101010101" charset="-122"/>
                <a:cs typeface="Times New Roman" panose="02020603050405020304" charset="0"/>
              </a:rPr>
              <a:t>货物通过传送带传送的过程中，货物的受到哪些力？货物可能经历哪些运动形式？</a:t>
            </a:r>
            <a:endParaRPr lang="zh-CN" sz="2800">
              <a:latin typeface="Times New Roman" panose="02020603050405020304" charset="0"/>
              <a:ea typeface="黑体" panose="02010609060101010101" charset="-122"/>
              <a:cs typeface="Times New Roman" panose="02020603050405020304" charset="0"/>
            </a:endParaRPr>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 name="文本框 1" title=""/>
          <p:cNvSpPr txBox="1"/>
          <p:nvPr>
            <p:custDataLst>
              <p:tags r:id="rId3"/>
            </p:custDataLst>
          </p:nvPr>
        </p:nvSpPr>
        <p:spPr>
          <a:xfrm>
            <a:off x="4179570" y="1863090"/>
            <a:ext cx="3832860" cy="706755"/>
          </a:xfrm>
          <a:prstGeom prst="rect">
            <a:avLst/>
          </a:prstGeom>
          <a:noFill/>
        </p:spPr>
        <p:txBody>
          <a:bodyPr wrap="square" rtlCol="0">
            <a:spAutoFit/>
          </a:bodyPr>
          <a:lstStyle/>
          <a:p>
            <a:pPr algn="ctr"/>
            <a:r>
              <a:rPr sz="4000" cap="all">
                <a:solidFill>
                  <a:srgbClr val="38ABE3">
                    <a:alpha val="12000"/>
                  </a:srgbClr>
                </a:solidFill>
                <a:uFillTx/>
                <a:latin typeface="Times New Roman" panose="02020603050405020304" charset="0"/>
                <a:ea typeface="黑体" panose="02010609060101010101" charset="-122"/>
                <a:cs typeface="Times New Roman" panose="02020603050405020304" charset="0"/>
                <a:sym typeface="汉仪宋韵朗黑W"/>
              </a:rPr>
              <a:t>conclusion</a:t>
            </a:r>
            <a:endParaRPr sz="4000" cap="all">
              <a:solidFill>
                <a:srgbClr val="38ABE3">
                  <a:alpha val="12000"/>
                </a:srgbClr>
              </a:solidFill>
              <a:uFillTx/>
              <a:latin typeface="Times New Roman" panose="02020603050405020304" charset="0"/>
              <a:ea typeface="黑体" panose="02010609060101010101" charset="-122"/>
              <a:cs typeface="Times New Roman" panose="02020603050405020304" charset="0"/>
              <a:sym typeface="汉仪宋韵朗黑W"/>
            </a:endParaRPr>
          </a:p>
        </p:txBody>
      </p:sp>
      <p:sp>
        <p:nvSpPr>
          <p:cNvPr id="4" name="圆角矩形 3" title=""/>
          <p:cNvSpPr/>
          <p:nvPr>
            <p:custDataLst>
              <p:tags r:id="rId4"/>
            </p:custDataLst>
          </p:nvPr>
        </p:nvSpPr>
        <p:spPr>
          <a:xfrm>
            <a:off x="5095240" y="2211705"/>
            <a:ext cx="2001520" cy="488950"/>
          </a:xfrm>
          <a:prstGeom prst="roundRect">
            <a:avLst>
              <a:gd name="adj" fmla="val 50000"/>
            </a:avLst>
          </a:prstGeom>
          <a:solidFill>
            <a:srgbClr val="38AB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ea typeface="黑体" panose="02010609060101010101" charset="-122"/>
              <a:cs typeface="Times New Roman" panose="02020603050405020304" charset="0"/>
            </a:endParaRPr>
          </a:p>
        </p:txBody>
      </p:sp>
      <p:sp>
        <p:nvSpPr>
          <p:cNvPr id="13" name="文本框 12" title=""/>
          <p:cNvSpPr txBox="1"/>
          <p:nvPr>
            <p:custDataLst>
              <p:tags r:id="rId5"/>
            </p:custDataLst>
          </p:nvPr>
        </p:nvSpPr>
        <p:spPr>
          <a:xfrm>
            <a:off x="2931160" y="3022600"/>
            <a:ext cx="7129145" cy="1005840"/>
          </a:xfrm>
          <a:prstGeom prst="rect">
            <a:avLst/>
          </a:prstGeom>
          <a:noFill/>
        </p:spPr>
        <p:txBody>
          <a:bodyPr wrap="square" rtlCol="0">
            <a:noAutofit/>
          </a:bodyPr>
          <a:lstStyle/>
          <a:p>
            <a:pPr indent="0" algn="ctr" fontAlgn="auto"/>
            <a:r>
              <a:rPr lang="zh-CN" altLang="en-US" sz="6000">
                <a:solidFill>
                  <a:schemeClr val="tx1">
                    <a:lumMod val="75000"/>
                    <a:lumOff val="25000"/>
                  </a:schemeClr>
                </a:solidFill>
                <a:latin typeface="Times New Roman" panose="02020603050405020304" charset="0"/>
                <a:ea typeface="黑体" panose="02010609060101010101" charset="-122"/>
                <a:cs typeface="汉仪宋韵朗黑W" panose="00020600040101010101" charset="-122"/>
                <a:sym typeface="汉仪宋韵朗黑W"/>
              </a:rPr>
              <a:t>传送带问题</a:t>
            </a:r>
            <a:endParaRPr lang="zh-CN" altLang="en-US" sz="6000">
              <a:solidFill>
                <a:schemeClr val="tx1">
                  <a:lumMod val="75000"/>
                  <a:lumOff val="25000"/>
                </a:schemeClr>
              </a:solidFill>
              <a:latin typeface="Times New Roman" panose="02020603050405020304" charset="0"/>
              <a:ea typeface="黑体" panose="02010609060101010101" charset="-122"/>
              <a:cs typeface="汉仪宋韵朗黑W" panose="00020600040101010101" charset="-122"/>
              <a:sym typeface="汉仪宋韵朗黑W"/>
            </a:endParaRPr>
          </a:p>
        </p:txBody>
      </p:sp>
      <p:sp>
        <p:nvSpPr>
          <p:cNvPr id="14" name="文本框 13" title=""/>
          <p:cNvSpPr txBox="1"/>
          <p:nvPr>
            <p:custDataLst>
              <p:tags r:id="rId6"/>
            </p:custDataLst>
          </p:nvPr>
        </p:nvSpPr>
        <p:spPr>
          <a:xfrm>
            <a:off x="5526405" y="2211705"/>
            <a:ext cx="1193165" cy="443865"/>
          </a:xfrm>
          <a:prstGeom prst="rect">
            <a:avLst/>
          </a:prstGeom>
          <a:noFill/>
        </p:spPr>
        <p:txBody>
          <a:bodyPr wrap="square" rtlCol="0">
            <a:noAutofit/>
          </a:bodyPr>
          <a:lstStyle/>
          <a:p>
            <a:pPr algn="ctr"/>
            <a:r>
              <a:rPr lang="en-US" sz="2800">
                <a:solidFill>
                  <a:schemeClr val="bg1"/>
                </a:solidFill>
                <a:latin typeface="Times New Roman" panose="02020603050405020304" charset="0"/>
                <a:ea typeface="黑体" panose="02010609060101010101" charset="-122"/>
                <a:cs typeface="Times New Roman" panose="02020603050405020304" charset="0"/>
                <a:sym typeface="汉仪宋韵朗黑W"/>
              </a:rPr>
              <a:t>02</a:t>
            </a:r>
            <a:endParaRPr lang="en-US" sz="2800">
              <a:solidFill>
                <a:schemeClr val="bg1"/>
              </a:solidFill>
              <a:latin typeface="Times New Roman" panose="02020603050405020304" charset="0"/>
              <a:ea typeface="黑体" panose="02010609060101010101" charset="-122"/>
              <a:cs typeface="Times New Roman" panose="02020603050405020304" charset="0"/>
              <a:sym typeface="汉仪宋韵朗黑W"/>
            </a:endParaRPr>
          </a:p>
        </p:txBody>
      </p:sp>
    </p:spTree>
    <p:custDataLst>
      <p:tags r:id="rId7"/>
    </p:custDataLst>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一、水平传送带问题</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sp>
        <p:nvSpPr>
          <p:cNvPr id="5" name="文本框 4" title=""/>
          <p:cNvSpPr txBox="1"/>
          <p:nvPr>
            <p:custDataLst>
              <p:tags r:id="rId4"/>
            </p:custDataLst>
          </p:nvPr>
        </p:nvSpPr>
        <p:spPr>
          <a:xfrm>
            <a:off x="242570" y="956310"/>
            <a:ext cx="11690350" cy="2773045"/>
          </a:xfrm>
          <a:prstGeom prst="rect">
            <a:avLst/>
          </a:prstGeom>
          <a:noFill/>
        </p:spPr>
        <p:txBody>
          <a:bodyPr wrap="square" rtlCol="0" anchor="t">
            <a:noAutofit/>
          </a:bodyPr>
          <a:lstStyle/>
          <a:p>
            <a:pPr>
              <a:lnSpc>
                <a:spcPct val="150000"/>
              </a:lnSpc>
            </a:pPr>
            <a:r>
              <a:rPr lang="zh-CN" altLang="en-US" sz="2700">
                <a:solidFill>
                  <a:schemeClr val="tx1"/>
                </a:solidFill>
                <a:latin typeface="Times New Roman" panose="02020603050405020304" charset="0"/>
                <a:ea typeface="黑体" panose="02010609060101010101" charset="-122"/>
                <a:cs typeface="Times New Roman" panose="02020603050405020304" charset="0"/>
              </a:rPr>
              <a:t>【例题</a:t>
            </a:r>
            <a:r>
              <a:rPr lang="en-US" altLang="zh-CN" sz="2700">
                <a:solidFill>
                  <a:schemeClr val="tx1"/>
                </a:solidFill>
                <a:latin typeface="Times New Roman" panose="02020603050405020304" charset="0"/>
                <a:ea typeface="黑体" panose="02010609060101010101" charset="-122"/>
                <a:cs typeface="Times New Roman" panose="02020603050405020304" charset="0"/>
              </a:rPr>
              <a:t>3</a:t>
            </a:r>
            <a:r>
              <a:rPr lang="zh-CN" altLang="en-US" sz="2700">
                <a:solidFill>
                  <a:schemeClr val="tx1"/>
                </a:solidFill>
                <a:latin typeface="Times New Roman" panose="02020603050405020304" charset="0"/>
                <a:ea typeface="黑体" panose="02010609060101010101" charset="-122"/>
                <a:cs typeface="Times New Roman" panose="02020603050405020304" charset="0"/>
              </a:rPr>
              <a:t>】如图所示，水平传送带正在以</a:t>
            </a:r>
            <a:r>
              <a:rPr lang="zh-CN" altLang="en-US" sz="2700" i="1">
                <a:solidFill>
                  <a:schemeClr val="tx1"/>
                </a:solidFill>
                <a:latin typeface="Times New Roman" panose="02020603050405020304" charset="0"/>
                <a:ea typeface="黑体" panose="02010609060101010101" charset="-122"/>
                <a:cs typeface="Times New Roman" panose="02020603050405020304" charset="0"/>
              </a:rPr>
              <a:t>v</a:t>
            </a:r>
            <a:r>
              <a:rPr lang="zh-CN" altLang="en-US" sz="2700">
                <a:solidFill>
                  <a:schemeClr val="tx1"/>
                </a:solidFill>
                <a:latin typeface="Times New Roman" panose="02020603050405020304" charset="0"/>
                <a:ea typeface="黑体" panose="02010609060101010101" charset="-122"/>
                <a:cs typeface="Times New Roman" panose="02020603050405020304" charset="0"/>
              </a:rPr>
              <a:t>＝4.0 m/s的速度匀速顺时针转动，质量为</a:t>
            </a:r>
            <a:r>
              <a:rPr lang="zh-CN" altLang="en-US" sz="2700" i="1">
                <a:solidFill>
                  <a:schemeClr val="tx1"/>
                </a:solidFill>
                <a:latin typeface="Times New Roman" panose="02020603050405020304" charset="0"/>
                <a:ea typeface="黑体" panose="02010609060101010101" charset="-122"/>
                <a:cs typeface="Times New Roman" panose="02020603050405020304" charset="0"/>
              </a:rPr>
              <a:t>m</a:t>
            </a:r>
            <a:r>
              <a:rPr lang="zh-CN" altLang="en-US" sz="2700">
                <a:solidFill>
                  <a:schemeClr val="tx1"/>
                </a:solidFill>
                <a:latin typeface="Times New Roman" panose="02020603050405020304" charset="0"/>
                <a:ea typeface="黑体" panose="02010609060101010101" charset="-122"/>
                <a:cs typeface="Times New Roman" panose="02020603050405020304" charset="0"/>
              </a:rPr>
              <a:t>＝1 kg的某物块(可视为质点)与传送带之间的动摩擦因数</a:t>
            </a:r>
            <a:r>
              <a:rPr lang="zh-CN" altLang="en-US" sz="2700" i="1">
                <a:solidFill>
                  <a:schemeClr val="tx1"/>
                </a:solidFill>
                <a:latin typeface="Times New Roman" panose="02020603050405020304" charset="0"/>
                <a:ea typeface="黑体" panose="02010609060101010101" charset="-122"/>
                <a:cs typeface="Times New Roman" panose="02020603050405020304" charset="0"/>
              </a:rPr>
              <a:t>μ</a:t>
            </a:r>
            <a:r>
              <a:rPr lang="zh-CN" altLang="en-US" sz="2700">
                <a:solidFill>
                  <a:schemeClr val="tx1"/>
                </a:solidFill>
                <a:latin typeface="Times New Roman" panose="02020603050405020304" charset="0"/>
                <a:ea typeface="黑体" panose="02010609060101010101" charset="-122"/>
                <a:cs typeface="Times New Roman" panose="02020603050405020304" charset="0"/>
              </a:rPr>
              <a:t>＝0.1，将该物块从传送带左端无初速度地轻放在传送带上(g取10 m/s</a:t>
            </a:r>
            <a:r>
              <a:rPr lang="zh-CN" altLang="en-US" sz="2700" baseline="30000">
                <a:solidFill>
                  <a:schemeClr val="tx1"/>
                </a:solidFill>
                <a:latin typeface="Times New Roman" panose="02020603050405020304" charset="0"/>
                <a:ea typeface="黑体" panose="02010609060101010101" charset="-122"/>
                <a:cs typeface="Times New Roman" panose="02020603050405020304" charset="0"/>
              </a:rPr>
              <a:t>2</a:t>
            </a:r>
            <a:r>
              <a:rPr lang="zh-CN" altLang="en-US" sz="2700">
                <a:solidFill>
                  <a:schemeClr val="tx1"/>
                </a:solidFill>
                <a:latin typeface="Times New Roman" panose="02020603050405020304" charset="0"/>
                <a:ea typeface="黑体" panose="02010609060101010101" charset="-122"/>
                <a:cs typeface="Times New Roman" panose="02020603050405020304" charset="0"/>
              </a:rPr>
              <a:t>)．如果传送带长度</a:t>
            </a:r>
            <a:r>
              <a:rPr lang="zh-CN" altLang="en-US" sz="2700" i="1">
                <a:solidFill>
                  <a:schemeClr val="tx1"/>
                </a:solidFill>
                <a:latin typeface="Times New Roman" panose="02020603050405020304" charset="0"/>
                <a:ea typeface="黑体" panose="02010609060101010101" charset="-122"/>
                <a:cs typeface="Times New Roman" panose="02020603050405020304" charset="0"/>
              </a:rPr>
              <a:t>L</a:t>
            </a:r>
            <a:r>
              <a:rPr lang="zh-CN" altLang="en-US" sz="2700">
                <a:solidFill>
                  <a:schemeClr val="tx1"/>
                </a:solidFill>
                <a:latin typeface="Times New Roman" panose="02020603050405020304" charset="0"/>
                <a:ea typeface="黑体" panose="02010609060101010101" charset="-122"/>
                <a:cs typeface="Times New Roman" panose="02020603050405020304" charset="0"/>
              </a:rPr>
              <a:t>＝20 m，求经过多长时间物块将到达传送带的右端．</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p:txBody>
      </p:sp>
      <p:pic>
        <p:nvPicPr>
          <p:cNvPr id="100017" name="图片 100017" title=""/>
          <p:cNvPicPr>
            <a:picLocks noChangeAspect="1"/>
          </p:cNvPicPr>
          <p:nvPr>
            <p:custDataLst>
              <p:tags r:id="rId6"/>
            </p:custDataLst>
          </p:nvPr>
        </p:nvPicPr>
        <p:blipFill>
          <a:blip r:embed="rId5"/>
          <a:stretch>
            <a:fillRect/>
          </a:stretch>
        </p:blipFill>
        <p:spPr>
          <a:xfrm>
            <a:off x="4036695" y="4187825"/>
            <a:ext cx="4927600" cy="1193800"/>
          </a:xfrm>
          <a:prstGeom prst="rect">
            <a:avLst/>
          </a:prstGeom>
        </p:spPr>
      </p:pic>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思考与讨论</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sp>
        <p:nvSpPr>
          <p:cNvPr id="2" name="文本框 1" title=""/>
          <p:cNvSpPr txBox="1"/>
          <p:nvPr>
            <p:custDataLst>
              <p:tags r:id="rId4"/>
            </p:custDataLst>
          </p:nvPr>
        </p:nvSpPr>
        <p:spPr>
          <a:xfrm>
            <a:off x="242570" y="956310"/>
            <a:ext cx="11483340" cy="2112010"/>
          </a:xfrm>
          <a:prstGeom prst="rect">
            <a:avLst/>
          </a:prstGeom>
          <a:noFill/>
        </p:spPr>
        <p:txBody>
          <a:bodyPr wrap="square" rtlCol="0" anchor="t">
            <a:noAutofit/>
          </a:bodyPr>
          <a:lstStyle/>
          <a:p>
            <a:pPr>
              <a:lnSpc>
                <a:spcPct val="150000"/>
              </a:lnSpc>
            </a:pPr>
            <a:r>
              <a:rPr lang="en-US" sz="2700">
                <a:solidFill>
                  <a:schemeClr val="tx1"/>
                </a:solidFill>
                <a:latin typeface="Times New Roman" panose="02020603050405020304" charset="0"/>
                <a:ea typeface="黑体" panose="02010609060101010101" charset="-122"/>
                <a:cs typeface="Times New Roman" panose="02020603050405020304" charset="0"/>
              </a:rPr>
              <a:t>(1)</a:t>
            </a:r>
            <a:r>
              <a:rPr lang="zh-CN" altLang="en-US" sz="2700">
                <a:solidFill>
                  <a:schemeClr val="tx1"/>
                </a:solidFill>
                <a:latin typeface="Times New Roman" panose="02020603050405020304" charset="0"/>
                <a:ea typeface="黑体" panose="02010609060101010101" charset="-122"/>
                <a:cs typeface="Times New Roman" panose="02020603050405020304" charset="0"/>
              </a:rPr>
              <a:t>物块轻放在传送带上后，所受的合外力多大？物块的加速度多大？</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(2)</a:t>
            </a:r>
            <a:r>
              <a:rPr lang="zh-CN" altLang="en-US" sz="2700">
                <a:solidFill>
                  <a:schemeClr val="tx1"/>
                </a:solidFill>
                <a:latin typeface="Times New Roman" panose="02020603050405020304" charset="0"/>
                <a:ea typeface="黑体" panose="02010609060101010101" charset="-122"/>
                <a:cs typeface="Times New Roman" panose="02020603050405020304" charset="0"/>
              </a:rPr>
              <a:t>物块开始做何种运动？</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(3)</a:t>
            </a:r>
            <a:r>
              <a:rPr lang="zh-CN" altLang="en-US" sz="2700">
                <a:solidFill>
                  <a:schemeClr val="tx1"/>
                </a:solidFill>
                <a:latin typeface="Times New Roman" panose="02020603050405020304" charset="0"/>
                <a:ea typeface="黑体" panose="02010609060101010101" charset="-122"/>
                <a:cs typeface="Times New Roman" panose="02020603050405020304" charset="0"/>
              </a:rPr>
              <a:t>当物块的速度加速到与传送带的速度相等时经历多长时间？位移多大？</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p:txBody>
      </p:sp>
      <p:pic>
        <p:nvPicPr>
          <p:cNvPr id="100017" name="图片 100017" title=""/>
          <p:cNvPicPr>
            <a:picLocks noChangeAspect="1"/>
          </p:cNvPicPr>
          <p:nvPr>
            <p:custDataLst>
              <p:tags r:id="rId6"/>
            </p:custDataLst>
          </p:nvPr>
        </p:nvPicPr>
        <p:blipFill>
          <a:blip r:embed="rId5"/>
          <a:stretch>
            <a:fillRect/>
          </a:stretch>
        </p:blipFill>
        <p:spPr>
          <a:xfrm>
            <a:off x="7860030" y="3541395"/>
            <a:ext cx="3572510" cy="865505"/>
          </a:xfrm>
          <a:prstGeom prst="rect">
            <a:avLst/>
          </a:prstGeom>
        </p:spPr>
      </p:pic>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思考与讨论</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sp>
        <p:nvSpPr>
          <p:cNvPr id="2" name="文本框 1" title=""/>
          <p:cNvSpPr txBox="1"/>
          <p:nvPr>
            <p:custDataLst>
              <p:tags r:id="rId4"/>
            </p:custDataLst>
          </p:nvPr>
        </p:nvSpPr>
        <p:spPr>
          <a:xfrm>
            <a:off x="242570" y="956310"/>
            <a:ext cx="11483340" cy="2102485"/>
          </a:xfrm>
          <a:prstGeom prst="rect">
            <a:avLst/>
          </a:prstGeom>
          <a:noFill/>
        </p:spPr>
        <p:txBody>
          <a:bodyPr wrap="square" rtlCol="0" anchor="t">
            <a:noAutofit/>
          </a:bodyPr>
          <a:lstStyle/>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(4)</a:t>
            </a:r>
            <a:r>
              <a:rPr lang="zh-CN" altLang="en-US" sz="2700">
                <a:solidFill>
                  <a:schemeClr val="tx1"/>
                </a:solidFill>
                <a:latin typeface="Times New Roman" panose="02020603050405020304" charset="0"/>
                <a:ea typeface="黑体" panose="02010609060101010101" charset="-122"/>
                <a:cs typeface="Times New Roman" panose="02020603050405020304" charset="0"/>
              </a:rPr>
              <a:t>当物块的速度和传送带速度相同时，物块是否还受传送带的摩擦力？</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(5)</a:t>
            </a:r>
            <a:r>
              <a:rPr lang="zh-CN" altLang="en-US" sz="2700">
                <a:solidFill>
                  <a:schemeClr val="tx1"/>
                </a:solidFill>
                <a:latin typeface="Times New Roman" panose="02020603050405020304" charset="0"/>
                <a:ea typeface="黑体" panose="02010609060101010101" charset="-122"/>
                <a:cs typeface="Times New Roman" panose="02020603050405020304" charset="0"/>
              </a:rPr>
              <a:t>物块和传送带速度相同后，物块将做何种运动？这一段经历的时间多长？</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(6)</a:t>
            </a:r>
            <a:r>
              <a:rPr lang="zh-CN" altLang="en-US" sz="2700">
                <a:solidFill>
                  <a:schemeClr val="tx1"/>
                </a:solidFill>
                <a:latin typeface="Times New Roman" panose="02020603050405020304" charset="0"/>
                <a:ea typeface="黑体" panose="02010609060101010101" charset="-122"/>
                <a:cs typeface="Times New Roman" panose="02020603050405020304" charset="0"/>
              </a:rPr>
              <a:t>你是否可以画一下物块在这个过程的</a:t>
            </a:r>
            <a:r>
              <a:rPr lang="en-US" altLang="zh-CN" sz="2700" i="1">
                <a:solidFill>
                  <a:schemeClr val="tx1"/>
                </a:solidFill>
                <a:latin typeface="Times New Roman" panose="02020603050405020304" charset="0"/>
                <a:ea typeface="黑体" panose="02010609060101010101" charset="-122"/>
                <a:cs typeface="Times New Roman" panose="02020603050405020304" charset="0"/>
              </a:rPr>
              <a:t>v-t</a:t>
            </a:r>
            <a:r>
              <a:rPr lang="zh-CN" altLang="en-US" sz="2700">
                <a:solidFill>
                  <a:schemeClr val="tx1"/>
                </a:solidFill>
                <a:latin typeface="Times New Roman" panose="02020603050405020304" charset="0"/>
                <a:ea typeface="黑体" panose="02010609060101010101" charset="-122"/>
                <a:cs typeface="Times New Roman" panose="02020603050405020304" charset="0"/>
              </a:rPr>
              <a:t>图像？</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p:txBody>
      </p:sp>
      <p:pic>
        <p:nvPicPr>
          <p:cNvPr id="100017" name="图片 100017" title=""/>
          <p:cNvPicPr>
            <a:picLocks noChangeAspect="1"/>
          </p:cNvPicPr>
          <p:nvPr>
            <p:custDataLst>
              <p:tags r:id="rId6"/>
            </p:custDataLst>
          </p:nvPr>
        </p:nvPicPr>
        <p:blipFill>
          <a:blip r:embed="rId5"/>
          <a:stretch>
            <a:fillRect/>
          </a:stretch>
        </p:blipFill>
        <p:spPr>
          <a:xfrm>
            <a:off x="7959725" y="3429000"/>
            <a:ext cx="3572510" cy="865505"/>
          </a:xfrm>
          <a:prstGeom prst="rect">
            <a:avLst/>
          </a:prstGeom>
        </p:spPr>
      </p:pic>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拓展与突破</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sp>
        <p:nvSpPr>
          <p:cNvPr id="2" name="文本框 1" title=""/>
          <p:cNvSpPr txBox="1"/>
          <p:nvPr>
            <p:custDataLst>
              <p:tags r:id="rId4"/>
            </p:custDataLst>
          </p:nvPr>
        </p:nvSpPr>
        <p:spPr>
          <a:xfrm>
            <a:off x="242570" y="956310"/>
            <a:ext cx="11661775" cy="2887980"/>
          </a:xfrm>
          <a:prstGeom prst="rect">
            <a:avLst/>
          </a:prstGeom>
          <a:noFill/>
        </p:spPr>
        <p:txBody>
          <a:bodyPr wrap="square" rtlCol="0" anchor="t">
            <a:noAutofit/>
          </a:bodyPr>
          <a:lstStyle/>
          <a:p>
            <a:pPr>
              <a:lnSpc>
                <a:spcPct val="150000"/>
              </a:lnSpc>
            </a:pPr>
            <a:r>
              <a:rPr lang="zh-CN" altLang="en-US" sz="2700">
                <a:solidFill>
                  <a:schemeClr val="tx1"/>
                </a:solidFill>
                <a:latin typeface="Times New Roman" panose="02020603050405020304" charset="0"/>
                <a:ea typeface="黑体" panose="02010609060101010101" charset="-122"/>
                <a:cs typeface="Times New Roman" panose="02020603050405020304" charset="0"/>
                <a:sym typeface="+mn-ea"/>
              </a:rPr>
              <a:t>如果传送带长度</a:t>
            </a:r>
            <a:r>
              <a:rPr lang="zh-CN" altLang="en-US" sz="2700" i="1">
                <a:solidFill>
                  <a:schemeClr val="tx1"/>
                </a:solidFill>
                <a:latin typeface="Times New Roman" panose="02020603050405020304" charset="0"/>
                <a:ea typeface="黑体" panose="02010609060101010101" charset="-122"/>
                <a:cs typeface="Times New Roman" panose="02020603050405020304" charset="0"/>
                <a:sym typeface="+mn-ea"/>
              </a:rPr>
              <a:t>L</a:t>
            </a:r>
            <a:r>
              <a:rPr lang="zh-CN" altLang="en-US" sz="2700">
                <a:solidFill>
                  <a:schemeClr val="tx1"/>
                </a:solidFill>
                <a:latin typeface="Times New Roman" panose="02020603050405020304" charset="0"/>
                <a:ea typeface="黑体" panose="02010609060101010101" charset="-122"/>
                <a:cs typeface="Times New Roman" panose="02020603050405020304" charset="0"/>
                <a:sym typeface="+mn-ea"/>
              </a:rPr>
              <a:t>＝</a:t>
            </a:r>
            <a:r>
              <a:rPr lang="en-US" altLang="zh-CN" sz="2700">
                <a:solidFill>
                  <a:schemeClr val="tx1"/>
                </a:solidFill>
                <a:latin typeface="Times New Roman" panose="02020603050405020304" charset="0"/>
                <a:ea typeface="黑体" panose="02010609060101010101" charset="-122"/>
                <a:cs typeface="Times New Roman" panose="02020603050405020304" charset="0"/>
                <a:sym typeface="+mn-ea"/>
              </a:rPr>
              <a:t>4.5</a:t>
            </a:r>
            <a:r>
              <a:rPr lang="zh-CN" altLang="en-US" sz="2700">
                <a:solidFill>
                  <a:schemeClr val="tx1"/>
                </a:solidFill>
                <a:latin typeface="Times New Roman" panose="02020603050405020304" charset="0"/>
                <a:ea typeface="黑体" panose="02010609060101010101" charset="-122"/>
                <a:cs typeface="Times New Roman" panose="02020603050405020304" charset="0"/>
                <a:sym typeface="+mn-ea"/>
              </a:rPr>
              <a:t> m，求经过多长时间物块将到达传送带的右端．</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(1)</a:t>
            </a:r>
            <a:r>
              <a:rPr lang="zh-CN" altLang="en-US" sz="2700">
                <a:solidFill>
                  <a:schemeClr val="tx1"/>
                </a:solidFill>
                <a:latin typeface="Times New Roman" panose="02020603050405020304" charset="0"/>
                <a:ea typeface="黑体" panose="02010609060101010101" charset="-122"/>
                <a:cs typeface="Times New Roman" panose="02020603050405020304" charset="0"/>
              </a:rPr>
              <a:t>物块是否可以加速到和传送带速度相同，而不掉落传送带？</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(2)</a:t>
            </a:r>
            <a:r>
              <a:rPr lang="zh-CN" altLang="en-US" sz="2700">
                <a:solidFill>
                  <a:schemeClr val="tx1"/>
                </a:solidFill>
                <a:latin typeface="Times New Roman" panose="02020603050405020304" charset="0"/>
                <a:ea typeface="黑体" panose="02010609060101010101" charset="-122"/>
                <a:cs typeface="Times New Roman" panose="02020603050405020304" charset="0"/>
              </a:rPr>
              <a:t>此种情况物块的运动形式是否和第一种情况相同？</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(3)</a:t>
            </a:r>
            <a:r>
              <a:rPr lang="zh-CN" altLang="en-US" sz="2700">
                <a:solidFill>
                  <a:schemeClr val="tx1"/>
                </a:solidFill>
                <a:latin typeface="Times New Roman" panose="02020603050405020304" charset="0"/>
                <a:ea typeface="黑体" panose="02010609060101010101" charset="-122"/>
                <a:cs typeface="Times New Roman" panose="02020603050405020304" charset="0"/>
              </a:rPr>
              <a:t>此种情况物体的</a:t>
            </a:r>
            <a:r>
              <a:rPr lang="en-US" altLang="zh-CN" sz="2700" i="1">
                <a:solidFill>
                  <a:schemeClr val="tx1"/>
                </a:solidFill>
                <a:latin typeface="Times New Roman" panose="02020603050405020304" charset="0"/>
                <a:ea typeface="黑体" panose="02010609060101010101" charset="-122"/>
                <a:cs typeface="Times New Roman" panose="02020603050405020304" charset="0"/>
              </a:rPr>
              <a:t>v-t</a:t>
            </a:r>
            <a:r>
              <a:rPr lang="zh-CN" altLang="en-US" sz="2700">
                <a:solidFill>
                  <a:schemeClr val="tx1"/>
                </a:solidFill>
                <a:latin typeface="Times New Roman" panose="02020603050405020304" charset="0"/>
                <a:ea typeface="黑体" panose="02010609060101010101" charset="-122"/>
                <a:cs typeface="Times New Roman" panose="02020603050405020304" charset="0"/>
              </a:rPr>
              <a:t>图像如何画？</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p:txBody>
      </p:sp>
      <p:pic>
        <p:nvPicPr>
          <p:cNvPr id="100017" name="图片 100017" title=""/>
          <p:cNvPicPr>
            <a:picLocks noChangeAspect="1"/>
          </p:cNvPicPr>
          <p:nvPr>
            <p:custDataLst>
              <p:tags r:id="rId6"/>
            </p:custDataLst>
          </p:nvPr>
        </p:nvPicPr>
        <p:blipFill>
          <a:blip r:embed="rId5"/>
          <a:stretch>
            <a:fillRect/>
          </a:stretch>
        </p:blipFill>
        <p:spPr>
          <a:xfrm>
            <a:off x="8217535" y="2978785"/>
            <a:ext cx="3572510" cy="865505"/>
          </a:xfrm>
          <a:prstGeom prst="rect">
            <a:avLst/>
          </a:prstGeom>
        </p:spPr>
      </p:pic>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一、水平传送带问题</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sp>
        <p:nvSpPr>
          <p:cNvPr id="5" name="文本框 4" title=""/>
          <p:cNvSpPr txBox="1"/>
          <p:nvPr>
            <p:custDataLst>
              <p:tags r:id="rId4"/>
            </p:custDataLst>
          </p:nvPr>
        </p:nvSpPr>
        <p:spPr>
          <a:xfrm>
            <a:off x="242570" y="956310"/>
            <a:ext cx="11690350" cy="3709670"/>
          </a:xfrm>
          <a:prstGeom prst="rect">
            <a:avLst/>
          </a:prstGeom>
          <a:noFill/>
        </p:spPr>
        <p:txBody>
          <a:bodyPr wrap="square" rtlCol="0" anchor="t">
            <a:noAutofit/>
          </a:bodyPr>
          <a:lstStyle/>
          <a:p>
            <a:pPr>
              <a:lnSpc>
                <a:spcPct val="150000"/>
              </a:lnSpc>
            </a:pPr>
            <a:r>
              <a:rPr lang="zh-CN" altLang="en-US" sz="2700">
                <a:solidFill>
                  <a:schemeClr val="tx1"/>
                </a:solidFill>
                <a:latin typeface="Times New Roman" panose="02020603050405020304" charset="0"/>
                <a:ea typeface="黑体" panose="02010609060101010101" charset="-122"/>
                <a:cs typeface="Times New Roman" panose="02020603050405020304" charset="0"/>
              </a:rPr>
              <a:t>【例题</a:t>
            </a:r>
            <a:r>
              <a:rPr lang="en-US" altLang="zh-CN" sz="2700">
                <a:solidFill>
                  <a:schemeClr val="tx1"/>
                </a:solidFill>
                <a:latin typeface="Times New Roman" panose="02020603050405020304" charset="0"/>
                <a:ea typeface="黑体" panose="02010609060101010101" charset="-122"/>
                <a:cs typeface="Times New Roman" panose="02020603050405020304" charset="0"/>
              </a:rPr>
              <a:t>4</a:t>
            </a:r>
            <a:r>
              <a:rPr lang="zh-CN" altLang="en-US" sz="2700">
                <a:solidFill>
                  <a:schemeClr val="tx1"/>
                </a:solidFill>
                <a:latin typeface="Times New Roman" panose="02020603050405020304" charset="0"/>
                <a:ea typeface="黑体" panose="02010609060101010101" charset="-122"/>
                <a:cs typeface="Times New Roman" panose="02020603050405020304" charset="0"/>
              </a:rPr>
              <a:t>】如图所示，绷紧的水平传送带足够长，始终以恒定速率</a:t>
            </a:r>
            <a:r>
              <a:rPr lang="zh-CN" altLang="en-US" sz="2700" i="1">
                <a:solidFill>
                  <a:schemeClr val="tx1"/>
                </a:solidFill>
                <a:latin typeface="Times New Roman" panose="02020603050405020304" charset="0"/>
                <a:ea typeface="黑体" panose="02010609060101010101" charset="-122"/>
                <a:cs typeface="Times New Roman" panose="02020603050405020304" charset="0"/>
              </a:rPr>
              <a:t>v</a:t>
            </a:r>
            <a:r>
              <a:rPr lang="zh-CN" altLang="en-US" sz="2700" baseline="-25000">
                <a:solidFill>
                  <a:schemeClr val="tx1"/>
                </a:solidFill>
                <a:latin typeface="Times New Roman" panose="02020603050405020304" charset="0"/>
                <a:ea typeface="黑体" panose="02010609060101010101" charset="-122"/>
                <a:cs typeface="Times New Roman" panose="02020603050405020304" charset="0"/>
              </a:rPr>
              <a:t>1</a:t>
            </a:r>
            <a:r>
              <a:rPr lang="zh-CN" altLang="en-US" sz="2700">
                <a:solidFill>
                  <a:schemeClr val="tx1"/>
                </a:solidFill>
                <a:latin typeface="Times New Roman" panose="02020603050405020304" charset="0"/>
                <a:ea typeface="黑体" panose="02010609060101010101" charset="-122"/>
                <a:cs typeface="Times New Roman" panose="02020603050405020304" charset="0"/>
              </a:rPr>
              <a:t>＝2 m/s沿顺时针方向运行。初速度为</a:t>
            </a:r>
            <a:r>
              <a:rPr lang="zh-CN" altLang="en-US" sz="2700" i="1">
                <a:solidFill>
                  <a:schemeClr val="tx1"/>
                </a:solidFill>
                <a:latin typeface="Times New Roman" panose="02020603050405020304" charset="0"/>
                <a:ea typeface="黑体" panose="02010609060101010101" charset="-122"/>
                <a:cs typeface="Times New Roman" panose="02020603050405020304" charset="0"/>
              </a:rPr>
              <a:t>v</a:t>
            </a:r>
            <a:r>
              <a:rPr lang="zh-CN" altLang="en-US" sz="2700" baseline="-25000">
                <a:solidFill>
                  <a:schemeClr val="tx1"/>
                </a:solidFill>
                <a:latin typeface="Times New Roman" panose="02020603050405020304" charset="0"/>
                <a:ea typeface="黑体" panose="02010609060101010101" charset="-122"/>
                <a:cs typeface="Times New Roman" panose="02020603050405020304" charset="0"/>
              </a:rPr>
              <a:t>2</a:t>
            </a:r>
            <a:r>
              <a:rPr lang="zh-CN" altLang="en-US" sz="2700">
                <a:solidFill>
                  <a:schemeClr val="tx1"/>
                </a:solidFill>
                <a:latin typeface="Times New Roman" panose="02020603050405020304" charset="0"/>
                <a:ea typeface="黑体" panose="02010609060101010101" charset="-122"/>
                <a:cs typeface="Times New Roman" panose="02020603050405020304" charset="0"/>
              </a:rPr>
              <a:t>＝4 m/s的小物块从与传送带等高的光滑水平地面上的A处滑上传送带，小物块与传送带之间的动摩擦因数为</a:t>
            </a:r>
            <a:r>
              <a:rPr lang="zh-CN" altLang="en-US" sz="2700" i="1">
                <a:solidFill>
                  <a:schemeClr val="tx1"/>
                </a:solidFill>
                <a:latin typeface="Times New Roman" panose="02020603050405020304" charset="0"/>
                <a:ea typeface="黑体" panose="02010609060101010101" charset="-122"/>
                <a:cs typeface="Times New Roman" panose="02020603050405020304" charset="0"/>
              </a:rPr>
              <a:t>μ</a:t>
            </a:r>
            <a:r>
              <a:rPr lang="zh-CN" altLang="en-US" sz="2700">
                <a:solidFill>
                  <a:schemeClr val="tx1"/>
                </a:solidFill>
                <a:latin typeface="Times New Roman" panose="02020603050405020304" charset="0"/>
                <a:ea typeface="黑体" panose="02010609060101010101" charset="-122"/>
                <a:cs typeface="Times New Roman" panose="02020603050405020304" charset="0"/>
              </a:rPr>
              <a:t>＝0.2，若从小物块滑上传送带开始计时，求：</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zh-CN" altLang="en-US" sz="2700">
                <a:solidFill>
                  <a:schemeClr val="tx1"/>
                </a:solidFill>
                <a:latin typeface="Times New Roman" panose="02020603050405020304" charset="0"/>
                <a:ea typeface="黑体" panose="02010609060101010101" charset="-122"/>
                <a:cs typeface="Times New Roman" panose="02020603050405020304" charset="0"/>
              </a:rPr>
              <a:t>(1)小物块在传送带上滑行的最远距离；</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zh-CN" altLang="en-US" sz="2700">
                <a:solidFill>
                  <a:schemeClr val="tx1"/>
                </a:solidFill>
                <a:latin typeface="Times New Roman" panose="02020603050405020304" charset="0"/>
                <a:ea typeface="黑体" panose="02010609060101010101" charset="-122"/>
                <a:cs typeface="Times New Roman" panose="02020603050405020304" charset="0"/>
              </a:rPr>
              <a:t>(2)小物块从A处出发再回到A处所用的时间。</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p:txBody>
      </p:sp>
      <p:pic>
        <p:nvPicPr>
          <p:cNvPr id="100019" name="图片 100019" title=""/>
          <p:cNvPicPr>
            <a:picLocks noChangeAspect="1"/>
          </p:cNvPicPr>
          <p:nvPr>
            <p:custDataLst>
              <p:tags r:id="rId6"/>
            </p:custDataLst>
          </p:nvPr>
        </p:nvPicPr>
        <p:blipFill>
          <a:blip r:embed="rId5"/>
          <a:stretch>
            <a:fillRect/>
          </a:stretch>
        </p:blipFill>
        <p:spPr>
          <a:xfrm>
            <a:off x="7460615" y="3159760"/>
            <a:ext cx="3986530" cy="1363980"/>
          </a:xfrm>
          <a:prstGeom prst="rect">
            <a:avLst/>
          </a:prstGeom>
        </p:spPr>
      </p:pic>
      <p:pic>
        <p:nvPicPr>
          <p:cNvPr id="2" name="Picture 2"/>
          <p:cNvPicPr>
            <a:picLocks noChangeAspect="1"/>
          </p:cNvPicPr>
          <p:nvPr>
            <p:custDataLst>
              <p:tags r:id="rId8"/>
            </p:custDataLst>
          </p:nvPr>
        </p:nvPicPr>
        <p:blipFill>
          <a:blip r:embed="rId7"/>
          <a:stretch>
            <a:fillRect/>
          </a:stretch>
        </p:blipFill>
        <p:spPr>
          <a:xfrm flipH="1">
            <a:off x="10185400" y="10210800"/>
            <a:ext cx="0" cy="0"/>
          </a:xfrm>
          <a:prstGeom prst="rect">
            <a:avLst/>
          </a:prstGeom>
          <a:ln>
            <a:noFill/>
          </a:ln>
        </p:spPr>
      </p:pic>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思考与讨论</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sp>
        <p:nvSpPr>
          <p:cNvPr id="2" name="文本框 1" title=""/>
          <p:cNvSpPr txBox="1"/>
          <p:nvPr>
            <p:custDataLst>
              <p:tags r:id="rId4"/>
            </p:custDataLst>
          </p:nvPr>
        </p:nvSpPr>
        <p:spPr>
          <a:xfrm>
            <a:off x="242570" y="956310"/>
            <a:ext cx="11483340" cy="2112010"/>
          </a:xfrm>
          <a:prstGeom prst="rect">
            <a:avLst/>
          </a:prstGeom>
          <a:noFill/>
        </p:spPr>
        <p:txBody>
          <a:bodyPr wrap="square" rtlCol="0" anchor="t">
            <a:noAutofit/>
          </a:bodyPr>
          <a:lstStyle/>
          <a:p>
            <a:pPr>
              <a:lnSpc>
                <a:spcPct val="150000"/>
              </a:lnSpc>
            </a:pPr>
            <a:r>
              <a:rPr lang="en-US" sz="2700">
                <a:solidFill>
                  <a:schemeClr val="tx1"/>
                </a:solidFill>
                <a:latin typeface="Times New Roman" panose="02020603050405020304" charset="0"/>
                <a:ea typeface="黑体" panose="02010609060101010101" charset="-122"/>
                <a:cs typeface="Times New Roman" panose="02020603050405020304" charset="0"/>
              </a:rPr>
              <a:t>(1)</a:t>
            </a:r>
            <a:r>
              <a:rPr lang="zh-CN" altLang="en-US" sz="2700">
                <a:solidFill>
                  <a:schemeClr val="tx1"/>
                </a:solidFill>
                <a:latin typeface="Times New Roman" panose="02020603050405020304" charset="0"/>
                <a:ea typeface="黑体" panose="02010609060101010101" charset="-122"/>
                <a:cs typeface="Times New Roman" panose="02020603050405020304" charset="0"/>
              </a:rPr>
              <a:t>物块滑上传送带上后，所受的合外力多大？物块的加速度多大？</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(2)</a:t>
            </a:r>
            <a:r>
              <a:rPr lang="zh-CN" altLang="en-US" sz="2700">
                <a:solidFill>
                  <a:schemeClr val="tx1"/>
                </a:solidFill>
                <a:latin typeface="Times New Roman" panose="02020603050405020304" charset="0"/>
                <a:ea typeface="黑体" panose="02010609060101010101" charset="-122"/>
                <a:cs typeface="Times New Roman" panose="02020603050405020304" charset="0"/>
              </a:rPr>
              <a:t>物块开始做何种运动？</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(3)</a:t>
            </a:r>
            <a:r>
              <a:rPr lang="zh-CN" altLang="en-US" sz="2700">
                <a:solidFill>
                  <a:schemeClr val="tx1"/>
                </a:solidFill>
                <a:latin typeface="Times New Roman" panose="02020603050405020304" charset="0"/>
                <a:ea typeface="黑体" panose="02010609060101010101" charset="-122"/>
                <a:cs typeface="Times New Roman" panose="02020603050405020304" charset="0"/>
              </a:rPr>
              <a:t>当物块的速度向左减为零时经历多长时间？位移多大？</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p:txBody>
      </p:sp>
      <p:pic>
        <p:nvPicPr>
          <p:cNvPr id="100019" name="图片 100019" title=""/>
          <p:cNvPicPr>
            <a:picLocks noChangeAspect="1"/>
          </p:cNvPicPr>
          <p:nvPr>
            <p:custDataLst>
              <p:tags r:id="rId6"/>
            </p:custDataLst>
          </p:nvPr>
        </p:nvPicPr>
        <p:blipFill>
          <a:blip r:embed="rId5"/>
          <a:stretch>
            <a:fillRect/>
          </a:stretch>
        </p:blipFill>
        <p:spPr>
          <a:xfrm>
            <a:off x="7360920" y="3153410"/>
            <a:ext cx="3986530" cy="1363980"/>
          </a:xfrm>
          <a:prstGeom prst="rect">
            <a:avLst/>
          </a:prstGeom>
        </p:spPr>
      </p:pic>
    </p:spTree>
  </p:cSld>
  <p:clrMapOvr>
    <a:masterClrMapping/>
  </p:clrMapOvr>
  <p:transition/>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思考与讨论</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sp>
        <p:nvSpPr>
          <p:cNvPr id="2" name="文本框 1" title=""/>
          <p:cNvSpPr txBox="1"/>
          <p:nvPr>
            <p:custDataLst>
              <p:tags r:id="rId4"/>
            </p:custDataLst>
          </p:nvPr>
        </p:nvSpPr>
        <p:spPr>
          <a:xfrm>
            <a:off x="242570" y="956310"/>
            <a:ext cx="11367135" cy="2678430"/>
          </a:xfrm>
          <a:prstGeom prst="rect">
            <a:avLst/>
          </a:prstGeom>
          <a:noFill/>
        </p:spPr>
        <p:txBody>
          <a:bodyPr wrap="square" rtlCol="0" anchor="t">
            <a:noAutofit/>
          </a:bodyPr>
          <a:lstStyle/>
          <a:p>
            <a:pPr>
              <a:lnSpc>
                <a:spcPct val="150000"/>
              </a:lnSpc>
            </a:pPr>
            <a:r>
              <a:rPr lang="en-US" sz="2700">
                <a:solidFill>
                  <a:schemeClr val="tx1"/>
                </a:solidFill>
                <a:latin typeface="Times New Roman" panose="02020603050405020304" charset="0"/>
                <a:ea typeface="黑体" panose="02010609060101010101" charset="-122"/>
                <a:cs typeface="Times New Roman" panose="02020603050405020304" charset="0"/>
              </a:rPr>
              <a:t>(4)</a:t>
            </a:r>
            <a:r>
              <a:rPr lang="zh-CN" altLang="en-US" sz="2700">
                <a:solidFill>
                  <a:schemeClr val="tx1"/>
                </a:solidFill>
                <a:latin typeface="Times New Roman" panose="02020603050405020304" charset="0"/>
                <a:ea typeface="黑体" panose="02010609060101010101" charset="-122"/>
                <a:cs typeface="Times New Roman" panose="02020603050405020304" charset="0"/>
              </a:rPr>
              <a:t>当物块的速度向左减为零时，物块是否处于静止状态？</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(5)</a:t>
            </a:r>
            <a:r>
              <a:rPr lang="zh-CN" altLang="en-US" sz="2700">
                <a:solidFill>
                  <a:schemeClr val="tx1"/>
                </a:solidFill>
                <a:latin typeface="Times New Roman" panose="02020603050405020304" charset="0"/>
                <a:ea typeface="黑体" panose="02010609060101010101" charset="-122"/>
                <a:cs typeface="Times New Roman" panose="02020603050405020304" charset="0"/>
              </a:rPr>
              <a:t>若物块不静止，那么它将做何种运动？</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(6)</a:t>
            </a:r>
            <a:r>
              <a:rPr lang="zh-CN" altLang="en-US" sz="2700">
                <a:solidFill>
                  <a:schemeClr val="tx1"/>
                </a:solidFill>
                <a:latin typeface="Times New Roman" panose="02020603050405020304" charset="0"/>
                <a:ea typeface="黑体" panose="02010609060101010101" charset="-122"/>
                <a:cs typeface="Times New Roman" panose="02020603050405020304" charset="0"/>
              </a:rPr>
              <a:t>从静止开始，</a:t>
            </a:r>
            <a:r>
              <a:rPr lang="zh-CN" altLang="en-US" sz="2700">
                <a:latin typeface="Times New Roman" panose="02020603050405020304" charset="0"/>
                <a:ea typeface="黑体" panose="02010609060101010101" charset="-122"/>
                <a:cs typeface="Times New Roman" panose="02020603050405020304" charset="0"/>
                <a:sym typeface="+mn-ea"/>
              </a:rPr>
              <a:t>物块</a:t>
            </a:r>
            <a:r>
              <a:rPr lang="zh-CN" altLang="en-US" sz="2700">
                <a:solidFill>
                  <a:schemeClr val="tx1"/>
                </a:solidFill>
                <a:latin typeface="Times New Roman" panose="02020603050405020304" charset="0"/>
                <a:ea typeface="黑体" panose="02010609060101010101" charset="-122"/>
                <a:cs typeface="Times New Roman" panose="02020603050405020304" charset="0"/>
              </a:rPr>
              <a:t>速度和传送带速度相同时，经历多长时间？此时位移多大？这段位移与物块向左运动的位移相比，哪段大？</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p:txBody>
      </p:sp>
      <p:pic>
        <p:nvPicPr>
          <p:cNvPr id="100019" name="图片 100019" title=""/>
          <p:cNvPicPr>
            <a:picLocks noChangeAspect="1"/>
          </p:cNvPicPr>
          <p:nvPr>
            <p:custDataLst>
              <p:tags r:id="rId6"/>
            </p:custDataLst>
          </p:nvPr>
        </p:nvPicPr>
        <p:blipFill>
          <a:blip r:embed="rId5"/>
          <a:stretch>
            <a:fillRect/>
          </a:stretch>
        </p:blipFill>
        <p:spPr>
          <a:xfrm>
            <a:off x="7623175" y="3869690"/>
            <a:ext cx="3986530" cy="1363980"/>
          </a:xfrm>
          <a:prstGeom prst="rect">
            <a:avLst/>
          </a:prstGeom>
        </p:spPr>
      </p:pic>
    </p:spTree>
  </p:cSld>
  <p:clrMapOvr>
    <a:masterClrMapping/>
  </p:clrMapOvr>
  <p:transition/>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思考与讨论</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sp>
        <p:nvSpPr>
          <p:cNvPr id="2" name="文本框 1" title=""/>
          <p:cNvSpPr txBox="1"/>
          <p:nvPr>
            <p:custDataLst>
              <p:tags r:id="rId4"/>
            </p:custDataLst>
          </p:nvPr>
        </p:nvSpPr>
        <p:spPr>
          <a:xfrm>
            <a:off x="242570" y="956310"/>
            <a:ext cx="11312525" cy="1962150"/>
          </a:xfrm>
          <a:prstGeom prst="rect">
            <a:avLst/>
          </a:prstGeom>
          <a:noFill/>
        </p:spPr>
        <p:txBody>
          <a:bodyPr wrap="square" rtlCol="0" anchor="t">
            <a:noAutofit/>
          </a:bodyPr>
          <a:lstStyle/>
          <a:p>
            <a:pPr>
              <a:lnSpc>
                <a:spcPct val="150000"/>
              </a:lnSpc>
            </a:pPr>
            <a:r>
              <a:rPr lang="en-US" sz="2700">
                <a:solidFill>
                  <a:schemeClr val="tx1"/>
                </a:solidFill>
                <a:latin typeface="Times New Roman" panose="02020603050405020304" charset="0"/>
                <a:ea typeface="黑体" panose="02010609060101010101" charset="-122"/>
                <a:cs typeface="Times New Roman" panose="02020603050405020304" charset="0"/>
              </a:rPr>
              <a:t>(7)</a:t>
            </a:r>
            <a:r>
              <a:rPr lang="zh-CN" altLang="en-US" sz="2700">
                <a:solidFill>
                  <a:schemeClr val="tx1"/>
                </a:solidFill>
                <a:latin typeface="Times New Roman" panose="02020603050405020304" charset="0"/>
                <a:ea typeface="黑体" panose="02010609060101010101" charset="-122"/>
                <a:cs typeface="Times New Roman" panose="02020603050405020304" charset="0"/>
              </a:rPr>
              <a:t>物块与传送带速度相同后，将做何种运动？再经多长时间滑离传送带？</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(8)</a:t>
            </a:r>
            <a:r>
              <a:rPr lang="zh-CN" altLang="en-US" sz="2700">
                <a:solidFill>
                  <a:schemeClr val="tx1"/>
                </a:solidFill>
                <a:latin typeface="Times New Roman" panose="02020603050405020304" charset="0"/>
                <a:ea typeface="黑体" panose="02010609060101010101" charset="-122"/>
                <a:cs typeface="Times New Roman" panose="02020603050405020304" charset="0"/>
              </a:rPr>
              <a:t>若规定向左为正方向，你是否可以绘制一下物块的</a:t>
            </a:r>
            <a:r>
              <a:rPr lang="en-US" altLang="zh-CN" sz="2700" i="1">
                <a:solidFill>
                  <a:schemeClr val="tx1"/>
                </a:solidFill>
                <a:latin typeface="Times New Roman" panose="02020603050405020304" charset="0"/>
                <a:ea typeface="黑体" panose="02010609060101010101" charset="-122"/>
                <a:cs typeface="Times New Roman" panose="02020603050405020304" charset="0"/>
              </a:rPr>
              <a:t>v-t</a:t>
            </a:r>
            <a:r>
              <a:rPr lang="zh-CN" altLang="en-US" sz="2700">
                <a:solidFill>
                  <a:schemeClr val="tx1"/>
                </a:solidFill>
                <a:latin typeface="Times New Roman" panose="02020603050405020304" charset="0"/>
                <a:ea typeface="黑体" panose="02010609060101010101" charset="-122"/>
                <a:cs typeface="Times New Roman" panose="02020603050405020304" charset="0"/>
              </a:rPr>
              <a:t>图像呢？</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p:txBody>
      </p:sp>
      <p:pic>
        <p:nvPicPr>
          <p:cNvPr id="100019" name="图片 100019" title=""/>
          <p:cNvPicPr>
            <a:picLocks noChangeAspect="1"/>
          </p:cNvPicPr>
          <p:nvPr>
            <p:custDataLst>
              <p:tags r:id="rId6"/>
            </p:custDataLst>
          </p:nvPr>
        </p:nvPicPr>
        <p:blipFill>
          <a:blip r:embed="rId5"/>
          <a:stretch>
            <a:fillRect/>
          </a:stretch>
        </p:blipFill>
        <p:spPr>
          <a:xfrm>
            <a:off x="7623175" y="2747010"/>
            <a:ext cx="3986530" cy="1363980"/>
          </a:xfrm>
          <a:prstGeom prst="rect">
            <a:avLst/>
          </a:prstGeom>
        </p:spPr>
      </p:pic>
    </p:spTree>
  </p:cSld>
  <p:clrMapOvr>
    <a:masterClrMapping/>
  </p:clrMapOvr>
  <p:transition/>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拓展与突破</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sp>
        <p:nvSpPr>
          <p:cNvPr id="2" name="文本框 1" title=""/>
          <p:cNvSpPr txBox="1"/>
          <p:nvPr>
            <p:custDataLst>
              <p:tags r:id="rId4"/>
            </p:custDataLst>
          </p:nvPr>
        </p:nvSpPr>
        <p:spPr>
          <a:xfrm>
            <a:off x="242570" y="956310"/>
            <a:ext cx="11487150" cy="2110740"/>
          </a:xfrm>
          <a:prstGeom prst="rect">
            <a:avLst/>
          </a:prstGeom>
          <a:noFill/>
        </p:spPr>
        <p:txBody>
          <a:bodyPr wrap="square" rtlCol="0" anchor="t">
            <a:noAutofit/>
          </a:bodyPr>
          <a:lstStyle/>
          <a:p>
            <a:pPr>
              <a:lnSpc>
                <a:spcPct val="150000"/>
              </a:lnSpc>
            </a:pPr>
            <a:r>
              <a:rPr lang="zh-CN" sz="2700">
                <a:solidFill>
                  <a:schemeClr val="tx1"/>
                </a:solidFill>
                <a:latin typeface="Times New Roman" panose="02020603050405020304" charset="0"/>
                <a:ea typeface="黑体" panose="02010609060101010101" charset="-122"/>
                <a:cs typeface="Times New Roman" panose="02020603050405020304" charset="0"/>
              </a:rPr>
              <a:t>若初速度为</a:t>
            </a:r>
            <a:r>
              <a:rPr lang="zh-CN" sz="2700" i="1">
                <a:solidFill>
                  <a:schemeClr val="tx1"/>
                </a:solidFill>
                <a:latin typeface="Times New Roman" panose="02020603050405020304" charset="0"/>
                <a:ea typeface="黑体" panose="02010609060101010101" charset="-122"/>
                <a:cs typeface="Times New Roman" panose="02020603050405020304" charset="0"/>
              </a:rPr>
              <a:t>v</a:t>
            </a:r>
            <a:r>
              <a:rPr lang="zh-CN" sz="2700" baseline="-25000">
                <a:solidFill>
                  <a:schemeClr val="tx1"/>
                </a:solidFill>
                <a:latin typeface="Times New Roman" panose="02020603050405020304" charset="0"/>
                <a:ea typeface="黑体" panose="02010609060101010101" charset="-122"/>
                <a:cs typeface="Times New Roman" panose="02020603050405020304" charset="0"/>
              </a:rPr>
              <a:t>2</a:t>
            </a:r>
            <a:r>
              <a:rPr lang="zh-CN" sz="2700">
                <a:solidFill>
                  <a:schemeClr val="tx1"/>
                </a:solidFill>
                <a:latin typeface="Times New Roman" panose="02020603050405020304" charset="0"/>
                <a:ea typeface="黑体" panose="02010609060101010101" charset="-122"/>
                <a:cs typeface="Times New Roman" panose="02020603050405020304" charset="0"/>
              </a:rPr>
              <a:t>＝</a:t>
            </a:r>
            <a:r>
              <a:rPr lang="en-US" altLang="zh-CN" sz="2700">
                <a:solidFill>
                  <a:schemeClr val="tx1"/>
                </a:solidFill>
                <a:latin typeface="Times New Roman" panose="02020603050405020304" charset="0"/>
                <a:ea typeface="黑体" panose="02010609060101010101" charset="-122"/>
                <a:cs typeface="Times New Roman" panose="02020603050405020304" charset="0"/>
              </a:rPr>
              <a:t>1</a:t>
            </a:r>
            <a:r>
              <a:rPr lang="zh-CN" sz="2700">
                <a:solidFill>
                  <a:schemeClr val="tx1"/>
                </a:solidFill>
                <a:latin typeface="Times New Roman" panose="02020603050405020304" charset="0"/>
                <a:ea typeface="黑体" panose="02010609060101010101" charset="-122"/>
                <a:cs typeface="Times New Roman" panose="02020603050405020304" charset="0"/>
              </a:rPr>
              <a:t> m/s，则小物块从A处出发再回到A处所用的时间？</a:t>
            </a:r>
            <a:endParaRPr lang="zh-CN"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(1)</a:t>
            </a:r>
            <a:r>
              <a:rPr lang="zh-CN" sz="2700">
                <a:solidFill>
                  <a:schemeClr val="tx1"/>
                </a:solidFill>
                <a:latin typeface="Times New Roman" panose="02020603050405020304" charset="0"/>
                <a:ea typeface="黑体" panose="02010609060101010101" charset="-122"/>
                <a:cs typeface="Times New Roman" panose="02020603050405020304" charset="0"/>
              </a:rPr>
              <a:t>此种情况小物块经历的过程是否和第一种情况相同？</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(2)</a:t>
            </a:r>
            <a:r>
              <a:rPr lang="zh-CN" altLang="en-US" sz="2700">
                <a:solidFill>
                  <a:schemeClr val="tx1"/>
                </a:solidFill>
                <a:latin typeface="Times New Roman" panose="02020603050405020304" charset="0"/>
                <a:ea typeface="黑体" panose="02010609060101010101" charset="-122"/>
                <a:cs typeface="Times New Roman" panose="02020603050405020304" charset="0"/>
              </a:rPr>
              <a:t>你是否能够做出分析说明，并绘制小物块的</a:t>
            </a:r>
            <a:r>
              <a:rPr lang="en-US" altLang="zh-CN" sz="2700" i="1">
                <a:solidFill>
                  <a:schemeClr val="tx1"/>
                </a:solidFill>
                <a:latin typeface="Times New Roman" panose="02020603050405020304" charset="0"/>
                <a:ea typeface="黑体" panose="02010609060101010101" charset="-122"/>
                <a:cs typeface="Times New Roman" panose="02020603050405020304" charset="0"/>
              </a:rPr>
              <a:t>v-t</a:t>
            </a:r>
            <a:r>
              <a:rPr lang="zh-CN" altLang="en-US" sz="2700">
                <a:solidFill>
                  <a:schemeClr val="tx1"/>
                </a:solidFill>
                <a:latin typeface="Times New Roman" panose="02020603050405020304" charset="0"/>
                <a:ea typeface="黑体" panose="02010609060101010101" charset="-122"/>
                <a:cs typeface="Times New Roman" panose="02020603050405020304" charset="0"/>
              </a:rPr>
              <a:t>图像呢？</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p:txBody>
      </p:sp>
      <p:pic>
        <p:nvPicPr>
          <p:cNvPr id="100019" name="图片 100019" title=""/>
          <p:cNvPicPr>
            <a:picLocks noChangeAspect="1"/>
          </p:cNvPicPr>
          <p:nvPr>
            <p:custDataLst>
              <p:tags r:id="rId6"/>
            </p:custDataLst>
          </p:nvPr>
        </p:nvPicPr>
        <p:blipFill>
          <a:blip r:embed="rId5"/>
          <a:stretch>
            <a:fillRect/>
          </a:stretch>
        </p:blipFill>
        <p:spPr>
          <a:xfrm>
            <a:off x="7623175" y="2747010"/>
            <a:ext cx="3986530" cy="1363980"/>
          </a:xfrm>
          <a:prstGeom prst="rect">
            <a:avLst/>
          </a:prstGeom>
        </p:spPr>
      </p:pic>
    </p:spTree>
  </p:cSld>
  <p:clrMapOvr>
    <a:masterClrMapping/>
  </p:clrMapOvr>
  <p:transition/>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pic>
        <p:nvPicPr>
          <p:cNvPr id="2" name="图片 15" title=""/>
          <p:cNvPicPr>
            <a:picLocks noChangeAspect="1"/>
          </p:cNvPicPr>
          <p:nvPr>
            <p:custDataLst>
              <p:tags r:id="rId4"/>
            </p:custDataLst>
          </p:nvPr>
        </p:nvPicPr>
        <p:blipFill>
          <a:blip r:embed="rId3"/>
          <a:stretch>
            <a:fillRect/>
          </a:stretch>
        </p:blipFill>
        <p:spPr>
          <a:xfrm>
            <a:off x="362585" y="1079500"/>
            <a:ext cx="11487785" cy="3048000"/>
          </a:xfrm>
          <a:prstGeom prst="rect">
            <a:avLst/>
          </a:prstGeom>
          <a:noFill/>
          <a:ln>
            <a:noFill/>
          </a:ln>
        </p:spPr>
      </p:pic>
      <p:sp>
        <p:nvSpPr>
          <p:cNvPr id="27" name="文本框 26" title=""/>
          <p:cNvSpPr txBox="1"/>
          <p:nvPr>
            <p:custDataLst>
              <p:tags r:id="rId5"/>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二、倾斜传送带问题</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pic>
        <p:nvPicPr>
          <p:cNvPr id="100021" name="图片 100021" title=""/>
          <p:cNvPicPr>
            <a:picLocks noChangeAspect="1"/>
          </p:cNvPicPr>
          <p:nvPr>
            <p:custDataLst>
              <p:tags r:id="rId7"/>
            </p:custDataLst>
          </p:nvPr>
        </p:nvPicPr>
        <p:blipFill>
          <a:blip r:embed="rId6"/>
          <a:stretch>
            <a:fillRect/>
          </a:stretch>
        </p:blipFill>
        <p:spPr>
          <a:xfrm>
            <a:off x="8739823" y="2386013"/>
            <a:ext cx="2695575" cy="1647825"/>
          </a:xfrm>
          <a:prstGeom prst="rect">
            <a:avLst/>
          </a:prstGeom>
        </p:spPr>
      </p:pic>
    </p:spTree>
  </p:cSld>
  <p:clrMapOvr>
    <a:masterClrMapping/>
  </p:clrMapOvr>
  <p:transition/>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思考与讨论</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sp>
        <p:nvSpPr>
          <p:cNvPr id="2" name="文本框 1" title=""/>
          <p:cNvSpPr txBox="1"/>
          <p:nvPr>
            <p:custDataLst>
              <p:tags r:id="rId4"/>
            </p:custDataLst>
          </p:nvPr>
        </p:nvSpPr>
        <p:spPr>
          <a:xfrm>
            <a:off x="242570" y="956310"/>
            <a:ext cx="11483340" cy="2112010"/>
          </a:xfrm>
          <a:prstGeom prst="rect">
            <a:avLst/>
          </a:prstGeom>
          <a:noFill/>
        </p:spPr>
        <p:txBody>
          <a:bodyPr wrap="square" rtlCol="0" anchor="t">
            <a:noAutofit/>
          </a:bodyPr>
          <a:lstStyle/>
          <a:p>
            <a:pPr>
              <a:lnSpc>
                <a:spcPct val="150000"/>
              </a:lnSpc>
            </a:pPr>
            <a:r>
              <a:rPr lang="en-US" sz="2700">
                <a:solidFill>
                  <a:schemeClr val="tx1"/>
                </a:solidFill>
                <a:latin typeface="Times New Roman" panose="02020603050405020304" charset="0"/>
                <a:ea typeface="黑体" panose="02010609060101010101" charset="-122"/>
                <a:cs typeface="Times New Roman" panose="02020603050405020304" charset="0"/>
              </a:rPr>
              <a:t>(1)</a:t>
            </a:r>
            <a:r>
              <a:rPr lang="zh-CN" altLang="en-US" sz="2700">
                <a:solidFill>
                  <a:schemeClr val="tx1"/>
                </a:solidFill>
                <a:latin typeface="Times New Roman" panose="02020603050405020304" charset="0"/>
                <a:ea typeface="黑体" panose="02010609060101010101" charset="-122"/>
                <a:cs typeface="Times New Roman" panose="02020603050405020304" charset="0"/>
              </a:rPr>
              <a:t>物体无初速度放在传送带上后，受到几个力？物块的加速度多大？</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(2)</a:t>
            </a:r>
            <a:r>
              <a:rPr lang="zh-CN" altLang="en-US" sz="2700">
                <a:solidFill>
                  <a:schemeClr val="tx1"/>
                </a:solidFill>
                <a:latin typeface="Times New Roman" panose="02020603050405020304" charset="0"/>
                <a:ea typeface="黑体" panose="02010609060101010101" charset="-122"/>
                <a:cs typeface="Times New Roman" panose="02020603050405020304" charset="0"/>
              </a:rPr>
              <a:t>物</a:t>
            </a:r>
            <a:r>
              <a:rPr lang="zh-CN" altLang="en-US" sz="2700">
                <a:latin typeface="Times New Roman" panose="02020603050405020304" charset="0"/>
                <a:ea typeface="黑体" panose="02010609060101010101" charset="-122"/>
                <a:cs typeface="Times New Roman" panose="02020603050405020304" charset="0"/>
                <a:sym typeface="+mn-ea"/>
              </a:rPr>
              <a:t>体</a:t>
            </a:r>
            <a:r>
              <a:rPr lang="zh-CN" altLang="en-US" sz="2700">
                <a:solidFill>
                  <a:schemeClr val="tx1"/>
                </a:solidFill>
                <a:latin typeface="Times New Roman" panose="02020603050405020304" charset="0"/>
                <a:ea typeface="黑体" panose="02010609060101010101" charset="-122"/>
                <a:cs typeface="Times New Roman" panose="02020603050405020304" charset="0"/>
              </a:rPr>
              <a:t>开始做何种运动？</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(3)</a:t>
            </a:r>
            <a:r>
              <a:rPr lang="zh-CN" altLang="en-US" sz="2700">
                <a:solidFill>
                  <a:schemeClr val="tx1"/>
                </a:solidFill>
                <a:latin typeface="Times New Roman" panose="02020603050405020304" charset="0"/>
                <a:ea typeface="黑体" panose="02010609060101010101" charset="-122"/>
                <a:cs typeface="Times New Roman" panose="02020603050405020304" charset="0"/>
              </a:rPr>
              <a:t>当物</a:t>
            </a:r>
            <a:r>
              <a:rPr lang="zh-CN" altLang="en-US" sz="2700">
                <a:latin typeface="Times New Roman" panose="02020603050405020304" charset="0"/>
                <a:ea typeface="黑体" panose="02010609060101010101" charset="-122"/>
                <a:cs typeface="Times New Roman" panose="02020603050405020304" charset="0"/>
                <a:sym typeface="+mn-ea"/>
              </a:rPr>
              <a:t>体</a:t>
            </a:r>
            <a:r>
              <a:rPr lang="zh-CN" altLang="en-US" sz="2700">
                <a:solidFill>
                  <a:schemeClr val="tx1"/>
                </a:solidFill>
                <a:latin typeface="Times New Roman" panose="02020603050405020304" charset="0"/>
                <a:ea typeface="黑体" panose="02010609060101010101" charset="-122"/>
                <a:cs typeface="Times New Roman" panose="02020603050405020304" charset="0"/>
              </a:rPr>
              <a:t>的速度加速到与传送带的速度相等时经历多长时间？位移多大？</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p:txBody>
      </p:sp>
      <p:pic>
        <p:nvPicPr>
          <p:cNvPr id="100021" name="图片 100021" title=""/>
          <p:cNvPicPr>
            <a:picLocks noChangeAspect="1"/>
          </p:cNvPicPr>
          <p:nvPr>
            <p:custDataLst>
              <p:tags r:id="rId6"/>
            </p:custDataLst>
          </p:nvPr>
        </p:nvPicPr>
        <p:blipFill>
          <a:blip r:embed="rId5"/>
          <a:stretch>
            <a:fillRect/>
          </a:stretch>
        </p:blipFill>
        <p:spPr>
          <a:xfrm>
            <a:off x="8918893" y="3428683"/>
            <a:ext cx="2695575" cy="1647825"/>
          </a:xfrm>
          <a:prstGeom prst="rect">
            <a:avLst/>
          </a:prstGeom>
        </p:spPr>
      </p:pic>
    </p:spTree>
  </p:cSld>
  <p:clrMapOvr>
    <a:masterClrMapping/>
  </p:clrMapOvr>
  <p:transition/>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思考与讨论</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sp>
        <p:nvSpPr>
          <p:cNvPr id="2" name="文本框 1" title=""/>
          <p:cNvSpPr txBox="1"/>
          <p:nvPr>
            <p:custDataLst>
              <p:tags r:id="rId4"/>
            </p:custDataLst>
          </p:nvPr>
        </p:nvSpPr>
        <p:spPr>
          <a:xfrm>
            <a:off x="242570" y="956310"/>
            <a:ext cx="11483340" cy="2102485"/>
          </a:xfrm>
          <a:prstGeom prst="rect">
            <a:avLst/>
          </a:prstGeom>
          <a:noFill/>
        </p:spPr>
        <p:txBody>
          <a:bodyPr wrap="square" rtlCol="0" anchor="t">
            <a:noAutofit/>
          </a:bodyPr>
          <a:lstStyle/>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(4)</a:t>
            </a:r>
            <a:r>
              <a:rPr lang="zh-CN" altLang="en-US" sz="2700">
                <a:solidFill>
                  <a:schemeClr val="tx1"/>
                </a:solidFill>
                <a:latin typeface="Times New Roman" panose="02020603050405020304" charset="0"/>
                <a:ea typeface="黑体" panose="02010609060101010101" charset="-122"/>
                <a:cs typeface="Times New Roman" panose="02020603050405020304" charset="0"/>
              </a:rPr>
              <a:t>当物块的速度和传送带速度相同时，物块是否还受传送带的摩擦力？</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(5)</a:t>
            </a:r>
            <a:r>
              <a:rPr lang="zh-CN" altLang="en-US" sz="2700">
                <a:solidFill>
                  <a:schemeClr val="tx1"/>
                </a:solidFill>
                <a:latin typeface="Times New Roman" panose="02020603050405020304" charset="0"/>
                <a:ea typeface="黑体" panose="02010609060101010101" charset="-122"/>
                <a:cs typeface="Times New Roman" panose="02020603050405020304" charset="0"/>
              </a:rPr>
              <a:t>物块和传送带速度相同后，物块将做何种运动？这一段经历的时间多长？</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(6)</a:t>
            </a:r>
            <a:r>
              <a:rPr lang="zh-CN" altLang="en-US" sz="2700">
                <a:solidFill>
                  <a:schemeClr val="tx1"/>
                </a:solidFill>
                <a:latin typeface="Times New Roman" panose="02020603050405020304" charset="0"/>
                <a:ea typeface="黑体" panose="02010609060101010101" charset="-122"/>
                <a:cs typeface="Times New Roman" panose="02020603050405020304" charset="0"/>
              </a:rPr>
              <a:t>你是否可以画一下物块在这个过程的</a:t>
            </a:r>
            <a:r>
              <a:rPr lang="en-US" altLang="zh-CN" sz="2700" i="1">
                <a:solidFill>
                  <a:schemeClr val="tx1"/>
                </a:solidFill>
                <a:latin typeface="Times New Roman" panose="02020603050405020304" charset="0"/>
                <a:ea typeface="黑体" panose="02010609060101010101" charset="-122"/>
                <a:cs typeface="Times New Roman" panose="02020603050405020304" charset="0"/>
              </a:rPr>
              <a:t>v-t</a:t>
            </a:r>
            <a:r>
              <a:rPr lang="zh-CN" altLang="en-US" sz="2700">
                <a:solidFill>
                  <a:schemeClr val="tx1"/>
                </a:solidFill>
                <a:latin typeface="Times New Roman" panose="02020603050405020304" charset="0"/>
                <a:ea typeface="黑体" panose="02010609060101010101" charset="-122"/>
                <a:cs typeface="Times New Roman" panose="02020603050405020304" charset="0"/>
              </a:rPr>
              <a:t>图像？</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p:txBody>
      </p:sp>
      <p:pic>
        <p:nvPicPr>
          <p:cNvPr id="100021" name="图片 100021" title=""/>
          <p:cNvPicPr>
            <a:picLocks noChangeAspect="1"/>
          </p:cNvPicPr>
          <p:nvPr>
            <p:custDataLst>
              <p:tags r:id="rId6"/>
            </p:custDataLst>
          </p:nvPr>
        </p:nvPicPr>
        <p:blipFill>
          <a:blip r:embed="rId5"/>
          <a:stretch>
            <a:fillRect/>
          </a:stretch>
        </p:blipFill>
        <p:spPr>
          <a:xfrm>
            <a:off x="8620443" y="3058478"/>
            <a:ext cx="2695575" cy="1647825"/>
          </a:xfrm>
          <a:prstGeom prst="rect">
            <a:avLst/>
          </a:prstGeom>
        </p:spPr>
      </p:pic>
    </p:spTree>
  </p:cSld>
  <p:clrMapOvr>
    <a:masterClrMapping/>
  </p:clrMapOvr>
  <p:transition/>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二、倾斜传送带问题</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pic>
        <p:nvPicPr>
          <p:cNvPr id="100023" name="图片 100023" title=""/>
          <p:cNvPicPr>
            <a:picLocks noChangeAspect="1"/>
          </p:cNvPicPr>
          <p:nvPr>
            <p:custDataLst>
              <p:tags r:id="rId5"/>
            </p:custDataLst>
          </p:nvPr>
        </p:nvPicPr>
        <p:blipFill>
          <a:blip r:embed="rId4"/>
          <a:stretch>
            <a:fillRect/>
          </a:stretch>
        </p:blipFill>
        <p:spPr>
          <a:xfrm>
            <a:off x="9252903" y="2941003"/>
            <a:ext cx="2066925" cy="1685925"/>
          </a:xfrm>
          <a:prstGeom prst="rect">
            <a:avLst/>
          </a:prstGeom>
        </p:spPr>
      </p:pic>
      <p:pic>
        <p:nvPicPr>
          <p:cNvPr id="3" name="图片 29" title=""/>
          <p:cNvPicPr>
            <a:picLocks noChangeAspect="1"/>
          </p:cNvPicPr>
          <p:nvPr>
            <p:custDataLst>
              <p:tags r:id="rId7"/>
            </p:custDataLst>
          </p:nvPr>
        </p:nvPicPr>
        <p:blipFill>
          <a:blip r:embed="rId6"/>
          <a:stretch>
            <a:fillRect/>
          </a:stretch>
        </p:blipFill>
        <p:spPr>
          <a:xfrm>
            <a:off x="312420" y="1053465"/>
            <a:ext cx="11586210" cy="1986280"/>
          </a:xfrm>
          <a:prstGeom prst="rect">
            <a:avLst/>
          </a:prstGeom>
          <a:noFill/>
          <a:ln>
            <a:noFill/>
          </a:ln>
        </p:spPr>
      </p:pic>
    </p:spTree>
  </p:cSld>
  <p:clrMapOvr>
    <a:masterClrMapping/>
  </p:clrMapOvr>
  <p:transition/>
  <p:timing/>
</p:sld>
</file>

<file path=ppt/slides/slide1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思考与讨论</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sp>
        <p:nvSpPr>
          <p:cNvPr id="2" name="文本框 1" title=""/>
          <p:cNvSpPr txBox="1"/>
          <p:nvPr>
            <p:custDataLst>
              <p:tags r:id="rId4"/>
            </p:custDataLst>
          </p:nvPr>
        </p:nvSpPr>
        <p:spPr>
          <a:xfrm>
            <a:off x="242570" y="956310"/>
            <a:ext cx="11483340" cy="2112010"/>
          </a:xfrm>
          <a:prstGeom prst="rect">
            <a:avLst/>
          </a:prstGeom>
          <a:noFill/>
        </p:spPr>
        <p:txBody>
          <a:bodyPr wrap="square" rtlCol="0" anchor="t">
            <a:noAutofit/>
          </a:bodyPr>
          <a:lstStyle/>
          <a:p>
            <a:pPr>
              <a:lnSpc>
                <a:spcPct val="150000"/>
              </a:lnSpc>
            </a:pPr>
            <a:r>
              <a:rPr lang="en-US" sz="2700">
                <a:solidFill>
                  <a:schemeClr val="tx1"/>
                </a:solidFill>
                <a:latin typeface="Times New Roman" panose="02020603050405020304" charset="0"/>
                <a:ea typeface="黑体" panose="02010609060101010101" charset="-122"/>
                <a:cs typeface="Times New Roman" panose="02020603050405020304" charset="0"/>
              </a:rPr>
              <a:t>(1)</a:t>
            </a:r>
            <a:r>
              <a:rPr lang="zh-CN" altLang="en-US" sz="2700">
                <a:solidFill>
                  <a:schemeClr val="tx1"/>
                </a:solidFill>
                <a:latin typeface="Times New Roman" panose="02020603050405020304" charset="0"/>
                <a:ea typeface="黑体" panose="02010609060101010101" charset="-122"/>
                <a:cs typeface="Times New Roman" panose="02020603050405020304" charset="0"/>
              </a:rPr>
              <a:t>物体无初速度放在传送带上后，受到几个力？物块的加速度多大？</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(2)</a:t>
            </a:r>
            <a:r>
              <a:rPr lang="zh-CN" altLang="en-US" sz="2700">
                <a:solidFill>
                  <a:schemeClr val="tx1"/>
                </a:solidFill>
                <a:latin typeface="Times New Roman" panose="02020603050405020304" charset="0"/>
                <a:ea typeface="黑体" panose="02010609060101010101" charset="-122"/>
                <a:cs typeface="Times New Roman" panose="02020603050405020304" charset="0"/>
              </a:rPr>
              <a:t>物</a:t>
            </a:r>
            <a:r>
              <a:rPr lang="zh-CN" altLang="en-US" sz="2700">
                <a:latin typeface="Times New Roman" panose="02020603050405020304" charset="0"/>
                <a:ea typeface="黑体" panose="02010609060101010101" charset="-122"/>
                <a:cs typeface="Times New Roman" panose="02020603050405020304" charset="0"/>
                <a:sym typeface="+mn-ea"/>
              </a:rPr>
              <a:t>体</a:t>
            </a:r>
            <a:r>
              <a:rPr lang="zh-CN" altLang="en-US" sz="2700">
                <a:solidFill>
                  <a:schemeClr val="tx1"/>
                </a:solidFill>
                <a:latin typeface="Times New Roman" panose="02020603050405020304" charset="0"/>
                <a:ea typeface="黑体" panose="02010609060101010101" charset="-122"/>
                <a:cs typeface="Times New Roman" panose="02020603050405020304" charset="0"/>
              </a:rPr>
              <a:t>开始做何种运动？</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(3)</a:t>
            </a:r>
            <a:r>
              <a:rPr lang="zh-CN" altLang="en-US" sz="2700">
                <a:solidFill>
                  <a:schemeClr val="tx1"/>
                </a:solidFill>
                <a:latin typeface="Times New Roman" panose="02020603050405020304" charset="0"/>
                <a:ea typeface="黑体" panose="02010609060101010101" charset="-122"/>
                <a:cs typeface="Times New Roman" panose="02020603050405020304" charset="0"/>
              </a:rPr>
              <a:t>当物</a:t>
            </a:r>
            <a:r>
              <a:rPr lang="zh-CN" altLang="en-US" sz="2700">
                <a:latin typeface="Times New Roman" panose="02020603050405020304" charset="0"/>
                <a:ea typeface="黑体" panose="02010609060101010101" charset="-122"/>
                <a:cs typeface="Times New Roman" panose="02020603050405020304" charset="0"/>
                <a:sym typeface="+mn-ea"/>
              </a:rPr>
              <a:t>体</a:t>
            </a:r>
            <a:r>
              <a:rPr lang="zh-CN" altLang="en-US" sz="2700">
                <a:solidFill>
                  <a:schemeClr val="tx1"/>
                </a:solidFill>
                <a:latin typeface="Times New Roman" panose="02020603050405020304" charset="0"/>
                <a:ea typeface="黑体" panose="02010609060101010101" charset="-122"/>
                <a:cs typeface="Times New Roman" panose="02020603050405020304" charset="0"/>
              </a:rPr>
              <a:t>的速度加速到与传送带的速度相等时经历多长时间？位移多大？</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p:txBody>
      </p:sp>
      <p:pic>
        <p:nvPicPr>
          <p:cNvPr id="100023" name="图片 100023" title=""/>
          <p:cNvPicPr>
            <a:picLocks noChangeAspect="1"/>
          </p:cNvPicPr>
          <p:nvPr>
            <p:custDataLst>
              <p:tags r:id="rId6"/>
            </p:custDataLst>
          </p:nvPr>
        </p:nvPicPr>
        <p:blipFill>
          <a:blip r:embed="rId5"/>
          <a:stretch>
            <a:fillRect/>
          </a:stretch>
        </p:blipFill>
        <p:spPr>
          <a:xfrm>
            <a:off x="9252903" y="3169603"/>
            <a:ext cx="2066925" cy="1685925"/>
          </a:xfrm>
          <a:prstGeom prst="rect">
            <a:avLst/>
          </a:prstGeom>
        </p:spPr>
      </p:pic>
    </p:spTree>
  </p:cSld>
  <p:clrMapOvr>
    <a:masterClrMapping/>
  </p:clrMapOvr>
  <p:transition/>
  <p:timing/>
</p:sld>
</file>

<file path=ppt/slides/slide2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思考与讨论</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sp>
        <p:nvSpPr>
          <p:cNvPr id="2" name="文本框 1" title=""/>
          <p:cNvSpPr txBox="1"/>
          <p:nvPr>
            <p:custDataLst>
              <p:tags r:id="rId4"/>
            </p:custDataLst>
          </p:nvPr>
        </p:nvSpPr>
        <p:spPr>
          <a:xfrm>
            <a:off x="242570" y="956310"/>
            <a:ext cx="11483340" cy="2679065"/>
          </a:xfrm>
          <a:prstGeom prst="rect">
            <a:avLst/>
          </a:prstGeom>
          <a:noFill/>
        </p:spPr>
        <p:txBody>
          <a:bodyPr wrap="square" rtlCol="0" anchor="t">
            <a:noAutofit/>
          </a:bodyPr>
          <a:lstStyle/>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(4)</a:t>
            </a:r>
            <a:r>
              <a:rPr lang="zh-CN" altLang="en-US" sz="2700">
                <a:solidFill>
                  <a:schemeClr val="tx1"/>
                </a:solidFill>
                <a:latin typeface="Times New Roman" panose="02020603050405020304" charset="0"/>
                <a:ea typeface="黑体" panose="02010609060101010101" charset="-122"/>
                <a:cs typeface="Times New Roman" panose="02020603050405020304" charset="0"/>
              </a:rPr>
              <a:t>当物块的速度和传送带速度相同时，物体是否还受传送带的摩擦力？</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latin typeface="Times New Roman" panose="02020603050405020304" charset="0"/>
                <a:ea typeface="黑体" panose="02010609060101010101" charset="-122"/>
                <a:cs typeface="Times New Roman" panose="02020603050405020304" charset="0"/>
                <a:sym typeface="+mn-ea"/>
              </a:rPr>
              <a:t>(5)</a:t>
            </a:r>
            <a:r>
              <a:rPr lang="zh-CN" altLang="en-US" sz="2700">
                <a:latin typeface="Times New Roman" panose="02020603050405020304" charset="0"/>
                <a:ea typeface="黑体" panose="02010609060101010101" charset="-122"/>
                <a:cs typeface="Times New Roman" panose="02020603050405020304" charset="0"/>
                <a:sym typeface="+mn-ea"/>
              </a:rPr>
              <a:t>物块和传送带速度相同后，摩擦力的指向哪个方向？</a:t>
            </a:r>
            <a:endParaRPr lang="en-US" altLang="zh-CN"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(6)</a:t>
            </a:r>
            <a:r>
              <a:rPr lang="zh-CN" altLang="en-US" sz="2700">
                <a:solidFill>
                  <a:schemeClr val="tx1"/>
                </a:solidFill>
                <a:latin typeface="Times New Roman" panose="02020603050405020304" charset="0"/>
                <a:ea typeface="黑体" panose="02010609060101010101" charset="-122"/>
                <a:cs typeface="Times New Roman" panose="02020603050405020304" charset="0"/>
              </a:rPr>
              <a:t>物体和传送带速度相同后，物体将做何种运动？这一段经历的时间多长？</a:t>
            </a:r>
            <a:endParaRPr lang="en-US" altLang="zh-CN"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(7)</a:t>
            </a:r>
            <a:r>
              <a:rPr lang="zh-CN" altLang="en-US" sz="2700">
                <a:solidFill>
                  <a:schemeClr val="tx1"/>
                </a:solidFill>
                <a:latin typeface="Times New Roman" panose="02020603050405020304" charset="0"/>
                <a:ea typeface="黑体" panose="02010609060101010101" charset="-122"/>
                <a:cs typeface="Times New Roman" panose="02020603050405020304" charset="0"/>
              </a:rPr>
              <a:t>你是否可以画一下物体在这个过程的</a:t>
            </a:r>
            <a:r>
              <a:rPr lang="en-US" altLang="zh-CN" sz="2700" i="1">
                <a:solidFill>
                  <a:schemeClr val="tx1"/>
                </a:solidFill>
                <a:latin typeface="Times New Roman" panose="02020603050405020304" charset="0"/>
                <a:ea typeface="黑体" panose="02010609060101010101" charset="-122"/>
                <a:cs typeface="Times New Roman" panose="02020603050405020304" charset="0"/>
              </a:rPr>
              <a:t>v-t</a:t>
            </a:r>
            <a:r>
              <a:rPr lang="zh-CN" altLang="en-US" sz="2700">
                <a:solidFill>
                  <a:schemeClr val="tx1"/>
                </a:solidFill>
                <a:latin typeface="Times New Roman" panose="02020603050405020304" charset="0"/>
                <a:ea typeface="黑体" panose="02010609060101010101" charset="-122"/>
                <a:cs typeface="Times New Roman" panose="02020603050405020304" charset="0"/>
              </a:rPr>
              <a:t>图像？</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p:txBody>
      </p:sp>
      <p:pic>
        <p:nvPicPr>
          <p:cNvPr id="100023" name="图片 100023" title=""/>
          <p:cNvPicPr>
            <a:picLocks noChangeAspect="1"/>
          </p:cNvPicPr>
          <p:nvPr>
            <p:custDataLst>
              <p:tags r:id="rId6"/>
            </p:custDataLst>
          </p:nvPr>
        </p:nvPicPr>
        <p:blipFill>
          <a:blip r:embed="rId5"/>
          <a:stretch>
            <a:fillRect/>
          </a:stretch>
        </p:blipFill>
        <p:spPr>
          <a:xfrm>
            <a:off x="9372283" y="3635058"/>
            <a:ext cx="2066925" cy="1685925"/>
          </a:xfrm>
          <a:prstGeom prst="rect">
            <a:avLst/>
          </a:prstGeom>
        </p:spPr>
      </p:pic>
    </p:spTree>
  </p:cSld>
  <p:clrMapOvr>
    <a:masterClrMapping/>
  </p:clrMapOvr>
  <p:transition/>
  <p:timing/>
</p:sld>
</file>

<file path=ppt/slides/slide2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拓展与突破</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sp>
        <p:nvSpPr>
          <p:cNvPr id="2" name="文本框 1" title=""/>
          <p:cNvSpPr txBox="1"/>
          <p:nvPr>
            <p:custDataLst>
              <p:tags r:id="rId4"/>
            </p:custDataLst>
          </p:nvPr>
        </p:nvSpPr>
        <p:spPr>
          <a:xfrm>
            <a:off x="242570" y="956310"/>
            <a:ext cx="11483340" cy="2679065"/>
          </a:xfrm>
          <a:prstGeom prst="rect">
            <a:avLst/>
          </a:prstGeom>
          <a:noFill/>
        </p:spPr>
        <p:txBody>
          <a:bodyPr wrap="square" rtlCol="0" anchor="t">
            <a:noAutofit/>
          </a:bodyPr>
          <a:lstStyle/>
          <a:p>
            <a:pPr>
              <a:lnSpc>
                <a:spcPct val="150000"/>
              </a:lnSpc>
            </a:pPr>
            <a:r>
              <a:rPr lang="zh-CN" sz="2700">
                <a:solidFill>
                  <a:schemeClr val="tx1"/>
                </a:solidFill>
                <a:latin typeface="Times New Roman" panose="02020603050405020304" charset="0"/>
                <a:ea typeface="黑体" panose="02010609060101010101" charset="-122"/>
                <a:cs typeface="Times New Roman" panose="02020603050405020304" charset="0"/>
              </a:rPr>
              <a:t>若物体与传送带之间的动摩擦因数</a:t>
            </a:r>
            <a:r>
              <a:rPr lang="zh-CN" sz="2700" i="1">
                <a:solidFill>
                  <a:schemeClr val="tx1"/>
                </a:solidFill>
                <a:latin typeface="Times New Roman" panose="02020603050405020304" charset="0"/>
                <a:ea typeface="黑体" panose="02010609060101010101" charset="-122"/>
                <a:cs typeface="Times New Roman" panose="02020603050405020304" charset="0"/>
              </a:rPr>
              <a:t>μ</a:t>
            </a:r>
            <a:r>
              <a:rPr lang="en-US" altLang="zh-CN" sz="2700">
                <a:solidFill>
                  <a:schemeClr val="tx1"/>
                </a:solidFill>
                <a:latin typeface="Times New Roman" panose="02020603050405020304" charset="0"/>
                <a:ea typeface="黑体" panose="02010609060101010101" charset="-122"/>
                <a:cs typeface="Times New Roman" panose="02020603050405020304" charset="0"/>
              </a:rPr>
              <a:t>=0.8</a:t>
            </a:r>
            <a:r>
              <a:rPr lang="zh-CN" altLang="en-US" sz="2700">
                <a:solidFill>
                  <a:schemeClr val="tx1"/>
                </a:solidFill>
                <a:latin typeface="Times New Roman" panose="02020603050405020304" charset="0"/>
                <a:ea typeface="黑体" panose="02010609060101010101" charset="-122"/>
                <a:cs typeface="Times New Roman" panose="02020603050405020304" charset="0"/>
              </a:rPr>
              <a:t>，思考如下问题：</a:t>
            </a:r>
            <a:endParaRPr lang="zh-CN"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sym typeface="+mn-ea"/>
              </a:rPr>
              <a:t>(1)</a:t>
            </a:r>
            <a:r>
              <a:rPr lang="zh-CN" altLang="en-US" sz="2700">
                <a:solidFill>
                  <a:schemeClr val="tx1"/>
                </a:solidFill>
                <a:latin typeface="Times New Roman" panose="02020603050405020304" charset="0"/>
                <a:ea typeface="黑体" panose="02010609060101010101" charset="-122"/>
                <a:cs typeface="Times New Roman" panose="02020603050405020304" charset="0"/>
                <a:sym typeface="+mn-ea"/>
              </a:rPr>
              <a:t>物块和传送带速度相同后，摩擦力是静摩擦力还是滑动摩擦力？</a:t>
            </a:r>
            <a:endParaRPr lang="en-US" altLang="zh-CN"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(2)</a:t>
            </a:r>
            <a:r>
              <a:rPr lang="zh-CN" altLang="en-US" sz="2700">
                <a:solidFill>
                  <a:schemeClr val="tx1"/>
                </a:solidFill>
                <a:latin typeface="Times New Roman" panose="02020603050405020304" charset="0"/>
                <a:ea typeface="黑体" panose="02010609060101010101" charset="-122"/>
                <a:cs typeface="Times New Roman" panose="02020603050405020304" charset="0"/>
              </a:rPr>
              <a:t>物体和传送带速度相同后，物体将做何种运动？</a:t>
            </a:r>
            <a:endParaRPr lang="en-US" altLang="zh-CN"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(3)</a:t>
            </a:r>
            <a:r>
              <a:rPr lang="zh-CN" altLang="en-US" sz="2700">
                <a:solidFill>
                  <a:schemeClr val="tx1"/>
                </a:solidFill>
                <a:latin typeface="Times New Roman" panose="02020603050405020304" charset="0"/>
                <a:ea typeface="黑体" panose="02010609060101010101" charset="-122"/>
                <a:cs typeface="Times New Roman" panose="02020603050405020304" charset="0"/>
              </a:rPr>
              <a:t>你是否可以画一下物体在这个过程的</a:t>
            </a:r>
            <a:r>
              <a:rPr lang="en-US" altLang="zh-CN" sz="2700" i="1">
                <a:solidFill>
                  <a:schemeClr val="tx1"/>
                </a:solidFill>
                <a:latin typeface="Times New Roman" panose="02020603050405020304" charset="0"/>
                <a:ea typeface="黑体" panose="02010609060101010101" charset="-122"/>
                <a:cs typeface="Times New Roman" panose="02020603050405020304" charset="0"/>
              </a:rPr>
              <a:t>v-t</a:t>
            </a:r>
            <a:r>
              <a:rPr lang="zh-CN" altLang="en-US" sz="2700">
                <a:solidFill>
                  <a:schemeClr val="tx1"/>
                </a:solidFill>
                <a:latin typeface="Times New Roman" panose="02020603050405020304" charset="0"/>
                <a:ea typeface="黑体" panose="02010609060101010101" charset="-122"/>
                <a:cs typeface="Times New Roman" panose="02020603050405020304" charset="0"/>
              </a:rPr>
              <a:t>图像？</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p:txBody>
      </p:sp>
      <p:pic>
        <p:nvPicPr>
          <p:cNvPr id="100023" name="图片 100023" title=""/>
          <p:cNvPicPr>
            <a:picLocks noChangeAspect="1"/>
          </p:cNvPicPr>
          <p:nvPr>
            <p:custDataLst>
              <p:tags r:id="rId6"/>
            </p:custDataLst>
          </p:nvPr>
        </p:nvPicPr>
        <p:blipFill>
          <a:blip r:embed="rId5"/>
          <a:stretch>
            <a:fillRect/>
          </a:stretch>
        </p:blipFill>
        <p:spPr>
          <a:xfrm>
            <a:off x="9522143" y="2798763"/>
            <a:ext cx="2066925" cy="1685925"/>
          </a:xfrm>
          <a:prstGeom prst="rect">
            <a:avLst/>
          </a:prstGeom>
        </p:spPr>
      </p:pic>
    </p:spTree>
  </p:cSld>
  <p:clrMapOvr>
    <a:masterClrMapping/>
  </p:clrMapOvr>
  <p:transition/>
  <p:timing/>
</p:sld>
</file>

<file path=ppt/slides/slide2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思考与讨论</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sp>
        <p:nvSpPr>
          <p:cNvPr id="2" name="文本框 1" title=""/>
          <p:cNvSpPr txBox="1"/>
          <p:nvPr>
            <p:custDataLst>
              <p:tags r:id="rId4"/>
            </p:custDataLst>
          </p:nvPr>
        </p:nvSpPr>
        <p:spPr>
          <a:xfrm>
            <a:off x="242570" y="956310"/>
            <a:ext cx="11483340" cy="738505"/>
          </a:xfrm>
          <a:prstGeom prst="rect">
            <a:avLst/>
          </a:prstGeom>
          <a:noFill/>
        </p:spPr>
        <p:txBody>
          <a:bodyPr wrap="square" rtlCol="0" anchor="t">
            <a:noAutofit/>
          </a:bodyPr>
          <a:lstStyle/>
          <a:p>
            <a:pPr>
              <a:lnSpc>
                <a:spcPct val="150000"/>
              </a:lnSpc>
            </a:pPr>
            <a:r>
              <a:rPr lang="zh-CN" sz="2700">
                <a:solidFill>
                  <a:schemeClr val="tx1"/>
                </a:solidFill>
                <a:latin typeface="Times New Roman" panose="02020603050405020304" charset="0"/>
                <a:ea typeface="黑体" panose="02010609060101010101" charset="-122"/>
                <a:cs typeface="Times New Roman" panose="02020603050405020304" charset="0"/>
              </a:rPr>
              <a:t>你认为当我们遇到传送带类问题时，应该注意哪些问题？</a:t>
            </a:r>
            <a:endParaRPr lang="zh-CN" sz="2700">
              <a:solidFill>
                <a:schemeClr val="tx1"/>
              </a:solidFill>
              <a:latin typeface="Times New Roman" panose="02020603050405020304" charset="0"/>
              <a:ea typeface="黑体" panose="02010609060101010101" charset="-122"/>
              <a:cs typeface="Times New Roman" panose="02020603050405020304" charset="0"/>
            </a:endParaRPr>
          </a:p>
        </p:txBody>
      </p:sp>
      <p:sp>
        <p:nvSpPr>
          <p:cNvPr id="232450" name="Oval 2" title=""/>
          <p:cNvSpPr/>
          <p:nvPr>
            <p:custDataLst>
              <p:tags r:id="rId5"/>
            </p:custDataLst>
          </p:nvPr>
        </p:nvSpPr>
        <p:spPr>
          <a:xfrm>
            <a:off x="600075" y="3538220"/>
            <a:ext cx="2009775" cy="1303020"/>
          </a:xfrm>
          <a:prstGeom prst="ellipse">
            <a:avLst/>
          </a:prstGeom>
          <a:solidFill>
            <a:srgbClr val="0C76B2"/>
          </a:solidFill>
          <a:ln w="9525" cap="flat" cmpd="sng">
            <a:noFill/>
            <a:prstDash val="solid"/>
            <a:headEnd type="none" w="med" len="med"/>
            <a:tailEnd type="none" w="med" len="med"/>
          </a:ln>
        </p:spPr>
        <p:txBody>
          <a:bodyPr wrap="none" anchor="ctr"/>
          <a:lstStyle/>
          <a:p>
            <a:pPr algn="ctr"/>
            <a:r>
              <a:rPr lang="zh-CN" altLang="en-US" sz="2800" b="1">
                <a:solidFill>
                  <a:schemeClr val="bg1"/>
                </a:solidFill>
                <a:effectLst/>
                <a:latin typeface="+mn-ea"/>
              </a:rPr>
              <a:t>传送带模型</a:t>
            </a:r>
            <a:endParaRPr lang="zh-CN" altLang="en-US" sz="2800" b="1">
              <a:solidFill>
                <a:schemeClr val="bg1"/>
              </a:solidFill>
              <a:effectLst/>
              <a:latin typeface="+mn-ea"/>
            </a:endParaRPr>
          </a:p>
        </p:txBody>
      </p:sp>
      <p:grpSp>
        <p:nvGrpSpPr>
          <p:cNvPr id="18" name="组合 17" title=""/>
          <p:cNvGrpSpPr/>
          <p:nvPr>
            <p:custDataLst>
              <p:tags r:id="rId6"/>
            </p:custDataLst>
          </p:nvPr>
        </p:nvGrpSpPr>
        <p:grpSpPr>
          <a:xfrm rot="16200000">
            <a:off x="8082915" y="1268095"/>
            <a:ext cx="2543810" cy="4457065"/>
            <a:chOff x="2331" y="7057"/>
            <a:chExt cx="4006" cy="7019"/>
          </a:xfrm>
        </p:grpSpPr>
        <p:sp>
          <p:nvSpPr>
            <p:cNvPr id="12" name="AutoShape 13"/>
            <p:cNvSpPr/>
            <p:nvPr>
              <p:custDataLst>
                <p:tags r:id="rId7"/>
              </p:custDataLst>
            </p:nvPr>
          </p:nvSpPr>
          <p:spPr>
            <a:xfrm>
              <a:off x="4153" y="7057"/>
              <a:ext cx="394" cy="641"/>
            </a:xfrm>
            <a:prstGeom prst="downArrow">
              <a:avLst>
                <a:gd name="adj1" fmla="val 50000"/>
                <a:gd name="adj2" fmla="val 40714"/>
              </a:avLst>
            </a:prstGeom>
            <a:solidFill>
              <a:srgbClr val="0C76B2"/>
            </a:solidFill>
            <a:ln w="9525" cap="flat" cmpd="sng">
              <a:solidFill>
                <a:srgbClr val="0C76B2"/>
              </a:solidFill>
              <a:prstDash val="solid"/>
              <a:miter/>
              <a:headEnd type="none" w="med" len="med"/>
              <a:tailEnd type="none" w="med" len="med"/>
            </a:ln>
          </p:spPr>
          <p:txBody>
            <a:bodyPr vert="eaVert" wrap="none" anchor="ctr"/>
            <a:lstStyle/>
            <a:p>
              <a:endParaRPr lang="zh-CN" altLang="en-US" sz="2400">
                <a:latin typeface="黑体" panose="02010609060101010101" charset="-122"/>
                <a:ea typeface="黑体" panose="02010609060101010101" charset="-122"/>
              </a:endParaRPr>
            </a:p>
          </p:txBody>
        </p:sp>
        <p:grpSp>
          <p:nvGrpSpPr>
            <p:cNvPr id="17" name="组合 16"/>
            <p:cNvGrpSpPr/>
            <p:nvPr>
              <p:custDataLst>
                <p:tags r:id="rId8"/>
              </p:custDataLst>
            </p:nvPr>
          </p:nvGrpSpPr>
          <p:grpSpPr>
            <a:xfrm>
              <a:off x="2331" y="7790"/>
              <a:ext cx="4006" cy="6286"/>
              <a:chOff x="2331" y="7790"/>
              <a:chExt cx="4006" cy="6286"/>
            </a:xfrm>
          </p:grpSpPr>
          <p:grpSp>
            <p:nvGrpSpPr>
              <p:cNvPr id="13" name="组合 12"/>
              <p:cNvGrpSpPr/>
              <p:nvPr>
                <p:custDataLst>
                  <p:tags r:id="rId9"/>
                </p:custDataLst>
              </p:nvPr>
            </p:nvGrpSpPr>
            <p:grpSpPr>
              <a:xfrm>
                <a:off x="2728" y="7790"/>
                <a:ext cx="3167" cy="772"/>
                <a:chOff x="3368" y="7925"/>
                <a:chExt cx="3167" cy="772"/>
              </a:xfrm>
            </p:grpSpPr>
            <p:cxnSp>
              <p:nvCxnSpPr>
                <p:cNvPr id="8" name="直接连接符 7"/>
                <p:cNvCxnSpPr/>
                <p:nvPr>
                  <p:custDataLst>
                    <p:tags r:id="rId10"/>
                  </p:custDataLst>
                </p:nvPr>
              </p:nvCxnSpPr>
              <p:spPr>
                <a:xfrm flipV="1">
                  <a:off x="3368" y="7925"/>
                  <a:ext cx="3167" cy="17"/>
                </a:xfrm>
                <a:prstGeom prst="line">
                  <a:avLst/>
                </a:prstGeom>
                <a:ln w="28575">
                  <a:solidFill>
                    <a:srgbClr val="0C76B2"/>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11"/>
                  </p:custDataLst>
                </p:nvPr>
              </p:nvCxnSpPr>
              <p:spPr>
                <a:xfrm flipH="1">
                  <a:off x="3368" y="7942"/>
                  <a:ext cx="0" cy="755"/>
                </a:xfrm>
                <a:prstGeom prst="line">
                  <a:avLst/>
                </a:prstGeom>
                <a:ln w="28575">
                  <a:solidFill>
                    <a:srgbClr val="0C76B2"/>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12"/>
                  </p:custDataLst>
                </p:nvPr>
              </p:nvCxnSpPr>
              <p:spPr>
                <a:xfrm flipH="1">
                  <a:off x="4990" y="7933"/>
                  <a:ext cx="0" cy="755"/>
                </a:xfrm>
                <a:prstGeom prst="line">
                  <a:avLst/>
                </a:prstGeom>
                <a:ln w="28575">
                  <a:solidFill>
                    <a:srgbClr val="0C76B2"/>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13"/>
                  </p:custDataLst>
                </p:nvPr>
              </p:nvCxnSpPr>
              <p:spPr>
                <a:xfrm flipH="1">
                  <a:off x="6525" y="7925"/>
                  <a:ext cx="0" cy="755"/>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4" name="Text Box 30"/>
              <p:cNvSpPr txBox="1"/>
              <p:nvPr>
                <p:custDataLst>
                  <p:tags r:id="rId14"/>
                </p:custDataLst>
              </p:nvPr>
            </p:nvSpPr>
            <p:spPr>
              <a:xfrm rot="5400000">
                <a:off x="-38" y="10931"/>
                <a:ext cx="5514" cy="776"/>
              </a:xfrm>
              <a:prstGeom prst="rect">
                <a:avLst/>
              </a:prstGeom>
              <a:noFill/>
              <a:ln w="34925" cap="flat" cmpd="sng">
                <a:solidFill>
                  <a:srgbClr val="0C76B2"/>
                </a:solidFill>
                <a:prstDash val="solid"/>
                <a:miter/>
                <a:headEnd type="none" w="med" len="med"/>
                <a:tailEnd type="none" w="med" len="med"/>
              </a:ln>
            </p:spPr>
            <p:txBody>
              <a:bodyPr wrap="square">
                <a:noAutofit/>
              </a:bodyPr>
              <a:lstStyle/>
              <a:p>
                <a:pPr algn="ctr"/>
                <a:r>
                  <a:rPr lang="zh-CN" altLang="en-US" sz="2400">
                    <a:solidFill>
                      <a:schemeClr val="accent1">
                        <a:lumMod val="50000"/>
                      </a:schemeClr>
                    </a:solidFill>
                    <a:effectLst/>
                    <a:latin typeface="黑体" panose="02010609060101010101" charset="-122"/>
                    <a:ea typeface="黑体" panose="02010609060101010101" charset="-122"/>
                    <a:cs typeface="+mn-ea"/>
                  </a:rPr>
                  <a:t>初始速度大小方向</a:t>
                </a:r>
                <a:endParaRPr lang="zh-CN" altLang="en-US" sz="2400">
                  <a:solidFill>
                    <a:schemeClr val="accent1">
                      <a:lumMod val="50000"/>
                    </a:schemeClr>
                  </a:solidFill>
                  <a:effectLst/>
                  <a:latin typeface="黑体" panose="02010609060101010101" charset="-122"/>
                  <a:ea typeface="黑体" panose="02010609060101010101" charset="-122"/>
                  <a:cs typeface="+mn-ea"/>
                </a:endParaRPr>
              </a:p>
            </p:txBody>
          </p:sp>
          <p:sp>
            <p:nvSpPr>
              <p:cNvPr id="15" name="Text Box 30"/>
              <p:cNvSpPr txBox="1"/>
              <p:nvPr>
                <p:custDataLst>
                  <p:tags r:id="rId15"/>
                </p:custDataLst>
              </p:nvPr>
            </p:nvSpPr>
            <p:spPr>
              <a:xfrm rot="5400000">
                <a:off x="1667" y="10901"/>
                <a:ext cx="5560" cy="789"/>
              </a:xfrm>
              <a:prstGeom prst="rect">
                <a:avLst/>
              </a:prstGeom>
              <a:noFill/>
              <a:ln w="34925" cap="flat" cmpd="sng">
                <a:solidFill>
                  <a:srgbClr val="0C76B2"/>
                </a:solidFill>
                <a:prstDash val="solid"/>
                <a:miter/>
                <a:headEnd type="none" w="med" len="med"/>
                <a:tailEnd type="none" w="med" len="med"/>
              </a:ln>
            </p:spPr>
            <p:txBody>
              <a:bodyPr wrap="square">
                <a:noAutofit/>
              </a:bodyPr>
              <a:lstStyle/>
              <a:p>
                <a:pPr algn="ctr"/>
                <a:r>
                  <a:rPr lang="zh-CN" altLang="en-US" sz="2400">
                    <a:solidFill>
                      <a:schemeClr val="accent1">
                        <a:lumMod val="50000"/>
                      </a:schemeClr>
                    </a:solidFill>
                    <a:effectLst/>
                    <a:latin typeface="黑体" panose="02010609060101010101" charset="-122"/>
                    <a:ea typeface="黑体" panose="02010609060101010101" charset="-122"/>
                    <a:cs typeface="+mn-ea"/>
                  </a:rPr>
                  <a:t>速度相等摩擦力突变</a:t>
                </a:r>
                <a:endParaRPr lang="zh-CN" altLang="en-US" sz="2400">
                  <a:solidFill>
                    <a:schemeClr val="accent1">
                      <a:lumMod val="50000"/>
                    </a:schemeClr>
                  </a:solidFill>
                  <a:effectLst/>
                  <a:latin typeface="黑体" panose="02010609060101010101" charset="-122"/>
                  <a:ea typeface="黑体" panose="02010609060101010101" charset="-122"/>
                  <a:cs typeface="+mn-ea"/>
                </a:endParaRPr>
              </a:p>
            </p:txBody>
          </p:sp>
          <p:sp>
            <p:nvSpPr>
              <p:cNvPr id="16" name="Text Box 30"/>
              <p:cNvSpPr txBox="1"/>
              <p:nvPr>
                <p:custDataLst>
                  <p:tags r:id="rId16"/>
                </p:custDataLst>
              </p:nvPr>
            </p:nvSpPr>
            <p:spPr>
              <a:xfrm rot="5400000">
                <a:off x="3240" y="10967"/>
                <a:ext cx="5501" cy="693"/>
              </a:xfrm>
              <a:prstGeom prst="rect">
                <a:avLst/>
              </a:prstGeom>
              <a:noFill/>
              <a:ln w="34925" cap="flat" cmpd="sng">
                <a:solidFill>
                  <a:srgbClr val="0C76B2"/>
                </a:solidFill>
                <a:prstDash val="solid"/>
                <a:miter/>
                <a:headEnd type="none" w="med" len="med"/>
                <a:tailEnd type="none" w="med" len="med"/>
              </a:ln>
            </p:spPr>
            <p:txBody>
              <a:bodyPr wrap="square">
                <a:noAutofit/>
              </a:bodyPr>
              <a:lstStyle/>
              <a:p>
                <a:pPr algn="ctr"/>
                <a:r>
                  <a:rPr lang="zh-CN" altLang="en-US" sz="2400">
                    <a:solidFill>
                      <a:schemeClr val="accent1">
                        <a:lumMod val="50000"/>
                      </a:schemeClr>
                    </a:solidFill>
                    <a:effectLst/>
                    <a:latin typeface="黑体" panose="02010609060101010101" charset="-122"/>
                    <a:ea typeface="黑体" panose="02010609060101010101" charset="-122"/>
                    <a:cs typeface="+mn-ea"/>
                  </a:rPr>
                  <a:t>速度为零运动方向突变</a:t>
                </a:r>
                <a:endParaRPr lang="zh-CN" altLang="en-US" sz="2400">
                  <a:solidFill>
                    <a:schemeClr val="accent1">
                      <a:lumMod val="50000"/>
                    </a:schemeClr>
                  </a:solidFill>
                  <a:effectLst/>
                  <a:latin typeface="黑体" panose="02010609060101010101" charset="-122"/>
                  <a:ea typeface="黑体" panose="02010609060101010101" charset="-122"/>
                  <a:cs typeface="+mn-ea"/>
                </a:endParaRPr>
              </a:p>
            </p:txBody>
          </p:sp>
        </p:grpSp>
      </p:grpSp>
      <p:sp>
        <p:nvSpPr>
          <p:cNvPr id="19" name="右箭头 18" title=""/>
          <p:cNvSpPr/>
          <p:nvPr>
            <p:custDataLst>
              <p:tags r:id="rId17"/>
            </p:custDataLst>
          </p:nvPr>
        </p:nvSpPr>
        <p:spPr>
          <a:xfrm>
            <a:off x="2684780" y="4025265"/>
            <a:ext cx="584835" cy="328930"/>
          </a:xfrm>
          <a:prstGeom prst="rightArrow">
            <a:avLst/>
          </a:prstGeom>
          <a:solidFill>
            <a:srgbClr val="0C7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AutoShape 14" title=""/>
          <p:cNvSpPr/>
          <p:nvPr>
            <p:custDataLst>
              <p:tags r:id="rId18"/>
            </p:custDataLst>
          </p:nvPr>
        </p:nvSpPr>
        <p:spPr>
          <a:xfrm>
            <a:off x="3291840" y="3863340"/>
            <a:ext cx="1184910" cy="653415"/>
          </a:xfrm>
          <a:prstGeom prst="roundRect">
            <a:avLst>
              <a:gd name="adj" fmla="val 16667"/>
            </a:avLst>
          </a:prstGeom>
          <a:solidFill>
            <a:srgbClr val="0C76B2"/>
          </a:solidFill>
          <a:ln w="9525" cap="flat" cmpd="sng">
            <a:noFill/>
            <a:prstDash val="solid"/>
            <a:headEnd type="none" w="med" len="med"/>
            <a:tailEnd type="none" w="med" len="med"/>
          </a:ln>
        </p:spPr>
        <p:txBody>
          <a:bodyPr wrap="none" anchor="ctr"/>
          <a:lstStyle/>
          <a:p>
            <a:pPr algn="ctr"/>
            <a:r>
              <a:rPr lang="zh-CN" altLang="en-US" sz="2400" b="1">
                <a:solidFill>
                  <a:schemeClr val="bg1"/>
                </a:solidFill>
                <a:effectLst/>
                <a:latin typeface="黑体" panose="02010609060101010101" charset="-122"/>
                <a:ea typeface="黑体" panose="02010609060101010101" charset="-122"/>
              </a:rPr>
              <a:t>关键点</a:t>
            </a:r>
            <a:endParaRPr lang="zh-CN" altLang="en-US" sz="2400" b="1">
              <a:solidFill>
                <a:schemeClr val="bg1"/>
              </a:solidFill>
              <a:effectLst/>
              <a:latin typeface="黑体" panose="02010609060101010101" charset="-122"/>
              <a:ea typeface="黑体" panose="02010609060101010101" charset="-122"/>
            </a:endParaRPr>
          </a:p>
        </p:txBody>
      </p:sp>
      <p:sp>
        <p:nvSpPr>
          <p:cNvPr id="21" name="AutoShape 19" title=""/>
          <p:cNvSpPr/>
          <p:nvPr>
            <p:custDataLst>
              <p:tags r:id="rId19"/>
            </p:custDataLst>
          </p:nvPr>
        </p:nvSpPr>
        <p:spPr>
          <a:xfrm flipV="1">
            <a:off x="4498975" y="3401695"/>
            <a:ext cx="212090" cy="1575435"/>
          </a:xfrm>
          <a:prstGeom prst="leftBrace">
            <a:avLst>
              <a:gd name="adj1" fmla="val 78304"/>
              <a:gd name="adj2" fmla="val 50000"/>
            </a:avLst>
          </a:prstGeom>
          <a:noFill/>
          <a:ln w="34925" cap="flat" cmpd="sng">
            <a:solidFill>
              <a:srgbClr val="0C76B2"/>
            </a:solidFill>
            <a:prstDash val="solid"/>
            <a:headEnd type="none" w="med" len="med"/>
            <a:tailEnd type="none" w="med" len="med"/>
          </a:ln>
        </p:spPr>
        <p:txBody>
          <a:bodyPr wrap="none" anchor="ctr"/>
          <a:lstStyle/>
          <a:p>
            <a:endParaRPr lang="zh-CN" altLang="en-US" sz="1350">
              <a:latin typeface="Arial" panose="020b0604020202020204" pitchFamily="34" charset="0"/>
            </a:endParaRPr>
          </a:p>
        </p:txBody>
      </p:sp>
      <p:sp>
        <p:nvSpPr>
          <p:cNvPr id="22" name="Text Box 30" title=""/>
          <p:cNvSpPr txBox="1"/>
          <p:nvPr>
            <p:custDataLst>
              <p:tags r:id="rId20"/>
            </p:custDataLst>
          </p:nvPr>
        </p:nvSpPr>
        <p:spPr>
          <a:xfrm>
            <a:off x="4776470" y="3002915"/>
            <a:ext cx="2412365" cy="721360"/>
          </a:xfrm>
          <a:prstGeom prst="rect">
            <a:avLst/>
          </a:prstGeom>
          <a:noFill/>
          <a:ln w="34925" cap="flat" cmpd="sng">
            <a:noFill/>
            <a:prstDash val="solid"/>
            <a:miter/>
            <a:headEnd type="none" w="med" len="med"/>
            <a:tailEnd type="none" w="med" len="med"/>
          </a:ln>
        </p:spPr>
        <p:txBody>
          <a:bodyPr wrap="square">
            <a:noAutofit/>
          </a:bodyPr>
          <a:lstStyle/>
          <a:p>
            <a:pPr>
              <a:lnSpc>
                <a:spcPct val="150000"/>
              </a:lnSpc>
            </a:pPr>
            <a:r>
              <a:rPr lang="en-US" altLang="zh-CN" sz="2800" i="1">
                <a:solidFill>
                  <a:schemeClr val="accent1">
                    <a:lumMod val="50000"/>
                  </a:schemeClr>
                </a:solidFill>
                <a:effectLst/>
                <a:latin typeface="Times New Roman" panose="02020603050405020304" charset="0"/>
                <a:ea typeface="黑体" panose="02010609060101010101" charset="-122"/>
                <a:cs typeface="Times New Roman" panose="02020603050405020304" charset="0"/>
              </a:rPr>
              <a:t>v</a:t>
            </a:r>
            <a:r>
              <a:rPr lang="zh-CN" altLang="en-US" sz="2800" baseline="-25000">
                <a:solidFill>
                  <a:schemeClr val="accent1">
                    <a:lumMod val="50000"/>
                  </a:schemeClr>
                </a:solidFill>
                <a:effectLst/>
                <a:latin typeface="Times New Roman" panose="02020603050405020304" charset="0"/>
                <a:ea typeface="黑体" panose="02010609060101010101" charset="-122"/>
                <a:cs typeface="Times New Roman" panose="02020603050405020304" charset="0"/>
              </a:rPr>
              <a:t>物</a:t>
            </a:r>
            <a:r>
              <a:rPr lang="zh-CN" altLang="en-US" sz="2800">
                <a:solidFill>
                  <a:schemeClr val="accent1">
                    <a:lumMod val="50000"/>
                  </a:schemeClr>
                </a:solidFill>
                <a:effectLst/>
                <a:latin typeface="Times New Roman" panose="02020603050405020304" charset="0"/>
                <a:ea typeface="黑体" panose="02010609060101010101" charset="-122"/>
                <a:cs typeface="Times New Roman" panose="02020603050405020304" charset="0"/>
              </a:rPr>
              <a:t>与</a:t>
            </a:r>
            <a:r>
              <a:rPr lang="en-US" altLang="zh-CN" sz="2800" i="1">
                <a:solidFill>
                  <a:schemeClr val="accent1">
                    <a:lumMod val="50000"/>
                  </a:schemeClr>
                </a:solidFill>
                <a:effectLst/>
                <a:latin typeface="Times New Roman" panose="02020603050405020304" charset="0"/>
                <a:ea typeface="黑体" panose="02010609060101010101" charset="-122"/>
                <a:cs typeface="Times New Roman" panose="02020603050405020304" charset="0"/>
              </a:rPr>
              <a:t>v</a:t>
            </a:r>
            <a:r>
              <a:rPr lang="zh-CN" altLang="en-US" sz="2800" baseline="-25000">
                <a:solidFill>
                  <a:schemeClr val="accent1">
                    <a:lumMod val="50000"/>
                  </a:schemeClr>
                </a:solidFill>
                <a:effectLst/>
                <a:latin typeface="Times New Roman" panose="02020603050405020304" charset="0"/>
                <a:ea typeface="黑体" panose="02010609060101010101" charset="-122"/>
                <a:cs typeface="Times New Roman" panose="02020603050405020304" charset="0"/>
              </a:rPr>
              <a:t>带</a:t>
            </a:r>
            <a:r>
              <a:rPr lang="zh-CN" altLang="en-US" sz="2800">
                <a:solidFill>
                  <a:schemeClr val="accent1">
                    <a:lumMod val="50000"/>
                  </a:schemeClr>
                </a:solidFill>
                <a:effectLst/>
                <a:latin typeface="Times New Roman" panose="02020603050405020304" charset="0"/>
                <a:ea typeface="黑体" panose="02010609060101010101" charset="-122"/>
                <a:cs typeface="Times New Roman" panose="02020603050405020304" charset="0"/>
              </a:rPr>
              <a:t>的关系</a:t>
            </a:r>
            <a:endParaRPr lang="zh-CN" altLang="en-US" sz="2800">
              <a:solidFill>
                <a:schemeClr val="accent1">
                  <a:lumMod val="50000"/>
                </a:schemeClr>
              </a:solidFill>
              <a:effectLst/>
              <a:latin typeface="Times New Roman" panose="02020603050405020304" charset="0"/>
              <a:ea typeface="黑体" panose="02010609060101010101" charset="-122"/>
              <a:cs typeface="Times New Roman" panose="02020603050405020304" charset="0"/>
            </a:endParaRPr>
          </a:p>
        </p:txBody>
      </p:sp>
      <p:sp>
        <p:nvSpPr>
          <p:cNvPr id="23" name="Text Box 30" title=""/>
          <p:cNvSpPr txBox="1"/>
          <p:nvPr>
            <p:custDataLst>
              <p:tags r:id="rId21"/>
            </p:custDataLst>
          </p:nvPr>
        </p:nvSpPr>
        <p:spPr>
          <a:xfrm>
            <a:off x="4798695" y="4790440"/>
            <a:ext cx="2390140" cy="549910"/>
          </a:xfrm>
          <a:prstGeom prst="rect">
            <a:avLst/>
          </a:prstGeom>
          <a:noFill/>
          <a:ln w="34925" cap="flat" cmpd="sng">
            <a:noFill/>
            <a:prstDash val="solid"/>
            <a:miter/>
            <a:headEnd type="none" w="med" len="med"/>
            <a:tailEnd type="none" w="med" len="med"/>
          </a:ln>
        </p:spPr>
        <p:txBody>
          <a:bodyPr wrap="square">
            <a:noAutofit/>
          </a:bodyPr>
          <a:lstStyle/>
          <a:p>
            <a:pPr algn="ctr">
              <a:lnSpc>
                <a:spcPct val="100000"/>
              </a:lnSpc>
            </a:pPr>
            <a:r>
              <a:rPr lang="zh-CN" altLang="en-US" sz="2800">
                <a:solidFill>
                  <a:schemeClr val="accent1">
                    <a:lumMod val="50000"/>
                  </a:schemeClr>
                </a:solidFill>
                <a:effectLst/>
                <a:latin typeface="黑体" panose="02010609060101010101" charset="-122"/>
                <a:ea typeface="黑体" panose="02010609060101010101" charset="-122"/>
                <a:cs typeface="+mn-ea"/>
              </a:rPr>
              <a:t>传送带的长度</a:t>
            </a:r>
            <a:endParaRPr lang="zh-CN" altLang="en-US" sz="2800">
              <a:solidFill>
                <a:schemeClr val="accent1">
                  <a:lumMod val="50000"/>
                </a:schemeClr>
              </a:solidFill>
              <a:effectLst/>
              <a:latin typeface="黑体" panose="02010609060101010101" charset="-122"/>
              <a:ea typeface="黑体" panose="02010609060101010101" charset="-122"/>
              <a:cs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2450"/>
                                        </p:tgtEl>
                                        <p:attrNameLst>
                                          <p:attrName>style.visibility</p:attrName>
                                        </p:attrNameLst>
                                      </p:cBhvr>
                                      <p:to>
                                        <p:strVal val="visible"/>
                                      </p:to>
                                    </p:set>
                                    <p:animEffect transition="in" filter="wipe(left)">
                                      <p:cBhvr>
                                        <p:cTn id="7" dur="500"/>
                                        <p:tgtEl>
                                          <p:spTgt spid="232450"/>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500"/>
                                        <p:tgtEl>
                                          <p:spTgt spid="20"/>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500"/>
                                        <p:tgtEl>
                                          <p:spTgt spid="21"/>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left)">
                                      <p:cBhvr>
                                        <p:cTn id="27" dur="500"/>
                                        <p:tgtEl>
                                          <p:spTgt spid="22"/>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wipe(left)">
                                      <p:cBhvr>
                                        <p:cTn id="30" dur="500"/>
                                        <p:tgtEl>
                                          <p:spTgt spid="23"/>
                                        </p:tgtEl>
                                      </p:cBhvr>
                                    </p:animEffect>
                                  </p:childTnLst>
                                </p:cTn>
                              </p:par>
                            </p:childTnLst>
                          </p:cTn>
                        </p:par>
                      </p:childTnLst>
                    </p:cTn>
                  </p:par>
                  <p:par>
                    <p:cTn id="31" fill="hold" nodeType="clickPar">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0" grpId="0" animBg="1"/>
      <p:bldP spid="19" grpId="0" animBg="1"/>
      <p:bldP spid="20" grpId="0" animBg="1"/>
      <p:bldP spid="21" grpId="0" animBg="1"/>
      <p:bldP spid="22" grpId="0"/>
      <p:bldP spid="23" grpId="0"/>
    </p:bldLst>
  </p:timing>
</p:sld>
</file>

<file path=ppt/slides/slide2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 name="文本框 1" title=""/>
          <p:cNvSpPr txBox="1"/>
          <p:nvPr>
            <p:custDataLst>
              <p:tags r:id="rId3"/>
            </p:custDataLst>
          </p:nvPr>
        </p:nvSpPr>
        <p:spPr>
          <a:xfrm>
            <a:off x="4179570" y="1863090"/>
            <a:ext cx="3832860" cy="706755"/>
          </a:xfrm>
          <a:prstGeom prst="rect">
            <a:avLst/>
          </a:prstGeom>
          <a:noFill/>
        </p:spPr>
        <p:txBody>
          <a:bodyPr wrap="square" rtlCol="0">
            <a:spAutoFit/>
          </a:bodyPr>
          <a:lstStyle/>
          <a:p>
            <a:pPr algn="ctr"/>
            <a:r>
              <a:rPr sz="4000" cap="all">
                <a:solidFill>
                  <a:srgbClr val="38ABE3">
                    <a:alpha val="12000"/>
                  </a:srgbClr>
                </a:solidFill>
                <a:uFillTx/>
                <a:latin typeface="Times New Roman" panose="02020603050405020304" charset="0"/>
                <a:ea typeface="黑体" panose="02010609060101010101" charset="-122"/>
                <a:cs typeface="Times New Roman" panose="02020603050405020304" charset="0"/>
                <a:sym typeface="汉仪宋韵朗黑W"/>
              </a:rPr>
              <a:t>conclusion</a:t>
            </a:r>
            <a:endParaRPr sz="4000" cap="all">
              <a:solidFill>
                <a:srgbClr val="38ABE3">
                  <a:alpha val="12000"/>
                </a:srgbClr>
              </a:solidFill>
              <a:uFillTx/>
              <a:latin typeface="Times New Roman" panose="02020603050405020304" charset="0"/>
              <a:ea typeface="黑体" panose="02010609060101010101" charset="-122"/>
              <a:cs typeface="Times New Roman" panose="02020603050405020304" charset="0"/>
              <a:sym typeface="汉仪宋韵朗黑W"/>
            </a:endParaRPr>
          </a:p>
        </p:txBody>
      </p:sp>
      <p:sp>
        <p:nvSpPr>
          <p:cNvPr id="4" name="圆角矩形 3" title=""/>
          <p:cNvSpPr/>
          <p:nvPr>
            <p:custDataLst>
              <p:tags r:id="rId4"/>
            </p:custDataLst>
          </p:nvPr>
        </p:nvSpPr>
        <p:spPr>
          <a:xfrm>
            <a:off x="5095240" y="2211705"/>
            <a:ext cx="2001520" cy="488950"/>
          </a:xfrm>
          <a:prstGeom prst="roundRect">
            <a:avLst>
              <a:gd name="adj" fmla="val 50000"/>
            </a:avLst>
          </a:prstGeom>
          <a:solidFill>
            <a:srgbClr val="38AB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ea typeface="黑体" panose="02010609060101010101" charset="-122"/>
              <a:cs typeface="Times New Roman" panose="02020603050405020304" charset="0"/>
            </a:endParaRPr>
          </a:p>
        </p:txBody>
      </p:sp>
      <p:sp>
        <p:nvSpPr>
          <p:cNvPr id="13" name="文本框 12" title=""/>
          <p:cNvSpPr txBox="1"/>
          <p:nvPr>
            <p:custDataLst>
              <p:tags r:id="rId5"/>
            </p:custDataLst>
          </p:nvPr>
        </p:nvSpPr>
        <p:spPr>
          <a:xfrm>
            <a:off x="2268220" y="3022600"/>
            <a:ext cx="7332345" cy="1014730"/>
          </a:xfrm>
          <a:prstGeom prst="rect">
            <a:avLst/>
          </a:prstGeom>
          <a:noFill/>
        </p:spPr>
        <p:txBody>
          <a:bodyPr wrap="square" rtlCol="0">
            <a:spAutoFit/>
          </a:bodyPr>
          <a:lstStyle/>
          <a:p>
            <a:pPr indent="0" algn="ctr" fontAlgn="auto"/>
            <a:r>
              <a:rPr lang="zh-CN" altLang="en-US" sz="6000">
                <a:solidFill>
                  <a:schemeClr val="tx1">
                    <a:lumMod val="75000"/>
                    <a:lumOff val="25000"/>
                  </a:schemeClr>
                </a:solidFill>
                <a:latin typeface="Times New Roman" panose="02020603050405020304" charset="0"/>
                <a:ea typeface="黑体" panose="02010609060101010101" charset="-122"/>
                <a:cs typeface="汉仪宋韵朗黑W" panose="00020600040101010101" charset="-122"/>
                <a:sym typeface="汉仪宋韵朗黑W"/>
              </a:rPr>
              <a:t>板块问题</a:t>
            </a:r>
            <a:endParaRPr lang="zh-CN" altLang="en-US" sz="6000">
              <a:solidFill>
                <a:schemeClr val="tx1">
                  <a:lumMod val="75000"/>
                  <a:lumOff val="25000"/>
                </a:schemeClr>
              </a:solidFill>
              <a:latin typeface="Times New Roman" panose="02020603050405020304" charset="0"/>
              <a:ea typeface="黑体" panose="02010609060101010101" charset="-122"/>
              <a:cs typeface="汉仪宋韵朗黑W" panose="00020600040101010101" charset="-122"/>
              <a:sym typeface="汉仪宋韵朗黑W"/>
            </a:endParaRPr>
          </a:p>
        </p:txBody>
      </p:sp>
      <p:sp>
        <p:nvSpPr>
          <p:cNvPr id="14" name="文本框 13" title=""/>
          <p:cNvSpPr txBox="1"/>
          <p:nvPr>
            <p:custDataLst>
              <p:tags r:id="rId6"/>
            </p:custDataLst>
          </p:nvPr>
        </p:nvSpPr>
        <p:spPr>
          <a:xfrm>
            <a:off x="5526405" y="2211705"/>
            <a:ext cx="1193165" cy="443865"/>
          </a:xfrm>
          <a:prstGeom prst="rect">
            <a:avLst/>
          </a:prstGeom>
          <a:noFill/>
        </p:spPr>
        <p:txBody>
          <a:bodyPr wrap="square" rtlCol="0">
            <a:noAutofit/>
          </a:bodyPr>
          <a:lstStyle/>
          <a:p>
            <a:pPr algn="ctr"/>
            <a:r>
              <a:rPr lang="en-US" sz="2800">
                <a:solidFill>
                  <a:schemeClr val="bg1"/>
                </a:solidFill>
                <a:latin typeface="Times New Roman" panose="02020603050405020304" charset="0"/>
                <a:ea typeface="黑体" panose="02010609060101010101" charset="-122"/>
                <a:cs typeface="Times New Roman" panose="02020603050405020304" charset="0"/>
                <a:sym typeface="汉仪宋韵朗黑W"/>
              </a:rPr>
              <a:t>03</a:t>
            </a:r>
            <a:endParaRPr lang="en-US" sz="2800">
              <a:solidFill>
                <a:schemeClr val="bg1"/>
              </a:solidFill>
              <a:latin typeface="Times New Roman" panose="02020603050405020304" charset="0"/>
              <a:ea typeface="黑体" panose="02010609060101010101" charset="-122"/>
              <a:cs typeface="Times New Roman" panose="02020603050405020304" charset="0"/>
              <a:sym typeface="汉仪宋韵朗黑W"/>
            </a:endParaRPr>
          </a:p>
        </p:txBody>
      </p:sp>
    </p:spTree>
    <p:custDataLst>
      <p:tags r:id="rId7"/>
    </p:custDataLst>
  </p:cSld>
  <p:clrMapOvr>
    <a:masterClrMapping/>
  </p:clrMapOvr>
  <p:transition/>
  <p:timing/>
</p:sld>
</file>

<file path=ppt/slides/slide2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100" name="文本框 99" title=""/>
          <p:cNvSpPr txBox="1"/>
          <p:nvPr>
            <p:custDataLst>
              <p:tags r:id="rId3"/>
            </p:custDataLst>
          </p:nvPr>
        </p:nvSpPr>
        <p:spPr>
          <a:xfrm>
            <a:off x="230505" y="1099820"/>
            <a:ext cx="11141710" cy="3463925"/>
          </a:xfrm>
          <a:prstGeom prst="rect">
            <a:avLst/>
          </a:prstGeom>
          <a:noFill/>
          <a:ln w="9525">
            <a:noFill/>
          </a:ln>
        </p:spPr>
        <p:txBody>
          <a:bodyPr>
            <a:noAutofit/>
          </a:bodyPr>
          <a:lstStyle/>
          <a:p>
            <a:pPr indent="0">
              <a:lnSpc>
                <a:spcPct val="150000"/>
              </a:lnSpc>
            </a:pPr>
            <a:r>
              <a:rPr lang="zh-CN" sz="2800" b="0">
                <a:latin typeface="Times New Roman" panose="02020603050405020304" charset="0"/>
                <a:ea typeface="黑体" panose="02010609060101010101" charset="-122"/>
                <a:cs typeface="Times New Roman" panose="02020603050405020304" charset="0"/>
              </a:rPr>
              <a:t>【例题</a:t>
            </a:r>
            <a:r>
              <a:rPr lang="en-US" altLang="zh-CN" sz="2800" b="0">
                <a:latin typeface="Times New Roman" panose="02020603050405020304" charset="0"/>
                <a:ea typeface="黑体" panose="02010609060101010101" charset="-122"/>
                <a:cs typeface="Times New Roman" panose="02020603050405020304" charset="0"/>
              </a:rPr>
              <a:t>7</a:t>
            </a:r>
            <a:r>
              <a:rPr lang="zh-CN" sz="2800" b="0">
                <a:latin typeface="Times New Roman" panose="02020603050405020304" charset="0"/>
                <a:ea typeface="黑体" panose="02010609060101010101" charset="-122"/>
                <a:cs typeface="Times New Roman" panose="02020603050405020304" charset="0"/>
              </a:rPr>
              <a:t>】如图所示，质量</a:t>
            </a:r>
            <a:r>
              <a:rPr lang="en-US" sz="2800" b="0">
                <a:latin typeface="Times New Roman" panose="02020603050405020304" charset="0"/>
                <a:ea typeface="黑体" panose="02010609060101010101" charset="-122"/>
                <a:cs typeface="Times New Roman" panose="02020603050405020304" charset="0"/>
              </a:rPr>
              <a:t>M=8.0kg</a:t>
            </a:r>
            <a:r>
              <a:rPr lang="zh-CN" sz="2800" b="0">
                <a:latin typeface="Times New Roman" panose="02020603050405020304" charset="0"/>
                <a:ea typeface="黑体" panose="02010609060101010101" charset="-122"/>
                <a:cs typeface="Times New Roman" panose="02020603050405020304" charset="0"/>
              </a:rPr>
              <a:t>的薄木板静置在光滑水平地面上，质量</a:t>
            </a:r>
            <a:r>
              <a:rPr lang="en-US" sz="2800" b="0">
                <a:latin typeface="Times New Roman" panose="02020603050405020304" charset="0"/>
                <a:ea typeface="黑体" panose="02010609060101010101" charset="-122"/>
                <a:cs typeface="Times New Roman" panose="02020603050405020304" charset="0"/>
              </a:rPr>
              <a:t>m=2.0kg  </a:t>
            </a:r>
            <a:r>
              <a:rPr lang="zh-CN" sz="2800" b="0">
                <a:latin typeface="Times New Roman" panose="02020603050405020304" charset="0"/>
                <a:ea typeface="黑体" panose="02010609060101010101" charset="-122"/>
                <a:cs typeface="Times New Roman" panose="02020603050405020304" charset="0"/>
              </a:rPr>
              <a:t>的小滑块（可视为质点）以速度</a:t>
            </a:r>
            <a:r>
              <a:rPr lang="en-US" sz="2800" b="0" i="1">
                <a:latin typeface="Times New Roman" panose="02020603050405020304" charset="0"/>
                <a:ea typeface="黑体" panose="02010609060101010101" charset="-122"/>
                <a:cs typeface="Times New Roman" panose="02020603050405020304" charset="0"/>
              </a:rPr>
              <a:t>v</a:t>
            </a:r>
            <a:r>
              <a:rPr lang="en-US" sz="2800" b="0" baseline="-25000">
                <a:latin typeface="Times New Roman" panose="02020603050405020304" charset="0"/>
                <a:ea typeface="黑体" panose="02010609060101010101" charset="-122"/>
                <a:cs typeface="Times New Roman" panose="02020603050405020304" charset="0"/>
              </a:rPr>
              <a:t>0</a:t>
            </a:r>
            <a:r>
              <a:rPr lang="en-US" sz="2800" b="0">
                <a:latin typeface="Times New Roman" panose="02020603050405020304" charset="0"/>
                <a:ea typeface="黑体" panose="02010609060101010101" charset="-122"/>
                <a:cs typeface="Times New Roman" panose="02020603050405020304" charset="0"/>
              </a:rPr>
              <a:t>=5.0m/s  </a:t>
            </a:r>
            <a:r>
              <a:rPr lang="zh-CN" sz="2800" b="0">
                <a:latin typeface="Times New Roman" panose="02020603050405020304" charset="0"/>
                <a:ea typeface="黑体" panose="02010609060101010101" charset="-122"/>
                <a:cs typeface="Times New Roman" panose="02020603050405020304" charset="0"/>
              </a:rPr>
              <a:t>从木板的左端冲上木板，恰好不滑离木板．已知滑块与木板间的动摩擦因数</a:t>
            </a:r>
            <a:r>
              <a:rPr lang="en-US" sz="2800" b="0">
                <a:latin typeface="Times New Roman" panose="02020603050405020304" charset="0"/>
                <a:ea typeface="黑体" panose="02010609060101010101" charset="-122"/>
                <a:cs typeface="Times New Roman" panose="02020603050405020304" charset="0"/>
              </a:rPr>
              <a:t>μ=0.20 </a:t>
            </a:r>
            <a:r>
              <a:rPr lang="zh-CN" sz="2800" b="0">
                <a:latin typeface="Times New Roman" panose="02020603050405020304" charset="0"/>
                <a:ea typeface="黑体" panose="02010609060101010101" charset="-122"/>
                <a:cs typeface="Times New Roman" panose="02020603050405020304" charset="0"/>
              </a:rPr>
              <a:t>，重力加速度</a:t>
            </a:r>
            <a:r>
              <a:rPr lang="en-US" sz="2800" b="0">
                <a:latin typeface="Times New Roman" panose="02020603050405020304" charset="0"/>
                <a:ea typeface="黑体" panose="02010609060101010101" charset="-122"/>
                <a:cs typeface="Times New Roman" panose="02020603050405020304" charset="0"/>
              </a:rPr>
              <a:t>g</a:t>
            </a:r>
            <a:r>
              <a:rPr lang="zh-CN" sz="2800" b="0">
                <a:latin typeface="Times New Roman" panose="02020603050405020304" charset="0"/>
                <a:ea typeface="黑体" panose="02010609060101010101" charset="-122"/>
                <a:cs typeface="Times New Roman" panose="02020603050405020304" charset="0"/>
              </a:rPr>
              <a:t>取</a:t>
            </a:r>
            <a:r>
              <a:rPr lang="en-US" sz="2800" b="0">
                <a:latin typeface="Times New Roman" panose="02020603050405020304" charset="0"/>
                <a:ea typeface="黑体" panose="02010609060101010101" charset="-122"/>
                <a:cs typeface="Times New Roman" panose="02020603050405020304" charset="0"/>
              </a:rPr>
              <a:t>10m/s</a:t>
            </a:r>
            <a:r>
              <a:rPr lang="en-US" sz="2800" b="0" baseline="30000">
                <a:latin typeface="Times New Roman" panose="02020603050405020304" charset="0"/>
                <a:ea typeface="黑体" panose="02010609060101010101" charset="-122"/>
                <a:cs typeface="Times New Roman" panose="02020603050405020304" charset="0"/>
              </a:rPr>
              <a:t>2</a:t>
            </a:r>
            <a:r>
              <a:rPr lang="en-US" sz="2800" b="0">
                <a:latin typeface="Times New Roman" panose="02020603050405020304" charset="0"/>
                <a:ea typeface="黑体" panose="02010609060101010101" charset="-122"/>
                <a:cs typeface="Times New Roman" panose="02020603050405020304" charset="0"/>
              </a:rPr>
              <a:t> </a:t>
            </a:r>
            <a:r>
              <a:rPr lang="zh-CN" sz="2800" b="0">
                <a:latin typeface="Times New Roman" panose="02020603050405020304" charset="0"/>
                <a:ea typeface="黑体" panose="02010609060101010101" charset="-122"/>
                <a:cs typeface="Times New Roman" panose="02020603050405020304" charset="0"/>
              </a:rPr>
              <a:t>．求</a:t>
            </a:r>
            <a:endParaRPr lang="zh-CN" sz="2800" b="0">
              <a:latin typeface="Times New Roman" panose="02020603050405020304" charset="0"/>
              <a:ea typeface="黑体" panose="02010609060101010101" charset="-122"/>
              <a:cs typeface="Times New Roman" panose="02020603050405020304" charset="0"/>
            </a:endParaRPr>
          </a:p>
          <a:p>
            <a:pPr indent="0">
              <a:lnSpc>
                <a:spcPct val="150000"/>
              </a:lnSpc>
            </a:pPr>
            <a:r>
              <a:rPr lang="zh-CN" sz="2800" b="0">
                <a:latin typeface="Times New Roman" panose="02020603050405020304" charset="0"/>
                <a:ea typeface="黑体" panose="02010609060101010101" charset="-122"/>
                <a:cs typeface="Times New Roman" panose="02020603050405020304" charset="0"/>
              </a:rPr>
              <a:t>（</a:t>
            </a:r>
            <a:r>
              <a:rPr lang="en-US" sz="2800" b="0">
                <a:latin typeface="Times New Roman" panose="02020603050405020304" charset="0"/>
                <a:ea typeface="黑体" panose="02010609060101010101" charset="-122"/>
                <a:cs typeface="Times New Roman" panose="02020603050405020304" charset="0"/>
              </a:rPr>
              <a:t>1</a:t>
            </a:r>
            <a:r>
              <a:rPr lang="zh-CN" sz="2800" b="0">
                <a:latin typeface="Times New Roman" panose="02020603050405020304" charset="0"/>
                <a:ea typeface="黑体" panose="02010609060101010101" charset="-122"/>
                <a:cs typeface="Times New Roman" panose="02020603050405020304" charset="0"/>
              </a:rPr>
              <a:t>）分别求出小滑块和薄木板的加速度大小；</a:t>
            </a:r>
            <a:endParaRPr lang="zh-CN" sz="2800" b="0">
              <a:latin typeface="Times New Roman" panose="02020603050405020304" charset="0"/>
              <a:ea typeface="黑体" panose="02010609060101010101" charset="-122"/>
              <a:cs typeface="Times New Roman" panose="02020603050405020304" charset="0"/>
            </a:endParaRPr>
          </a:p>
          <a:p>
            <a:pPr indent="0">
              <a:lnSpc>
                <a:spcPct val="150000"/>
              </a:lnSpc>
            </a:pPr>
            <a:r>
              <a:rPr lang="zh-CN" sz="2800" b="0">
                <a:latin typeface="Times New Roman" panose="02020603050405020304" charset="0"/>
                <a:ea typeface="黑体" panose="02010609060101010101" charset="-122"/>
                <a:cs typeface="Times New Roman" panose="02020603050405020304" charset="0"/>
              </a:rPr>
              <a:t>（</a:t>
            </a:r>
            <a:r>
              <a:rPr lang="en-US" sz="2800" b="0">
                <a:latin typeface="Times New Roman" panose="02020603050405020304" charset="0"/>
                <a:ea typeface="黑体" panose="02010609060101010101" charset="-122"/>
                <a:cs typeface="Times New Roman" panose="02020603050405020304" charset="0"/>
              </a:rPr>
              <a:t>2</a:t>
            </a:r>
            <a:r>
              <a:rPr lang="zh-CN" sz="2800" b="0">
                <a:latin typeface="Times New Roman" panose="02020603050405020304" charset="0"/>
                <a:ea typeface="黑体" panose="02010609060101010101" charset="-122"/>
                <a:cs typeface="Times New Roman" panose="02020603050405020304" charset="0"/>
              </a:rPr>
              <a:t>） 薄木板的长度。</a:t>
            </a:r>
            <a:endParaRPr lang="zh-CN" altLang="en-US" sz="2800" b="0">
              <a:latin typeface="Times New Roman" panose="02020603050405020304" charset="0"/>
              <a:ea typeface="黑体" panose="02010609060101010101" charset="-122"/>
              <a:cs typeface="Times New Roman" panose="02020603050405020304" charset="0"/>
            </a:endParaRPr>
          </a:p>
        </p:txBody>
      </p:sp>
      <p:sp>
        <p:nvSpPr>
          <p:cNvPr id="27" name="文本框 26" title=""/>
          <p:cNvSpPr txBox="1"/>
          <p:nvPr>
            <p:custDataLst>
              <p:tags r:id="rId4"/>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sym typeface="+mn-ea"/>
              </a:rPr>
              <a:t>一、无外力板块模型</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sym typeface="+mn-ea"/>
            </a:endParaRPr>
          </a:p>
        </p:txBody>
      </p:sp>
      <p:pic>
        <p:nvPicPr>
          <p:cNvPr id="100029" name="图片 100029" title=""/>
          <p:cNvPicPr>
            <a:picLocks noChangeAspect="1"/>
          </p:cNvPicPr>
          <p:nvPr>
            <p:custDataLst>
              <p:tags r:id="rId6"/>
            </p:custDataLst>
          </p:nvPr>
        </p:nvPicPr>
        <p:blipFill>
          <a:blip r:embed="rId5"/>
          <a:stretch>
            <a:fillRect/>
          </a:stretch>
        </p:blipFill>
        <p:spPr>
          <a:xfrm>
            <a:off x="7976235" y="3429000"/>
            <a:ext cx="3684905" cy="1198245"/>
          </a:xfrm>
          <a:prstGeom prst="rect">
            <a:avLst/>
          </a:prstGeom>
        </p:spPr>
      </p:pic>
    </p:spTree>
  </p:cSld>
  <p:clrMapOvr>
    <a:masterClrMapping/>
  </p:clrMapOvr>
  <p:transition/>
  <p:timing/>
</p:sld>
</file>

<file path=ppt/slides/slide2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思考与讨论</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sp>
        <p:nvSpPr>
          <p:cNvPr id="2" name="文本框 1" title=""/>
          <p:cNvSpPr txBox="1"/>
          <p:nvPr>
            <p:custDataLst>
              <p:tags r:id="rId4"/>
            </p:custDataLst>
          </p:nvPr>
        </p:nvSpPr>
        <p:spPr>
          <a:xfrm>
            <a:off x="242570" y="956310"/>
            <a:ext cx="11422380" cy="2708910"/>
          </a:xfrm>
          <a:prstGeom prst="rect">
            <a:avLst/>
          </a:prstGeom>
          <a:noFill/>
        </p:spPr>
        <p:txBody>
          <a:bodyPr wrap="square" rtlCol="0" anchor="t">
            <a:noAutofit/>
          </a:bodyPr>
          <a:lstStyle/>
          <a:p>
            <a:pPr>
              <a:lnSpc>
                <a:spcPct val="150000"/>
              </a:lnSpc>
            </a:pPr>
            <a:r>
              <a:rPr lang="en-US" sz="2700">
                <a:solidFill>
                  <a:schemeClr val="tx1"/>
                </a:solidFill>
                <a:latin typeface="Times New Roman" panose="02020603050405020304" charset="0"/>
                <a:ea typeface="黑体" panose="02010609060101010101" charset="-122"/>
                <a:cs typeface="Times New Roman" panose="02020603050405020304" charset="0"/>
              </a:rPr>
              <a:t>(1)</a:t>
            </a:r>
            <a:r>
              <a:rPr lang="zh-CN" altLang="en-US" sz="2700">
                <a:solidFill>
                  <a:schemeClr val="tx1"/>
                </a:solidFill>
                <a:latin typeface="Times New Roman" panose="02020603050405020304" charset="0"/>
                <a:ea typeface="黑体" panose="02010609060101010101" charset="-122"/>
                <a:cs typeface="Times New Roman" panose="02020603050405020304" charset="0"/>
              </a:rPr>
              <a:t>小滑块冲上木板后，二者各受到几个力？二者的加速度多大？</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(2)</a:t>
            </a:r>
            <a:r>
              <a:rPr lang="zh-CN" altLang="en-US" sz="2700">
                <a:solidFill>
                  <a:schemeClr val="tx1"/>
                </a:solidFill>
                <a:latin typeface="Times New Roman" panose="02020603050405020304" charset="0"/>
                <a:ea typeface="黑体" panose="02010609060101010101" charset="-122"/>
                <a:cs typeface="Times New Roman" panose="02020603050405020304" charset="0"/>
              </a:rPr>
              <a:t>小滑块和木板各做何种运动？</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(3)</a:t>
            </a:r>
            <a:r>
              <a:rPr lang="zh-CN" altLang="en-US" sz="2700">
                <a:solidFill>
                  <a:schemeClr val="tx1"/>
                </a:solidFill>
                <a:latin typeface="Times New Roman" panose="02020603050405020304" charset="0"/>
                <a:ea typeface="黑体" panose="02010609060101010101" charset="-122"/>
                <a:cs typeface="Times New Roman" panose="02020603050405020304" charset="0"/>
              </a:rPr>
              <a:t>小滑块恰好不脱离木板，需要的条件是什么？</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(4)</a:t>
            </a:r>
            <a:r>
              <a:rPr lang="zh-CN" altLang="en-US" sz="2700">
                <a:solidFill>
                  <a:schemeClr val="tx1"/>
                </a:solidFill>
                <a:latin typeface="Times New Roman" panose="02020603050405020304" charset="0"/>
                <a:ea typeface="黑体" panose="02010609060101010101" charset="-122"/>
                <a:cs typeface="Times New Roman" panose="02020603050405020304" charset="0"/>
              </a:rPr>
              <a:t>你能否画一下小滑块和木板运动的过程简图，并标注出二者的位移关系？</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p:txBody>
      </p:sp>
      <p:pic>
        <p:nvPicPr>
          <p:cNvPr id="100029" name="图片 100029" title=""/>
          <p:cNvPicPr>
            <a:picLocks noChangeAspect="1"/>
          </p:cNvPicPr>
          <p:nvPr>
            <p:custDataLst>
              <p:tags r:id="rId6"/>
            </p:custDataLst>
          </p:nvPr>
        </p:nvPicPr>
        <p:blipFill>
          <a:blip r:embed="rId5"/>
          <a:stretch>
            <a:fillRect/>
          </a:stretch>
        </p:blipFill>
        <p:spPr>
          <a:xfrm>
            <a:off x="7976235" y="3976370"/>
            <a:ext cx="3684905" cy="1198245"/>
          </a:xfrm>
          <a:prstGeom prst="rect">
            <a:avLst/>
          </a:prstGeom>
        </p:spPr>
      </p:pic>
    </p:spTree>
  </p:cSld>
  <p:clrMapOvr>
    <a:masterClrMapping/>
  </p:clrMapOvr>
  <p:transition/>
  <p:timing/>
</p:sld>
</file>

<file path=ppt/slides/slide2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sym typeface="+mn-ea"/>
              </a:rPr>
              <a:t>二、受恒定外力板块模型</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sym typeface="+mn-ea"/>
            </a:endParaRPr>
          </a:p>
        </p:txBody>
      </p:sp>
      <p:sp>
        <p:nvSpPr>
          <p:cNvPr id="100" name="文本框 99" title=""/>
          <p:cNvSpPr txBox="1"/>
          <p:nvPr>
            <p:custDataLst>
              <p:tags r:id="rId4"/>
            </p:custDataLst>
          </p:nvPr>
        </p:nvSpPr>
        <p:spPr>
          <a:xfrm>
            <a:off x="391160" y="1103630"/>
            <a:ext cx="11499850" cy="4650740"/>
          </a:xfrm>
          <a:prstGeom prst="rect">
            <a:avLst/>
          </a:prstGeom>
          <a:noFill/>
          <a:ln w="9525">
            <a:noFill/>
          </a:ln>
        </p:spPr>
        <p:txBody>
          <a:bodyPr>
            <a:noAutofit/>
          </a:bodyPr>
          <a:lstStyle/>
          <a:p>
            <a:pPr indent="0">
              <a:lnSpc>
                <a:spcPct val="150000"/>
              </a:lnSpc>
            </a:pPr>
            <a:r>
              <a:rPr lang="zh-CN" sz="2600" b="0">
                <a:latin typeface="Times New Roman" panose="02020603050405020304" charset="0"/>
                <a:ea typeface="黑体" panose="02010609060101010101" charset="-122"/>
                <a:cs typeface="Times New Roman" panose="02020603050405020304" charset="0"/>
              </a:rPr>
              <a:t>【例题</a:t>
            </a:r>
            <a:r>
              <a:rPr lang="en-US" altLang="zh-CN" sz="2600" b="0">
                <a:latin typeface="Times New Roman" panose="02020603050405020304" charset="0"/>
                <a:ea typeface="黑体" panose="02010609060101010101" charset="-122"/>
                <a:cs typeface="Times New Roman" panose="02020603050405020304" charset="0"/>
              </a:rPr>
              <a:t>8</a:t>
            </a:r>
            <a:r>
              <a:rPr lang="zh-CN" sz="2600" b="0">
                <a:latin typeface="Times New Roman" panose="02020603050405020304" charset="0"/>
                <a:ea typeface="黑体" panose="02010609060101010101" charset="-122"/>
                <a:cs typeface="Times New Roman" panose="02020603050405020304" charset="0"/>
              </a:rPr>
              <a:t>】图所示，质量</a:t>
            </a:r>
            <a:r>
              <a:rPr lang="en-US" sz="2600" b="0">
                <a:latin typeface="Times New Roman" panose="02020603050405020304" charset="0"/>
                <a:ea typeface="黑体" panose="02010609060101010101" charset="-122"/>
                <a:cs typeface="Times New Roman" panose="02020603050405020304" charset="0"/>
              </a:rPr>
              <a:t>M=8kg</a:t>
            </a:r>
            <a:r>
              <a:rPr lang="zh-CN" sz="2600" b="0">
                <a:latin typeface="Times New Roman" panose="02020603050405020304" charset="0"/>
                <a:ea typeface="黑体" panose="02010609060101010101" charset="-122"/>
                <a:cs typeface="Times New Roman" panose="02020603050405020304" charset="0"/>
              </a:rPr>
              <a:t>的小车放在水平光滑的平面上，在小车左端加一水平推力</a:t>
            </a:r>
            <a:r>
              <a:rPr lang="en-US" sz="2600" b="0">
                <a:latin typeface="Times New Roman" panose="02020603050405020304" charset="0"/>
                <a:ea typeface="黑体" panose="02010609060101010101" charset="-122"/>
                <a:cs typeface="Times New Roman" panose="02020603050405020304" charset="0"/>
              </a:rPr>
              <a:t>F=8N</a:t>
            </a:r>
            <a:r>
              <a:rPr lang="zh-CN" sz="2600" b="0">
                <a:latin typeface="Times New Roman" panose="02020603050405020304" charset="0"/>
                <a:ea typeface="黑体" panose="02010609060101010101" charset="-122"/>
                <a:cs typeface="Times New Roman" panose="02020603050405020304" charset="0"/>
              </a:rPr>
              <a:t>，当小车向右运动的速度达到</a:t>
            </a:r>
            <a:r>
              <a:rPr lang="en-US" sz="2600" b="0">
                <a:latin typeface="Times New Roman" panose="02020603050405020304" charset="0"/>
                <a:ea typeface="黑体" panose="02010609060101010101" charset="-122"/>
                <a:cs typeface="Times New Roman" panose="02020603050405020304" charset="0"/>
              </a:rPr>
              <a:t>1.5m/s</a:t>
            </a:r>
            <a:r>
              <a:rPr lang="zh-CN" sz="2600" b="0">
                <a:latin typeface="Times New Roman" panose="02020603050405020304" charset="0"/>
                <a:ea typeface="黑体" panose="02010609060101010101" charset="-122"/>
                <a:cs typeface="Times New Roman" panose="02020603050405020304" charset="0"/>
              </a:rPr>
              <a:t>时，在小车前端轻轻地放上一个大小不计，质量为</a:t>
            </a:r>
            <a:r>
              <a:rPr lang="en-US" sz="2600" b="0">
                <a:latin typeface="Times New Roman" panose="02020603050405020304" charset="0"/>
                <a:ea typeface="黑体" panose="02010609060101010101" charset="-122"/>
                <a:cs typeface="Times New Roman" panose="02020603050405020304" charset="0"/>
              </a:rPr>
              <a:t>m=2kg</a:t>
            </a:r>
            <a:r>
              <a:rPr lang="zh-CN" sz="2600" b="0">
                <a:latin typeface="Times New Roman" panose="02020603050405020304" charset="0"/>
                <a:ea typeface="黑体" panose="02010609060101010101" charset="-122"/>
                <a:cs typeface="Times New Roman" panose="02020603050405020304" charset="0"/>
              </a:rPr>
              <a:t>的小物块，物块与小车间的动摩擦因数</a:t>
            </a:r>
            <a:r>
              <a:rPr lang="en-US" sz="2600" b="0">
                <a:latin typeface="Times New Roman" panose="02020603050405020304" charset="0"/>
                <a:ea typeface="黑体" panose="02010609060101010101" charset="-122"/>
                <a:cs typeface="Times New Roman" panose="02020603050405020304" charset="0"/>
              </a:rPr>
              <a:t>μ=0.2</a:t>
            </a:r>
            <a:r>
              <a:rPr lang="zh-CN" sz="2600" b="0">
                <a:latin typeface="Times New Roman" panose="02020603050405020304" charset="0"/>
                <a:ea typeface="黑体" panose="02010609060101010101" charset="-122"/>
                <a:cs typeface="Times New Roman" panose="02020603050405020304" charset="0"/>
              </a:rPr>
              <a:t>，小车足够长。（取</a:t>
            </a:r>
            <a:r>
              <a:rPr lang="en-US" sz="2600" b="0">
                <a:latin typeface="Times New Roman" panose="02020603050405020304" charset="0"/>
                <a:ea typeface="黑体" panose="02010609060101010101" charset="-122"/>
                <a:cs typeface="Times New Roman" panose="02020603050405020304" charset="0"/>
              </a:rPr>
              <a:t>g=10m/s</a:t>
            </a:r>
            <a:r>
              <a:rPr lang="en-US" sz="2600" b="0" baseline="30000">
                <a:latin typeface="Times New Roman" panose="02020603050405020304" charset="0"/>
                <a:ea typeface="黑体" panose="02010609060101010101" charset="-122"/>
                <a:cs typeface="Times New Roman" panose="02020603050405020304" charset="0"/>
              </a:rPr>
              <a:t>2</a:t>
            </a:r>
            <a:r>
              <a:rPr lang="zh-CN" sz="2600" b="0">
                <a:latin typeface="Times New Roman" panose="02020603050405020304" charset="0"/>
                <a:ea typeface="黑体" panose="02010609060101010101" charset="-122"/>
                <a:cs typeface="Times New Roman" panose="02020603050405020304" charset="0"/>
              </a:rPr>
              <a:t>）求</a:t>
            </a:r>
            <a:r>
              <a:rPr lang="en-US" sz="2600" b="0">
                <a:latin typeface="Times New Roman" panose="02020603050405020304" charset="0"/>
                <a:ea typeface="黑体" panose="02010609060101010101" charset="-122"/>
                <a:cs typeface="Times New Roman" panose="02020603050405020304" charset="0"/>
              </a:rPr>
              <a:t>∶</a:t>
            </a:r>
            <a:endParaRPr lang="zh-CN" sz="2600" b="0">
              <a:latin typeface="Times New Roman" panose="02020603050405020304" charset="0"/>
              <a:ea typeface="黑体" panose="02010609060101010101" charset="-122"/>
              <a:cs typeface="Times New Roman" panose="02020603050405020304" charset="0"/>
            </a:endParaRPr>
          </a:p>
          <a:p>
            <a:pPr indent="0">
              <a:lnSpc>
                <a:spcPct val="150000"/>
              </a:lnSpc>
            </a:pPr>
            <a:r>
              <a:rPr lang="zh-CN" sz="2600" b="0">
                <a:latin typeface="Times New Roman" panose="02020603050405020304" charset="0"/>
                <a:ea typeface="黑体" panose="02010609060101010101" charset="-122"/>
                <a:cs typeface="Times New Roman" panose="02020603050405020304" charset="0"/>
              </a:rPr>
              <a:t>（</a:t>
            </a:r>
            <a:r>
              <a:rPr lang="en-US" sz="2600" b="0">
                <a:latin typeface="Times New Roman" panose="02020603050405020304" charset="0"/>
                <a:ea typeface="黑体" panose="02010609060101010101" charset="-122"/>
                <a:cs typeface="Times New Roman" panose="02020603050405020304" charset="0"/>
              </a:rPr>
              <a:t>1</a:t>
            </a:r>
            <a:r>
              <a:rPr lang="zh-CN" sz="2600" b="0">
                <a:latin typeface="Times New Roman" panose="02020603050405020304" charset="0"/>
                <a:ea typeface="黑体" panose="02010609060101010101" charset="-122"/>
                <a:cs typeface="Times New Roman" panose="02020603050405020304" charset="0"/>
              </a:rPr>
              <a:t>）小物块放后，小物块及小车的加速度各为多大？</a:t>
            </a:r>
            <a:endParaRPr lang="zh-CN" sz="2600" b="0">
              <a:latin typeface="Times New Roman" panose="02020603050405020304" charset="0"/>
              <a:ea typeface="黑体" panose="02010609060101010101" charset="-122"/>
              <a:cs typeface="Times New Roman" panose="02020603050405020304" charset="0"/>
            </a:endParaRPr>
          </a:p>
          <a:p>
            <a:pPr indent="0">
              <a:lnSpc>
                <a:spcPct val="150000"/>
              </a:lnSpc>
            </a:pPr>
            <a:r>
              <a:rPr lang="zh-CN" sz="2600" b="0">
                <a:latin typeface="Times New Roman" panose="02020603050405020304" charset="0"/>
                <a:ea typeface="黑体" panose="02010609060101010101" charset="-122"/>
                <a:cs typeface="Times New Roman" panose="02020603050405020304" charset="0"/>
              </a:rPr>
              <a:t>（</a:t>
            </a:r>
            <a:r>
              <a:rPr lang="en-US" sz="2600" b="0">
                <a:latin typeface="Times New Roman" panose="02020603050405020304" charset="0"/>
                <a:ea typeface="黑体" panose="02010609060101010101" charset="-122"/>
                <a:cs typeface="Times New Roman" panose="02020603050405020304" charset="0"/>
              </a:rPr>
              <a:t>2</a:t>
            </a:r>
            <a:r>
              <a:rPr lang="zh-CN" sz="2600" b="0">
                <a:latin typeface="Times New Roman" panose="02020603050405020304" charset="0"/>
                <a:ea typeface="黑体" panose="02010609060101010101" charset="-122"/>
                <a:cs typeface="Times New Roman" panose="02020603050405020304" charset="0"/>
              </a:rPr>
              <a:t>）经多长时间两者达到相同的速度？</a:t>
            </a:r>
            <a:endParaRPr lang="zh-CN" sz="2600" b="0">
              <a:latin typeface="Times New Roman" panose="02020603050405020304" charset="0"/>
              <a:ea typeface="黑体" panose="02010609060101010101" charset="-122"/>
              <a:cs typeface="Times New Roman" panose="02020603050405020304" charset="0"/>
            </a:endParaRPr>
          </a:p>
          <a:p>
            <a:pPr indent="0">
              <a:lnSpc>
                <a:spcPct val="150000"/>
              </a:lnSpc>
            </a:pPr>
            <a:r>
              <a:rPr lang="zh-CN" sz="2600" b="0">
                <a:latin typeface="Times New Roman" panose="02020603050405020304" charset="0"/>
                <a:ea typeface="黑体" panose="02010609060101010101" charset="-122"/>
                <a:cs typeface="Times New Roman" panose="02020603050405020304" charset="0"/>
              </a:rPr>
              <a:t>（</a:t>
            </a:r>
            <a:r>
              <a:rPr lang="en-US" sz="2600" b="0">
                <a:latin typeface="Times New Roman" panose="02020603050405020304" charset="0"/>
                <a:ea typeface="黑体" panose="02010609060101010101" charset="-122"/>
                <a:cs typeface="Times New Roman" panose="02020603050405020304" charset="0"/>
              </a:rPr>
              <a:t>3</a:t>
            </a:r>
            <a:r>
              <a:rPr lang="zh-CN" sz="2600" b="0">
                <a:latin typeface="Times New Roman" panose="02020603050405020304" charset="0"/>
                <a:ea typeface="黑体" panose="02010609060101010101" charset="-122"/>
                <a:cs typeface="Times New Roman" panose="02020603050405020304" charset="0"/>
              </a:rPr>
              <a:t>）从小物块放上小车开始，经过</a:t>
            </a:r>
            <a:r>
              <a:rPr lang="en-US" sz="2600" b="0">
                <a:latin typeface="Times New Roman" panose="02020603050405020304" charset="0"/>
                <a:ea typeface="黑体" panose="02010609060101010101" charset="-122"/>
                <a:cs typeface="Times New Roman" panose="02020603050405020304" charset="0"/>
              </a:rPr>
              <a:t>t=2s</a:t>
            </a:r>
            <a:r>
              <a:rPr lang="zh-CN" sz="2600" b="0">
                <a:latin typeface="Times New Roman" panose="02020603050405020304" charset="0"/>
                <a:ea typeface="黑体" panose="02010609060101010101" charset="-122"/>
                <a:cs typeface="Times New Roman" panose="02020603050405020304" charset="0"/>
              </a:rPr>
              <a:t>小物块通过的位移大小为多少？</a:t>
            </a:r>
            <a:endParaRPr lang="zh-CN" altLang="en-US" sz="2600" b="0">
              <a:latin typeface="Times New Roman" panose="02020603050405020304" charset="0"/>
              <a:ea typeface="黑体" panose="02010609060101010101" charset="-122"/>
              <a:cs typeface="Times New Roman" panose="02020603050405020304" charset="0"/>
            </a:endParaRPr>
          </a:p>
        </p:txBody>
      </p:sp>
      <p:pic>
        <p:nvPicPr>
          <p:cNvPr id="100031" name="图片 100031" title=""/>
          <p:cNvPicPr>
            <a:picLocks noChangeAspect="1"/>
          </p:cNvPicPr>
          <p:nvPr>
            <p:custDataLst>
              <p:tags r:id="rId6"/>
            </p:custDataLst>
          </p:nvPr>
        </p:nvPicPr>
        <p:blipFill>
          <a:blip r:embed="rId5"/>
          <a:stretch>
            <a:fillRect/>
          </a:stretch>
        </p:blipFill>
        <p:spPr>
          <a:xfrm>
            <a:off x="8326755" y="3429000"/>
            <a:ext cx="3564255" cy="1021080"/>
          </a:xfrm>
          <a:prstGeom prst="rect">
            <a:avLst/>
          </a:prstGeom>
        </p:spPr>
      </p:pic>
    </p:spTree>
  </p:cSld>
  <p:clrMapOvr>
    <a:masterClrMapping/>
  </p:clrMapOvr>
  <p:transition/>
  <p:timing/>
</p:sld>
</file>

<file path=ppt/slides/slide2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思考与讨论</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sp>
        <p:nvSpPr>
          <p:cNvPr id="2" name="文本框 1" title=""/>
          <p:cNvSpPr txBox="1"/>
          <p:nvPr>
            <p:custDataLst>
              <p:tags r:id="rId4"/>
            </p:custDataLst>
          </p:nvPr>
        </p:nvSpPr>
        <p:spPr>
          <a:xfrm>
            <a:off x="242570" y="956310"/>
            <a:ext cx="11422380" cy="2132330"/>
          </a:xfrm>
          <a:prstGeom prst="rect">
            <a:avLst/>
          </a:prstGeom>
          <a:noFill/>
        </p:spPr>
        <p:txBody>
          <a:bodyPr wrap="square" rtlCol="0" anchor="t">
            <a:noAutofit/>
          </a:bodyPr>
          <a:lstStyle/>
          <a:p>
            <a:pPr>
              <a:lnSpc>
                <a:spcPct val="150000"/>
              </a:lnSpc>
            </a:pPr>
            <a:r>
              <a:rPr lang="en-US" sz="2700">
                <a:solidFill>
                  <a:schemeClr val="tx1"/>
                </a:solidFill>
                <a:latin typeface="Times New Roman" panose="02020603050405020304" charset="0"/>
                <a:ea typeface="黑体" panose="02010609060101010101" charset="-122"/>
                <a:cs typeface="Times New Roman" panose="02020603050405020304" charset="0"/>
              </a:rPr>
              <a:t>(1)</a:t>
            </a:r>
            <a:r>
              <a:rPr lang="zh-CN" sz="2700">
                <a:latin typeface="Times New Roman" panose="02020603050405020304" charset="0"/>
                <a:ea typeface="黑体" panose="02010609060101010101" charset="-122"/>
                <a:cs typeface="Times New Roman" panose="02020603050405020304" charset="0"/>
                <a:sym typeface="+mn-ea"/>
              </a:rPr>
              <a:t>小物块放</a:t>
            </a:r>
            <a:r>
              <a:rPr lang="zh-CN" altLang="en-US" sz="2700">
                <a:solidFill>
                  <a:schemeClr val="tx1"/>
                </a:solidFill>
                <a:latin typeface="Times New Roman" panose="02020603050405020304" charset="0"/>
                <a:ea typeface="黑体" panose="02010609060101010101" charset="-122"/>
                <a:cs typeface="Times New Roman" panose="02020603050405020304" charset="0"/>
              </a:rPr>
              <a:t>后，二者各受到几个力？二者的加速度多大？</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(2)</a:t>
            </a:r>
            <a:r>
              <a:rPr lang="zh-CN" altLang="en-US" sz="2700">
                <a:solidFill>
                  <a:schemeClr val="tx1"/>
                </a:solidFill>
                <a:latin typeface="Times New Roman" panose="02020603050405020304" charset="0"/>
                <a:ea typeface="黑体" panose="02010609060101010101" charset="-122"/>
                <a:cs typeface="Times New Roman" panose="02020603050405020304" charset="0"/>
              </a:rPr>
              <a:t>小物块和小车各做何种运动？</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(3)</a:t>
            </a:r>
            <a:r>
              <a:rPr lang="zh-CN" altLang="en-US" sz="2700">
                <a:solidFill>
                  <a:schemeClr val="tx1"/>
                </a:solidFill>
                <a:latin typeface="Times New Roman" panose="02020603050405020304" charset="0"/>
                <a:ea typeface="黑体" panose="02010609060101010101" charset="-122"/>
                <a:cs typeface="Times New Roman" panose="02020603050405020304" charset="0"/>
              </a:rPr>
              <a:t>经多长时间两者达到相同的速度？</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p:txBody>
      </p:sp>
      <p:pic>
        <p:nvPicPr>
          <p:cNvPr id="100031" name="图片 100031" title=""/>
          <p:cNvPicPr>
            <a:picLocks noChangeAspect="1"/>
          </p:cNvPicPr>
          <p:nvPr>
            <p:custDataLst>
              <p:tags r:id="rId6"/>
            </p:custDataLst>
          </p:nvPr>
        </p:nvPicPr>
        <p:blipFill>
          <a:blip r:embed="rId5"/>
          <a:stretch>
            <a:fillRect/>
          </a:stretch>
        </p:blipFill>
        <p:spPr>
          <a:xfrm>
            <a:off x="8247380" y="1786890"/>
            <a:ext cx="3564255" cy="1021080"/>
          </a:xfrm>
          <a:prstGeom prst="rect">
            <a:avLst/>
          </a:prstGeom>
        </p:spPr>
      </p:pic>
    </p:spTree>
  </p:cSld>
  <p:clrMapOvr>
    <a:masterClrMapping/>
  </p:clrMapOvr>
  <p:transition/>
  <p:timing/>
</p:sld>
</file>

<file path=ppt/slides/slide2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思考与讨论</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sp>
        <p:nvSpPr>
          <p:cNvPr id="2" name="文本框 1" title=""/>
          <p:cNvSpPr txBox="1"/>
          <p:nvPr>
            <p:custDataLst>
              <p:tags r:id="rId4"/>
            </p:custDataLst>
          </p:nvPr>
        </p:nvSpPr>
        <p:spPr>
          <a:xfrm>
            <a:off x="242570" y="956310"/>
            <a:ext cx="11422380" cy="1216660"/>
          </a:xfrm>
          <a:prstGeom prst="rect">
            <a:avLst/>
          </a:prstGeom>
          <a:noFill/>
        </p:spPr>
        <p:txBody>
          <a:bodyPr wrap="square" rtlCol="0" anchor="t">
            <a:noAutofit/>
          </a:bodyPr>
          <a:lstStyle/>
          <a:p>
            <a:pPr>
              <a:lnSpc>
                <a:spcPct val="150000"/>
              </a:lnSpc>
            </a:pPr>
            <a:r>
              <a:rPr lang="en-US" sz="2700">
                <a:solidFill>
                  <a:schemeClr val="tx1"/>
                </a:solidFill>
                <a:latin typeface="Times New Roman" panose="02020603050405020304" charset="0"/>
                <a:ea typeface="黑体" panose="02010609060101010101" charset="-122"/>
                <a:cs typeface="Times New Roman" panose="02020603050405020304" charset="0"/>
              </a:rPr>
              <a:t>(4)</a:t>
            </a:r>
            <a:r>
              <a:rPr lang="zh-CN" sz="2700">
                <a:latin typeface="Times New Roman" panose="02020603050405020304" charset="0"/>
                <a:ea typeface="黑体" panose="02010609060101010101" charset="-122"/>
                <a:cs typeface="Times New Roman" panose="02020603050405020304" charset="0"/>
                <a:sym typeface="+mn-ea"/>
              </a:rPr>
              <a:t>小物块和小车共速后，小物块是否继续以原来的加速度做加速运动？</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r>
              <a:rPr lang="en-US" altLang="zh-CN" sz="2700">
                <a:solidFill>
                  <a:schemeClr val="tx1"/>
                </a:solidFill>
                <a:latin typeface="Times New Roman" panose="02020603050405020304" charset="0"/>
                <a:ea typeface="黑体" panose="02010609060101010101" charset="-122"/>
                <a:cs typeface="Times New Roman" panose="02020603050405020304" charset="0"/>
              </a:rPr>
              <a:t>(5)</a:t>
            </a:r>
            <a:r>
              <a:rPr lang="zh-CN" altLang="en-US" sz="2700">
                <a:solidFill>
                  <a:schemeClr val="tx1"/>
                </a:solidFill>
                <a:latin typeface="Times New Roman" panose="02020603050405020304" charset="0"/>
                <a:ea typeface="黑体" panose="02010609060101010101" charset="-122"/>
                <a:cs typeface="Times New Roman" panose="02020603050405020304" charset="0"/>
              </a:rPr>
              <a:t>如何判断小物块和小车共速后的运动形式？</a:t>
            </a: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a:p>
            <a:pPr>
              <a:lnSpc>
                <a:spcPct val="150000"/>
              </a:lnSpc>
            </a:pPr>
            <a:endParaRPr lang="zh-CN" altLang="en-US" sz="2700">
              <a:solidFill>
                <a:schemeClr val="tx1"/>
              </a:solidFill>
              <a:latin typeface="Times New Roman" panose="02020603050405020304" charset="0"/>
              <a:ea typeface="黑体" panose="02010609060101010101" charset="-122"/>
              <a:cs typeface="Times New Roman" panose="02020603050405020304" charset="0"/>
            </a:endParaRPr>
          </a:p>
        </p:txBody>
      </p:sp>
      <p:pic>
        <p:nvPicPr>
          <p:cNvPr id="100031" name="图片 100031" title=""/>
          <p:cNvPicPr>
            <a:picLocks noChangeAspect="1"/>
          </p:cNvPicPr>
          <p:nvPr>
            <p:custDataLst>
              <p:tags r:id="rId6"/>
            </p:custDataLst>
          </p:nvPr>
        </p:nvPicPr>
        <p:blipFill>
          <a:blip r:embed="rId5"/>
          <a:stretch>
            <a:fillRect/>
          </a:stretch>
        </p:blipFill>
        <p:spPr>
          <a:xfrm>
            <a:off x="8247380" y="2065020"/>
            <a:ext cx="3564255" cy="1021080"/>
          </a:xfrm>
          <a:prstGeom prst="rect">
            <a:avLst/>
          </a:prstGeom>
        </p:spPr>
      </p:pic>
    </p:spTree>
  </p:cSld>
  <p:clrMapOvr>
    <a:masterClrMapping/>
  </p:clrMapOvr>
  <p:transition/>
  <p:timing/>
</p:sld>
</file>

<file path=ppt/slides/slide2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7" name="文本框 26" title=""/>
          <p:cNvSpPr txBox="1"/>
          <p:nvPr>
            <p:custDataLst>
              <p:tags r:id="rId3"/>
            </p:custDataLst>
          </p:nvPr>
        </p:nvSpPr>
        <p:spPr>
          <a:xfrm>
            <a:off x="230505" y="200025"/>
            <a:ext cx="5965825" cy="756285"/>
          </a:xfrm>
          <a:prstGeom prst="rect">
            <a:avLst/>
          </a:prstGeom>
          <a:noFill/>
        </p:spPr>
        <p:txBody>
          <a:bodyPr wrap="square" rtlCol="0">
            <a:noAutofit/>
          </a:bodyPr>
          <a:lstStyle/>
          <a:p>
            <a:r>
              <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rPr>
              <a:t>板块模型的三个基本关系</a:t>
            </a:r>
            <a:endParaRPr lang="zh-CN" altLang="en-US" sz="3200" spc="600">
              <a:solidFill>
                <a:srgbClr val="0C76B2"/>
              </a:solidFill>
              <a:latin typeface="思源黑体 CN Bold" panose="020b0800000000000000" pitchFamily="34" charset="-122"/>
              <a:ea typeface="思源黑体 CN Bold" panose="020b0800000000000000" pitchFamily="34" charset="-122"/>
              <a:cs typeface="阿里巴巴普惠体 B" panose="00020600040101010101" pitchFamily="18" charset="-122"/>
            </a:endParaRPr>
          </a:p>
        </p:txBody>
      </p:sp>
      <p:graphicFrame>
        <p:nvGraphicFramePr>
          <p:cNvPr id="3" name="表格 2" title=""/>
          <p:cNvGraphicFramePr>
            <a:graphicFrameLocks noGrp="1"/>
          </p:cNvGraphicFramePr>
          <p:nvPr>
            <p:custDataLst>
              <p:tags r:id="rId4"/>
            </p:custDataLst>
          </p:nvPr>
        </p:nvGraphicFramePr>
        <p:xfrm>
          <a:off x="479425" y="1190308"/>
          <a:ext cx="11233404" cy="5211763"/>
        </p:xfrm>
        <a:graphic>
          <a:graphicData uri="http://schemas.openxmlformats.org/drawingml/2006/table">
            <a:tbl>
              <a:tblPr/>
              <a:tblGrid>
                <a:gridCol w="1728216"/>
                <a:gridCol w="9505188"/>
              </a:tblGrid>
              <a:tr h="2286000">
                <a:tc>
                  <a:txBody>
                    <a:bodyPr vert="horz" wrap="square"/>
                    <a:lstStyle/>
                    <a:p>
                      <a:pPr algn="ctr">
                        <a:lnSpc>
                          <a:spcPct val="150000"/>
                        </a:lnSpc>
                        <a:spcAft>
                          <a:spcPct val="0"/>
                        </a:spcAft>
                        <a:tabLst>
                          <a:tab pos="1350645"/>
                          <a:tab pos="2700655"/>
                          <a:tab pos="4050665"/>
                        </a:tabLst>
                      </a:pPr>
                      <a:r>
                        <a:rPr lang="zh-CN" sz="2400" b="1" kern="100">
                          <a:effectLst/>
                          <a:latin typeface="黑体" panose="02010609060101010101" charset="-122"/>
                          <a:ea typeface="黑体" panose="02010609060101010101" charset="-122"/>
                          <a:cs typeface="Times New Roman" panose="02020603050405020304" charset="0"/>
                        </a:rPr>
                        <a:t>加速度</a:t>
                      </a:r>
                      <a:endParaRPr lang="en-US" altLang="zh-CN" sz="2400" b="1" kern="100">
                        <a:effectLst/>
                        <a:latin typeface="黑体" panose="02010609060101010101" charset="-122"/>
                        <a:ea typeface="黑体" panose="02010609060101010101" charset="-122"/>
                        <a:cs typeface="Times New Roman" panose="02020603050405020304" charset="0"/>
                      </a:endParaRPr>
                    </a:p>
                    <a:p>
                      <a:pPr algn="ctr">
                        <a:lnSpc>
                          <a:spcPct val="150000"/>
                        </a:lnSpc>
                        <a:spcAft>
                          <a:spcPct val="0"/>
                        </a:spcAft>
                        <a:tabLst>
                          <a:tab pos="1350645"/>
                          <a:tab pos="2700655"/>
                          <a:tab pos="4050665"/>
                        </a:tabLst>
                      </a:pPr>
                      <a:r>
                        <a:rPr lang="zh-CN" sz="2400" b="1" kern="100">
                          <a:effectLst/>
                          <a:latin typeface="黑体" panose="02010609060101010101" charset="-122"/>
                          <a:ea typeface="黑体" panose="02010609060101010101" charset="-122"/>
                          <a:cs typeface="Times New Roman" panose="02020603050405020304" charset="0"/>
                        </a:rPr>
                        <a:t>关系</a:t>
                      </a:r>
                      <a:endParaRPr lang="zh-CN" sz="2400" kern="100">
                        <a:effectLst/>
                        <a:latin typeface="黑体" panose="02010609060101010101" charset="-122"/>
                        <a:ea typeface="黑体" panose="02010609060101010101" charset="-122"/>
                        <a:cs typeface="Courier New" panose="020703090202050204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l">
                        <a:lnSpc>
                          <a:spcPct val="150000"/>
                        </a:lnSpc>
                        <a:spcAft>
                          <a:spcPct val="0"/>
                        </a:spcAft>
                        <a:tabLst>
                          <a:tab pos="1350645"/>
                          <a:tab pos="2700655"/>
                          <a:tab pos="4050665"/>
                        </a:tabLst>
                      </a:pPr>
                      <a:r>
                        <a:rPr lang="zh-CN" sz="2400" b="1" kern="100">
                          <a:effectLst/>
                          <a:latin typeface="黑体" panose="02010609060101010101" charset="-122"/>
                          <a:ea typeface="黑体" panose="02010609060101010101" charset="-122"/>
                          <a:cs typeface="黑体" panose="02010609060101010101" charset="-122"/>
                        </a:rPr>
                        <a:t>如果滑块与木板之间没有发生相对运动，可以用</a:t>
                      </a:r>
                      <a:r>
                        <a:rPr lang="en-US" sz="2400" b="1" kern="100">
                          <a:effectLst/>
                          <a:latin typeface="黑体" panose="02010609060101010101" charset="-122"/>
                          <a:ea typeface="黑体" panose="02010609060101010101" charset="-122"/>
                          <a:cs typeface="黑体" panose="02010609060101010101" charset="-122"/>
                        </a:rPr>
                        <a:t>“</a:t>
                      </a:r>
                      <a:r>
                        <a:rPr lang="zh-CN" sz="2400" b="1" kern="100">
                          <a:effectLst/>
                          <a:latin typeface="黑体" panose="02010609060101010101" charset="-122"/>
                          <a:ea typeface="黑体" panose="02010609060101010101" charset="-122"/>
                          <a:cs typeface="黑体" panose="02010609060101010101" charset="-122"/>
                        </a:rPr>
                        <a:t>整体法</a:t>
                      </a:r>
                      <a:r>
                        <a:rPr lang="en-US" sz="2400" b="1" kern="100">
                          <a:effectLst/>
                          <a:latin typeface="黑体" panose="02010609060101010101" charset="-122"/>
                          <a:ea typeface="黑体" panose="02010609060101010101" charset="-122"/>
                          <a:cs typeface="黑体" panose="02010609060101010101" charset="-122"/>
                        </a:rPr>
                        <a:t>”</a:t>
                      </a:r>
                      <a:r>
                        <a:rPr lang="zh-CN" sz="2400" b="1" kern="100">
                          <a:effectLst/>
                          <a:latin typeface="黑体" panose="02010609060101010101" charset="-122"/>
                          <a:ea typeface="黑体" panose="02010609060101010101" charset="-122"/>
                          <a:cs typeface="黑体" panose="02010609060101010101" charset="-122"/>
                        </a:rPr>
                        <a:t>求出它们一起运动的加速度；如果滑块与木板之间发生相对运动，应采用</a:t>
                      </a:r>
                      <a:r>
                        <a:rPr lang="en-US" sz="2400" b="1" kern="100">
                          <a:effectLst/>
                          <a:latin typeface="黑体" panose="02010609060101010101" charset="-122"/>
                          <a:ea typeface="黑体" panose="02010609060101010101" charset="-122"/>
                          <a:cs typeface="黑体" panose="02010609060101010101" charset="-122"/>
                        </a:rPr>
                        <a:t>“</a:t>
                      </a:r>
                      <a:r>
                        <a:rPr lang="zh-CN" sz="2400" b="1" kern="100">
                          <a:effectLst/>
                          <a:latin typeface="黑体" panose="02010609060101010101" charset="-122"/>
                          <a:ea typeface="黑体" panose="02010609060101010101" charset="-122"/>
                          <a:cs typeface="黑体" panose="02010609060101010101" charset="-122"/>
                        </a:rPr>
                        <a:t>隔离法</a:t>
                      </a:r>
                      <a:r>
                        <a:rPr lang="en-US" sz="2400" b="1" kern="100">
                          <a:effectLst/>
                          <a:latin typeface="黑体" panose="02010609060101010101" charset="-122"/>
                          <a:ea typeface="黑体" panose="02010609060101010101" charset="-122"/>
                          <a:cs typeface="黑体" panose="02010609060101010101" charset="-122"/>
                        </a:rPr>
                        <a:t>”</a:t>
                      </a:r>
                      <a:r>
                        <a:rPr lang="zh-CN" sz="2400" b="1" kern="100">
                          <a:effectLst/>
                          <a:latin typeface="黑体" panose="02010609060101010101" charset="-122"/>
                          <a:ea typeface="黑体" panose="02010609060101010101" charset="-122"/>
                          <a:cs typeface="黑体" panose="02010609060101010101" charset="-122"/>
                        </a:rPr>
                        <a:t>分别求出滑块与木板运动的加速度。应注意找出滑块与木板是否发生相对运动等隐含条件</a:t>
                      </a:r>
                      <a:endParaRPr lang="zh-CN" sz="2400" kern="100">
                        <a:effectLst/>
                        <a:latin typeface="黑体" panose="02010609060101010101" charset="-122"/>
                        <a:ea typeface="黑体" panose="02010609060101010101" charset="-122"/>
                        <a:cs typeface="黑体" panose="02010609060101010101" charset="-122"/>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5752">
                <a:tc>
                  <a:txBody>
                    <a:bodyPr vert="horz" wrap="square"/>
                    <a:lstStyle/>
                    <a:p>
                      <a:pPr algn="ctr">
                        <a:lnSpc>
                          <a:spcPct val="150000"/>
                        </a:lnSpc>
                        <a:spcAft>
                          <a:spcPct val="0"/>
                        </a:spcAft>
                        <a:tabLst>
                          <a:tab pos="1350645"/>
                          <a:tab pos="2700655"/>
                          <a:tab pos="4050665"/>
                        </a:tabLst>
                      </a:pPr>
                      <a:r>
                        <a:rPr lang="zh-CN" sz="2400" b="1" kern="100">
                          <a:effectLst/>
                          <a:latin typeface="黑体" panose="02010609060101010101" charset="-122"/>
                          <a:ea typeface="黑体" panose="02010609060101010101" charset="-122"/>
                          <a:cs typeface="Times New Roman" panose="02020603050405020304" charset="0"/>
                        </a:rPr>
                        <a:t>速度</a:t>
                      </a:r>
                      <a:endParaRPr lang="en-US" altLang="zh-CN" sz="2400" b="1" kern="100">
                        <a:effectLst/>
                        <a:latin typeface="黑体" panose="02010609060101010101" charset="-122"/>
                        <a:ea typeface="黑体" panose="02010609060101010101" charset="-122"/>
                        <a:cs typeface="Times New Roman" panose="02020603050405020304" charset="0"/>
                      </a:endParaRPr>
                    </a:p>
                    <a:p>
                      <a:pPr algn="ctr">
                        <a:lnSpc>
                          <a:spcPct val="150000"/>
                        </a:lnSpc>
                        <a:spcAft>
                          <a:spcPct val="0"/>
                        </a:spcAft>
                        <a:tabLst>
                          <a:tab pos="1350645"/>
                          <a:tab pos="2700655"/>
                          <a:tab pos="4050665"/>
                        </a:tabLst>
                      </a:pPr>
                      <a:r>
                        <a:rPr lang="zh-CN" sz="2400" b="1" kern="100">
                          <a:effectLst/>
                          <a:latin typeface="黑体" panose="02010609060101010101" charset="-122"/>
                          <a:ea typeface="黑体" panose="02010609060101010101" charset="-122"/>
                          <a:cs typeface="Times New Roman" panose="02020603050405020304" charset="0"/>
                        </a:rPr>
                        <a:t>关系</a:t>
                      </a:r>
                      <a:endParaRPr lang="zh-CN" sz="2400" kern="100">
                        <a:effectLst/>
                        <a:latin typeface="黑体" panose="02010609060101010101" charset="-122"/>
                        <a:ea typeface="黑体" panose="02010609060101010101" charset="-122"/>
                        <a:cs typeface="Courier New" panose="020703090202050204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l">
                        <a:lnSpc>
                          <a:spcPct val="150000"/>
                        </a:lnSpc>
                        <a:spcAft>
                          <a:spcPct val="0"/>
                        </a:spcAft>
                        <a:tabLst>
                          <a:tab pos="1350645"/>
                          <a:tab pos="2700655"/>
                          <a:tab pos="4050665"/>
                        </a:tabLst>
                      </a:pPr>
                      <a:r>
                        <a:rPr lang="zh-CN" sz="2400" b="1" kern="100">
                          <a:effectLst/>
                          <a:latin typeface="黑体" panose="02010609060101010101" charset="-122"/>
                          <a:ea typeface="黑体" panose="02010609060101010101" charset="-122"/>
                          <a:cs typeface="Times New Roman" panose="02020603050405020304" charset="0"/>
                        </a:rPr>
                        <a:t>滑块与木板之间发生相对运动时，明确滑块与木板的速度关系，从而确定滑块与木板受到的摩擦力。应注意当滑块与木板的速度相同时，摩擦力会发生突变的情况</a:t>
                      </a:r>
                      <a:endParaRPr lang="zh-CN" sz="2400" b="1" kern="100">
                        <a:effectLst/>
                        <a:latin typeface="黑体" panose="02010609060101010101" charset="-122"/>
                        <a:ea typeface="黑体" panose="02010609060101010101" charset="-122"/>
                        <a:cs typeface="Times New Roman" panose="0202060305040502030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4794">
                <a:tc>
                  <a:txBody>
                    <a:bodyPr vert="horz" wrap="square"/>
                    <a:lstStyle/>
                    <a:p>
                      <a:pPr algn="ctr">
                        <a:lnSpc>
                          <a:spcPct val="150000"/>
                        </a:lnSpc>
                        <a:spcAft>
                          <a:spcPct val="0"/>
                        </a:spcAft>
                        <a:tabLst>
                          <a:tab pos="1350645"/>
                          <a:tab pos="2700655"/>
                          <a:tab pos="4050665"/>
                        </a:tabLst>
                      </a:pPr>
                      <a:r>
                        <a:rPr lang="zh-CN" sz="2400" b="1" kern="100">
                          <a:effectLst/>
                          <a:latin typeface="黑体" panose="02010609060101010101" charset="-122"/>
                          <a:ea typeface="黑体" panose="02010609060101010101" charset="-122"/>
                          <a:cs typeface="Times New Roman" panose="02020603050405020304" charset="0"/>
                        </a:rPr>
                        <a:t>位移</a:t>
                      </a:r>
                      <a:endParaRPr lang="en-US" altLang="zh-CN" sz="2400" b="1" kern="100">
                        <a:effectLst/>
                        <a:latin typeface="黑体" panose="02010609060101010101" charset="-122"/>
                        <a:ea typeface="黑体" panose="02010609060101010101" charset="-122"/>
                        <a:cs typeface="Times New Roman" panose="02020603050405020304" charset="0"/>
                      </a:endParaRPr>
                    </a:p>
                    <a:p>
                      <a:pPr algn="ctr">
                        <a:lnSpc>
                          <a:spcPct val="150000"/>
                        </a:lnSpc>
                        <a:spcAft>
                          <a:spcPct val="0"/>
                        </a:spcAft>
                        <a:tabLst>
                          <a:tab pos="1350645"/>
                          <a:tab pos="2700655"/>
                          <a:tab pos="4050665"/>
                        </a:tabLst>
                      </a:pPr>
                      <a:r>
                        <a:rPr lang="zh-CN" sz="2400" b="1" kern="100">
                          <a:effectLst/>
                          <a:latin typeface="黑体" panose="02010609060101010101" charset="-122"/>
                          <a:ea typeface="黑体" panose="02010609060101010101" charset="-122"/>
                          <a:cs typeface="Times New Roman" panose="02020603050405020304" charset="0"/>
                        </a:rPr>
                        <a:t>关系</a:t>
                      </a:r>
                      <a:endParaRPr lang="zh-CN" sz="2400" kern="100">
                        <a:effectLst/>
                        <a:latin typeface="黑体" panose="02010609060101010101" charset="-122"/>
                        <a:ea typeface="黑体" panose="02010609060101010101" charset="-122"/>
                        <a:cs typeface="Courier New" panose="02070309020205020404"/>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l">
                        <a:lnSpc>
                          <a:spcPct val="150000"/>
                        </a:lnSpc>
                        <a:spcAft>
                          <a:spcPct val="0"/>
                        </a:spcAft>
                        <a:tabLst>
                          <a:tab pos="1350645"/>
                          <a:tab pos="2700655"/>
                          <a:tab pos="4050665"/>
                        </a:tabLst>
                      </a:pPr>
                      <a:r>
                        <a:rPr lang="zh-CN" sz="2400" b="1" kern="100">
                          <a:effectLst/>
                          <a:latin typeface="黑体" panose="02010609060101010101" charset="-122"/>
                          <a:ea typeface="黑体" panose="02010609060101010101" charset="-122"/>
                          <a:cs typeface="Times New Roman" panose="02020603050405020304" charset="0"/>
                        </a:rPr>
                        <a:t>滑块与木板叠放在一起运动时，应仔细分析滑块与木板的运动过程，明确滑块与木板对地的位移和滑块与木板之间的相对位移之间的关系</a:t>
                      </a:r>
                      <a:endParaRPr lang="zh-CN" sz="2400" b="1" kern="100">
                        <a:effectLst/>
                        <a:latin typeface="黑体" panose="02010609060101010101" charset="-122"/>
                        <a:ea typeface="黑体" panose="02010609060101010101" charset="-122"/>
                        <a:cs typeface="Times New Roman" panose="02020603050405020304"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sld>
</file>

<file path=ppt/slides/slide3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2" name="文本框 1" title=""/>
          <p:cNvSpPr txBox="1"/>
          <p:nvPr>
            <p:custDataLst>
              <p:tags r:id="rId3"/>
            </p:custDataLst>
          </p:nvPr>
        </p:nvSpPr>
        <p:spPr>
          <a:xfrm>
            <a:off x="4179570" y="1863090"/>
            <a:ext cx="3832860" cy="706755"/>
          </a:xfrm>
          <a:prstGeom prst="rect">
            <a:avLst/>
          </a:prstGeom>
          <a:noFill/>
        </p:spPr>
        <p:txBody>
          <a:bodyPr wrap="square" rtlCol="0">
            <a:spAutoFit/>
          </a:bodyPr>
          <a:lstStyle/>
          <a:p>
            <a:pPr algn="ctr"/>
            <a:r>
              <a:rPr sz="4000" cap="all">
                <a:solidFill>
                  <a:srgbClr val="38ABE3">
                    <a:alpha val="12000"/>
                  </a:srgbClr>
                </a:solidFill>
                <a:uFillTx/>
                <a:latin typeface="Times New Roman" panose="02020603050405020304" charset="0"/>
                <a:ea typeface="黑体" panose="02010609060101010101" charset="-122"/>
                <a:cs typeface="Times New Roman" panose="02020603050405020304" charset="0"/>
                <a:sym typeface="汉仪宋韵朗黑W"/>
              </a:rPr>
              <a:t>conclusion</a:t>
            </a:r>
            <a:endParaRPr sz="4000" cap="all">
              <a:solidFill>
                <a:srgbClr val="38ABE3">
                  <a:alpha val="12000"/>
                </a:srgbClr>
              </a:solidFill>
              <a:uFillTx/>
              <a:latin typeface="Times New Roman" panose="02020603050405020304" charset="0"/>
              <a:ea typeface="黑体" panose="02010609060101010101" charset="-122"/>
              <a:cs typeface="Times New Roman" panose="02020603050405020304" charset="0"/>
              <a:sym typeface="汉仪宋韵朗黑W"/>
            </a:endParaRPr>
          </a:p>
        </p:txBody>
      </p:sp>
      <p:sp>
        <p:nvSpPr>
          <p:cNvPr id="4" name="圆角矩形 3" title=""/>
          <p:cNvSpPr/>
          <p:nvPr>
            <p:custDataLst>
              <p:tags r:id="rId4"/>
            </p:custDataLst>
          </p:nvPr>
        </p:nvSpPr>
        <p:spPr>
          <a:xfrm>
            <a:off x="5095240" y="2211705"/>
            <a:ext cx="2001520" cy="488950"/>
          </a:xfrm>
          <a:prstGeom prst="roundRect">
            <a:avLst>
              <a:gd name="adj" fmla="val 50000"/>
            </a:avLst>
          </a:prstGeom>
          <a:solidFill>
            <a:srgbClr val="38AB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ea typeface="黑体" panose="02010609060101010101" charset="-122"/>
              <a:cs typeface="Times New Roman" panose="02020603050405020304" charset="0"/>
            </a:endParaRPr>
          </a:p>
        </p:txBody>
      </p:sp>
      <p:sp>
        <p:nvSpPr>
          <p:cNvPr id="13" name="文本框 12" title=""/>
          <p:cNvSpPr txBox="1"/>
          <p:nvPr>
            <p:custDataLst>
              <p:tags r:id="rId5"/>
            </p:custDataLst>
          </p:nvPr>
        </p:nvSpPr>
        <p:spPr>
          <a:xfrm>
            <a:off x="4179570" y="3022600"/>
            <a:ext cx="4089400" cy="1014730"/>
          </a:xfrm>
          <a:prstGeom prst="rect">
            <a:avLst/>
          </a:prstGeom>
          <a:noFill/>
        </p:spPr>
        <p:txBody>
          <a:bodyPr wrap="square" rtlCol="0">
            <a:spAutoFit/>
          </a:bodyPr>
          <a:lstStyle/>
          <a:p>
            <a:pPr indent="0" algn="ctr" fontAlgn="auto"/>
            <a:r>
              <a:rPr lang="zh-CN" altLang="en-US" sz="6000">
                <a:solidFill>
                  <a:schemeClr val="tx1">
                    <a:lumMod val="75000"/>
                    <a:lumOff val="25000"/>
                  </a:schemeClr>
                </a:solidFill>
                <a:latin typeface="Times New Roman" panose="02020603050405020304" charset="0"/>
                <a:ea typeface="黑体" panose="02010609060101010101" charset="-122"/>
                <a:cs typeface="汉仪宋韵朗黑W" panose="00020600040101010101" charset="-122"/>
                <a:sym typeface="汉仪宋韵朗黑W"/>
              </a:rPr>
              <a:t>课堂练习</a:t>
            </a:r>
            <a:endParaRPr lang="zh-CN" altLang="en-US" sz="6000">
              <a:solidFill>
                <a:schemeClr val="tx1">
                  <a:lumMod val="75000"/>
                  <a:lumOff val="25000"/>
                </a:schemeClr>
              </a:solidFill>
              <a:latin typeface="Times New Roman" panose="02020603050405020304" charset="0"/>
              <a:ea typeface="黑体" panose="02010609060101010101" charset="-122"/>
              <a:cs typeface="汉仪宋韵朗黑W" panose="00020600040101010101" charset="-122"/>
              <a:sym typeface="汉仪宋韵朗黑W"/>
            </a:endParaRPr>
          </a:p>
        </p:txBody>
      </p:sp>
      <p:sp>
        <p:nvSpPr>
          <p:cNvPr id="14" name="文本框 13" title=""/>
          <p:cNvSpPr txBox="1"/>
          <p:nvPr>
            <p:custDataLst>
              <p:tags r:id="rId6"/>
            </p:custDataLst>
          </p:nvPr>
        </p:nvSpPr>
        <p:spPr>
          <a:xfrm>
            <a:off x="5526405" y="2211705"/>
            <a:ext cx="1193165" cy="443865"/>
          </a:xfrm>
          <a:prstGeom prst="rect">
            <a:avLst/>
          </a:prstGeom>
          <a:noFill/>
        </p:spPr>
        <p:txBody>
          <a:bodyPr wrap="square" rtlCol="0">
            <a:noAutofit/>
          </a:bodyPr>
          <a:lstStyle/>
          <a:p>
            <a:pPr algn="ctr"/>
            <a:r>
              <a:rPr lang="en-US" sz="2800">
                <a:solidFill>
                  <a:schemeClr val="bg1"/>
                </a:solidFill>
                <a:latin typeface="Times New Roman" panose="02020603050405020304" charset="0"/>
                <a:ea typeface="黑体" panose="02010609060101010101" charset="-122"/>
                <a:cs typeface="Times New Roman" panose="02020603050405020304" charset="0"/>
                <a:sym typeface="汉仪宋韵朗黑W"/>
              </a:rPr>
              <a:t>05</a:t>
            </a:r>
            <a:endParaRPr lang="en-US" sz="2800">
              <a:solidFill>
                <a:schemeClr val="bg1"/>
              </a:solidFill>
              <a:latin typeface="Times New Roman" panose="02020603050405020304" charset="0"/>
              <a:ea typeface="黑体" panose="02010609060101010101" charset="-122"/>
              <a:cs typeface="Times New Roman" panose="02020603050405020304" charset="0"/>
              <a:sym typeface="汉仪宋韵朗黑W"/>
            </a:endParaRPr>
          </a:p>
        </p:txBody>
      </p:sp>
    </p:spTree>
    <p:custDataLst>
      <p:tags r:id="rId7"/>
    </p:custDataLst>
  </p:cSld>
  <p:clrMapOvr>
    <a:masterClrMapping/>
  </p:clrMapOvr>
  <p:transition/>
  <p:timing/>
</p:sld>
</file>

<file path=ppt/slides/slide3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mc:AlternateContent>
        <mc:Choice Requires="a14">
          <p:sp>
            <p:nvSpPr>
              <p:cNvPr id="4" name="文本框 3" title=""/>
              <p:cNvSpPr txBox="1"/>
              <p:nvPr>
                <p:custDataLst>
                  <p:tags r:id="rId3"/>
                </p:custDataLst>
              </p:nvPr>
            </p:nvSpPr>
            <p:spPr>
              <a:xfrm>
                <a:off x="441325" y="452755"/>
                <a:ext cx="11252200" cy="2159000"/>
              </a:xfrm>
              <a:prstGeom prst="rect">
                <a:avLst/>
              </a:prstGeom>
              <a:noFill/>
            </p:spPr>
            <p:txBody>
              <a:bodyPr wrap="square">
                <a:noAutofit/>
              </a:bodyPr>
              <a:lstStyle/>
              <a:p>
                <a:pPr algn="l">
                  <a:lnSpc>
                    <a:spcPct val="150000"/>
                  </a:lnSpc>
                </a:pPr>
                <a:r>
                  <a:rPr lang="en-US" altLang="zh-CN" sz="2800" b="1" kern="100">
                    <a:effectLst/>
                    <a:latin typeface="Times New Roman" panose="02020603050405020304" charset="0"/>
                    <a:ea typeface="黑体" panose="02010609060101010101" charset="-122"/>
                  </a:rPr>
                  <a:t>1</a:t>
                </a:r>
                <a:r>
                  <a:rPr lang="zh-CN" altLang="zh-CN" sz="2800" b="1" kern="100">
                    <a:effectLst/>
                    <a:latin typeface="Times New Roman" panose="02020603050405020304" charset="0"/>
                    <a:ea typeface="黑体" panose="02010609060101010101" charset="-122"/>
                  </a:rPr>
                  <a:t>．如图的水平传送带，</a:t>
                </a:r>
                <a:r>
                  <a:rPr lang="en-US" altLang="zh-CN" sz="2800" b="1" i="1" kern="100">
                    <a:effectLst/>
                    <a:latin typeface="Times New Roman" panose="02020603050405020304" charset="0"/>
                    <a:ea typeface="黑体" panose="02010609060101010101" charset="-122"/>
                  </a:rPr>
                  <a:t>AB</a:t>
                </a:r>
                <a:r>
                  <a:rPr lang="zh-CN" altLang="zh-CN" sz="2800" b="1" kern="100">
                    <a:effectLst/>
                    <a:latin typeface="Times New Roman" panose="02020603050405020304" charset="0"/>
                    <a:ea typeface="黑体" panose="02010609060101010101" charset="-122"/>
                  </a:rPr>
                  <a:t>两点的距离为</a:t>
                </a:r>
                <a:r>
                  <a:rPr lang="en-US" altLang="zh-CN" sz="2800" b="1" kern="100">
                    <a:effectLst/>
                    <a:latin typeface="Times New Roman" panose="02020603050405020304" charset="0"/>
                    <a:ea typeface="黑体" panose="02010609060101010101" charset="-122"/>
                  </a:rPr>
                  <a:t>10m</a:t>
                </a:r>
                <a:r>
                  <a:rPr lang="zh-CN" altLang="zh-CN" sz="2800" b="1" kern="100">
                    <a:effectLst/>
                    <a:latin typeface="Times New Roman" panose="02020603050405020304" charset="0"/>
                    <a:ea typeface="黑体" panose="02010609060101010101" charset="-122"/>
                  </a:rPr>
                  <a:t>，将一物体（可视为质点）轻轻地放在</a:t>
                </a:r>
                <a:r>
                  <a:rPr lang="en-US" altLang="zh-CN" sz="2800" b="1" i="1" kern="100">
                    <a:effectLst/>
                    <a:latin typeface="Times New Roman" panose="02020603050405020304" charset="0"/>
                    <a:ea typeface="黑体" panose="02010609060101010101" charset="-122"/>
                  </a:rPr>
                  <a:t>A</a:t>
                </a:r>
                <a:r>
                  <a:rPr lang="zh-CN" altLang="zh-CN" sz="2800" b="1" kern="100">
                    <a:effectLst/>
                    <a:latin typeface="Times New Roman" panose="02020603050405020304" charset="0"/>
                    <a:ea typeface="黑体" panose="02010609060101010101" charset="-122"/>
                  </a:rPr>
                  <a:t>点，传送带的速度</a:t>
                </a:r>
                <a:r>
                  <a:rPr lang="en-US" altLang="zh-CN" sz="2800" b="1" kern="100">
                    <a:effectLst/>
                    <a:latin typeface="Times New Roman" panose="02020603050405020304" charset="0"/>
                    <a:ea typeface="黑体" panose="02010609060101010101" charset="-122"/>
                  </a:rPr>
                  <a:t>4m/s</a:t>
                </a:r>
                <a:r>
                  <a:rPr lang="zh-CN" altLang="zh-CN" sz="2800" b="1" kern="100">
                    <a:effectLst/>
                    <a:latin typeface="Times New Roman" panose="02020603050405020304" charset="0"/>
                    <a:ea typeface="黑体" panose="02010609060101010101" charset="-122"/>
                  </a:rPr>
                  <a:t>，物体与传送带间的动摩擦因数为</a:t>
                </a:r>
                <a14:m>
                  <m:oMathPara>
                    <m:oMathParaPr>
                      <m:jc/>
                    </m:oMathParaPr>
                    <m:oMath>
                      <m:r>
                        <m:rPr>
                          <m:sty m:val="bi"/>
                        </m:rPr>
                        <a:rPr lang="en-US" altLang="zh-CN" sz="2800" b="1" i="1" kern="100">
                          <a:effectLst/>
                          <a:latin typeface="Cambria Math" panose="02040503050406030204" pitchFamily="18" charset="0"/>
                          <a:ea typeface="黑体" panose="02010609060101010101" charset="-122"/>
                        </a:rPr>
                        <m:t>𝝁</m:t>
                      </m:r>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𝟎</m:t>
                      </m:r>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𝟐</m:t>
                      </m:r>
                    </m:oMath>
                  </m:oMathPara>
                </a14:m>
                <a:r>
                  <a:rPr lang="zh-CN" altLang="zh-CN" sz="2800" b="1" kern="100">
                    <a:effectLst/>
                    <a:latin typeface="Times New Roman" panose="02020603050405020304" charset="0"/>
                    <a:ea typeface="黑体" panose="02010609060101010101" charset="-122"/>
                  </a:rPr>
                  <a:t>，取</a:t>
                </a:r>
                <a14:m>
                  <m:oMathPara>
                    <m:oMathParaPr>
                      <m:jc/>
                    </m:oMathParaPr>
                    <m:oMath>
                      <m:r>
                        <m:rPr>
                          <m:sty m:val="bi"/>
                        </m:rPr>
                        <a:rPr lang="en-US" altLang="zh-CN" sz="2800" b="1" i="1" kern="100">
                          <a:effectLst/>
                          <a:latin typeface="Cambria Math" panose="02040503050406030204" pitchFamily="18" charset="0"/>
                          <a:ea typeface="黑体" panose="02010609060101010101" charset="-122"/>
                        </a:rPr>
                        <m:t>𝒈</m:t>
                      </m:r>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𝟏𝟎</m:t>
                      </m:r>
                      <m:sSup>
                        <m:sSupPr>
                          <m:ctrlPr>
                            <a:rPr lang="zh-CN" altLang="zh-CN" sz="2800" b="1" i="1" kern="100">
                              <a:effectLst/>
                              <a:latin typeface="Cambria Math" panose="02040503050406030204" pitchFamily="18" charset="0"/>
                              <a:ea typeface="Cambria Math" panose="02040503050406030204" pitchFamily="18" charset="0"/>
                            </a:rPr>
                          </m:ctrlPr>
                        </m:sSupPr>
                        <m:e>
                          <m:r>
                            <m:rPr>
                              <m:sty m:val="b"/>
                            </m:rPr>
                            <a:rPr lang="en-US" altLang="zh-CN" sz="2800" b="1" kern="100">
                              <a:effectLst/>
                              <a:latin typeface="Cambria Math" panose="02040503050406030204" pitchFamily="18" charset="0"/>
                              <a:ea typeface="黑体" panose="02010609060101010101" charset="-122"/>
                            </a:rPr>
                            <m:t>𝐦</m:t>
                          </m:r>
                          <m:r>
                            <m:rPr>
                              <m:sty m:val="b"/>
                            </m:rPr>
                            <a:rPr lang="en-US" altLang="zh-CN" sz="2800" b="1" kern="100">
                              <a:effectLst/>
                              <a:latin typeface="Cambria Math" panose="02040503050406030204" pitchFamily="18" charset="0"/>
                              <a:ea typeface="黑体" panose="02010609060101010101" charset="-122"/>
                            </a:rPr>
                            <m:t>/</m:t>
                          </m:r>
                          <m:r>
                            <m:rPr>
                              <m:sty m:val="b"/>
                            </m:rPr>
                            <a:rPr lang="en-US" altLang="zh-CN" sz="2800" b="1" kern="100">
                              <a:effectLst/>
                              <a:latin typeface="Cambria Math" panose="02040503050406030204" pitchFamily="18" charset="0"/>
                              <a:ea typeface="黑体" panose="02010609060101010101" charset="-122"/>
                            </a:rPr>
                            <m:t>𝐬</m:t>
                          </m:r>
                        </m:e>
                        <m:sup>
                          <m:r>
                            <m:rPr>
                              <m:sty m:val="bi"/>
                            </m:rPr>
                            <a:rPr lang="en-US" altLang="zh-CN" sz="2800" b="1" i="1" kern="100">
                              <a:effectLst/>
                              <a:latin typeface="Cambria Math" panose="02040503050406030204" pitchFamily="18" charset="0"/>
                              <a:ea typeface="黑体" panose="02010609060101010101" charset="-122"/>
                            </a:rPr>
                            <m:t>𝟐</m:t>
                          </m:r>
                        </m:sup>
                      </m:sSup>
                    </m:oMath>
                  </m:oMathPara>
                </a14:m>
                <a:r>
                  <a:rPr lang="zh-CN" altLang="zh-CN" sz="2800" b="1" kern="100">
                    <a:effectLst/>
                    <a:latin typeface="Times New Roman" panose="02020603050405020304" charset="0"/>
                    <a:ea typeface="黑体" panose="02010609060101010101" charset="-122"/>
                  </a:rPr>
                  <a:t>。则物体由</a:t>
                </a:r>
                <a:r>
                  <a:rPr lang="en-US" altLang="zh-CN" sz="2800" b="1" i="1" kern="100">
                    <a:effectLst/>
                    <a:latin typeface="Times New Roman" panose="02020603050405020304" charset="0"/>
                    <a:ea typeface="黑体" panose="02010609060101010101" charset="-122"/>
                  </a:rPr>
                  <a:t>A</a:t>
                </a:r>
                <a:r>
                  <a:rPr lang="zh-CN" altLang="zh-CN" sz="2800" b="1" kern="100">
                    <a:effectLst/>
                    <a:latin typeface="Times New Roman" panose="02020603050405020304" charset="0"/>
                    <a:ea typeface="黑体" panose="02010609060101010101" charset="-122"/>
                  </a:rPr>
                  <a:t>运动到</a:t>
                </a:r>
                <a:r>
                  <a:rPr lang="en-US" altLang="zh-CN" sz="2800" b="1" i="1" kern="100">
                    <a:effectLst/>
                    <a:latin typeface="Times New Roman" panose="02020603050405020304" charset="0"/>
                    <a:ea typeface="黑体" panose="02010609060101010101" charset="-122"/>
                  </a:rPr>
                  <a:t>B</a:t>
                </a:r>
                <a:r>
                  <a:rPr lang="zh-CN" altLang="zh-CN" sz="2800" b="1" kern="100">
                    <a:effectLst/>
                    <a:latin typeface="Times New Roman" panose="02020603050405020304" charset="0"/>
                    <a:ea typeface="黑体" panose="02010609060101010101" charset="-122"/>
                  </a:rPr>
                  <a:t>的时间为（　　）</a:t>
                </a:r>
                <a:endParaRPr lang="zh-CN" altLang="zh-CN" sz="2800" kern="100">
                  <a:effectLst/>
                  <a:latin typeface="Times New Roman" panose="02020603050405020304" charset="0"/>
                  <a:ea typeface="宋体" panose="02010600030101010101" pitchFamily="2" charset="-122"/>
                </a:endParaRPr>
              </a:p>
              <a:p>
                <a:pPr marL="190500" algn="l">
                  <a:lnSpc>
                    <a:spcPct val="150000"/>
                  </a:lnSpc>
                  <a:tabLst>
                    <a:tab pos="1319530"/>
                    <a:tab pos="2639060"/>
                    <a:tab pos="3958590"/>
                  </a:tabLst>
                </a:pPr>
                <a:r>
                  <a:rPr lang="en-US" altLang="zh-CN" sz="2800" b="1" kern="100">
                    <a:effectLst/>
                    <a:latin typeface="Times New Roman" panose="02020603050405020304" charset="0"/>
                    <a:ea typeface="黑体" panose="02010609060101010101" charset="-122"/>
                  </a:rPr>
                  <a:t>A</a:t>
                </a:r>
                <a:r>
                  <a:rPr lang="zh-CN" altLang="zh-CN" sz="2800" b="1" kern="100">
                    <a:effectLst/>
                    <a:latin typeface="Times New Roman" panose="02020603050405020304" charset="0"/>
                    <a:ea typeface="黑体" panose="02010609060101010101" charset="-122"/>
                  </a:rPr>
                  <a:t>．</a:t>
                </a:r>
                <a:r>
                  <a:rPr lang="en-US" altLang="zh-CN" sz="2800" b="1" kern="100">
                    <a:effectLst/>
                    <a:latin typeface="Times New Roman" panose="02020603050405020304" charset="0"/>
                    <a:ea typeface="黑体" panose="02010609060101010101" charset="-122"/>
                  </a:rPr>
                  <a:t>2.5s	B</a:t>
                </a:r>
                <a:r>
                  <a:rPr lang="zh-CN" altLang="zh-CN" sz="2800" b="1" kern="100">
                    <a:effectLst/>
                    <a:latin typeface="Times New Roman" panose="02020603050405020304" charset="0"/>
                    <a:ea typeface="黑体" panose="02010609060101010101" charset="-122"/>
                  </a:rPr>
                  <a:t>．</a:t>
                </a:r>
                <a14:m>
                  <m:oMathPara>
                    <m:oMathParaPr>
                      <m:jc/>
                    </m:oMathParaPr>
                    <m:oMath>
                      <m:rad>
                        <m:radPr>
                          <m:degHide m:val="on"/>
                          <m:ctrlPr>
                            <a:rPr lang="zh-CN" altLang="zh-CN" sz="2800" b="1" i="1" kern="100">
                              <a:effectLst/>
                              <a:latin typeface="Cambria Math" panose="02040503050406030204" pitchFamily="18" charset="0"/>
                              <a:ea typeface="Cambria Math" panose="02040503050406030204" pitchFamily="18" charset="0"/>
                            </a:rPr>
                          </m:ctrlPr>
                        </m:radPr>
                        <m:deg/>
                        <m:e>
                          <m:r>
                            <m:rPr>
                              <m:sty m:val="bi"/>
                            </m:rPr>
                            <a:rPr lang="en-US" altLang="zh-CN" sz="2800" b="1" i="1" kern="100">
                              <a:effectLst/>
                              <a:latin typeface="Cambria Math" panose="02040503050406030204" pitchFamily="18" charset="0"/>
                              <a:ea typeface="黑体" panose="02010609060101010101" charset="-122"/>
                            </a:rPr>
                            <m:t>𝟏𝟎</m:t>
                          </m:r>
                        </m:e>
                      </m:rad>
                      <m:r>
                        <m:rPr>
                          <m:sty m:val="b"/>
                        </m:rPr>
                        <a:rPr lang="en-US" altLang="zh-CN" sz="2800" b="1" kern="100">
                          <a:effectLst/>
                          <a:latin typeface="Cambria Math" panose="02040503050406030204" pitchFamily="18" charset="0"/>
                          <a:ea typeface="黑体" panose="02010609060101010101" charset="-122"/>
                        </a:rPr>
                        <m:t>𝐬</m:t>
                      </m:r>
                    </m:oMath>
                  </m:oMathPara>
                </a14:m>
                <a:r>
                  <a:rPr lang="en-US" altLang="zh-CN" sz="2800" b="1" kern="100">
                    <a:effectLst/>
                    <a:latin typeface="Times New Roman" panose="02020603050405020304" charset="0"/>
                    <a:ea typeface="黑体" panose="02010609060101010101" charset="-122"/>
                  </a:rPr>
                  <a:t>	C</a:t>
                </a:r>
                <a:r>
                  <a:rPr lang="zh-CN" altLang="zh-CN" sz="2800" b="1" kern="100">
                    <a:effectLst/>
                    <a:latin typeface="Times New Roman" panose="02020603050405020304" charset="0"/>
                    <a:ea typeface="黑体" panose="02010609060101010101" charset="-122"/>
                  </a:rPr>
                  <a:t>．</a:t>
                </a:r>
                <a:r>
                  <a:rPr lang="en-US" altLang="zh-CN" sz="2800" b="1" kern="100">
                    <a:effectLst/>
                    <a:latin typeface="Times New Roman" panose="02020603050405020304" charset="0"/>
                    <a:ea typeface="黑体" panose="02010609060101010101" charset="-122"/>
                  </a:rPr>
                  <a:t>3.5s	D</a:t>
                </a:r>
                <a:r>
                  <a:rPr lang="zh-CN" altLang="zh-CN" sz="2800" b="1" kern="100">
                    <a:effectLst/>
                    <a:latin typeface="Times New Roman" panose="02020603050405020304" charset="0"/>
                    <a:ea typeface="黑体" panose="02010609060101010101" charset="-122"/>
                  </a:rPr>
                  <a:t>．无法确定</a:t>
                </a:r>
                <a:endParaRPr lang="zh-CN" altLang="zh-CN" sz="2800" kern="100">
                  <a:effectLst/>
                  <a:latin typeface="Times New Roman" panose="02020603050405020304" charset="0"/>
                  <a:ea typeface="宋体" panose="02010600030101010101" pitchFamily="2" charset="-122"/>
                </a:endParaRPr>
              </a:p>
            </p:txBody>
          </p:sp>
        </mc:Choice>
        <mc:Fallback>
          <p:sp>
            <p:nvSpPr>
              <p:cNvPr id="4" name="文本框 3"/>
              <p:cNvSpPr txBox="1">
                <a:spLocks noRot="1" noChangeAspect="1" noMove="1" noResize="1" noEditPoints="1" noAdjustHandles="1" noChangeArrowheads="1" noChangeShapeType="1" noTextEdit="1"/>
              </p:cNvSpPr>
              <p:nvPr>
                <p:custDataLst>
                  <p:tags r:id="rId4"/>
                </p:custDataLst>
              </p:nvPr>
            </p:nvSpPr>
            <p:spPr>
              <a:xfrm>
                <a:off x="441325" y="452755"/>
                <a:ext cx="11252200" cy="2159000"/>
              </a:xfrm>
              <a:prstGeom prst="rect">
                <a:avLst/>
              </a:prstGeom>
              <a:blipFill rotWithShape="1">
                <a:blip r:embed="rId5"/>
                <a:stretch>
                  <a:fillRect r="-1366" b="-23294"/>
                </a:stretch>
              </a:blipFill>
            </p:spPr>
            <p:txBody>
              <a:bodyPr/>
              <a:lstStyle/>
              <a:p>
                <a:r>
                  <a:rPr lang="zh-CN" altLang="en-US">
                    <a:noFill/>
                  </a:rPr>
                  <a:t> </a:t>
                </a:r>
              </a:p>
            </p:txBody>
          </p:sp>
        </mc:Fallback>
      </mc:AlternateContent>
      <p:sp>
        <p:nvSpPr>
          <p:cNvPr id="7" name="文本框 6" title=""/>
          <p:cNvSpPr txBox="1"/>
          <p:nvPr>
            <p:custDataLst>
              <p:tags r:id="rId6"/>
            </p:custDataLst>
          </p:nvPr>
        </p:nvSpPr>
        <p:spPr>
          <a:xfrm>
            <a:off x="9559012" y="1925955"/>
            <a:ext cx="719455" cy="551815"/>
          </a:xfrm>
          <a:prstGeom prst="rect">
            <a:avLst/>
          </a:prstGeom>
          <a:noFill/>
        </p:spPr>
        <p:txBody>
          <a:bodyPr wrap="square" rtlCol="0">
            <a:noAutofit/>
          </a:bodyPr>
          <a:lstStyle/>
          <a:p>
            <a:r>
              <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rPr>
              <a:t>C</a:t>
            </a:r>
            <a:endPar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endParaRPr>
          </a:p>
        </p:txBody>
      </p:sp>
      <p:pic>
        <p:nvPicPr>
          <p:cNvPr id="2" name="图片 1" title=""/>
          <p:cNvPicPr>
            <a:picLocks noChangeAspect="1"/>
          </p:cNvPicPr>
          <p:nvPr>
            <p:custDataLst>
              <p:tags r:id="rId8"/>
            </p:custDataLst>
          </p:nvPr>
        </p:nvPicPr>
        <p:blipFill>
          <a:blip r:embed="rId7"/>
          <a:stretch>
            <a:fillRect/>
          </a:stretch>
        </p:blipFill>
        <p:spPr>
          <a:xfrm>
            <a:off x="3867785" y="4021455"/>
            <a:ext cx="3474720" cy="1097280"/>
          </a:xfrm>
          <a:prstGeom prst="rect">
            <a:avLst/>
          </a:prstGeom>
        </p:spPr>
      </p:pic>
    </p:spTree>
    <p:custDataLst>
      <p:tags r:id="rId9"/>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mc:AlternateContent>
        <mc:Choice Requires="a14">
          <p:sp>
            <p:nvSpPr>
              <p:cNvPr id="3" name="文本框 2" title=""/>
              <p:cNvSpPr txBox="1"/>
              <p:nvPr>
                <p:custDataLst>
                  <p:tags r:id="rId3"/>
                </p:custDataLst>
              </p:nvPr>
            </p:nvSpPr>
            <p:spPr>
              <a:xfrm>
                <a:off x="430530" y="478155"/>
                <a:ext cx="11254105" cy="3731260"/>
              </a:xfrm>
              <a:prstGeom prst="rect">
                <a:avLst/>
              </a:prstGeom>
              <a:noFill/>
            </p:spPr>
            <p:txBody>
              <a:bodyPr wrap="square">
                <a:noAutofit/>
              </a:bodyPr>
              <a:lstStyle/>
              <a:p>
                <a:pPr algn="l">
                  <a:lnSpc>
                    <a:spcPct val="150000"/>
                  </a:lnSpc>
                </a:pPr>
                <a:r>
                  <a:rPr lang="zh-CN" altLang="zh-CN" sz="2800" b="1" kern="100">
                    <a:effectLst/>
                    <a:latin typeface="Times New Roman" panose="02020603050405020304" charset="0"/>
                    <a:ea typeface="黑体" panose="02010609060101010101" charset="-122"/>
                  </a:rPr>
                  <a:t>【答案】</a:t>
                </a:r>
                <a:r>
                  <a:rPr lang="en-US" altLang="zh-CN" sz="2800" b="1" kern="100">
                    <a:effectLst/>
                    <a:latin typeface="Times New Roman" panose="02020603050405020304" charset="0"/>
                    <a:ea typeface="黑体" panose="02010609060101010101" charset="-122"/>
                  </a:rPr>
                  <a:t>C</a:t>
                </a:r>
                <a:endParaRPr lang="zh-CN" altLang="zh-CN" sz="2800" kern="100">
                  <a:effectLst/>
                  <a:latin typeface="Times New Roman" panose="02020603050405020304" charset="0"/>
                  <a:ea typeface="宋体" panose="02010600030101010101" pitchFamily="2" charset="-122"/>
                </a:endParaRPr>
              </a:p>
              <a:p>
                <a:pPr algn="l">
                  <a:lnSpc>
                    <a:spcPct val="150000"/>
                  </a:lnSpc>
                </a:pPr>
                <a:r>
                  <a:rPr lang="zh-CN" altLang="zh-CN" sz="2800" b="1" kern="100">
                    <a:effectLst/>
                    <a:latin typeface="Times New Roman" panose="02020603050405020304" charset="0"/>
                    <a:ea typeface="黑体" panose="02010609060101010101" charset="-122"/>
                  </a:rPr>
                  <a:t>【详解】物体刚放上传送带时，根据牛顿第二定律可得</a:t>
                </a:r>
                <a14:m>
                  <m:oMathPara>
                    <m:oMathParaPr>
                      <m:jc/>
                    </m:oMathParaPr>
                    <m:oMath>
                      <m:r>
                        <m:rPr>
                          <m:sty m:val="bi"/>
                        </m:rPr>
                        <a:rPr lang="en-US" altLang="zh-CN" sz="2800" b="1" i="1" kern="100">
                          <a:effectLst/>
                          <a:latin typeface="Cambria Math" panose="02040503050406030204" pitchFamily="18" charset="0"/>
                          <a:ea typeface="黑体" panose="02010609060101010101" charset="-122"/>
                        </a:rPr>
                        <m:t>𝝁</m:t>
                      </m:r>
                      <m:r>
                        <m:rPr>
                          <m:sty m:val="bi"/>
                        </m:rPr>
                        <a:rPr lang="en-US" altLang="zh-CN" sz="2800" b="1" i="1" kern="100">
                          <a:effectLst/>
                          <a:latin typeface="Cambria Math" panose="02040503050406030204" pitchFamily="18" charset="0"/>
                          <a:ea typeface="黑体" panose="02010609060101010101" charset="-122"/>
                        </a:rPr>
                        <m:t>𝒎𝒈</m:t>
                      </m:r>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𝒎𝒂</m:t>
                      </m:r>
                    </m:oMath>
                  </m:oMathPara>
                </a14:m>
                <a:r>
                  <a:rPr lang="zh-CN" altLang="zh-CN" sz="2800" b="1" kern="100">
                    <a:effectLst/>
                    <a:latin typeface="Times New Roman" panose="02020603050405020304" charset="0"/>
                    <a:ea typeface="黑体" panose="02010609060101010101" charset="-122"/>
                  </a:rPr>
                  <a:t>解得加速度大小为</a:t>
                </a:r>
                <a14:m>
                  <m:oMathPara>
                    <m:oMathParaPr>
                      <m:jc/>
                    </m:oMathParaPr>
                    <m:oMath>
                      <m:r>
                        <m:rPr>
                          <m:sty m:val="bi"/>
                        </m:rPr>
                        <a:rPr lang="en-US" altLang="zh-CN" sz="2800" b="1" i="1" kern="100">
                          <a:effectLst/>
                          <a:latin typeface="Cambria Math" panose="02040503050406030204" pitchFamily="18" charset="0"/>
                          <a:ea typeface="黑体" panose="02010609060101010101" charset="-122"/>
                        </a:rPr>
                        <m:t>𝒂</m:t>
                      </m:r>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𝟐</m:t>
                      </m:r>
                      <m:r>
                        <m:rPr>
                          <m:sty m:val="b"/>
                        </m:rPr>
                        <a:rPr lang="en-US" altLang="zh-CN" sz="2800" b="1" kern="100">
                          <a:effectLst/>
                          <a:latin typeface="Cambria Math" panose="02040503050406030204" pitchFamily="18" charset="0"/>
                          <a:ea typeface="黑体" panose="02010609060101010101" charset="-122"/>
                        </a:rPr>
                        <m:t>𝐦</m:t>
                      </m:r>
                      <m:r>
                        <m:rPr>
                          <m:sty m:val="bi"/>
                        </m:rPr>
                        <a:rPr lang="en-US" altLang="zh-CN" sz="2800" b="1" i="1" kern="100">
                          <a:effectLst/>
                          <a:latin typeface="Cambria Math" panose="02040503050406030204" pitchFamily="18" charset="0"/>
                          <a:ea typeface="黑体" panose="02010609060101010101" charset="-122"/>
                        </a:rPr>
                        <m:t>/</m:t>
                      </m:r>
                      <m:sSup>
                        <m:sSupPr>
                          <m:ctrlPr>
                            <a:rPr lang="zh-CN" altLang="zh-CN" sz="2800" b="1" i="1" kern="100">
                              <a:effectLst/>
                              <a:latin typeface="Cambria Math" panose="02040503050406030204" pitchFamily="18" charset="0"/>
                              <a:ea typeface="Cambria Math" panose="02040503050406030204" pitchFamily="18" charset="0"/>
                            </a:rPr>
                          </m:ctrlPr>
                        </m:sSupPr>
                        <m:e>
                          <m:r>
                            <m:rPr>
                              <m:sty m:val="b"/>
                            </m:rPr>
                            <a:rPr lang="en-US" altLang="zh-CN" sz="2800" b="1" kern="100">
                              <a:effectLst/>
                              <a:latin typeface="Cambria Math" panose="02040503050406030204" pitchFamily="18" charset="0"/>
                              <a:ea typeface="黑体" panose="02010609060101010101" charset="-122"/>
                            </a:rPr>
                            <m:t>𝐬</m:t>
                          </m:r>
                        </m:e>
                        <m:sup>
                          <m:r>
                            <m:rPr>
                              <m:sty m:val="bi"/>
                            </m:rPr>
                            <a:rPr lang="en-US" altLang="zh-CN" sz="2800" b="1" i="1" kern="100">
                              <a:effectLst/>
                              <a:latin typeface="Cambria Math" panose="02040503050406030204" pitchFamily="18" charset="0"/>
                              <a:ea typeface="黑体" panose="02010609060101010101" charset="-122"/>
                            </a:rPr>
                            <m:t>𝟐</m:t>
                          </m:r>
                        </m:sup>
                      </m:sSup>
                    </m:oMath>
                  </m:oMathPara>
                </a14:m>
                <a:r>
                  <a:rPr lang="zh-CN" altLang="zh-CN" sz="2800" b="1" kern="100">
                    <a:effectLst/>
                    <a:latin typeface="Times New Roman" panose="02020603050405020304" charset="0"/>
                    <a:ea typeface="黑体" panose="02010609060101010101" charset="-122"/>
                  </a:rPr>
                  <a:t>设物体到达</a:t>
                </a:r>
                <a:r>
                  <a:rPr lang="en-US" altLang="zh-CN" sz="2800" b="1" i="1" kern="100">
                    <a:effectLst/>
                    <a:latin typeface="Times New Roman" panose="02020603050405020304" charset="0"/>
                    <a:ea typeface="黑体" panose="02010609060101010101" charset="-122"/>
                  </a:rPr>
                  <a:t>B</a:t>
                </a:r>
                <a:r>
                  <a:rPr lang="zh-CN" altLang="zh-CN" sz="2800" b="1" kern="100">
                    <a:effectLst/>
                    <a:latin typeface="Times New Roman" panose="02020603050405020304" charset="0"/>
                    <a:ea typeface="黑体" panose="02010609060101010101" charset="-122"/>
                  </a:rPr>
                  <a:t>点前已经与传送带共速，物体加速阶段所用时间为</a:t>
                </a:r>
                <a14:m>
                  <m:oMathPara>
                    <m:oMathParaPr>
                      <m:jc/>
                    </m:oMathParaPr>
                    <m:oMath>
                      <m:sSub>
                        <m:sSubPr>
                          <m:ctrlPr>
                            <a:rPr lang="zh-CN" altLang="zh-CN" sz="2800" b="1" i="1" kern="100">
                              <a:effectLst/>
                              <a:latin typeface="Cambria Math" panose="02040503050406030204" pitchFamily="18" charset="0"/>
                              <a:ea typeface="Cambria Math" panose="02040503050406030204" pitchFamily="18" charset="0"/>
                            </a:rPr>
                          </m:ctrlPr>
                        </m:sSubPr>
                        <m:e>
                          <m:r>
                            <m:rPr>
                              <m:sty m:val="bi"/>
                            </m:rPr>
                            <a:rPr lang="en-US" altLang="zh-CN" sz="2800" b="1" i="1" kern="100">
                              <a:effectLst/>
                              <a:latin typeface="Cambria Math" panose="02040503050406030204" pitchFamily="18" charset="0"/>
                              <a:ea typeface="黑体" panose="02010609060101010101" charset="-122"/>
                            </a:rPr>
                            <m:t>𝒕</m:t>
                          </m:r>
                        </m:e>
                        <m:sub>
                          <m:r>
                            <m:rPr>
                              <m:sty m:val="bi"/>
                            </m:rPr>
                            <a:rPr lang="en-US" altLang="zh-CN" sz="2800" b="1" i="1" kern="100">
                              <a:effectLst/>
                              <a:latin typeface="Cambria Math" panose="02040503050406030204" pitchFamily="18" charset="0"/>
                              <a:ea typeface="黑体" panose="02010609060101010101" charset="-122"/>
                            </a:rPr>
                            <m:t>𝟏</m:t>
                          </m:r>
                        </m:sub>
                      </m:sSub>
                      <m:r>
                        <m:rPr>
                          <m:sty m:val="bi"/>
                        </m:rPr>
                        <a:rPr lang="en-US" altLang="zh-CN" sz="2800" b="1" i="1" kern="100">
                          <a:effectLst/>
                          <a:latin typeface="Cambria Math" panose="02040503050406030204" pitchFamily="18" charset="0"/>
                          <a:ea typeface="黑体" panose="02010609060101010101" charset="-122"/>
                        </a:rPr>
                        <m:t>=</m:t>
                      </m:r>
                      <m:f>
                        <m:fPr>
                          <m:type m:val="bar"/>
                          <m:ctrlPr>
                            <a:rPr lang="zh-CN" altLang="zh-CN" sz="2800" b="1" i="1" kern="100">
                              <a:effectLst/>
                              <a:latin typeface="Cambria Math" panose="02040503050406030204" pitchFamily="18" charset="0"/>
                              <a:ea typeface="Cambria Math" panose="02040503050406030204" pitchFamily="18" charset="0"/>
                            </a:rPr>
                          </m:ctrlPr>
                        </m:fPr>
                        <m:num>
                          <m:r>
                            <m:rPr>
                              <m:sty m:val="bi"/>
                            </m:rPr>
                            <a:rPr lang="en-US" altLang="zh-CN" sz="2800" b="1" i="1" kern="100">
                              <a:effectLst/>
                              <a:latin typeface="Cambria Math" panose="02040503050406030204" pitchFamily="18" charset="0"/>
                              <a:ea typeface="黑体" panose="02010609060101010101" charset="-122"/>
                            </a:rPr>
                            <m:t>𝒗</m:t>
                          </m:r>
                        </m:num>
                        <m:den>
                          <m:r>
                            <m:rPr>
                              <m:sty m:val="bi"/>
                            </m:rPr>
                            <a:rPr lang="en-US" altLang="zh-CN" sz="2800" b="1" i="1" kern="100">
                              <a:effectLst/>
                              <a:latin typeface="Cambria Math" panose="02040503050406030204" pitchFamily="18" charset="0"/>
                              <a:ea typeface="黑体" panose="02010609060101010101" charset="-122"/>
                            </a:rPr>
                            <m:t>𝒂</m:t>
                          </m:r>
                        </m:den>
                      </m:f>
                      <m:r>
                        <m:rPr>
                          <m:sty m:val="bi"/>
                        </m:rPr>
                        <a:rPr lang="en-US" altLang="zh-CN" sz="2800" b="1" i="1" kern="100">
                          <a:effectLst/>
                          <a:latin typeface="Cambria Math" panose="02040503050406030204" pitchFamily="18" charset="0"/>
                          <a:ea typeface="黑体" panose="02010609060101010101" charset="-122"/>
                        </a:rPr>
                        <m:t>=</m:t>
                      </m:r>
                      <m:f>
                        <m:fPr>
                          <m:type m:val="bar"/>
                          <m:ctrlPr>
                            <a:rPr lang="zh-CN" altLang="zh-CN" sz="2800" b="1" i="1" kern="100">
                              <a:effectLst/>
                              <a:latin typeface="Cambria Math" panose="02040503050406030204" pitchFamily="18" charset="0"/>
                              <a:ea typeface="Cambria Math" panose="02040503050406030204" pitchFamily="18" charset="0"/>
                            </a:rPr>
                          </m:ctrlPr>
                        </m:fPr>
                        <m:num>
                          <m:r>
                            <m:rPr>
                              <m:sty m:val="bi"/>
                            </m:rPr>
                            <a:rPr lang="en-US" altLang="zh-CN" sz="2800" b="1" i="1" kern="100">
                              <a:effectLst/>
                              <a:latin typeface="Cambria Math" panose="02040503050406030204" pitchFamily="18" charset="0"/>
                              <a:ea typeface="黑体" panose="02010609060101010101" charset="-122"/>
                            </a:rPr>
                            <m:t>𝟒</m:t>
                          </m:r>
                        </m:num>
                        <m:den>
                          <m:r>
                            <m:rPr>
                              <m:sty m:val="bi"/>
                            </m:rPr>
                            <a:rPr lang="en-US" altLang="zh-CN" sz="2800" b="1" i="1" kern="100">
                              <a:effectLst/>
                              <a:latin typeface="Cambria Math" panose="02040503050406030204" pitchFamily="18" charset="0"/>
                              <a:ea typeface="黑体" panose="02010609060101010101" charset="-122"/>
                            </a:rPr>
                            <m:t>𝟐</m:t>
                          </m:r>
                        </m:den>
                      </m:f>
                      <m:r>
                        <m:rPr>
                          <m:sty m:val="b"/>
                        </m:rPr>
                        <a:rPr lang="en-US" altLang="zh-CN" sz="2800" b="1" kern="100">
                          <a:effectLst/>
                          <a:latin typeface="Cambria Math" panose="02040503050406030204" pitchFamily="18" charset="0"/>
                          <a:ea typeface="黑体" panose="02010609060101010101" charset="-122"/>
                        </a:rPr>
                        <m:t>𝐬</m:t>
                      </m:r>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𝟐</m:t>
                      </m:r>
                      <m:r>
                        <m:rPr>
                          <m:sty m:val="b"/>
                        </m:rPr>
                        <a:rPr lang="en-US" altLang="zh-CN" sz="2800" b="1" kern="100">
                          <a:effectLst/>
                          <a:latin typeface="Cambria Math" panose="02040503050406030204" pitchFamily="18" charset="0"/>
                          <a:ea typeface="黑体" panose="02010609060101010101" charset="-122"/>
                        </a:rPr>
                        <m:t>𝐬</m:t>
                      </m:r>
                    </m:oMath>
                  </m:oMathPara>
                </a14:m>
                <a:r>
                  <a:rPr lang="zh-CN" altLang="zh-CN" sz="2800" b="1" kern="100">
                    <a:effectLst/>
                    <a:latin typeface="Times New Roman" panose="02020603050405020304" charset="0"/>
                    <a:ea typeface="黑体" panose="02010609060101010101" charset="-122"/>
                  </a:rPr>
                  <a:t>物体加速阶段的位移大小为</a:t>
                </a:r>
                <a14:m>
                  <m:oMathPara>
                    <m:oMathParaPr>
                      <m:jc/>
                    </m:oMathParaPr>
                    <m:oMath>
                      <m:sSub>
                        <m:sSubPr>
                          <m:ctrlPr>
                            <a:rPr lang="zh-CN" altLang="zh-CN" sz="2800" b="1" i="1" kern="100">
                              <a:effectLst/>
                              <a:latin typeface="Cambria Math" panose="02040503050406030204" pitchFamily="18" charset="0"/>
                              <a:ea typeface="Cambria Math" panose="02040503050406030204" pitchFamily="18" charset="0"/>
                            </a:rPr>
                          </m:ctrlPr>
                        </m:sSubPr>
                        <m:e>
                          <m:r>
                            <m:rPr>
                              <m:sty m:val="bi"/>
                            </m:rPr>
                            <a:rPr lang="en-US" altLang="zh-CN" sz="2800" b="1" i="1" kern="100">
                              <a:effectLst/>
                              <a:latin typeface="Cambria Math" panose="02040503050406030204" pitchFamily="18" charset="0"/>
                              <a:ea typeface="黑体" panose="02010609060101010101" charset="-122"/>
                            </a:rPr>
                            <m:t>𝒙</m:t>
                          </m:r>
                        </m:e>
                        <m:sub>
                          <m:r>
                            <m:rPr>
                              <m:sty m:val="bi"/>
                            </m:rPr>
                            <a:rPr lang="en-US" altLang="zh-CN" sz="2800" b="1" i="1" kern="100">
                              <a:effectLst/>
                              <a:latin typeface="Cambria Math" panose="02040503050406030204" pitchFamily="18" charset="0"/>
                              <a:ea typeface="黑体" panose="02010609060101010101" charset="-122"/>
                            </a:rPr>
                            <m:t>𝟏</m:t>
                          </m:r>
                        </m:sub>
                      </m:sSub>
                      <m:r>
                        <m:rPr>
                          <m:sty m:val="bi"/>
                        </m:rPr>
                        <a:rPr lang="en-US" altLang="zh-CN" sz="2800" b="1" i="1" kern="100">
                          <a:effectLst/>
                          <a:latin typeface="Cambria Math" panose="02040503050406030204" pitchFamily="18" charset="0"/>
                          <a:ea typeface="黑体" panose="02010609060101010101" charset="-122"/>
                        </a:rPr>
                        <m:t>=</m:t>
                      </m:r>
                      <m:f>
                        <m:fPr>
                          <m:type m:val="bar"/>
                          <m:ctrlPr>
                            <a:rPr lang="zh-CN" altLang="zh-CN" sz="2800" b="1" i="1" kern="100">
                              <a:effectLst/>
                              <a:latin typeface="Cambria Math" panose="02040503050406030204" pitchFamily="18" charset="0"/>
                              <a:ea typeface="Cambria Math" panose="02040503050406030204" pitchFamily="18" charset="0"/>
                            </a:rPr>
                          </m:ctrlPr>
                        </m:fPr>
                        <m:num>
                          <m:r>
                            <m:rPr>
                              <m:sty m:val="bi"/>
                            </m:rPr>
                            <a:rPr lang="en-US" altLang="zh-CN" sz="2800" b="1" i="1" kern="100">
                              <a:effectLst/>
                              <a:latin typeface="Cambria Math" panose="02040503050406030204" pitchFamily="18" charset="0"/>
                              <a:ea typeface="黑体" panose="02010609060101010101" charset="-122"/>
                            </a:rPr>
                            <m:t>𝒗</m:t>
                          </m:r>
                        </m:num>
                        <m:den>
                          <m:r>
                            <m:rPr>
                              <m:sty m:val="bi"/>
                            </m:rPr>
                            <a:rPr lang="en-US" altLang="zh-CN" sz="2800" b="1" i="1" kern="100">
                              <a:effectLst/>
                              <a:latin typeface="Cambria Math" panose="02040503050406030204" pitchFamily="18" charset="0"/>
                              <a:ea typeface="黑体" panose="02010609060101010101" charset="-122"/>
                            </a:rPr>
                            <m:t>𝟐</m:t>
                          </m:r>
                        </m:den>
                      </m:f>
                      <m:sSub>
                        <m:sSubPr>
                          <m:ctrlPr>
                            <a:rPr lang="zh-CN" altLang="zh-CN" sz="2800" b="1" i="1" kern="100">
                              <a:effectLst/>
                              <a:latin typeface="Cambria Math" panose="02040503050406030204" pitchFamily="18" charset="0"/>
                              <a:ea typeface="Cambria Math" panose="02040503050406030204" pitchFamily="18" charset="0"/>
                            </a:rPr>
                          </m:ctrlPr>
                        </m:sSubPr>
                        <m:e>
                          <m:r>
                            <m:rPr>
                              <m:sty m:val="bi"/>
                            </m:rPr>
                            <a:rPr lang="en-US" altLang="zh-CN" sz="2800" b="1" i="1" kern="100">
                              <a:effectLst/>
                              <a:latin typeface="Cambria Math" panose="02040503050406030204" pitchFamily="18" charset="0"/>
                              <a:ea typeface="黑体" panose="02010609060101010101" charset="-122"/>
                            </a:rPr>
                            <m:t>𝒕</m:t>
                          </m:r>
                        </m:e>
                        <m:sub>
                          <m:r>
                            <m:rPr>
                              <m:sty m:val="bi"/>
                            </m:rPr>
                            <a:rPr lang="en-US" altLang="zh-CN" sz="2800" b="1" i="1" kern="100">
                              <a:effectLst/>
                              <a:latin typeface="Cambria Math" panose="02040503050406030204" pitchFamily="18" charset="0"/>
                              <a:ea typeface="黑体" panose="02010609060101010101" charset="-122"/>
                            </a:rPr>
                            <m:t>𝟏</m:t>
                          </m:r>
                        </m:sub>
                      </m:sSub>
                      <m:r>
                        <m:rPr>
                          <m:sty m:val="bi"/>
                        </m:rPr>
                        <a:rPr lang="en-US" altLang="zh-CN" sz="2800" b="1" i="1" kern="100">
                          <a:effectLst/>
                          <a:latin typeface="Cambria Math" panose="02040503050406030204" pitchFamily="18" charset="0"/>
                          <a:ea typeface="黑体" panose="02010609060101010101" charset="-122"/>
                        </a:rPr>
                        <m:t>=</m:t>
                      </m:r>
                      <m:f>
                        <m:fPr>
                          <m:type m:val="bar"/>
                          <m:ctrlPr>
                            <a:rPr lang="zh-CN" altLang="zh-CN" sz="2800" b="1" i="1" kern="100">
                              <a:effectLst/>
                              <a:latin typeface="Cambria Math" panose="02040503050406030204" pitchFamily="18" charset="0"/>
                              <a:ea typeface="Cambria Math" panose="02040503050406030204" pitchFamily="18" charset="0"/>
                            </a:rPr>
                          </m:ctrlPr>
                        </m:fPr>
                        <m:num>
                          <m:r>
                            <m:rPr>
                              <m:sty m:val="bi"/>
                            </m:rPr>
                            <a:rPr lang="en-US" altLang="zh-CN" sz="2800" b="1" i="1" kern="100">
                              <a:effectLst/>
                              <a:latin typeface="Cambria Math" panose="02040503050406030204" pitchFamily="18" charset="0"/>
                              <a:ea typeface="黑体" panose="02010609060101010101" charset="-122"/>
                            </a:rPr>
                            <m:t>𝟒</m:t>
                          </m:r>
                        </m:num>
                        <m:den>
                          <m:r>
                            <m:rPr>
                              <m:sty m:val="bi"/>
                            </m:rPr>
                            <a:rPr lang="en-US" altLang="zh-CN" sz="2800" b="1" i="1" kern="100">
                              <a:effectLst/>
                              <a:latin typeface="Cambria Math" panose="02040503050406030204" pitchFamily="18" charset="0"/>
                              <a:ea typeface="黑体" panose="02010609060101010101" charset="-122"/>
                            </a:rPr>
                            <m:t>𝟐</m:t>
                          </m:r>
                        </m:den>
                      </m:f>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𝟐</m:t>
                      </m:r>
                      <m:r>
                        <m:rPr>
                          <m:sty m:val="b"/>
                        </m:rPr>
                        <a:rPr lang="en-US" altLang="zh-CN" sz="2800" b="1" kern="100">
                          <a:effectLst/>
                          <a:latin typeface="Cambria Math" panose="02040503050406030204" pitchFamily="18" charset="0"/>
                          <a:ea typeface="黑体" panose="02010609060101010101" charset="-122"/>
                        </a:rPr>
                        <m:t>𝐦</m:t>
                      </m:r>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𝟒</m:t>
                      </m:r>
                      <m:r>
                        <m:rPr>
                          <m:sty m:val="b"/>
                        </m:rPr>
                        <a:rPr lang="en-US" altLang="zh-CN" sz="2800" b="1" kern="100">
                          <a:effectLst/>
                          <a:latin typeface="Cambria Math" panose="02040503050406030204" pitchFamily="18" charset="0"/>
                          <a:ea typeface="黑体" panose="02010609060101010101" charset="-122"/>
                        </a:rPr>
                        <m:t>𝐦</m:t>
                      </m:r>
                      <m:r>
                        <m:rPr>
                          <m:sty m:val="bi"/>
                        </m:rPr>
                        <a:rPr lang="en-US" altLang="zh-CN" sz="2800" b="1" i="1" kern="100">
                          <a:effectLst/>
                          <a:latin typeface="Cambria Math" panose="02040503050406030204" pitchFamily="18" charset="0"/>
                          <a:ea typeface="黑体" panose="02010609060101010101" charset="-122"/>
                        </a:rPr>
                        <m:t>&lt;</m:t>
                      </m:r>
                      <m:r>
                        <m:rPr>
                          <m:sty m:val="b"/>
                        </m:rPr>
                        <a:rPr lang="en-US" altLang="zh-CN" sz="2800" b="1" kern="100">
                          <a:effectLst/>
                          <a:latin typeface="Cambria Math" panose="02040503050406030204" pitchFamily="18" charset="0"/>
                          <a:ea typeface="黑体" panose="02010609060101010101" charset="-122"/>
                        </a:rPr>
                        <m:t>𝟏𝟎</m:t>
                      </m:r>
                      <m:r>
                        <m:rPr>
                          <m:sty m:val="b"/>
                        </m:rPr>
                        <a:rPr lang="en-US" altLang="zh-CN" sz="2800" b="1" kern="100">
                          <a:effectLst/>
                          <a:latin typeface="Cambria Math" panose="02040503050406030204" pitchFamily="18" charset="0"/>
                          <a:ea typeface="黑体" panose="02010609060101010101" charset="-122"/>
                        </a:rPr>
                        <m:t>𝐦</m:t>
                      </m:r>
                    </m:oMath>
                  </m:oMathPara>
                </a14:m>
                <a:r>
                  <a:rPr lang="zh-CN" altLang="zh-CN" sz="2800" b="1" kern="100">
                    <a:effectLst/>
                    <a:latin typeface="Times New Roman" panose="02020603050405020304" charset="0"/>
                    <a:ea typeface="黑体" panose="02010609060101010101" charset="-122"/>
                  </a:rPr>
                  <a:t>假设成立；共速后物体做匀速运动的时间为</a:t>
                </a:r>
                <a14:m>
                  <m:oMathPara>
                    <m:oMathParaPr>
                      <m:jc/>
                    </m:oMathParaPr>
                    <m:oMath>
                      <m:sSub>
                        <m:sSubPr>
                          <m:ctrlPr>
                            <a:rPr lang="zh-CN" altLang="zh-CN" sz="2800" b="1" i="1" kern="100">
                              <a:effectLst/>
                              <a:latin typeface="Cambria Math" panose="02040503050406030204" pitchFamily="18" charset="0"/>
                              <a:ea typeface="Cambria Math" panose="02040503050406030204" pitchFamily="18" charset="0"/>
                            </a:rPr>
                          </m:ctrlPr>
                        </m:sSubPr>
                        <m:e>
                          <m:r>
                            <m:rPr>
                              <m:sty m:val="bi"/>
                            </m:rPr>
                            <a:rPr lang="en-US" altLang="zh-CN" sz="2800" b="1" i="1" kern="100">
                              <a:effectLst/>
                              <a:latin typeface="Cambria Math" panose="02040503050406030204" pitchFamily="18" charset="0"/>
                              <a:ea typeface="黑体" panose="02010609060101010101" charset="-122"/>
                            </a:rPr>
                            <m:t>𝒕</m:t>
                          </m:r>
                        </m:e>
                        <m:sub>
                          <m:r>
                            <m:rPr>
                              <m:sty m:val="bi"/>
                            </m:rPr>
                            <a:rPr lang="en-US" altLang="zh-CN" sz="2800" b="1" i="1" kern="100">
                              <a:effectLst/>
                              <a:latin typeface="Cambria Math" panose="02040503050406030204" pitchFamily="18" charset="0"/>
                              <a:ea typeface="黑体" panose="02010609060101010101" charset="-122"/>
                            </a:rPr>
                            <m:t>𝟐</m:t>
                          </m:r>
                        </m:sub>
                      </m:sSub>
                      <m:r>
                        <m:rPr>
                          <m:sty m:val="bi"/>
                        </m:rPr>
                        <a:rPr lang="en-US" altLang="zh-CN" sz="2800" b="1" i="1" kern="100">
                          <a:effectLst/>
                          <a:latin typeface="Cambria Math" panose="02040503050406030204" pitchFamily="18" charset="0"/>
                          <a:ea typeface="黑体" panose="02010609060101010101" charset="-122"/>
                        </a:rPr>
                        <m:t>=</m:t>
                      </m:r>
                      <m:f>
                        <m:fPr>
                          <m:type m:val="bar"/>
                          <m:ctrlPr>
                            <a:rPr lang="zh-CN" altLang="zh-CN" sz="2800" b="1" i="1" kern="100">
                              <a:effectLst/>
                              <a:latin typeface="Cambria Math" panose="02040503050406030204" pitchFamily="18" charset="0"/>
                              <a:ea typeface="Cambria Math" panose="02040503050406030204" pitchFamily="18" charset="0"/>
                            </a:rPr>
                          </m:ctrlPr>
                        </m:fPr>
                        <m:num>
                          <m:sSub>
                            <m:sSubPr>
                              <m:ctrlPr>
                                <a:rPr lang="zh-CN" altLang="zh-CN" sz="2800" b="1" i="1" kern="100">
                                  <a:effectLst/>
                                  <a:latin typeface="Cambria Math" panose="02040503050406030204" pitchFamily="18" charset="0"/>
                                  <a:ea typeface="Cambria Math" panose="02040503050406030204" pitchFamily="18" charset="0"/>
                                </a:rPr>
                              </m:ctrlPr>
                            </m:sSubPr>
                            <m:e>
                              <m:r>
                                <m:rPr>
                                  <m:sty m:val="bi"/>
                                </m:rPr>
                                <a:rPr lang="en-US" altLang="zh-CN" sz="2800" b="1" i="1" kern="100">
                                  <a:effectLst/>
                                  <a:latin typeface="Cambria Math" panose="02040503050406030204" pitchFamily="18" charset="0"/>
                                  <a:ea typeface="黑体" panose="02010609060101010101" charset="-122"/>
                                </a:rPr>
                                <m:t>𝒙</m:t>
                              </m:r>
                            </m:e>
                            <m:sub>
                              <m:r>
                                <m:rPr>
                                  <m:sty m:val="bi"/>
                                </m:rPr>
                                <a:rPr lang="en-US" altLang="zh-CN" sz="2800" b="1" i="1" kern="100">
                                  <a:effectLst/>
                                  <a:latin typeface="Cambria Math" panose="02040503050406030204" pitchFamily="18" charset="0"/>
                                  <a:ea typeface="黑体" panose="02010609060101010101" charset="-122"/>
                                </a:rPr>
                                <m:t>𝟐</m:t>
                              </m:r>
                            </m:sub>
                          </m:sSub>
                        </m:num>
                        <m:den>
                          <m:r>
                            <m:rPr>
                              <m:sty m:val="bi"/>
                            </m:rPr>
                            <a:rPr lang="en-US" altLang="zh-CN" sz="2800" b="1" i="1" kern="100">
                              <a:effectLst/>
                              <a:latin typeface="Cambria Math" panose="02040503050406030204" pitchFamily="18" charset="0"/>
                              <a:ea typeface="黑体" panose="02010609060101010101" charset="-122"/>
                            </a:rPr>
                            <m:t>𝒗</m:t>
                          </m:r>
                        </m:den>
                      </m:f>
                      <m:r>
                        <m:rPr>
                          <m:sty m:val="bi"/>
                        </m:rPr>
                        <a:rPr lang="en-US" altLang="zh-CN" sz="2800" b="1" i="1" kern="100">
                          <a:effectLst/>
                          <a:latin typeface="Cambria Math" panose="02040503050406030204" pitchFamily="18" charset="0"/>
                          <a:ea typeface="黑体" panose="02010609060101010101" charset="-122"/>
                        </a:rPr>
                        <m:t>=</m:t>
                      </m:r>
                      <m:f>
                        <m:fPr>
                          <m:type m:val="bar"/>
                          <m:ctrlPr>
                            <a:rPr lang="zh-CN" altLang="zh-CN" sz="2800" b="1" i="1" kern="100">
                              <a:effectLst/>
                              <a:latin typeface="Cambria Math" panose="02040503050406030204" pitchFamily="18" charset="0"/>
                              <a:ea typeface="Cambria Math" panose="02040503050406030204" pitchFamily="18" charset="0"/>
                            </a:rPr>
                          </m:ctrlPr>
                        </m:fPr>
                        <m:num>
                          <m:r>
                            <m:rPr>
                              <m:sty m:val="bi"/>
                            </m:rPr>
                            <a:rPr lang="en-US" altLang="zh-CN" sz="2800" b="1" i="1" kern="100">
                              <a:effectLst/>
                              <a:latin typeface="Cambria Math" panose="02040503050406030204" pitchFamily="18" charset="0"/>
                              <a:ea typeface="黑体" panose="02010609060101010101" charset="-122"/>
                            </a:rPr>
                            <m:t>𝟏𝟎</m:t>
                          </m:r>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𝟒</m:t>
                          </m:r>
                        </m:num>
                        <m:den>
                          <m:r>
                            <m:rPr>
                              <m:sty m:val="bi"/>
                            </m:rPr>
                            <a:rPr lang="en-US" altLang="zh-CN" sz="2800" b="1" i="1" kern="100">
                              <a:effectLst/>
                              <a:latin typeface="Cambria Math" panose="02040503050406030204" pitchFamily="18" charset="0"/>
                              <a:ea typeface="黑体" panose="02010609060101010101" charset="-122"/>
                            </a:rPr>
                            <m:t>𝟒</m:t>
                          </m:r>
                        </m:den>
                      </m:f>
                      <m:r>
                        <m:rPr>
                          <m:sty m:val="b"/>
                        </m:rPr>
                        <a:rPr lang="en-US" altLang="zh-CN" sz="2800" b="1" kern="100">
                          <a:effectLst/>
                          <a:latin typeface="Cambria Math" panose="02040503050406030204" pitchFamily="18" charset="0"/>
                          <a:ea typeface="黑体" panose="02010609060101010101" charset="-122"/>
                        </a:rPr>
                        <m:t>𝐬</m:t>
                      </m:r>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𝟏</m:t>
                      </m:r>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𝟓</m:t>
                      </m:r>
                      <m:r>
                        <m:rPr>
                          <m:sty m:val="b"/>
                        </m:rPr>
                        <a:rPr lang="en-US" altLang="zh-CN" sz="2800" b="1" kern="100">
                          <a:effectLst/>
                          <a:latin typeface="Cambria Math" panose="02040503050406030204" pitchFamily="18" charset="0"/>
                          <a:ea typeface="黑体" panose="02010609060101010101" charset="-122"/>
                        </a:rPr>
                        <m:t>𝐬</m:t>
                      </m:r>
                    </m:oMath>
                  </m:oMathPara>
                </a14:m>
                <a:r>
                  <a:rPr lang="zh-CN" altLang="zh-CN" sz="2800" b="1" kern="100">
                    <a:effectLst/>
                    <a:latin typeface="Times New Roman" panose="02020603050405020304" charset="0"/>
                    <a:ea typeface="黑体" panose="02010609060101010101" charset="-122"/>
                  </a:rPr>
                  <a:t>则物体由</a:t>
                </a:r>
                <a:r>
                  <a:rPr lang="en-US" altLang="zh-CN" sz="2800" b="1" i="1" kern="100">
                    <a:effectLst/>
                    <a:latin typeface="Times New Roman" panose="02020603050405020304" charset="0"/>
                    <a:ea typeface="黑体" panose="02010609060101010101" charset="-122"/>
                  </a:rPr>
                  <a:t>A</a:t>
                </a:r>
                <a:r>
                  <a:rPr lang="zh-CN" altLang="zh-CN" sz="2800" b="1" kern="100">
                    <a:effectLst/>
                    <a:latin typeface="Times New Roman" panose="02020603050405020304" charset="0"/>
                    <a:ea typeface="黑体" panose="02010609060101010101" charset="-122"/>
                  </a:rPr>
                  <a:t>运动到</a:t>
                </a:r>
                <a:r>
                  <a:rPr lang="en-US" altLang="zh-CN" sz="2800" b="1" i="1" kern="100">
                    <a:effectLst/>
                    <a:latin typeface="Times New Roman" panose="02020603050405020304" charset="0"/>
                    <a:ea typeface="黑体" panose="02010609060101010101" charset="-122"/>
                  </a:rPr>
                  <a:t>B</a:t>
                </a:r>
                <a:r>
                  <a:rPr lang="zh-CN" altLang="zh-CN" sz="2800" b="1" kern="100">
                    <a:effectLst/>
                    <a:latin typeface="Times New Roman" panose="02020603050405020304" charset="0"/>
                    <a:ea typeface="黑体" panose="02010609060101010101" charset="-122"/>
                  </a:rPr>
                  <a:t>的时间为</a:t>
                </a:r>
                <a14:m>
                  <m:oMathPara>
                    <m:oMathParaPr>
                      <m:jc/>
                    </m:oMathParaPr>
                    <m:oMath>
                      <m:r>
                        <m:rPr>
                          <m:sty m:val="bi"/>
                        </m:rPr>
                        <a:rPr lang="en-US" altLang="zh-CN" sz="2800" b="1" i="1" kern="100">
                          <a:effectLst/>
                          <a:latin typeface="Cambria Math" panose="02040503050406030204" pitchFamily="18" charset="0"/>
                          <a:ea typeface="黑体" panose="02010609060101010101" charset="-122"/>
                        </a:rPr>
                        <m:t>𝒕</m:t>
                      </m:r>
                      <m:r>
                        <m:rPr>
                          <m:sty m:val="bi"/>
                        </m:rPr>
                        <a:rPr lang="en-US" altLang="zh-CN" sz="2800" b="1" i="1" kern="100">
                          <a:effectLst/>
                          <a:latin typeface="Cambria Math" panose="02040503050406030204" pitchFamily="18" charset="0"/>
                          <a:ea typeface="黑体" panose="02010609060101010101" charset="-122"/>
                        </a:rPr>
                        <m:t>=</m:t>
                      </m:r>
                      <m:sSub>
                        <m:sSubPr>
                          <m:ctrlPr>
                            <a:rPr lang="zh-CN" altLang="zh-CN" sz="2800" b="1" i="1" kern="100">
                              <a:effectLst/>
                              <a:latin typeface="Cambria Math" panose="02040503050406030204" pitchFamily="18" charset="0"/>
                              <a:ea typeface="Cambria Math" panose="02040503050406030204" pitchFamily="18" charset="0"/>
                            </a:rPr>
                          </m:ctrlPr>
                        </m:sSubPr>
                        <m:e>
                          <m:r>
                            <m:rPr>
                              <m:sty m:val="bi"/>
                            </m:rPr>
                            <a:rPr lang="en-US" altLang="zh-CN" sz="2800" b="1" i="1" kern="100">
                              <a:effectLst/>
                              <a:latin typeface="Cambria Math" panose="02040503050406030204" pitchFamily="18" charset="0"/>
                              <a:ea typeface="黑体" panose="02010609060101010101" charset="-122"/>
                            </a:rPr>
                            <m:t>𝒕</m:t>
                          </m:r>
                        </m:e>
                        <m:sub>
                          <m:r>
                            <m:rPr>
                              <m:sty m:val="bi"/>
                            </m:rPr>
                            <a:rPr lang="en-US" altLang="zh-CN" sz="2800" b="1" i="1" kern="100">
                              <a:effectLst/>
                              <a:latin typeface="Cambria Math" panose="02040503050406030204" pitchFamily="18" charset="0"/>
                              <a:ea typeface="黑体" panose="02010609060101010101" charset="-122"/>
                            </a:rPr>
                            <m:t>𝟏</m:t>
                          </m:r>
                        </m:sub>
                      </m:sSub>
                      <m:r>
                        <m:rPr>
                          <m:sty m:val="bi"/>
                        </m:rPr>
                        <a:rPr lang="en-US" altLang="zh-CN" sz="2800" b="1" i="1" kern="100">
                          <a:effectLst/>
                          <a:latin typeface="Cambria Math" panose="02040503050406030204" pitchFamily="18" charset="0"/>
                          <a:ea typeface="黑体" panose="02010609060101010101" charset="-122"/>
                        </a:rPr>
                        <m:t>+</m:t>
                      </m:r>
                      <m:sSub>
                        <m:sSubPr>
                          <m:ctrlPr>
                            <a:rPr lang="zh-CN" altLang="zh-CN" sz="2800" b="1" i="1" kern="100">
                              <a:effectLst/>
                              <a:latin typeface="Cambria Math" panose="02040503050406030204" pitchFamily="18" charset="0"/>
                              <a:ea typeface="Cambria Math" panose="02040503050406030204" pitchFamily="18" charset="0"/>
                            </a:rPr>
                          </m:ctrlPr>
                        </m:sSubPr>
                        <m:e>
                          <m:r>
                            <m:rPr>
                              <m:sty m:val="bi"/>
                            </m:rPr>
                            <a:rPr lang="en-US" altLang="zh-CN" sz="2800" b="1" i="1" kern="100">
                              <a:effectLst/>
                              <a:latin typeface="Cambria Math" panose="02040503050406030204" pitchFamily="18" charset="0"/>
                              <a:ea typeface="黑体" panose="02010609060101010101" charset="-122"/>
                            </a:rPr>
                            <m:t>𝒕</m:t>
                          </m:r>
                        </m:e>
                        <m:sub>
                          <m:r>
                            <m:rPr>
                              <m:sty m:val="bi"/>
                            </m:rPr>
                            <a:rPr lang="en-US" altLang="zh-CN" sz="2800" b="1" i="1" kern="100">
                              <a:effectLst/>
                              <a:latin typeface="Cambria Math" panose="02040503050406030204" pitchFamily="18" charset="0"/>
                              <a:ea typeface="黑体" panose="02010609060101010101" charset="-122"/>
                            </a:rPr>
                            <m:t>𝟐</m:t>
                          </m:r>
                        </m:sub>
                      </m:sSub>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𝟑</m:t>
                      </m:r>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𝟓</m:t>
                      </m:r>
                      <m:r>
                        <m:rPr>
                          <m:sty m:val="b"/>
                        </m:rPr>
                        <a:rPr lang="en-US" altLang="zh-CN" sz="2800" b="1" kern="100">
                          <a:effectLst/>
                          <a:latin typeface="Cambria Math" panose="02040503050406030204" pitchFamily="18" charset="0"/>
                          <a:ea typeface="黑体" panose="02010609060101010101" charset="-122"/>
                        </a:rPr>
                        <m:t>𝐬</m:t>
                      </m:r>
                    </m:oMath>
                  </m:oMathPara>
                </a14:m>
                <a:r>
                  <a:rPr lang="zh-CN" altLang="zh-CN" sz="2800" b="1" kern="100">
                    <a:effectLst/>
                    <a:latin typeface="Times New Roman" panose="02020603050405020304" charset="0"/>
                    <a:ea typeface="黑体" panose="02010609060101010101" charset="-122"/>
                  </a:rPr>
                  <a:t>故选</a:t>
                </a:r>
                <a:r>
                  <a:rPr lang="en-US" altLang="zh-CN" sz="2800" b="1" kern="100">
                    <a:effectLst/>
                    <a:latin typeface="Times New Roman" panose="02020603050405020304" charset="0"/>
                    <a:ea typeface="黑体" panose="02010609060101010101" charset="-122"/>
                  </a:rPr>
                  <a:t>C</a:t>
                </a:r>
                <a:r>
                  <a:rPr lang="zh-CN" altLang="zh-CN" sz="2800" b="1" kern="100">
                    <a:effectLst/>
                    <a:latin typeface="Times New Roman" panose="02020603050405020304" charset="0"/>
                    <a:ea typeface="黑体" panose="02010609060101010101" charset="-122"/>
                  </a:rPr>
                  <a:t>。</a:t>
                </a:r>
                <a:endParaRPr lang="zh-CN" altLang="zh-CN" sz="2800" kern="100">
                  <a:effectLst/>
                  <a:latin typeface="Times New Roman" panose="02020603050405020304" charset="0"/>
                  <a:ea typeface="宋体" panose="02010600030101010101" pitchFamily="2" charset="-122"/>
                </a:endParaRPr>
              </a:p>
            </p:txBody>
          </p:sp>
        </mc:Choice>
        <mc:Fallback>
          <p:sp>
            <p:nvSpPr>
              <p:cNvPr id="3" name="文本框 2"/>
              <p:cNvSpPr txBox="1">
                <a:spLocks noRot="1" noChangeAspect="1" noMove="1" noResize="1" noEditPoints="1" noAdjustHandles="1" noChangeArrowheads="1" noChangeShapeType="1" noTextEdit="1"/>
              </p:cNvSpPr>
              <p:nvPr>
                <p:custDataLst>
                  <p:tags r:id="rId4"/>
                </p:custDataLst>
              </p:nvPr>
            </p:nvSpPr>
            <p:spPr>
              <a:xfrm>
                <a:off x="430530" y="478155"/>
                <a:ext cx="11254105" cy="3731260"/>
              </a:xfrm>
              <a:prstGeom prst="rect">
                <a:avLst/>
              </a:prstGeom>
              <a:blipFill rotWithShape="1">
                <a:blip r:embed="rId5"/>
                <a:stretch>
                  <a:fillRect b="-43686"/>
                </a:stretch>
              </a:blipFill>
            </p:spPr>
            <p:txBody>
              <a:bodyPr/>
              <a:lstStyle/>
              <a:p>
                <a:r>
                  <a:rPr lang="zh-CN" altLang="en-US">
                    <a:noFill/>
                  </a:rPr>
                  <a:t> </a:t>
                </a:r>
              </a:p>
            </p:txBody>
          </p:sp>
        </mc:Fallback>
      </mc:AlternateContent>
    </p:spTree>
    <p:custDataLst>
      <p:tags r:id="rId6"/>
    </p:custDataLst>
  </p:cSld>
  <p:clrMapOvr>
    <a:masterClrMapping/>
  </p:clrMapOvr>
  <p:transition/>
  <p:timing/>
</p:sld>
</file>

<file path=ppt/slides/slide3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mc:AlternateContent>
        <mc:Choice Requires="a14">
          <p:sp>
            <p:nvSpPr>
              <p:cNvPr id="4" name="文本框 3" title=""/>
              <p:cNvSpPr txBox="1"/>
              <p:nvPr>
                <p:custDataLst>
                  <p:tags r:id="rId3"/>
                </p:custDataLst>
              </p:nvPr>
            </p:nvSpPr>
            <p:spPr>
              <a:xfrm>
                <a:off x="328930" y="359410"/>
                <a:ext cx="11602085" cy="4408170"/>
              </a:xfrm>
              <a:prstGeom prst="rect">
                <a:avLst/>
              </a:prstGeom>
              <a:noFill/>
            </p:spPr>
            <p:txBody>
              <a:bodyPr wrap="square">
                <a:noAutofit/>
              </a:bodyPr>
              <a:lstStyle/>
              <a:p>
                <a:pPr algn="l">
                  <a:lnSpc>
                    <a:spcPct val="150000"/>
                  </a:lnSpc>
                </a:pPr>
                <a:r>
                  <a:rPr lang="en-US" altLang="zh-CN" sz="2400" b="1" kern="100">
                    <a:effectLst/>
                    <a:latin typeface="Times New Roman" panose="02020603050405020304" charset="0"/>
                    <a:ea typeface="黑体" panose="02010609060101010101" charset="-122"/>
                  </a:rPr>
                  <a:t>2</a:t>
                </a:r>
                <a:r>
                  <a:rPr lang="zh-CN" altLang="zh-CN" sz="2400" b="1" kern="100">
                    <a:effectLst/>
                    <a:latin typeface="Times New Roman" panose="02020603050405020304" charset="0"/>
                    <a:ea typeface="黑体" panose="02010609060101010101" charset="-122"/>
                  </a:rPr>
                  <a:t>．如图所示，绷紧的水平传送带始终以恒定速率</a:t>
                </a:r>
                <a14:m>
                  <m:oMathPara>
                    <m:oMathParaPr>
                      <m:jc/>
                    </m:oMathParaPr>
                    <m:oMath>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𝒗</m:t>
                          </m:r>
                        </m:e>
                        <m:sub>
                          <m:r>
                            <m:rPr>
                              <m:sty m:val="bi"/>
                            </m:rPr>
                            <a:rPr lang="en-US" altLang="zh-CN" sz="2400" b="1" i="1" kern="100">
                              <a:effectLst/>
                              <a:latin typeface="Cambria Math" panose="02040503050406030204" pitchFamily="18" charset="0"/>
                              <a:ea typeface="黑体" panose="02010609060101010101" charset="-122"/>
                            </a:rPr>
                            <m:t>𝟏</m:t>
                          </m:r>
                        </m:sub>
                      </m:sSub>
                    </m:oMath>
                  </m:oMathPara>
                </a14:m>
                <a:r>
                  <a:rPr lang="zh-CN" altLang="zh-CN" sz="2400" b="1" kern="100">
                    <a:effectLst/>
                    <a:latin typeface="Times New Roman" panose="02020603050405020304" charset="0"/>
                    <a:ea typeface="黑体" panose="02010609060101010101" charset="-122"/>
                  </a:rPr>
                  <a:t>运行。初速度大小为</a:t>
                </a:r>
                <a14:m>
                  <m:oMathPara>
                    <m:oMathParaPr>
                      <m:jc/>
                    </m:oMathParaPr>
                    <m:oMath>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𝒗</m:t>
                          </m:r>
                        </m:e>
                        <m:sub>
                          <m:r>
                            <m:rPr>
                              <m:sty m:val="bi"/>
                            </m:rPr>
                            <a:rPr lang="en-US" altLang="zh-CN" sz="2400" b="1" i="1" kern="100">
                              <a:effectLst/>
                              <a:latin typeface="Cambria Math" panose="02040503050406030204" pitchFamily="18" charset="0"/>
                              <a:ea typeface="黑体" panose="02010609060101010101" charset="-122"/>
                            </a:rPr>
                            <m:t>𝟐</m:t>
                          </m:r>
                        </m:sub>
                      </m:sSub>
                    </m:oMath>
                  </m:oMathPara>
                </a14:m>
                <a:r>
                  <a:rPr lang="zh-CN" altLang="zh-CN" sz="2400" b="1" kern="100">
                    <a:effectLst/>
                    <a:latin typeface="Times New Roman" panose="02020603050405020304" charset="0"/>
                    <a:ea typeface="黑体" panose="02010609060101010101" charset="-122"/>
                  </a:rPr>
                  <a:t>的小物块从与传送带等高的光滑水平地面上的</a:t>
                </a:r>
                <a:r>
                  <a:rPr lang="en-US" altLang="zh-CN" sz="2400" b="1" i="1" kern="100">
                    <a:effectLst/>
                    <a:latin typeface="Times New Roman" panose="02020603050405020304" charset="0"/>
                    <a:ea typeface="黑体" panose="02010609060101010101" charset="-122"/>
                  </a:rPr>
                  <a:t>A</a:t>
                </a:r>
                <a:r>
                  <a:rPr lang="zh-CN" altLang="zh-CN" sz="2400" b="1" kern="100">
                    <a:effectLst/>
                    <a:latin typeface="Times New Roman" panose="02020603050405020304" charset="0"/>
                    <a:ea typeface="黑体" panose="02010609060101010101" charset="-122"/>
                  </a:rPr>
                  <a:t>处滑上传送带。若从小物块滑上传送带开始计时，小物块在传送带上运动的</a:t>
                </a:r>
                <a14:m>
                  <m:oMathPara>
                    <m:oMathParaPr>
                      <m:jc/>
                    </m:oMathParaPr>
                    <m:oMath>
                      <m:r>
                        <m:rPr>
                          <m:sty m:val="bi"/>
                        </m:rPr>
                        <a:rPr lang="en-US" altLang="zh-CN" sz="2400" b="1" i="1" kern="100">
                          <a:effectLst/>
                          <a:latin typeface="Cambria Math" panose="02040503050406030204" pitchFamily="18" charset="0"/>
                          <a:ea typeface="黑体" panose="02010609060101010101" charset="-122"/>
                        </a:rPr>
                        <m:t>𝒗</m:t>
                      </m:r>
                      <m:r>
                        <m:rPr>
                          <m:sty m:val="bi"/>
                        </m:rPr>
                        <a:rPr lang="en-US" altLang="zh-CN" sz="2400" b="1" i="1" kern="100">
                          <a:effectLst/>
                          <a:latin typeface="Cambria Math" panose="02040503050406030204" pitchFamily="18" charset="0"/>
                          <a:ea typeface="黑体" panose="02010609060101010101" charset="-122"/>
                        </a:rPr>
                        <m:t>−</m:t>
                      </m:r>
                      <m:r>
                        <m:rPr>
                          <m:sty m:val="bi"/>
                        </m:rPr>
                        <a:rPr lang="en-US" altLang="zh-CN" sz="2400" b="1" i="1" kern="100">
                          <a:effectLst/>
                          <a:latin typeface="Cambria Math" panose="02040503050406030204" pitchFamily="18" charset="0"/>
                          <a:ea typeface="黑体" panose="02010609060101010101" charset="-122"/>
                        </a:rPr>
                        <m:t>𝒕</m:t>
                      </m:r>
                    </m:oMath>
                  </m:oMathPara>
                </a14:m>
                <a:r>
                  <a:rPr lang="zh-CN" altLang="zh-CN" sz="2400" b="1" kern="100">
                    <a:effectLst/>
                    <a:latin typeface="Times New Roman" panose="02020603050405020304" charset="0"/>
                    <a:ea typeface="黑体" panose="02010609060101010101" charset="-122"/>
                  </a:rPr>
                  <a:t>图像（以地面为参考系）如图乙所示。已知</a:t>
                </a:r>
                <a14:m>
                  <m:oMathPara>
                    <m:oMathParaPr>
                      <m:jc/>
                    </m:oMathParaPr>
                    <m:oMath>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𝒗</m:t>
                          </m:r>
                        </m:e>
                        <m:sub>
                          <m:r>
                            <m:rPr>
                              <m:sty m:val="bi"/>
                            </m:rPr>
                            <a:rPr lang="en-US" altLang="zh-CN" sz="2400" b="1" i="1" kern="100">
                              <a:effectLst/>
                              <a:latin typeface="Cambria Math" panose="02040503050406030204" pitchFamily="18" charset="0"/>
                              <a:ea typeface="黑体" panose="02010609060101010101" charset="-122"/>
                            </a:rPr>
                            <m:t>𝟐</m:t>
                          </m:r>
                        </m:sub>
                      </m:sSub>
                      <m:r>
                        <m:rPr>
                          <m:sty m:val="bi"/>
                        </m:rPr>
                        <a:rPr lang="en-US" altLang="zh-CN" sz="2400" b="1" i="1" kern="100">
                          <a:effectLst/>
                          <a:latin typeface="Cambria Math" panose="02040503050406030204" pitchFamily="18" charset="0"/>
                          <a:ea typeface="黑体" panose="02010609060101010101" charset="-122"/>
                        </a:rPr>
                        <m:t>&gt;</m:t>
                      </m:r>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𝒗</m:t>
                          </m:r>
                        </m:e>
                        <m:sub>
                          <m:r>
                            <m:rPr>
                              <m:sty m:val="bi"/>
                            </m:rPr>
                            <a:rPr lang="en-US" altLang="zh-CN" sz="2400" b="1" i="1" kern="100">
                              <a:effectLst/>
                              <a:latin typeface="Cambria Math" panose="02040503050406030204" pitchFamily="18" charset="0"/>
                              <a:ea typeface="黑体" panose="02010609060101010101" charset="-122"/>
                            </a:rPr>
                            <m:t>𝟏</m:t>
                          </m:r>
                        </m:sub>
                      </m:sSub>
                    </m:oMath>
                  </m:oMathPara>
                </a14:m>
                <a:r>
                  <a:rPr lang="zh-CN" altLang="zh-CN" sz="2400" b="1" kern="100">
                    <a:effectLst/>
                    <a:latin typeface="Times New Roman" panose="02020603050405020304" charset="0"/>
                    <a:ea typeface="黑体" panose="02010609060101010101" charset="-122"/>
                  </a:rPr>
                  <a:t>，则（　　）</a:t>
                </a:r>
                <a:endParaRPr lang="zh-CN" altLang="zh-CN" sz="2400" kern="100">
                  <a:effectLst/>
                  <a:latin typeface="Times New Roman" panose="02020603050405020304" charset="0"/>
                  <a:ea typeface="宋体" panose="02010600030101010101" pitchFamily="2" charset="-122"/>
                </a:endParaRPr>
              </a:p>
              <a:p>
                <a:pPr marL="190500" algn="l">
                  <a:lnSpc>
                    <a:spcPct val="150000"/>
                  </a:lnSpc>
                </a:pPr>
                <a:r>
                  <a:rPr lang="en-US" altLang="zh-CN" sz="2400" b="1" kern="100">
                    <a:effectLst/>
                    <a:latin typeface="Times New Roman" panose="02020603050405020304" charset="0"/>
                    <a:ea typeface="黑体" panose="02010609060101010101" charset="-122"/>
                  </a:rPr>
                  <a:t>A</a:t>
                </a:r>
                <a:r>
                  <a:rPr lang="zh-CN" altLang="zh-CN" sz="2400" b="1" kern="100">
                    <a:effectLst/>
                    <a:latin typeface="Times New Roman" panose="02020603050405020304" charset="0"/>
                    <a:ea typeface="黑体" panose="02010609060101010101" charset="-122"/>
                  </a:rPr>
                  <a:t>．</a:t>
                </a:r>
                <a14:m>
                  <m:oMathPara>
                    <m:oMathParaPr>
                      <m:jc/>
                    </m:oMathParaPr>
                    <m:oMath>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𝒕</m:t>
                          </m:r>
                        </m:e>
                        <m:sub>
                          <m:r>
                            <m:rPr>
                              <m:sty m:val="bi"/>
                            </m:rPr>
                            <a:rPr lang="en-US" altLang="zh-CN" sz="2400" b="1" i="1" kern="100">
                              <a:effectLst/>
                              <a:latin typeface="Cambria Math" panose="02040503050406030204" pitchFamily="18" charset="0"/>
                              <a:ea typeface="黑体" panose="02010609060101010101" charset="-122"/>
                            </a:rPr>
                            <m:t>𝟐</m:t>
                          </m:r>
                        </m:sub>
                      </m:sSub>
                    </m:oMath>
                  </m:oMathPara>
                </a14:m>
                <a:r>
                  <a:rPr lang="zh-CN" altLang="zh-CN" sz="2400" b="1" kern="100">
                    <a:effectLst/>
                    <a:latin typeface="Times New Roman" panose="02020603050405020304" charset="0"/>
                    <a:ea typeface="黑体" panose="02010609060101010101" charset="-122"/>
                  </a:rPr>
                  <a:t>时刻，小物块离</a:t>
                </a:r>
                <a:r>
                  <a:rPr lang="en-US" altLang="zh-CN" sz="2400" b="1" i="1" kern="100">
                    <a:effectLst/>
                    <a:latin typeface="Times New Roman" panose="02020603050405020304" charset="0"/>
                    <a:ea typeface="黑体" panose="02010609060101010101" charset="-122"/>
                  </a:rPr>
                  <a:t>A</a:t>
                </a:r>
                <a:r>
                  <a:rPr lang="zh-CN" altLang="zh-CN" sz="2400" b="1" kern="100">
                    <a:effectLst/>
                    <a:latin typeface="Times New Roman" panose="02020603050405020304" charset="0"/>
                    <a:ea typeface="黑体" panose="02010609060101010101" charset="-122"/>
                  </a:rPr>
                  <a:t>处的距离达到最大</a:t>
                </a:r>
                <a:endParaRPr lang="zh-CN" altLang="zh-CN" sz="2400" kern="100">
                  <a:effectLst/>
                  <a:latin typeface="Times New Roman" panose="02020603050405020304" charset="0"/>
                  <a:ea typeface="宋体" panose="02010600030101010101" pitchFamily="2" charset="-122"/>
                </a:endParaRPr>
              </a:p>
              <a:p>
                <a:pPr marL="190500" algn="l">
                  <a:lnSpc>
                    <a:spcPct val="150000"/>
                  </a:lnSpc>
                </a:pPr>
                <a:r>
                  <a:rPr lang="en-US" altLang="zh-CN" sz="2400" b="1" kern="100">
                    <a:effectLst/>
                    <a:latin typeface="Times New Roman" panose="02020603050405020304" charset="0"/>
                    <a:ea typeface="黑体" panose="02010609060101010101" charset="-122"/>
                  </a:rPr>
                  <a:t>B</a:t>
                </a:r>
                <a:r>
                  <a:rPr lang="zh-CN" altLang="zh-CN" sz="2400" b="1" kern="100">
                    <a:effectLst/>
                    <a:latin typeface="Times New Roman" panose="02020603050405020304" charset="0"/>
                    <a:ea typeface="黑体" panose="02010609060101010101" charset="-122"/>
                  </a:rPr>
                  <a:t>．</a:t>
                </a:r>
                <a14:m>
                  <m:oMathPara>
                    <m:oMathParaPr>
                      <m:jc/>
                    </m:oMathParaPr>
                    <m:oMath>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𝒕</m:t>
                          </m:r>
                        </m:e>
                        <m:sub>
                          <m:r>
                            <m:rPr>
                              <m:sty m:val="bi"/>
                            </m:rPr>
                            <a:rPr lang="en-US" altLang="zh-CN" sz="2400" b="1" i="1" kern="100">
                              <a:effectLst/>
                              <a:latin typeface="Cambria Math" panose="02040503050406030204" pitchFamily="18" charset="0"/>
                              <a:ea typeface="黑体" panose="02010609060101010101" charset="-122"/>
                            </a:rPr>
                            <m:t>𝟐</m:t>
                          </m:r>
                        </m:sub>
                      </m:sSub>
                    </m:oMath>
                  </m:oMathPara>
                </a14:m>
                <a:r>
                  <a:rPr lang="zh-CN" altLang="zh-CN" sz="2400" b="1" kern="100">
                    <a:effectLst/>
                    <a:latin typeface="Times New Roman" panose="02020603050405020304" charset="0"/>
                    <a:ea typeface="黑体" panose="02010609060101010101" charset="-122"/>
                  </a:rPr>
                  <a:t>时刻，小物块相对传送带滑动的距离达到最大</a:t>
                </a:r>
                <a:endParaRPr lang="zh-CN" altLang="zh-CN" sz="2400" kern="100">
                  <a:effectLst/>
                  <a:latin typeface="Times New Roman" panose="02020603050405020304" charset="0"/>
                  <a:ea typeface="宋体" panose="02010600030101010101" pitchFamily="2" charset="-122"/>
                </a:endParaRPr>
              </a:p>
              <a:p>
                <a:pPr marL="190500" algn="l">
                  <a:lnSpc>
                    <a:spcPct val="150000"/>
                  </a:lnSpc>
                </a:pPr>
                <a:r>
                  <a:rPr lang="en-US" altLang="zh-CN" sz="2400" b="1" kern="100">
                    <a:effectLst/>
                    <a:latin typeface="Times New Roman" panose="02020603050405020304" charset="0"/>
                    <a:ea typeface="黑体" panose="02010609060101010101" charset="-122"/>
                  </a:rPr>
                  <a:t>C</a:t>
                </a:r>
                <a:r>
                  <a:rPr lang="zh-CN" altLang="zh-CN" sz="2400" b="1" kern="100">
                    <a:effectLst/>
                    <a:latin typeface="Times New Roman" panose="02020603050405020304" charset="0"/>
                    <a:ea typeface="黑体" panose="02010609060101010101" charset="-122"/>
                  </a:rPr>
                  <a:t>．</a:t>
                </a:r>
                <a14:m>
                  <m:oMathPara>
                    <m:oMathParaPr>
                      <m:jc/>
                    </m:oMathParaPr>
                    <m:oMath>
                      <m:r>
                        <m:rPr>
                          <m:sty m:val="bi"/>
                        </m:rPr>
                        <a:rPr lang="en-US" altLang="zh-CN" sz="2400" b="1" i="1" kern="100">
                          <a:effectLst/>
                          <a:latin typeface="Cambria Math" panose="02040503050406030204" pitchFamily="18" charset="0"/>
                          <a:ea typeface="黑体" panose="02010609060101010101" charset="-122"/>
                        </a:rPr>
                        <m:t>𝟎</m:t>
                      </m:r>
                      <m:r>
                        <m:rPr>
                          <m:sty m:val="bi"/>
                        </m:rPr>
                        <a:rPr lang="en-US" altLang="zh-CN" sz="2400" b="1" i="1" kern="100">
                          <a:effectLst/>
                          <a:latin typeface="Cambria Math" panose="02040503050406030204" pitchFamily="18" charset="0"/>
                          <a:ea typeface="黑体" panose="02010609060101010101" charset="-122"/>
                        </a:rPr>
                        <m:t>∼</m:t>
                      </m:r>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𝒕</m:t>
                          </m:r>
                        </m:e>
                        <m:sub>
                          <m:r>
                            <m:rPr>
                              <m:sty m:val="bi"/>
                            </m:rPr>
                            <a:rPr lang="en-US" altLang="zh-CN" sz="2400" b="1" i="1" kern="100">
                              <a:effectLst/>
                              <a:latin typeface="Cambria Math" panose="02040503050406030204" pitchFamily="18" charset="0"/>
                              <a:ea typeface="黑体" panose="02010609060101010101" charset="-122"/>
                            </a:rPr>
                            <m:t>𝟐</m:t>
                          </m:r>
                        </m:sub>
                      </m:sSub>
                    </m:oMath>
                  </m:oMathPara>
                </a14:m>
                <a:r>
                  <a:rPr lang="zh-CN" altLang="zh-CN" sz="2400" b="1" kern="100">
                    <a:effectLst/>
                    <a:latin typeface="Times New Roman" panose="02020603050405020304" charset="0"/>
                    <a:ea typeface="黑体" panose="02010609060101010101" charset="-122"/>
                  </a:rPr>
                  <a:t>时间内小物块受滑动摩擦力作用，</a:t>
                </a:r>
                <a14:m>
                  <m:oMathPara>
                    <m:oMathParaPr>
                      <m:jc/>
                    </m:oMathParaPr>
                    <m:oMath>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𝒕</m:t>
                          </m:r>
                        </m:e>
                        <m:sub>
                          <m:r>
                            <m:rPr>
                              <m:sty m:val="bi"/>
                            </m:rPr>
                            <a:rPr lang="en-US" altLang="zh-CN" sz="2400" b="1" i="1" kern="100">
                              <a:effectLst/>
                              <a:latin typeface="Cambria Math" panose="02040503050406030204" pitchFamily="18" charset="0"/>
                              <a:ea typeface="黑体" panose="02010609060101010101" charset="-122"/>
                            </a:rPr>
                            <m:t>𝟐</m:t>
                          </m:r>
                        </m:sub>
                      </m:sSub>
                      <m:r>
                        <m:rPr>
                          <m:sty m:val="bi"/>
                        </m:rPr>
                        <a:rPr lang="en-US" altLang="zh-CN" sz="2400" b="1" i="1" kern="100">
                          <a:effectLst/>
                          <a:latin typeface="Cambria Math" panose="02040503050406030204" pitchFamily="18" charset="0"/>
                          <a:ea typeface="黑体" panose="02010609060101010101" charset="-122"/>
                        </a:rPr>
                        <m:t>∼</m:t>
                      </m:r>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𝒕</m:t>
                          </m:r>
                        </m:e>
                        <m:sub>
                          <m:r>
                            <m:rPr>
                              <m:sty m:val="bi"/>
                            </m:rPr>
                            <a:rPr lang="en-US" altLang="zh-CN" sz="2400" b="1" i="1" kern="100">
                              <a:effectLst/>
                              <a:latin typeface="Cambria Math" panose="02040503050406030204" pitchFamily="18" charset="0"/>
                              <a:ea typeface="黑体" panose="02010609060101010101" charset="-122"/>
                            </a:rPr>
                            <m:t>𝟑</m:t>
                          </m:r>
                        </m:sub>
                      </m:sSub>
                    </m:oMath>
                  </m:oMathPara>
                </a14:m>
                <a:r>
                  <a:rPr lang="zh-CN" altLang="zh-CN" sz="2400" b="1" kern="100">
                    <a:effectLst/>
                    <a:latin typeface="Times New Roman" panose="02020603050405020304" charset="0"/>
                    <a:ea typeface="黑体" panose="02010609060101010101" charset="-122"/>
                  </a:rPr>
                  <a:t>时间内小物块受静摩擦力作用</a:t>
                </a:r>
                <a:endParaRPr lang="zh-CN" altLang="zh-CN" sz="2400" kern="100">
                  <a:effectLst/>
                  <a:latin typeface="Times New Roman" panose="02020603050405020304" charset="0"/>
                  <a:ea typeface="宋体" panose="02010600030101010101" pitchFamily="2" charset="-122"/>
                </a:endParaRPr>
              </a:p>
              <a:p>
                <a:pPr marL="190500" algn="l">
                  <a:lnSpc>
                    <a:spcPct val="150000"/>
                  </a:lnSpc>
                </a:pPr>
                <a:r>
                  <a:rPr lang="en-US" altLang="zh-CN" sz="2400" b="1" kern="100">
                    <a:effectLst/>
                    <a:latin typeface="Times New Roman" panose="02020603050405020304" charset="0"/>
                    <a:ea typeface="黑体" panose="02010609060101010101" charset="-122"/>
                  </a:rPr>
                  <a:t>D</a:t>
                </a:r>
                <a:r>
                  <a:rPr lang="zh-CN" altLang="zh-CN" sz="2400" b="1" kern="100">
                    <a:effectLst/>
                    <a:latin typeface="Times New Roman" panose="02020603050405020304" charset="0"/>
                    <a:ea typeface="黑体" panose="02010609060101010101" charset="-122"/>
                  </a:rPr>
                  <a:t>．</a:t>
                </a:r>
                <a14:m>
                  <m:oMathPara>
                    <m:oMathParaPr>
                      <m:jc/>
                    </m:oMathParaPr>
                    <m:oMath>
                      <m:r>
                        <m:rPr>
                          <m:sty m:val="bi"/>
                        </m:rPr>
                        <a:rPr lang="en-US" altLang="zh-CN" sz="2400" b="1" i="1" kern="100">
                          <a:effectLst/>
                          <a:latin typeface="Cambria Math" panose="02040503050406030204" pitchFamily="18" charset="0"/>
                          <a:ea typeface="黑体" panose="02010609060101010101" charset="-122"/>
                        </a:rPr>
                        <m:t>𝟎</m:t>
                      </m:r>
                      <m:r>
                        <m:rPr>
                          <m:sty m:val="bi"/>
                        </m:rPr>
                        <a:rPr lang="en-US" altLang="zh-CN" sz="2400" b="1" i="1" kern="100">
                          <a:effectLst/>
                          <a:latin typeface="Cambria Math" panose="02040503050406030204" pitchFamily="18" charset="0"/>
                          <a:ea typeface="黑体" panose="02010609060101010101" charset="-122"/>
                        </a:rPr>
                        <m:t>∼</m:t>
                      </m:r>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𝒕</m:t>
                          </m:r>
                        </m:e>
                        <m:sub>
                          <m:r>
                            <m:rPr>
                              <m:sty m:val="bi"/>
                            </m:rPr>
                            <a:rPr lang="en-US" altLang="zh-CN" sz="2400" b="1" i="1" kern="100">
                              <a:effectLst/>
                              <a:latin typeface="Cambria Math" panose="02040503050406030204" pitchFamily="18" charset="0"/>
                              <a:ea typeface="黑体" panose="02010609060101010101" charset="-122"/>
                            </a:rPr>
                            <m:t>𝟐</m:t>
                          </m:r>
                        </m:sub>
                      </m:sSub>
                    </m:oMath>
                  </m:oMathPara>
                </a14:m>
                <a:r>
                  <a:rPr lang="zh-CN" altLang="zh-CN" sz="2400" b="1" kern="100">
                    <a:effectLst/>
                    <a:latin typeface="Times New Roman" panose="02020603050405020304" charset="0"/>
                    <a:ea typeface="黑体" panose="02010609060101010101" charset="-122"/>
                  </a:rPr>
                  <a:t>时间内，小物块受到的摩擦力方向先向右后向左</a:t>
                </a:r>
                <a:endParaRPr lang="zh-CN" altLang="zh-CN" sz="2400" kern="100">
                  <a:effectLst/>
                  <a:latin typeface="Times New Roman" panose="02020603050405020304" charset="0"/>
                  <a:ea typeface="宋体" panose="02010600030101010101" pitchFamily="2" charset="-122"/>
                </a:endParaRPr>
              </a:p>
            </p:txBody>
          </p:sp>
        </mc:Choice>
        <mc:Fallback>
          <p:sp>
            <p:nvSpPr>
              <p:cNvPr id="4" name="文本框 3"/>
              <p:cNvSpPr txBox="1">
                <a:spLocks noRot="1" noChangeAspect="1" noMove="1" noResize="1" noEditPoints="1" noAdjustHandles="1" noChangeArrowheads="1" noChangeShapeType="1" noTextEdit="1"/>
              </p:cNvSpPr>
              <p:nvPr>
                <p:custDataLst>
                  <p:tags r:id="rId4"/>
                </p:custDataLst>
              </p:nvPr>
            </p:nvSpPr>
            <p:spPr>
              <a:xfrm>
                <a:off x="328930" y="359410"/>
                <a:ext cx="11602085" cy="4408170"/>
              </a:xfrm>
              <a:prstGeom prst="rect">
                <a:avLst/>
              </a:prstGeom>
              <a:blipFill rotWithShape="1">
                <a:blip r:embed="rId5"/>
                <a:stretch>
                  <a:fillRect b="-605"/>
                </a:stretch>
              </a:blipFill>
            </p:spPr>
            <p:txBody>
              <a:bodyPr/>
              <a:lstStyle/>
              <a:p>
                <a:r>
                  <a:rPr lang="zh-CN" altLang="en-US">
                    <a:noFill/>
                  </a:rPr>
                  <a:t> </a:t>
                </a:r>
              </a:p>
            </p:txBody>
          </p:sp>
        </mc:Fallback>
      </mc:AlternateContent>
      <p:sp>
        <p:nvSpPr>
          <p:cNvPr id="7" name="文本框 6" title=""/>
          <p:cNvSpPr txBox="1"/>
          <p:nvPr>
            <p:custDataLst>
              <p:tags r:id="rId6"/>
            </p:custDataLst>
          </p:nvPr>
        </p:nvSpPr>
        <p:spPr>
          <a:xfrm>
            <a:off x="1683226" y="2041842"/>
            <a:ext cx="719455" cy="551815"/>
          </a:xfrm>
          <a:prstGeom prst="rect">
            <a:avLst/>
          </a:prstGeom>
          <a:noFill/>
        </p:spPr>
        <p:txBody>
          <a:bodyPr wrap="square" rtlCol="0">
            <a:noAutofit/>
          </a:bodyPr>
          <a:lstStyle/>
          <a:p>
            <a:r>
              <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rPr>
              <a:t>B</a:t>
            </a:r>
            <a:endPar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endParaRPr>
          </a:p>
        </p:txBody>
      </p:sp>
      <p:pic>
        <p:nvPicPr>
          <p:cNvPr id="2" name="图片 1" title=""/>
          <p:cNvPicPr>
            <a:picLocks noChangeAspect="1"/>
          </p:cNvPicPr>
          <p:nvPr>
            <p:custDataLst>
              <p:tags r:id="rId8"/>
            </p:custDataLst>
          </p:nvPr>
        </p:nvPicPr>
        <p:blipFill>
          <a:blip r:embed="rId7"/>
          <a:stretch>
            <a:fillRect/>
          </a:stretch>
        </p:blipFill>
        <p:spPr>
          <a:xfrm>
            <a:off x="3661410" y="4834890"/>
            <a:ext cx="6004560" cy="1858010"/>
          </a:xfrm>
          <a:prstGeom prst="rect">
            <a:avLst/>
          </a:prstGeom>
        </p:spPr>
      </p:pic>
    </p:spTree>
    <p:custDataLst>
      <p:tags r:id="rId9"/>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mc:AlternateContent>
        <mc:Choice Requires="a14">
          <p:sp>
            <p:nvSpPr>
              <p:cNvPr id="3" name="文本框 2" title=""/>
              <p:cNvSpPr txBox="1"/>
              <p:nvPr>
                <p:custDataLst>
                  <p:tags r:id="rId3"/>
                </p:custDataLst>
              </p:nvPr>
            </p:nvSpPr>
            <p:spPr>
              <a:xfrm>
                <a:off x="415290" y="361315"/>
                <a:ext cx="11438255" cy="5767070"/>
              </a:xfrm>
              <a:prstGeom prst="rect">
                <a:avLst/>
              </a:prstGeom>
              <a:noFill/>
            </p:spPr>
            <p:txBody>
              <a:bodyPr wrap="square">
                <a:noAutofit/>
              </a:bodyPr>
              <a:lstStyle/>
              <a:p>
                <a:pPr algn="l">
                  <a:lnSpc>
                    <a:spcPct val="150000"/>
                  </a:lnSpc>
                </a:pPr>
                <a:r>
                  <a:rPr lang="zh-CN" altLang="zh-CN" sz="2000" b="1" kern="100">
                    <a:effectLst/>
                    <a:latin typeface="Times New Roman" panose="02020603050405020304" charset="0"/>
                    <a:ea typeface="黑体" panose="02010609060101010101" charset="-122"/>
                  </a:rPr>
                  <a:t>【答案】</a:t>
                </a:r>
                <a:r>
                  <a:rPr lang="en-US" altLang="zh-CN" sz="2000" b="1" kern="100">
                    <a:effectLst/>
                    <a:latin typeface="Times New Roman" panose="02020603050405020304" charset="0"/>
                    <a:ea typeface="黑体" panose="02010609060101010101" charset="-122"/>
                  </a:rPr>
                  <a:t>B</a:t>
                </a:r>
                <a:endParaRPr lang="zh-CN" altLang="zh-CN" sz="2000" kern="100">
                  <a:effectLst/>
                  <a:latin typeface="Times New Roman" panose="02020603050405020304" charset="0"/>
                  <a:ea typeface="宋体" panose="02010600030101010101" pitchFamily="2" charset="-122"/>
                </a:endParaRPr>
              </a:p>
              <a:p>
                <a:pPr algn="l">
                  <a:lnSpc>
                    <a:spcPct val="150000"/>
                  </a:lnSpc>
                </a:pPr>
                <a:r>
                  <a:rPr lang="zh-CN" altLang="zh-CN" sz="2000" b="1" kern="100">
                    <a:effectLst/>
                    <a:latin typeface="Times New Roman" panose="02020603050405020304" charset="0"/>
                    <a:ea typeface="黑体" panose="02010609060101010101" charset="-122"/>
                  </a:rPr>
                  <a:t>【详解】</a:t>
                </a:r>
                <a:r>
                  <a:rPr lang="en-US" altLang="zh-CN" sz="2000" b="1" kern="100">
                    <a:effectLst/>
                    <a:latin typeface="Times New Roman" panose="02020603050405020304" charset="0"/>
                    <a:ea typeface="黑体" panose="02010609060101010101" charset="-122"/>
                  </a:rPr>
                  <a:t>A</a:t>
                </a:r>
                <a:r>
                  <a:rPr lang="zh-CN" altLang="zh-CN" sz="2000" b="1" kern="100">
                    <a:effectLst/>
                    <a:latin typeface="Times New Roman" panose="02020603050405020304" charset="0"/>
                    <a:ea typeface="黑体" panose="02010609060101010101" charset="-122"/>
                  </a:rPr>
                  <a:t>．对小物块进行分析可知，小物块先向左做匀减速直线运动，减速至</a:t>
                </a:r>
                <a:r>
                  <a:rPr lang="en-US" altLang="zh-CN" sz="2000" b="1" kern="100">
                    <a:effectLst/>
                    <a:latin typeface="Times New Roman" panose="02020603050405020304" charset="0"/>
                    <a:ea typeface="黑体" panose="02010609060101010101" charset="-122"/>
                  </a:rPr>
                  <a:t>0</a:t>
                </a:r>
                <a:r>
                  <a:rPr lang="zh-CN" altLang="zh-CN" sz="2000" b="1" kern="100">
                    <a:effectLst/>
                    <a:latin typeface="Times New Roman" panose="02020603050405020304" charset="0"/>
                    <a:ea typeface="黑体" panose="02010609060101010101" charset="-122"/>
                  </a:rPr>
                  <a:t>后向右做匀加速直线运动，速度达到与传送带速度相等时，再向右做匀速直线运动，可知在速度减为</a:t>
                </a:r>
                <a:r>
                  <a:rPr lang="en-US" altLang="zh-CN" sz="2000" b="1" kern="100">
                    <a:effectLst/>
                    <a:latin typeface="Times New Roman" panose="02020603050405020304" charset="0"/>
                    <a:ea typeface="黑体" panose="02010609060101010101" charset="-122"/>
                  </a:rPr>
                  <a:t>0</a:t>
                </a:r>
                <a:r>
                  <a:rPr lang="zh-CN" altLang="zh-CN" sz="2000" b="1" kern="100">
                    <a:effectLst/>
                    <a:latin typeface="Times New Roman" panose="02020603050405020304" charset="0"/>
                    <a:ea typeface="黑体" panose="02010609060101010101" charset="-122"/>
                  </a:rPr>
                  <a:t>，即在</a:t>
                </a:r>
                <a14:m>
                  <m:oMathPara>
                    <m:oMathParaPr>
                      <m:jc/>
                    </m:oMathParaPr>
                    <m:oMath>
                      <m:sSub>
                        <m:sSubPr>
                          <m:ctrlPr>
                            <a:rPr lang="zh-CN" altLang="zh-CN" sz="2000" b="1" i="1" kern="100">
                              <a:effectLst/>
                              <a:latin typeface="Cambria Math" panose="02040503050406030204" pitchFamily="18" charset="0"/>
                              <a:ea typeface="Cambria Math" panose="02040503050406030204" pitchFamily="18" charset="0"/>
                            </a:rPr>
                          </m:ctrlPr>
                        </m:sSubPr>
                        <m:e>
                          <m:r>
                            <m:rPr>
                              <m:sty m:val="bi"/>
                            </m:rPr>
                            <a:rPr lang="en-US" altLang="zh-CN" sz="2000" b="1" i="1" kern="100">
                              <a:effectLst/>
                              <a:latin typeface="Cambria Math" panose="02040503050406030204" pitchFamily="18" charset="0"/>
                              <a:ea typeface="黑体" panose="02010609060101010101" charset="-122"/>
                            </a:rPr>
                            <m:t>𝒕</m:t>
                          </m:r>
                        </m:e>
                        <m:sub>
                          <m:r>
                            <m:rPr>
                              <m:sty m:val="bi"/>
                            </m:rPr>
                            <a:rPr lang="en-US" altLang="zh-CN" sz="2000" b="1" i="1" kern="100">
                              <a:effectLst/>
                              <a:latin typeface="Cambria Math" panose="02040503050406030204" pitchFamily="18" charset="0"/>
                              <a:ea typeface="黑体" panose="02010609060101010101" charset="-122"/>
                            </a:rPr>
                            <m:t>𝟏</m:t>
                          </m:r>
                        </m:sub>
                      </m:sSub>
                    </m:oMath>
                  </m:oMathPara>
                </a14:m>
                <a:r>
                  <a:rPr lang="zh-CN" altLang="zh-CN" sz="2000" b="1" kern="100">
                    <a:effectLst/>
                    <a:latin typeface="Times New Roman" panose="02020603050405020304" charset="0"/>
                    <a:ea typeface="黑体" panose="02010609060101010101" charset="-122"/>
                  </a:rPr>
                  <a:t>时刻，小物块离</a:t>
                </a:r>
                <a:r>
                  <a:rPr lang="en-US" altLang="zh-CN" sz="2000" b="1" i="1" kern="100">
                    <a:effectLst/>
                    <a:latin typeface="Times New Roman" panose="02020603050405020304" charset="0"/>
                    <a:ea typeface="黑体" panose="02010609060101010101" charset="-122"/>
                  </a:rPr>
                  <a:t>A</a:t>
                </a:r>
                <a:r>
                  <a:rPr lang="zh-CN" altLang="zh-CN" sz="2000" b="1" kern="100">
                    <a:effectLst/>
                    <a:latin typeface="Times New Roman" panose="02020603050405020304" charset="0"/>
                    <a:ea typeface="黑体" panose="02010609060101010101" charset="-122"/>
                  </a:rPr>
                  <a:t>处的距离达到最大，故</a:t>
                </a:r>
                <a:r>
                  <a:rPr lang="en-US" altLang="zh-CN" sz="2000" b="1" kern="100">
                    <a:effectLst/>
                    <a:latin typeface="Times New Roman" panose="02020603050405020304" charset="0"/>
                    <a:ea typeface="黑体" panose="02010609060101010101" charset="-122"/>
                  </a:rPr>
                  <a:t>A</a:t>
                </a:r>
                <a:r>
                  <a:rPr lang="zh-CN" altLang="zh-CN" sz="2000" b="1" kern="100">
                    <a:effectLst/>
                    <a:latin typeface="Times New Roman" panose="02020603050405020304" charset="0"/>
                    <a:ea typeface="黑体" panose="02010609060101010101" charset="-122"/>
                  </a:rPr>
                  <a:t>错误；</a:t>
                </a:r>
                <a:endParaRPr lang="zh-CN" altLang="zh-CN" sz="2000" kern="100">
                  <a:effectLst/>
                  <a:latin typeface="Times New Roman" panose="02020603050405020304" charset="0"/>
                  <a:ea typeface="宋体" panose="02010600030101010101" pitchFamily="2" charset="-122"/>
                </a:endParaRPr>
              </a:p>
              <a:p>
                <a:pPr algn="l">
                  <a:lnSpc>
                    <a:spcPct val="150000"/>
                  </a:lnSpc>
                </a:pPr>
                <a:r>
                  <a:rPr lang="en-US" altLang="zh-CN" sz="2000" b="1" kern="100">
                    <a:effectLst/>
                    <a:latin typeface="Times New Roman" panose="02020603050405020304" charset="0"/>
                    <a:ea typeface="黑体" panose="02010609060101010101" charset="-122"/>
                  </a:rPr>
                  <a:t>B</a:t>
                </a:r>
                <a:r>
                  <a:rPr lang="zh-CN" altLang="zh-CN" sz="2000" b="1" kern="100">
                    <a:effectLst/>
                    <a:latin typeface="Times New Roman" panose="02020603050405020304" charset="0"/>
                    <a:ea typeface="黑体" panose="02010609060101010101" charset="-122"/>
                  </a:rPr>
                  <a:t>．结合上述可知，在</a:t>
                </a:r>
                <a14:m>
                  <m:oMathPara>
                    <m:oMathParaPr>
                      <m:jc/>
                    </m:oMathParaPr>
                    <m:oMath>
                      <m:r>
                        <m:rPr>
                          <m:sty m:val="bi"/>
                        </m:rPr>
                        <a:rPr lang="en-US" altLang="zh-CN" sz="2000" b="1" i="1" kern="100">
                          <a:effectLst/>
                          <a:latin typeface="Cambria Math" panose="02040503050406030204" pitchFamily="18" charset="0"/>
                          <a:ea typeface="黑体" panose="02010609060101010101" charset="-122"/>
                        </a:rPr>
                        <m:t>𝟎</m:t>
                      </m:r>
                      <m:r>
                        <m:rPr>
                          <m:sty m:val="bi"/>
                        </m:rPr>
                        <a:rPr lang="en-US" altLang="zh-CN" sz="2000" b="1" i="1" kern="100">
                          <a:effectLst/>
                          <a:latin typeface="Cambria Math" panose="02040503050406030204" pitchFamily="18" charset="0"/>
                          <a:ea typeface="黑体" panose="02010609060101010101" charset="-122"/>
                        </a:rPr>
                        <m:t>∼</m:t>
                      </m:r>
                      <m:sSub>
                        <m:sSubPr>
                          <m:ctrlPr>
                            <a:rPr lang="zh-CN" altLang="zh-CN" sz="2000" b="1" i="1" kern="100">
                              <a:effectLst/>
                              <a:latin typeface="Cambria Math" panose="02040503050406030204" pitchFamily="18" charset="0"/>
                              <a:ea typeface="Cambria Math" panose="02040503050406030204" pitchFamily="18" charset="0"/>
                            </a:rPr>
                          </m:ctrlPr>
                        </m:sSubPr>
                        <m:e>
                          <m:r>
                            <m:rPr>
                              <m:sty m:val="bi"/>
                            </m:rPr>
                            <a:rPr lang="en-US" altLang="zh-CN" sz="2000" b="1" i="1" kern="100">
                              <a:effectLst/>
                              <a:latin typeface="Cambria Math" panose="02040503050406030204" pitchFamily="18" charset="0"/>
                              <a:ea typeface="黑体" panose="02010609060101010101" charset="-122"/>
                            </a:rPr>
                            <m:t>𝒕</m:t>
                          </m:r>
                        </m:e>
                        <m:sub>
                          <m:r>
                            <m:rPr>
                              <m:sty m:val="bi"/>
                            </m:rPr>
                            <a:rPr lang="en-US" altLang="zh-CN" sz="2000" b="1" i="1" kern="100">
                              <a:effectLst/>
                              <a:latin typeface="Cambria Math" panose="02040503050406030204" pitchFamily="18" charset="0"/>
                              <a:ea typeface="黑体" panose="02010609060101010101" charset="-122"/>
                            </a:rPr>
                            <m:t>𝟏</m:t>
                          </m:r>
                        </m:sub>
                      </m:sSub>
                    </m:oMath>
                  </m:oMathPara>
                </a14:m>
                <a:r>
                  <a:rPr lang="zh-CN" altLang="zh-CN" sz="2000" b="1" kern="100">
                    <a:effectLst/>
                    <a:latin typeface="Times New Roman" panose="02020603050405020304" charset="0"/>
                    <a:ea typeface="黑体" panose="02010609060101010101" charset="-122"/>
                  </a:rPr>
                  <a:t>时间内小物块相对于传送带向左运动， 在</a:t>
                </a:r>
                <a14:m>
                  <m:oMathPara>
                    <m:oMathParaPr>
                      <m:jc/>
                    </m:oMathParaPr>
                    <m:oMath>
                      <m:sSub>
                        <m:sSubPr>
                          <m:ctrlPr>
                            <a:rPr lang="zh-CN" altLang="zh-CN" sz="2000" b="1" i="1" kern="100">
                              <a:effectLst/>
                              <a:latin typeface="Cambria Math" panose="02040503050406030204" pitchFamily="18" charset="0"/>
                              <a:ea typeface="Cambria Math" panose="02040503050406030204" pitchFamily="18" charset="0"/>
                            </a:rPr>
                          </m:ctrlPr>
                        </m:sSubPr>
                        <m:e>
                          <m:r>
                            <m:rPr>
                              <m:sty m:val="bi"/>
                            </m:rPr>
                            <a:rPr lang="en-US" altLang="zh-CN" sz="2000" b="1" i="1" kern="100">
                              <a:effectLst/>
                              <a:latin typeface="Cambria Math" panose="02040503050406030204" pitchFamily="18" charset="0"/>
                              <a:ea typeface="黑体" panose="02010609060101010101" charset="-122"/>
                            </a:rPr>
                            <m:t>𝒕</m:t>
                          </m:r>
                        </m:e>
                        <m:sub>
                          <m:r>
                            <m:rPr>
                              <m:sty m:val="bi"/>
                            </m:rPr>
                            <a:rPr lang="en-US" altLang="zh-CN" sz="2000" b="1" i="1" kern="100">
                              <a:effectLst/>
                              <a:latin typeface="Cambria Math" panose="02040503050406030204" pitchFamily="18" charset="0"/>
                              <a:ea typeface="黑体" panose="02010609060101010101" charset="-122"/>
                            </a:rPr>
                            <m:t>𝟏</m:t>
                          </m:r>
                        </m:sub>
                      </m:sSub>
                      <m:r>
                        <m:rPr>
                          <m:sty m:val="bi"/>
                        </m:rPr>
                        <a:rPr lang="en-US" altLang="zh-CN" sz="2000" b="1" i="1" kern="100">
                          <a:effectLst/>
                          <a:latin typeface="Cambria Math" panose="02040503050406030204" pitchFamily="18" charset="0"/>
                          <a:ea typeface="黑体" panose="02010609060101010101" charset="-122"/>
                        </a:rPr>
                        <m:t>∼</m:t>
                      </m:r>
                      <m:sSub>
                        <m:sSubPr>
                          <m:ctrlPr>
                            <a:rPr lang="zh-CN" altLang="zh-CN" sz="2000" b="1" i="1" kern="100">
                              <a:effectLst/>
                              <a:latin typeface="Cambria Math" panose="02040503050406030204" pitchFamily="18" charset="0"/>
                              <a:ea typeface="Cambria Math" panose="02040503050406030204" pitchFamily="18" charset="0"/>
                            </a:rPr>
                          </m:ctrlPr>
                        </m:sSubPr>
                        <m:e>
                          <m:r>
                            <m:rPr>
                              <m:sty m:val="bi"/>
                            </m:rPr>
                            <a:rPr lang="en-US" altLang="zh-CN" sz="2000" b="1" i="1" kern="100">
                              <a:effectLst/>
                              <a:latin typeface="Cambria Math" panose="02040503050406030204" pitchFamily="18" charset="0"/>
                              <a:ea typeface="黑体" panose="02010609060101010101" charset="-122"/>
                            </a:rPr>
                            <m:t>𝒕</m:t>
                          </m:r>
                        </m:e>
                        <m:sub>
                          <m:r>
                            <m:rPr>
                              <m:sty m:val="bi"/>
                            </m:rPr>
                            <a:rPr lang="en-US" altLang="zh-CN" sz="2000" b="1" i="1" kern="100">
                              <a:effectLst/>
                              <a:latin typeface="Cambria Math" panose="02040503050406030204" pitchFamily="18" charset="0"/>
                              <a:ea typeface="黑体" panose="02010609060101010101" charset="-122"/>
                            </a:rPr>
                            <m:t>𝟐</m:t>
                          </m:r>
                        </m:sub>
                      </m:sSub>
                    </m:oMath>
                  </m:oMathPara>
                </a14:m>
                <a:r>
                  <a:rPr lang="zh-CN" altLang="zh-CN" sz="2000" b="1" kern="100">
                    <a:effectLst/>
                    <a:latin typeface="Times New Roman" panose="02020603050405020304" charset="0"/>
                    <a:ea typeface="黑体" panose="02010609060101010101" charset="-122"/>
                  </a:rPr>
                  <a:t>时间内小物块速度方向向右，大小小于传送带的速度，小物块仍然相对于传送带向左运动， </a:t>
                </a:r>
                <a14:m>
                  <m:oMathPara>
                    <m:oMathParaPr>
                      <m:jc/>
                    </m:oMathParaPr>
                    <m:oMath>
                      <m:sSub>
                        <m:sSubPr>
                          <m:ctrlPr>
                            <a:rPr lang="zh-CN" altLang="zh-CN" sz="2000" b="1" i="1" kern="100">
                              <a:effectLst/>
                              <a:latin typeface="Cambria Math" panose="02040503050406030204" pitchFamily="18" charset="0"/>
                              <a:ea typeface="Cambria Math" panose="02040503050406030204" pitchFamily="18" charset="0"/>
                            </a:rPr>
                          </m:ctrlPr>
                        </m:sSubPr>
                        <m:e>
                          <m:r>
                            <m:rPr>
                              <m:sty m:val="bi"/>
                            </m:rPr>
                            <a:rPr lang="en-US" altLang="zh-CN" sz="2000" b="1" i="1" kern="100">
                              <a:effectLst/>
                              <a:latin typeface="Cambria Math" panose="02040503050406030204" pitchFamily="18" charset="0"/>
                              <a:ea typeface="黑体" panose="02010609060101010101" charset="-122"/>
                            </a:rPr>
                            <m:t>𝒕</m:t>
                          </m:r>
                        </m:e>
                        <m:sub>
                          <m:r>
                            <m:rPr>
                              <m:sty m:val="bi"/>
                            </m:rPr>
                            <a:rPr lang="en-US" altLang="zh-CN" sz="2000" b="1" i="1" kern="100">
                              <a:effectLst/>
                              <a:latin typeface="Cambria Math" panose="02040503050406030204" pitchFamily="18" charset="0"/>
                              <a:ea typeface="黑体" panose="02010609060101010101" charset="-122"/>
                            </a:rPr>
                            <m:t>𝟐</m:t>
                          </m:r>
                        </m:sub>
                      </m:sSub>
                      <m:r>
                        <m:rPr>
                          <m:sty m:val="bi"/>
                        </m:rPr>
                        <a:rPr lang="en-US" altLang="zh-CN" sz="2000" b="1" i="1" kern="100">
                          <a:effectLst/>
                          <a:latin typeface="Cambria Math" panose="02040503050406030204" pitchFamily="18" charset="0"/>
                          <a:ea typeface="黑体" panose="02010609060101010101" charset="-122"/>
                        </a:rPr>
                        <m:t>∼</m:t>
                      </m:r>
                      <m:sSub>
                        <m:sSubPr>
                          <m:ctrlPr>
                            <a:rPr lang="zh-CN" altLang="zh-CN" sz="2000" b="1" i="1" kern="100">
                              <a:effectLst/>
                              <a:latin typeface="Cambria Math" panose="02040503050406030204" pitchFamily="18" charset="0"/>
                              <a:ea typeface="Cambria Math" panose="02040503050406030204" pitchFamily="18" charset="0"/>
                            </a:rPr>
                          </m:ctrlPr>
                        </m:sSubPr>
                        <m:e>
                          <m:r>
                            <m:rPr>
                              <m:sty m:val="bi"/>
                            </m:rPr>
                            <a:rPr lang="en-US" altLang="zh-CN" sz="2000" b="1" i="1" kern="100">
                              <a:effectLst/>
                              <a:latin typeface="Cambria Math" panose="02040503050406030204" pitchFamily="18" charset="0"/>
                              <a:ea typeface="黑体" panose="02010609060101010101" charset="-122"/>
                            </a:rPr>
                            <m:t>𝒕</m:t>
                          </m:r>
                        </m:e>
                        <m:sub>
                          <m:r>
                            <m:rPr>
                              <m:sty m:val="bi"/>
                            </m:rPr>
                            <a:rPr lang="en-US" altLang="zh-CN" sz="2000" b="1" i="1" kern="100">
                              <a:effectLst/>
                              <a:latin typeface="Cambria Math" panose="02040503050406030204" pitchFamily="18" charset="0"/>
                              <a:ea typeface="黑体" panose="02010609060101010101" charset="-122"/>
                            </a:rPr>
                            <m:t>𝟑</m:t>
                          </m:r>
                        </m:sub>
                      </m:sSub>
                    </m:oMath>
                  </m:oMathPara>
                </a14:m>
                <a:r>
                  <a:rPr lang="zh-CN" altLang="zh-CN" sz="2000" b="1" kern="100">
                    <a:effectLst/>
                    <a:latin typeface="Times New Roman" panose="02020603050405020304" charset="0"/>
                    <a:ea typeface="黑体" panose="02010609060101010101" charset="-122"/>
                  </a:rPr>
                  <a:t>小物块与传送带速度相等，小物块与传送带保持相对静止向右做匀速直线运动，该时间内没有发生相对运动，可知，</a:t>
                </a:r>
                <a14:m>
                  <m:oMathPara>
                    <m:oMathParaPr>
                      <m:jc/>
                    </m:oMathParaPr>
                    <m:oMath>
                      <m:sSub>
                        <m:sSubPr>
                          <m:ctrlPr>
                            <a:rPr lang="zh-CN" altLang="zh-CN" sz="2000" b="1" i="1" kern="100">
                              <a:effectLst/>
                              <a:latin typeface="Cambria Math" panose="02040503050406030204" pitchFamily="18" charset="0"/>
                              <a:ea typeface="Cambria Math" panose="02040503050406030204" pitchFamily="18" charset="0"/>
                            </a:rPr>
                          </m:ctrlPr>
                        </m:sSubPr>
                        <m:e>
                          <m:r>
                            <m:rPr>
                              <m:sty m:val="bi"/>
                            </m:rPr>
                            <a:rPr lang="en-US" altLang="zh-CN" sz="2000" b="1" i="1" kern="100">
                              <a:effectLst/>
                              <a:latin typeface="Cambria Math" panose="02040503050406030204" pitchFamily="18" charset="0"/>
                              <a:ea typeface="黑体" panose="02010609060101010101" charset="-122"/>
                            </a:rPr>
                            <m:t>𝒕</m:t>
                          </m:r>
                        </m:e>
                        <m:sub>
                          <m:r>
                            <m:rPr>
                              <m:sty m:val="bi"/>
                            </m:rPr>
                            <a:rPr lang="en-US" altLang="zh-CN" sz="2000" b="1" i="1" kern="100">
                              <a:effectLst/>
                              <a:latin typeface="Cambria Math" panose="02040503050406030204" pitchFamily="18" charset="0"/>
                              <a:ea typeface="黑体" panose="02010609060101010101" charset="-122"/>
                            </a:rPr>
                            <m:t>𝟐</m:t>
                          </m:r>
                        </m:sub>
                      </m:sSub>
                    </m:oMath>
                  </m:oMathPara>
                </a14:m>
                <a:r>
                  <a:rPr lang="zh-CN" altLang="zh-CN" sz="2000" b="1" kern="100">
                    <a:effectLst/>
                    <a:latin typeface="Times New Roman" panose="02020603050405020304" charset="0"/>
                    <a:ea typeface="黑体" panose="02010609060101010101" charset="-122"/>
                  </a:rPr>
                  <a:t>时刻，小物块相对传送带滑动的距离达到最大，故</a:t>
                </a:r>
                <a:r>
                  <a:rPr lang="en-US" altLang="zh-CN" sz="2000" b="1" kern="100">
                    <a:effectLst/>
                    <a:latin typeface="Times New Roman" panose="02020603050405020304" charset="0"/>
                    <a:ea typeface="黑体" panose="02010609060101010101" charset="-122"/>
                  </a:rPr>
                  <a:t>B</a:t>
                </a:r>
                <a:r>
                  <a:rPr lang="zh-CN" altLang="zh-CN" sz="2000" b="1" kern="100">
                    <a:effectLst/>
                    <a:latin typeface="Times New Roman" panose="02020603050405020304" charset="0"/>
                    <a:ea typeface="黑体" panose="02010609060101010101" charset="-122"/>
                  </a:rPr>
                  <a:t>正确；</a:t>
                </a:r>
                <a:endParaRPr lang="zh-CN" altLang="zh-CN" sz="2000" kern="100">
                  <a:effectLst/>
                  <a:latin typeface="Times New Roman" panose="02020603050405020304" charset="0"/>
                  <a:ea typeface="宋体" panose="02010600030101010101" pitchFamily="2" charset="-122"/>
                </a:endParaRPr>
              </a:p>
              <a:p>
                <a:pPr algn="l">
                  <a:lnSpc>
                    <a:spcPct val="150000"/>
                  </a:lnSpc>
                </a:pPr>
                <a:r>
                  <a:rPr lang="en-US" altLang="zh-CN" sz="2000" b="1" kern="100">
                    <a:effectLst/>
                    <a:latin typeface="Times New Roman" panose="02020603050405020304" charset="0"/>
                    <a:ea typeface="黑体" panose="02010609060101010101" charset="-122"/>
                  </a:rPr>
                  <a:t>C</a:t>
                </a:r>
                <a:r>
                  <a:rPr lang="zh-CN" altLang="zh-CN" sz="2000" b="1" kern="100">
                    <a:effectLst/>
                    <a:latin typeface="Times New Roman" panose="02020603050405020304" charset="0"/>
                    <a:ea typeface="黑体" panose="02010609060101010101" charset="-122"/>
                  </a:rPr>
                  <a:t>．根据上述，</a:t>
                </a:r>
                <a14:m>
                  <m:oMathPara>
                    <m:oMathParaPr>
                      <m:jc/>
                    </m:oMathParaPr>
                    <m:oMath>
                      <m:r>
                        <m:rPr>
                          <m:sty m:val="bi"/>
                        </m:rPr>
                        <a:rPr lang="en-US" altLang="zh-CN" sz="2000" b="1" i="1" kern="100">
                          <a:effectLst/>
                          <a:latin typeface="Cambria Math" panose="02040503050406030204" pitchFamily="18" charset="0"/>
                          <a:ea typeface="黑体" panose="02010609060101010101" charset="-122"/>
                        </a:rPr>
                        <m:t>𝟎</m:t>
                      </m:r>
                      <m:r>
                        <m:rPr>
                          <m:sty m:val="bi"/>
                        </m:rPr>
                        <a:rPr lang="en-US" altLang="zh-CN" sz="2000" b="1" i="1" kern="100">
                          <a:effectLst/>
                          <a:latin typeface="Cambria Math" panose="02040503050406030204" pitchFamily="18" charset="0"/>
                          <a:ea typeface="黑体" panose="02010609060101010101" charset="-122"/>
                        </a:rPr>
                        <m:t>∼</m:t>
                      </m:r>
                      <m:sSub>
                        <m:sSubPr>
                          <m:ctrlPr>
                            <a:rPr lang="zh-CN" altLang="zh-CN" sz="2000" b="1" i="1" kern="100">
                              <a:effectLst/>
                              <a:latin typeface="Cambria Math" panose="02040503050406030204" pitchFamily="18" charset="0"/>
                              <a:ea typeface="Cambria Math" panose="02040503050406030204" pitchFamily="18" charset="0"/>
                            </a:rPr>
                          </m:ctrlPr>
                        </m:sSubPr>
                        <m:e>
                          <m:r>
                            <m:rPr>
                              <m:sty m:val="bi"/>
                            </m:rPr>
                            <a:rPr lang="en-US" altLang="zh-CN" sz="2000" b="1" i="1" kern="100">
                              <a:effectLst/>
                              <a:latin typeface="Cambria Math" panose="02040503050406030204" pitchFamily="18" charset="0"/>
                              <a:ea typeface="黑体" panose="02010609060101010101" charset="-122"/>
                            </a:rPr>
                            <m:t>𝒕</m:t>
                          </m:r>
                        </m:e>
                        <m:sub>
                          <m:r>
                            <m:rPr>
                              <m:sty m:val="bi"/>
                            </m:rPr>
                            <a:rPr lang="en-US" altLang="zh-CN" sz="2000" b="1" i="1" kern="100">
                              <a:effectLst/>
                              <a:latin typeface="Cambria Math" panose="02040503050406030204" pitchFamily="18" charset="0"/>
                              <a:ea typeface="黑体" panose="02010609060101010101" charset="-122"/>
                            </a:rPr>
                            <m:t>𝟐</m:t>
                          </m:r>
                        </m:sub>
                      </m:sSub>
                    </m:oMath>
                  </m:oMathPara>
                </a14:m>
                <a:r>
                  <a:rPr lang="zh-CN" altLang="zh-CN" sz="2000" b="1" kern="100">
                    <a:effectLst/>
                    <a:latin typeface="Times New Roman" panose="02020603050405020304" charset="0"/>
                    <a:ea typeface="黑体" panose="02010609060101010101" charset="-122"/>
                  </a:rPr>
                  <a:t>时间内，小物块相对传送带向左运动，小物块受到向右的滑动摩擦力，在</a:t>
                </a:r>
                <a14:m>
                  <m:oMathPara>
                    <m:oMathParaPr>
                      <m:jc/>
                    </m:oMathParaPr>
                    <m:oMath>
                      <m:sSub>
                        <m:sSubPr>
                          <m:ctrlPr>
                            <a:rPr lang="zh-CN" altLang="zh-CN" sz="2000" b="1" i="1" kern="100">
                              <a:effectLst/>
                              <a:latin typeface="Cambria Math" panose="02040503050406030204" pitchFamily="18" charset="0"/>
                              <a:ea typeface="Cambria Math" panose="02040503050406030204" pitchFamily="18" charset="0"/>
                            </a:rPr>
                          </m:ctrlPr>
                        </m:sSubPr>
                        <m:e>
                          <m:r>
                            <m:rPr>
                              <m:sty m:val="bi"/>
                            </m:rPr>
                            <a:rPr lang="en-US" altLang="zh-CN" sz="2000" b="1" i="1" kern="100">
                              <a:effectLst/>
                              <a:latin typeface="Cambria Math" panose="02040503050406030204" pitchFamily="18" charset="0"/>
                              <a:ea typeface="黑体" panose="02010609060101010101" charset="-122"/>
                            </a:rPr>
                            <m:t>𝒕</m:t>
                          </m:r>
                        </m:e>
                        <m:sub>
                          <m:r>
                            <m:rPr>
                              <m:sty m:val="bi"/>
                            </m:rPr>
                            <a:rPr lang="en-US" altLang="zh-CN" sz="2000" b="1" i="1" kern="100">
                              <a:effectLst/>
                              <a:latin typeface="Cambria Math" panose="02040503050406030204" pitchFamily="18" charset="0"/>
                              <a:ea typeface="黑体" panose="02010609060101010101" charset="-122"/>
                            </a:rPr>
                            <m:t>𝟐</m:t>
                          </m:r>
                        </m:sub>
                      </m:sSub>
                      <m:r>
                        <m:rPr>
                          <m:sty m:val="bi"/>
                        </m:rPr>
                        <a:rPr lang="en-US" altLang="zh-CN" sz="2000" b="1" i="1" kern="100">
                          <a:effectLst/>
                          <a:latin typeface="Cambria Math" panose="02040503050406030204" pitchFamily="18" charset="0"/>
                          <a:ea typeface="黑体" panose="02010609060101010101" charset="-122"/>
                        </a:rPr>
                        <m:t>∼</m:t>
                      </m:r>
                      <m:sSub>
                        <m:sSubPr>
                          <m:ctrlPr>
                            <a:rPr lang="zh-CN" altLang="zh-CN" sz="2000" b="1" i="1" kern="100">
                              <a:effectLst/>
                              <a:latin typeface="Cambria Math" panose="02040503050406030204" pitchFamily="18" charset="0"/>
                              <a:ea typeface="Cambria Math" panose="02040503050406030204" pitchFamily="18" charset="0"/>
                            </a:rPr>
                          </m:ctrlPr>
                        </m:sSubPr>
                        <m:e>
                          <m:r>
                            <m:rPr>
                              <m:sty m:val="bi"/>
                            </m:rPr>
                            <a:rPr lang="en-US" altLang="zh-CN" sz="2000" b="1" i="1" kern="100">
                              <a:effectLst/>
                              <a:latin typeface="Cambria Math" panose="02040503050406030204" pitchFamily="18" charset="0"/>
                              <a:ea typeface="黑体" panose="02010609060101010101" charset="-122"/>
                            </a:rPr>
                            <m:t>𝒕</m:t>
                          </m:r>
                        </m:e>
                        <m:sub>
                          <m:r>
                            <m:rPr>
                              <m:sty m:val="bi"/>
                            </m:rPr>
                            <a:rPr lang="en-US" altLang="zh-CN" sz="2000" b="1" i="1" kern="100">
                              <a:effectLst/>
                              <a:latin typeface="Cambria Math" panose="02040503050406030204" pitchFamily="18" charset="0"/>
                              <a:ea typeface="黑体" panose="02010609060101010101" charset="-122"/>
                            </a:rPr>
                            <m:t>𝟑</m:t>
                          </m:r>
                        </m:sub>
                      </m:sSub>
                    </m:oMath>
                  </m:oMathPara>
                </a14:m>
                <a:r>
                  <a:rPr lang="zh-CN" altLang="zh-CN" sz="2000" b="1" kern="100">
                    <a:effectLst/>
                    <a:latin typeface="Times New Roman" panose="02020603050405020304" charset="0"/>
                    <a:ea typeface="黑体" panose="02010609060101010101" charset="-122"/>
                  </a:rPr>
                  <a:t>时间内，小物块向右做匀速直线运动，根据平衡条件可知，小物块受到的摩擦力为</a:t>
                </a:r>
                <a:r>
                  <a:rPr lang="en-US" altLang="zh-CN" sz="2000" b="1" kern="100">
                    <a:effectLst/>
                    <a:latin typeface="Times New Roman" panose="02020603050405020304" charset="0"/>
                    <a:ea typeface="黑体" panose="02010609060101010101" charset="-122"/>
                  </a:rPr>
                  <a:t>0</a:t>
                </a:r>
                <a:r>
                  <a:rPr lang="zh-CN" altLang="zh-CN" sz="2000" b="1" kern="100">
                    <a:effectLst/>
                    <a:latin typeface="Times New Roman" panose="02020603050405020304" charset="0"/>
                    <a:ea typeface="黑体" panose="02010609060101010101" charset="-122"/>
                  </a:rPr>
                  <a:t>，故</a:t>
                </a:r>
                <a:r>
                  <a:rPr lang="en-US" altLang="zh-CN" sz="2000" b="1" kern="100">
                    <a:effectLst/>
                    <a:latin typeface="Times New Roman" panose="02020603050405020304" charset="0"/>
                    <a:ea typeface="黑体" panose="02010609060101010101" charset="-122"/>
                  </a:rPr>
                  <a:t>C</a:t>
                </a:r>
                <a:r>
                  <a:rPr lang="zh-CN" altLang="zh-CN" sz="2000" b="1" kern="100">
                    <a:effectLst/>
                    <a:latin typeface="Times New Roman" panose="02020603050405020304" charset="0"/>
                    <a:ea typeface="黑体" panose="02010609060101010101" charset="-122"/>
                  </a:rPr>
                  <a:t>错误；</a:t>
                </a:r>
                <a:endParaRPr lang="zh-CN" altLang="zh-CN" sz="2000" kern="100">
                  <a:effectLst/>
                  <a:latin typeface="Times New Roman" panose="02020603050405020304" charset="0"/>
                  <a:ea typeface="宋体" panose="02010600030101010101" pitchFamily="2" charset="-122"/>
                </a:endParaRPr>
              </a:p>
              <a:p>
                <a:pPr algn="l">
                  <a:lnSpc>
                    <a:spcPct val="150000"/>
                  </a:lnSpc>
                </a:pPr>
                <a:r>
                  <a:rPr lang="en-US" altLang="zh-CN" sz="2000" b="1" kern="100">
                    <a:effectLst/>
                    <a:latin typeface="Times New Roman" panose="02020603050405020304" charset="0"/>
                    <a:ea typeface="黑体" panose="02010609060101010101" charset="-122"/>
                  </a:rPr>
                  <a:t>D</a:t>
                </a:r>
                <a:r>
                  <a:rPr lang="zh-CN" altLang="zh-CN" sz="2000" b="1" kern="100">
                    <a:effectLst/>
                    <a:latin typeface="Times New Roman" panose="02020603050405020304" charset="0"/>
                    <a:ea typeface="黑体" panose="02010609060101010101" charset="-122"/>
                  </a:rPr>
                  <a:t>．根据上述可知，</a:t>
                </a:r>
                <a14:m>
                  <m:oMathPara>
                    <m:oMathParaPr>
                      <m:jc/>
                    </m:oMathParaPr>
                    <m:oMath>
                      <m:r>
                        <m:rPr>
                          <m:sty m:val="bi"/>
                        </m:rPr>
                        <a:rPr lang="en-US" altLang="zh-CN" sz="2000" b="1" i="1" kern="100">
                          <a:effectLst/>
                          <a:latin typeface="Cambria Math" panose="02040503050406030204" pitchFamily="18" charset="0"/>
                          <a:ea typeface="黑体" panose="02010609060101010101" charset="-122"/>
                        </a:rPr>
                        <m:t>𝟎</m:t>
                      </m:r>
                      <m:r>
                        <m:rPr>
                          <m:sty m:val="bi"/>
                        </m:rPr>
                        <a:rPr lang="en-US" altLang="zh-CN" sz="2000" b="1" i="1" kern="100">
                          <a:effectLst/>
                          <a:latin typeface="Cambria Math" panose="02040503050406030204" pitchFamily="18" charset="0"/>
                          <a:ea typeface="黑体" panose="02010609060101010101" charset="-122"/>
                        </a:rPr>
                        <m:t>∼</m:t>
                      </m:r>
                      <m:sSub>
                        <m:sSubPr>
                          <m:ctrlPr>
                            <a:rPr lang="zh-CN" altLang="zh-CN" sz="2000" b="1" i="1" kern="100">
                              <a:effectLst/>
                              <a:latin typeface="Cambria Math" panose="02040503050406030204" pitchFamily="18" charset="0"/>
                              <a:ea typeface="Cambria Math" panose="02040503050406030204" pitchFamily="18" charset="0"/>
                            </a:rPr>
                          </m:ctrlPr>
                        </m:sSubPr>
                        <m:e>
                          <m:r>
                            <m:rPr>
                              <m:sty m:val="bi"/>
                            </m:rPr>
                            <a:rPr lang="en-US" altLang="zh-CN" sz="2000" b="1" i="1" kern="100">
                              <a:effectLst/>
                              <a:latin typeface="Cambria Math" panose="02040503050406030204" pitchFamily="18" charset="0"/>
                              <a:ea typeface="黑体" panose="02010609060101010101" charset="-122"/>
                            </a:rPr>
                            <m:t>𝒕</m:t>
                          </m:r>
                        </m:e>
                        <m:sub>
                          <m:r>
                            <m:rPr>
                              <m:sty m:val="bi"/>
                            </m:rPr>
                            <a:rPr lang="en-US" altLang="zh-CN" sz="2000" b="1" i="1" kern="100">
                              <a:effectLst/>
                              <a:latin typeface="Cambria Math" panose="02040503050406030204" pitchFamily="18" charset="0"/>
                              <a:ea typeface="黑体" panose="02010609060101010101" charset="-122"/>
                            </a:rPr>
                            <m:t>𝟐</m:t>
                          </m:r>
                        </m:sub>
                      </m:sSub>
                    </m:oMath>
                  </m:oMathPara>
                </a14:m>
                <a:r>
                  <a:rPr lang="zh-CN" altLang="zh-CN" sz="2000" b="1" kern="100">
                    <a:effectLst/>
                    <a:latin typeface="Times New Roman" panose="02020603050405020304" charset="0"/>
                    <a:ea typeface="黑体" panose="02010609060101010101" charset="-122"/>
                  </a:rPr>
                  <a:t>时间内，小物块相对传送带向左运动，小物块受到的滑动摩擦力方向始终向右，故</a:t>
                </a:r>
                <a:r>
                  <a:rPr lang="en-US" altLang="zh-CN" sz="2000" b="1" kern="100">
                    <a:effectLst/>
                    <a:latin typeface="Times New Roman" panose="02020603050405020304" charset="0"/>
                    <a:ea typeface="黑体" panose="02010609060101010101" charset="-122"/>
                  </a:rPr>
                  <a:t>D</a:t>
                </a:r>
                <a:r>
                  <a:rPr lang="zh-CN" altLang="zh-CN" sz="2000" b="1" kern="100">
                    <a:effectLst/>
                    <a:latin typeface="Times New Roman" panose="02020603050405020304" charset="0"/>
                    <a:ea typeface="黑体" panose="02010609060101010101" charset="-122"/>
                  </a:rPr>
                  <a:t>错误。故选</a:t>
                </a:r>
                <a:r>
                  <a:rPr lang="en-US" altLang="zh-CN" sz="2000" b="1" kern="100">
                    <a:effectLst/>
                    <a:latin typeface="Times New Roman" panose="02020603050405020304" charset="0"/>
                    <a:ea typeface="黑体" panose="02010609060101010101" charset="-122"/>
                  </a:rPr>
                  <a:t>B</a:t>
                </a:r>
                <a:r>
                  <a:rPr lang="zh-CN" altLang="zh-CN" sz="2000" b="1" kern="100">
                    <a:effectLst/>
                    <a:latin typeface="Times New Roman" panose="02020603050405020304" charset="0"/>
                    <a:ea typeface="黑体" panose="02010609060101010101" charset="-122"/>
                  </a:rPr>
                  <a:t>。</a:t>
                </a:r>
                <a:endParaRPr lang="zh-CN" altLang="zh-CN" sz="2000" kern="100">
                  <a:effectLst/>
                  <a:latin typeface="Times New Roman" panose="02020603050405020304" charset="0"/>
                  <a:ea typeface="宋体" panose="02010600030101010101" pitchFamily="2" charset="-122"/>
                </a:endParaRPr>
              </a:p>
            </p:txBody>
          </p:sp>
        </mc:Choice>
        <mc:Fallback>
          <p:sp>
            <p:nvSpPr>
              <p:cNvPr id="3" name="文本框 2"/>
              <p:cNvSpPr txBox="1">
                <a:spLocks noRot="1" noChangeAspect="1" noMove="1" noResize="1" noEditPoints="1" noAdjustHandles="1" noChangeArrowheads="1" noChangeShapeType="1" noTextEdit="1"/>
              </p:cNvSpPr>
              <p:nvPr>
                <p:custDataLst>
                  <p:tags r:id="rId4"/>
                </p:custDataLst>
              </p:nvPr>
            </p:nvSpPr>
            <p:spPr>
              <a:xfrm>
                <a:off x="415290" y="361315"/>
                <a:ext cx="11438255" cy="5767070"/>
              </a:xfrm>
              <a:prstGeom prst="rect">
                <a:avLst/>
              </a:prstGeom>
              <a:blipFill rotWithShape="1">
                <a:blip r:embed="rId5"/>
                <a:stretch>
                  <a:fillRect r="-972"/>
                </a:stretch>
              </a:blipFill>
            </p:spPr>
            <p:txBody>
              <a:bodyPr/>
              <a:lstStyle/>
              <a:p>
                <a:r>
                  <a:rPr lang="zh-CN" altLang="en-US">
                    <a:noFill/>
                  </a:rPr>
                  <a:t> </a:t>
                </a:r>
              </a:p>
            </p:txBody>
          </p:sp>
        </mc:Fallback>
      </mc:AlternateContent>
    </p:spTree>
    <p:custDataLst>
      <p:tags r:id="rId6"/>
    </p:custDataLst>
  </p:cSld>
  <p:clrMapOvr>
    <a:masterClrMapping/>
  </p:clrMapOvr>
  <p:transition/>
  <p:timing/>
</p:sld>
</file>

<file path=ppt/slides/slide3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mc:AlternateContent>
        <mc:Choice Requires="a14">
          <p:sp>
            <p:nvSpPr>
              <p:cNvPr id="4" name="文本框 3" title=""/>
              <p:cNvSpPr txBox="1"/>
              <p:nvPr>
                <p:custDataLst>
                  <p:tags r:id="rId3"/>
                </p:custDataLst>
              </p:nvPr>
            </p:nvSpPr>
            <p:spPr>
              <a:xfrm>
                <a:off x="385445" y="398780"/>
                <a:ext cx="11478895" cy="2701290"/>
              </a:xfrm>
              <a:prstGeom prst="rect">
                <a:avLst/>
              </a:prstGeom>
              <a:noFill/>
            </p:spPr>
            <p:txBody>
              <a:bodyPr wrap="square">
                <a:noAutofit/>
              </a:bodyPr>
              <a:lstStyle/>
              <a:p>
                <a:pPr algn="l">
                  <a:lnSpc>
                    <a:spcPct val="150000"/>
                  </a:lnSpc>
                </a:pPr>
                <a:r>
                  <a:rPr lang="en-US" altLang="zh-CN" sz="2800" b="1" kern="100">
                    <a:effectLst/>
                    <a:latin typeface="Times New Roman" panose="02020603050405020304" charset="0"/>
                    <a:ea typeface="黑体" panose="02010609060101010101" charset="-122"/>
                  </a:rPr>
                  <a:t>3</a:t>
                </a:r>
                <a:r>
                  <a:rPr lang="zh-CN" altLang="zh-CN" sz="2800" b="1" kern="100">
                    <a:effectLst/>
                    <a:latin typeface="Times New Roman" panose="02020603050405020304" charset="0"/>
                    <a:ea typeface="黑体" panose="02010609060101010101" charset="-122"/>
                  </a:rPr>
                  <a:t>．如图所示，足够长的传送带与水平面夹角为</a:t>
                </a:r>
                <a:r>
                  <a:rPr lang="en-US" altLang="zh-CN" sz="2800" b="1" i="1" kern="100">
                    <a:effectLst/>
                    <a:latin typeface="Times New Roman" panose="02020603050405020304" charset="0"/>
                    <a:ea typeface="黑体" panose="02010609060101010101" charset="-122"/>
                  </a:rPr>
                  <a:t>θ</a:t>
                </a:r>
                <a:r>
                  <a:rPr lang="zh-CN" altLang="zh-CN" sz="2800" b="1" kern="100">
                    <a:effectLst/>
                    <a:latin typeface="Times New Roman" panose="02020603050405020304" charset="0"/>
                    <a:ea typeface="黑体" panose="02010609060101010101" charset="-122"/>
                  </a:rPr>
                  <a:t>，以速度</a:t>
                </a:r>
                <a:r>
                  <a:rPr lang="en-US" altLang="zh-CN" sz="2800" b="1" i="1" kern="100">
                    <a:effectLst/>
                    <a:latin typeface="Times New Roman" panose="02020603050405020304" charset="0"/>
                    <a:ea typeface="黑体" panose="02010609060101010101" charset="-122"/>
                  </a:rPr>
                  <a:t>v</a:t>
                </a:r>
                <a:r>
                  <a:rPr lang="en-US" altLang="zh-CN" sz="2800" b="1" i="1" kern="100" baseline="-25000">
                    <a:effectLst/>
                    <a:latin typeface="Times New Roman" panose="02020603050405020304" charset="0"/>
                    <a:ea typeface="黑体" panose="02010609060101010101" charset="-122"/>
                  </a:rPr>
                  <a:t>0</a:t>
                </a:r>
                <a:r>
                  <a:rPr lang="zh-CN" altLang="zh-CN" sz="2800" b="1" kern="100">
                    <a:effectLst/>
                    <a:latin typeface="Times New Roman" panose="02020603050405020304" charset="0"/>
                    <a:ea typeface="黑体" panose="02010609060101010101" charset="-122"/>
                  </a:rPr>
                  <a:t>逆时针匀速转动。在传送带的上端轻轻放置一个质量为</a:t>
                </a:r>
                <a:r>
                  <a:rPr lang="en-US" altLang="zh-CN" sz="2800" b="1" i="1" kern="100">
                    <a:effectLst/>
                    <a:latin typeface="Times New Roman" panose="02020603050405020304" charset="0"/>
                    <a:ea typeface="黑体" panose="02010609060101010101" charset="-122"/>
                  </a:rPr>
                  <a:t>m</a:t>
                </a:r>
                <a:r>
                  <a:rPr lang="zh-CN" altLang="zh-CN" sz="2800" b="1" kern="100">
                    <a:effectLst/>
                    <a:latin typeface="Times New Roman" panose="02020603050405020304" charset="0"/>
                    <a:ea typeface="黑体" panose="02010609060101010101" charset="-122"/>
                  </a:rPr>
                  <a:t>的小木块，图中能客观地反映小木块的运动情况，则关于小木块与传送带间的动摩擦因数</a:t>
                </a:r>
                <a:r>
                  <a:rPr lang="en-US" altLang="zh-CN" sz="2800" b="1" i="1" kern="100">
                    <a:effectLst/>
                    <a:latin typeface="Times New Roman" panose="02020603050405020304" charset="0"/>
                    <a:ea typeface="黑体" panose="02010609060101010101" charset="-122"/>
                  </a:rPr>
                  <a:t>μ</a:t>
                </a:r>
                <a:r>
                  <a:rPr lang="zh-CN" altLang="zh-CN" sz="2800" b="1" kern="100">
                    <a:effectLst/>
                    <a:latin typeface="Times New Roman" panose="02020603050405020304" charset="0"/>
                    <a:ea typeface="黑体" panose="02010609060101010101" charset="-122"/>
                  </a:rPr>
                  <a:t>判断正确的是（　　）</a:t>
                </a:r>
                <a:endParaRPr lang="zh-CN" altLang="zh-CN" sz="2800" kern="100">
                  <a:effectLst/>
                  <a:latin typeface="Times New Roman" panose="02020603050405020304" charset="0"/>
                  <a:ea typeface="宋体" panose="02010600030101010101" pitchFamily="2" charset="-122"/>
                </a:endParaRPr>
              </a:p>
              <a:p>
                <a:pPr marL="190500" algn="l">
                  <a:lnSpc>
                    <a:spcPct val="150000"/>
                  </a:lnSpc>
                  <a:tabLst>
                    <a:tab pos="1319530"/>
                    <a:tab pos="2639060"/>
                    <a:tab pos="3958590"/>
                  </a:tabLst>
                </a:pPr>
                <a:r>
                  <a:rPr lang="en-US" altLang="zh-CN" sz="2800" b="1" kern="100">
                    <a:effectLst/>
                    <a:latin typeface="Times New Roman" panose="02020603050405020304" charset="0"/>
                    <a:ea typeface="黑体" panose="02010609060101010101" charset="-122"/>
                  </a:rPr>
                  <a:t>A</a:t>
                </a:r>
                <a:r>
                  <a:rPr lang="zh-CN" altLang="zh-CN" sz="2800" b="1" kern="100">
                    <a:effectLst/>
                    <a:latin typeface="Times New Roman" panose="02020603050405020304" charset="0"/>
                    <a:ea typeface="黑体" panose="02010609060101010101" charset="-122"/>
                  </a:rPr>
                  <a:t>． </a:t>
                </a:r>
                <a14:m>
                  <m:oMathPara>
                    <m:oMathParaPr>
                      <m:jc/>
                    </m:oMathParaPr>
                    <m:oMath>
                      <m:r>
                        <m:rPr>
                          <m:sty m:val="bi"/>
                        </m:rPr>
                        <a:rPr lang="en-US" altLang="zh-CN" sz="2800" b="1" i="1" kern="100">
                          <a:effectLst/>
                          <a:latin typeface="Cambria Math" panose="02040503050406030204" pitchFamily="18" charset="0"/>
                          <a:ea typeface="黑体" panose="02010609060101010101" charset="-122"/>
                        </a:rPr>
                        <m:t>𝝁</m:t>
                      </m:r>
                      <m:r>
                        <m:rPr>
                          <m:sty m:val="b"/>
                        </m:rPr>
                        <a:rPr lang="zh-CN" altLang="zh-CN" sz="2800" b="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𝒕𝒂𝒏</m:t>
                      </m:r>
                      <m:r>
                        <m:rPr>
                          <m:sty m:val="bi"/>
                        </m:rPr>
                        <a:rPr lang="en-US" altLang="zh-CN" sz="2800" b="1" i="1" kern="100">
                          <a:effectLst/>
                          <a:latin typeface="Cambria Math" panose="02040503050406030204" pitchFamily="18" charset="0"/>
                          <a:ea typeface="黑体" panose="02010609060101010101" charset="-122"/>
                        </a:rPr>
                        <m:t>𝜽</m:t>
                      </m:r>
                    </m:oMath>
                  </m:oMathPara>
                </a14:m>
                <a:r>
                  <a:rPr lang="en-US" altLang="zh-CN" sz="2800" b="1" kern="100">
                    <a:effectLst/>
                    <a:latin typeface="Times New Roman" panose="02020603050405020304" charset="0"/>
                    <a:ea typeface="黑体" panose="02010609060101010101" charset="-122"/>
                  </a:rPr>
                  <a:t> 	B</a:t>
                </a:r>
                <a:r>
                  <a:rPr lang="zh-CN" altLang="zh-CN" sz="2800" b="1" kern="100">
                    <a:effectLst/>
                    <a:latin typeface="Times New Roman" panose="02020603050405020304" charset="0"/>
                    <a:ea typeface="黑体" panose="02010609060101010101" charset="-122"/>
                  </a:rPr>
                  <a:t>． </a:t>
                </a:r>
                <a14:m>
                  <m:oMathPara>
                    <m:oMathParaPr>
                      <m:jc/>
                    </m:oMathParaPr>
                    <m:oMath>
                      <m:r>
                        <m:rPr>
                          <m:sty m:val="bi"/>
                        </m:rPr>
                        <a:rPr lang="en-US" altLang="zh-CN" sz="2800" b="1" i="1" kern="100">
                          <a:effectLst/>
                          <a:latin typeface="Cambria Math" panose="02040503050406030204" pitchFamily="18" charset="0"/>
                          <a:ea typeface="黑体" panose="02010609060101010101" charset="-122"/>
                        </a:rPr>
                        <m:t>𝝁</m:t>
                      </m:r>
                      <m:r>
                        <m:rPr>
                          <m:sty m:val="bi"/>
                        </m:rPr>
                        <a:rPr lang="en-US" altLang="zh-CN" sz="2800" b="1" i="1" kern="100">
                          <a:effectLst/>
                          <a:latin typeface="Cambria Math" panose="02040503050406030204" pitchFamily="18" charset="0"/>
                          <a:ea typeface="黑体" panose="02010609060101010101" charset="-122"/>
                        </a:rPr>
                        <m:t>&gt;</m:t>
                      </m:r>
                      <m:r>
                        <m:rPr>
                          <m:sty m:val="bi"/>
                        </m:rPr>
                        <a:rPr lang="en-US" altLang="zh-CN" sz="2800" b="1" i="1" kern="100">
                          <a:effectLst/>
                          <a:latin typeface="Cambria Math" panose="02040503050406030204" pitchFamily="18" charset="0"/>
                          <a:ea typeface="黑体" panose="02010609060101010101" charset="-122"/>
                        </a:rPr>
                        <m:t>𝒕𝒂𝒏</m:t>
                      </m:r>
                      <m:r>
                        <m:rPr>
                          <m:sty m:val="bi"/>
                        </m:rPr>
                        <a:rPr lang="en-US" altLang="zh-CN" sz="2800" b="1" i="1" kern="100">
                          <a:effectLst/>
                          <a:latin typeface="Cambria Math" panose="02040503050406030204" pitchFamily="18" charset="0"/>
                          <a:ea typeface="黑体" panose="02010609060101010101" charset="-122"/>
                        </a:rPr>
                        <m:t>𝜽</m:t>
                      </m:r>
                    </m:oMath>
                  </m:oMathPara>
                </a14:m>
                <a:r>
                  <a:rPr lang="en-US" altLang="zh-CN" sz="2800" b="1" kern="100">
                    <a:effectLst/>
                    <a:latin typeface="Times New Roman" panose="02020603050405020304" charset="0"/>
                    <a:ea typeface="黑体" panose="02010609060101010101" charset="-122"/>
                  </a:rPr>
                  <a:t> 	C</a:t>
                </a:r>
                <a:r>
                  <a:rPr lang="zh-CN" altLang="zh-CN" sz="2800" b="1" kern="100">
                    <a:effectLst/>
                    <a:latin typeface="Times New Roman" panose="02020603050405020304" charset="0"/>
                    <a:ea typeface="黑体" panose="02010609060101010101" charset="-122"/>
                  </a:rPr>
                  <a:t>． </a:t>
                </a:r>
                <a14:m>
                  <m:oMathPara>
                    <m:oMathParaPr>
                      <m:jc/>
                    </m:oMathParaPr>
                    <m:oMath>
                      <m:r>
                        <m:rPr>
                          <m:sty m:val="bi"/>
                        </m:rPr>
                        <a:rPr lang="en-US" altLang="zh-CN" sz="2800" b="1" i="1" kern="100">
                          <a:effectLst/>
                          <a:latin typeface="Cambria Math" panose="02040503050406030204" pitchFamily="18" charset="0"/>
                          <a:ea typeface="黑体" panose="02010609060101010101" charset="-122"/>
                        </a:rPr>
                        <m:t>𝝁</m:t>
                      </m:r>
                      <m:r>
                        <m:rPr>
                          <m:sty m:val="bi"/>
                        </m:rPr>
                        <a:rPr lang="en-US" altLang="zh-CN" sz="2800" b="1" i="1" kern="100">
                          <a:effectLst/>
                          <a:latin typeface="Cambria Math" panose="02040503050406030204" pitchFamily="18" charset="0"/>
                          <a:ea typeface="黑体" panose="02010609060101010101" charset="-122"/>
                        </a:rPr>
                        <m:t>=</m:t>
                      </m:r>
                      <m:r>
                        <m:rPr>
                          <m:sty m:val="bi"/>
                        </m:rPr>
                        <a:rPr lang="en-US" altLang="zh-CN" sz="2800" b="1" i="1" kern="100">
                          <a:effectLst/>
                          <a:latin typeface="Cambria Math" panose="02040503050406030204" pitchFamily="18" charset="0"/>
                          <a:ea typeface="黑体" panose="02010609060101010101" charset="-122"/>
                        </a:rPr>
                        <m:t>𝒕𝒂𝒏</m:t>
                      </m:r>
                      <m:r>
                        <m:rPr>
                          <m:sty m:val="bi"/>
                        </m:rPr>
                        <a:rPr lang="en-US" altLang="zh-CN" sz="2800" b="1" i="1" kern="100">
                          <a:effectLst/>
                          <a:latin typeface="Cambria Math" panose="02040503050406030204" pitchFamily="18" charset="0"/>
                          <a:ea typeface="黑体" panose="02010609060101010101" charset="-122"/>
                        </a:rPr>
                        <m:t>𝜽</m:t>
                      </m:r>
                    </m:oMath>
                  </m:oMathPara>
                </a14:m>
                <a:r>
                  <a:rPr lang="en-US" altLang="zh-CN" sz="2800" b="1" kern="100">
                    <a:effectLst/>
                    <a:latin typeface="Times New Roman" panose="02020603050405020304" charset="0"/>
                    <a:ea typeface="黑体" panose="02010609060101010101" charset="-122"/>
                  </a:rPr>
                  <a:t> 	D</a:t>
                </a:r>
                <a:r>
                  <a:rPr lang="zh-CN" altLang="zh-CN" sz="2800" b="1" kern="100">
                    <a:effectLst/>
                    <a:latin typeface="Times New Roman" panose="02020603050405020304" charset="0"/>
                    <a:ea typeface="黑体" panose="02010609060101010101" charset="-122"/>
                  </a:rPr>
                  <a:t>．无法判断</a:t>
                </a:r>
                <a:endParaRPr lang="zh-CN" altLang="zh-CN" sz="2800" kern="100">
                  <a:effectLst/>
                  <a:latin typeface="Times New Roman" panose="02020603050405020304" charset="0"/>
                  <a:ea typeface="宋体" panose="02010600030101010101" pitchFamily="2" charset="-122"/>
                </a:endParaRPr>
              </a:p>
            </p:txBody>
          </p:sp>
        </mc:Choice>
        <mc:Fallback>
          <p:sp>
            <p:nvSpPr>
              <p:cNvPr id="4" name="文本框 3"/>
              <p:cNvSpPr txBox="1">
                <a:spLocks noRot="1" noChangeAspect="1" noMove="1" noResize="1" noEditPoints="1" noAdjustHandles="1" noChangeArrowheads="1" noChangeShapeType="1" noTextEdit="1"/>
              </p:cNvSpPr>
              <p:nvPr>
                <p:custDataLst>
                  <p:tags r:id="rId4"/>
                </p:custDataLst>
              </p:nvPr>
            </p:nvSpPr>
            <p:spPr>
              <a:xfrm>
                <a:off x="385445" y="398780"/>
                <a:ext cx="11478895" cy="2701290"/>
              </a:xfrm>
              <a:prstGeom prst="rect">
                <a:avLst/>
              </a:prstGeom>
              <a:blipFill rotWithShape="1">
                <a:blip r:embed="rId5"/>
                <a:stretch>
                  <a:fillRect b="-20169"/>
                </a:stretch>
              </a:blipFill>
            </p:spPr>
            <p:txBody>
              <a:bodyPr/>
              <a:lstStyle/>
              <a:p>
                <a:r>
                  <a:rPr lang="zh-CN" altLang="en-US">
                    <a:noFill/>
                  </a:rPr>
                  <a:t> </a:t>
                </a:r>
              </a:p>
            </p:txBody>
          </p:sp>
        </mc:Fallback>
      </mc:AlternateContent>
      <p:sp>
        <p:nvSpPr>
          <p:cNvPr id="7" name="文本框 6" title=""/>
          <p:cNvSpPr txBox="1"/>
          <p:nvPr>
            <p:custDataLst>
              <p:tags r:id="rId6"/>
            </p:custDataLst>
          </p:nvPr>
        </p:nvSpPr>
        <p:spPr>
          <a:xfrm>
            <a:off x="1943100" y="2452052"/>
            <a:ext cx="719455" cy="551815"/>
          </a:xfrm>
          <a:prstGeom prst="rect">
            <a:avLst/>
          </a:prstGeom>
          <a:noFill/>
        </p:spPr>
        <p:txBody>
          <a:bodyPr wrap="square" rtlCol="0">
            <a:noAutofit/>
          </a:bodyPr>
          <a:lstStyle/>
          <a:p>
            <a:r>
              <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rPr>
              <a:t>A</a:t>
            </a:r>
            <a:endPar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endParaRPr>
          </a:p>
        </p:txBody>
      </p:sp>
      <p:pic>
        <p:nvPicPr>
          <p:cNvPr id="2" name="图片 1" title=""/>
          <p:cNvPicPr>
            <a:picLocks noChangeAspect="1"/>
          </p:cNvPicPr>
          <p:nvPr>
            <p:custDataLst>
              <p:tags r:id="rId8"/>
            </p:custDataLst>
          </p:nvPr>
        </p:nvPicPr>
        <p:blipFill>
          <a:blip r:embed="rId7"/>
          <a:stretch>
            <a:fillRect/>
          </a:stretch>
        </p:blipFill>
        <p:spPr>
          <a:xfrm>
            <a:off x="3736340" y="4021455"/>
            <a:ext cx="4777740" cy="2055495"/>
          </a:xfrm>
          <a:prstGeom prst="rect">
            <a:avLst/>
          </a:prstGeom>
        </p:spPr>
      </p:pic>
    </p:spTree>
    <p:custDataLst>
      <p:tags r:id="rId9"/>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mc:AlternateContent>
        <mc:Choice Requires="a14">
          <p:sp>
            <p:nvSpPr>
              <p:cNvPr id="3" name="文本框 2" title=""/>
              <p:cNvSpPr txBox="1"/>
              <p:nvPr>
                <p:custDataLst>
                  <p:tags r:id="rId3"/>
                </p:custDataLst>
              </p:nvPr>
            </p:nvSpPr>
            <p:spPr>
              <a:xfrm>
                <a:off x="419100" y="393065"/>
                <a:ext cx="11456670" cy="4024630"/>
              </a:xfrm>
              <a:prstGeom prst="rect">
                <a:avLst/>
              </a:prstGeom>
              <a:noFill/>
            </p:spPr>
            <p:txBody>
              <a:bodyPr wrap="square">
                <a:noAutofit/>
              </a:bodyPr>
              <a:lstStyle/>
              <a:p>
                <a:pPr algn="l">
                  <a:lnSpc>
                    <a:spcPct val="150000"/>
                  </a:lnSpc>
                </a:pPr>
                <a:r>
                  <a:rPr lang="zh-CN" altLang="zh-CN" sz="2400" b="1" kern="100">
                    <a:effectLst/>
                    <a:latin typeface="Times New Roman" panose="02020603050405020304" charset="0"/>
                    <a:ea typeface="黑体" panose="02010609060101010101" charset="-122"/>
                  </a:rPr>
                  <a:t>【答案】</a:t>
                </a:r>
                <a:r>
                  <a:rPr lang="en-US" altLang="zh-CN" sz="2400" b="1" kern="100">
                    <a:effectLst/>
                    <a:latin typeface="Times New Roman" panose="02020603050405020304" charset="0"/>
                    <a:ea typeface="黑体" panose="02010609060101010101" charset="-122"/>
                  </a:rPr>
                  <a:t>A</a:t>
                </a:r>
                <a:endParaRPr lang="zh-CN" altLang="zh-CN" sz="2400" kern="100">
                  <a:effectLst/>
                  <a:latin typeface="Times New Roman" panose="02020603050405020304" charset="0"/>
                  <a:ea typeface="宋体" panose="02010600030101010101" pitchFamily="2" charset="-122"/>
                </a:endParaRPr>
              </a:p>
              <a:p>
                <a:pPr algn="l">
                  <a:lnSpc>
                    <a:spcPct val="150000"/>
                  </a:lnSpc>
                </a:pPr>
                <a:r>
                  <a:rPr lang="zh-CN" altLang="zh-CN" sz="2400" b="1" kern="100">
                    <a:effectLst/>
                    <a:latin typeface="Times New Roman" panose="02020603050405020304" charset="0"/>
                    <a:ea typeface="黑体" panose="02010609060101010101" charset="-122"/>
                  </a:rPr>
                  <a:t>【详解】由图可知，木块先做加速度较大的加速运动，后来做加速度较小的加速运动，拐点位置应该是木块的速度等于传送带的速度，拐点之前摩擦力沿斜面向下，运动满足</a:t>
                </a:r>
                <a14:m>
                  <m:oMathPara>
                    <m:oMathParaPr>
                      <m:jc/>
                    </m:oMathParaPr>
                    <m:oMath>
                      <m:r>
                        <m:rPr>
                          <m:sty m:val="bi"/>
                        </m:rPr>
                        <a:rPr lang="en-US" altLang="zh-CN" sz="2400" b="1" i="1" kern="100">
                          <a:effectLst/>
                          <a:latin typeface="Cambria Math" panose="02040503050406030204" pitchFamily="18" charset="0"/>
                          <a:ea typeface="黑体" panose="02010609060101010101" charset="-122"/>
                        </a:rPr>
                        <m:t>𝒎𝒈</m:t>
                      </m:r>
                      <m:r>
                        <m:rPr>
                          <m:sty m:val="bi"/>
                        </m:rPr>
                        <a:rPr lang="en-US" altLang="zh-CN" sz="2400" b="1" i="1" kern="100">
                          <a:effectLst/>
                          <a:latin typeface="Cambria Math" panose="02040503050406030204" pitchFamily="18" charset="0"/>
                          <a:ea typeface="黑体" panose="02010609060101010101" charset="-122"/>
                        </a:rPr>
                        <m:t>𝒔𝒊𝒏</m:t>
                      </m:r>
                      <m:r>
                        <m:rPr>
                          <m:sty m:val="bi"/>
                        </m:rPr>
                        <a:rPr lang="en-US" altLang="zh-CN" sz="2400" b="1" i="1" kern="100">
                          <a:effectLst/>
                          <a:latin typeface="Cambria Math" panose="02040503050406030204" pitchFamily="18" charset="0"/>
                          <a:ea typeface="黑体" panose="02010609060101010101" charset="-122"/>
                        </a:rPr>
                        <m:t>𝜽</m:t>
                      </m:r>
                      <m:r>
                        <m:rPr>
                          <m:sty m:val="bi"/>
                        </m:rPr>
                        <a:rPr lang="en-US" altLang="zh-CN" sz="2400" b="1" i="1" kern="100">
                          <a:effectLst/>
                          <a:latin typeface="Cambria Math" panose="02040503050406030204" pitchFamily="18" charset="0"/>
                          <a:ea typeface="黑体" panose="02010609060101010101" charset="-122"/>
                        </a:rPr>
                        <m:t>+</m:t>
                      </m:r>
                      <m:r>
                        <m:rPr>
                          <m:sty m:val="bi"/>
                        </m:rPr>
                        <a:rPr lang="en-US" altLang="zh-CN" sz="2400" b="1" i="1" kern="100">
                          <a:effectLst/>
                          <a:latin typeface="Cambria Math" panose="02040503050406030204" pitchFamily="18" charset="0"/>
                          <a:ea typeface="黑体" panose="02010609060101010101" charset="-122"/>
                        </a:rPr>
                        <m:t>𝝁</m:t>
                      </m:r>
                      <m:r>
                        <m:rPr>
                          <m:sty m:val="bi"/>
                        </m:rPr>
                        <a:rPr lang="en-US" altLang="zh-CN" sz="2400" b="1" i="1" kern="100">
                          <a:effectLst/>
                          <a:latin typeface="Cambria Math" panose="02040503050406030204" pitchFamily="18" charset="0"/>
                          <a:ea typeface="黑体" panose="02010609060101010101" charset="-122"/>
                        </a:rPr>
                        <m:t>𝒎𝒈</m:t>
                      </m:r>
                      <m:r>
                        <m:rPr>
                          <m:sty m:val="bi"/>
                        </m:rPr>
                        <a:rPr lang="en-US" altLang="zh-CN" sz="2400" b="1" i="1" kern="100">
                          <a:effectLst/>
                          <a:latin typeface="Cambria Math" panose="02040503050406030204" pitchFamily="18" charset="0"/>
                          <a:ea typeface="黑体" panose="02010609060101010101" charset="-122"/>
                        </a:rPr>
                        <m:t>𝒄𝒐𝒔</m:t>
                      </m:r>
                      <m:r>
                        <m:rPr>
                          <m:sty m:val="bi"/>
                        </m:rPr>
                        <a:rPr lang="en-US" altLang="zh-CN" sz="2400" b="1" i="1" kern="100">
                          <a:effectLst/>
                          <a:latin typeface="Cambria Math" panose="02040503050406030204" pitchFamily="18" charset="0"/>
                          <a:ea typeface="黑体" panose="02010609060101010101" charset="-122"/>
                        </a:rPr>
                        <m:t>𝜽</m:t>
                      </m:r>
                      <m:r>
                        <m:rPr>
                          <m:sty m:val="bi"/>
                        </m:rPr>
                        <a:rPr lang="en-US" altLang="zh-CN" sz="2400" b="1" i="1" kern="100">
                          <a:effectLst/>
                          <a:latin typeface="Cambria Math" panose="02040503050406030204" pitchFamily="18" charset="0"/>
                          <a:ea typeface="黑体" panose="02010609060101010101" charset="-122"/>
                        </a:rPr>
                        <m:t>=</m:t>
                      </m:r>
                      <m:r>
                        <m:rPr>
                          <m:sty m:val="bi"/>
                        </m:rPr>
                        <a:rPr lang="en-US" altLang="zh-CN" sz="2400" b="1" i="1" kern="100">
                          <a:effectLst/>
                          <a:latin typeface="Cambria Math" panose="02040503050406030204" pitchFamily="18" charset="0"/>
                          <a:ea typeface="黑体" panose="02010609060101010101" charset="-122"/>
                        </a:rPr>
                        <m:t>𝒎</m:t>
                      </m:r>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𝒂</m:t>
                          </m:r>
                        </m:e>
                        <m:sub>
                          <m:r>
                            <m:rPr>
                              <m:sty m:val="bi"/>
                            </m:rPr>
                            <a:rPr lang="en-US" altLang="zh-CN" sz="2400" b="1" i="1" kern="100">
                              <a:effectLst/>
                              <a:latin typeface="Cambria Math" panose="02040503050406030204" pitchFamily="18" charset="0"/>
                              <a:ea typeface="黑体" panose="02010609060101010101" charset="-122"/>
                            </a:rPr>
                            <m:t>𝟏</m:t>
                          </m:r>
                        </m:sub>
                      </m:sSub>
                    </m:oMath>
                  </m:oMathPara>
                </a14:m>
                <a:r>
                  <a:rPr lang="zh-CN" altLang="zh-CN" sz="2400" b="1" kern="100">
                    <a:effectLst/>
                    <a:latin typeface="Times New Roman" panose="02020603050405020304" charset="0"/>
                    <a:ea typeface="黑体" panose="02010609060101010101" charset="-122"/>
                  </a:rPr>
                  <a:t>拐点之后摩擦力沿斜面向上，木块继续加速，必然有</a:t>
                </a:r>
                <a14:m>
                  <m:oMathPara>
                    <m:oMathParaPr>
                      <m:jc/>
                    </m:oMathParaPr>
                    <m:oMath>
                      <m:r>
                        <m:rPr>
                          <m:sty m:val="bi"/>
                        </m:rPr>
                        <a:rPr lang="en-US" altLang="zh-CN" sz="2400" b="1" i="1" kern="100">
                          <a:effectLst/>
                          <a:latin typeface="Cambria Math" panose="02040503050406030204" pitchFamily="18" charset="0"/>
                          <a:ea typeface="黑体" panose="02010609060101010101" charset="-122"/>
                        </a:rPr>
                        <m:t>𝒎𝒈</m:t>
                      </m:r>
                      <m:r>
                        <m:rPr>
                          <m:sty m:val="bi"/>
                        </m:rPr>
                        <a:rPr lang="en-US" altLang="zh-CN" sz="2400" b="1" i="1" kern="100">
                          <a:effectLst/>
                          <a:latin typeface="Cambria Math" panose="02040503050406030204" pitchFamily="18" charset="0"/>
                          <a:ea typeface="黑体" panose="02010609060101010101" charset="-122"/>
                        </a:rPr>
                        <m:t>𝒔𝒊𝒏</m:t>
                      </m:r>
                      <m:r>
                        <m:rPr>
                          <m:sty m:val="bi"/>
                        </m:rPr>
                        <a:rPr lang="en-US" altLang="zh-CN" sz="2400" b="1" i="1" kern="100">
                          <a:effectLst/>
                          <a:latin typeface="Cambria Math" panose="02040503050406030204" pitchFamily="18" charset="0"/>
                          <a:ea typeface="黑体" panose="02010609060101010101" charset="-122"/>
                        </a:rPr>
                        <m:t>𝜽</m:t>
                      </m:r>
                      <m:r>
                        <m:rPr>
                          <m:sty m:val="bi"/>
                        </m:rPr>
                        <a:rPr lang="en-US" altLang="zh-CN" sz="2400" b="1" i="1" kern="100">
                          <a:effectLst/>
                          <a:latin typeface="Cambria Math" panose="02040503050406030204" pitchFamily="18" charset="0"/>
                          <a:ea typeface="黑体" panose="02010609060101010101" charset="-122"/>
                        </a:rPr>
                        <m:t>−</m:t>
                      </m:r>
                      <m:r>
                        <m:rPr>
                          <m:sty m:val="bi"/>
                        </m:rPr>
                        <a:rPr lang="en-US" altLang="zh-CN" sz="2400" b="1" i="1" kern="100">
                          <a:effectLst/>
                          <a:latin typeface="Cambria Math" panose="02040503050406030204" pitchFamily="18" charset="0"/>
                          <a:ea typeface="黑体" panose="02010609060101010101" charset="-122"/>
                        </a:rPr>
                        <m:t>𝝁</m:t>
                      </m:r>
                      <m:r>
                        <m:rPr>
                          <m:sty m:val="bi"/>
                        </m:rPr>
                        <a:rPr lang="en-US" altLang="zh-CN" sz="2400" b="1" i="1" kern="100">
                          <a:effectLst/>
                          <a:latin typeface="Cambria Math" panose="02040503050406030204" pitchFamily="18" charset="0"/>
                          <a:ea typeface="黑体" panose="02010609060101010101" charset="-122"/>
                        </a:rPr>
                        <m:t>𝒎𝒈</m:t>
                      </m:r>
                      <m:r>
                        <m:rPr>
                          <m:sty m:val="bi"/>
                        </m:rPr>
                        <a:rPr lang="en-US" altLang="zh-CN" sz="2400" b="1" i="1" kern="100">
                          <a:effectLst/>
                          <a:latin typeface="Cambria Math" panose="02040503050406030204" pitchFamily="18" charset="0"/>
                          <a:ea typeface="黑体" panose="02010609060101010101" charset="-122"/>
                        </a:rPr>
                        <m:t>𝒄𝒐𝒔</m:t>
                      </m:r>
                      <m:r>
                        <m:rPr>
                          <m:sty m:val="bi"/>
                        </m:rPr>
                        <a:rPr lang="en-US" altLang="zh-CN" sz="2400" b="1" i="1" kern="100">
                          <a:effectLst/>
                          <a:latin typeface="Cambria Math" panose="02040503050406030204" pitchFamily="18" charset="0"/>
                          <a:ea typeface="黑体" panose="02010609060101010101" charset="-122"/>
                        </a:rPr>
                        <m:t>𝜽</m:t>
                      </m:r>
                      <m:r>
                        <m:rPr>
                          <m:sty m:val="bi"/>
                        </m:rPr>
                        <a:rPr lang="en-US" altLang="zh-CN" sz="2400" b="1" i="1" kern="100">
                          <a:effectLst/>
                          <a:latin typeface="Cambria Math" panose="02040503050406030204" pitchFamily="18" charset="0"/>
                          <a:ea typeface="黑体" panose="02010609060101010101" charset="-122"/>
                        </a:rPr>
                        <m:t>=</m:t>
                      </m:r>
                      <m:r>
                        <m:rPr>
                          <m:sty m:val="bi"/>
                        </m:rPr>
                        <a:rPr lang="en-US" altLang="zh-CN" sz="2400" b="1" i="1" kern="100">
                          <a:effectLst/>
                          <a:latin typeface="Cambria Math" panose="02040503050406030204" pitchFamily="18" charset="0"/>
                          <a:ea typeface="黑体" panose="02010609060101010101" charset="-122"/>
                        </a:rPr>
                        <m:t>𝒎</m:t>
                      </m:r>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𝒂</m:t>
                          </m:r>
                        </m:e>
                        <m:sub>
                          <m:r>
                            <m:rPr>
                              <m:sty m:val="bi"/>
                            </m:rPr>
                            <a:rPr lang="en-US" altLang="zh-CN" sz="2400" b="1" i="1" kern="100">
                              <a:effectLst/>
                              <a:latin typeface="Cambria Math" panose="02040503050406030204" pitchFamily="18" charset="0"/>
                              <a:ea typeface="黑体" panose="02010609060101010101" charset="-122"/>
                            </a:rPr>
                            <m:t>𝟐</m:t>
                          </m:r>
                        </m:sub>
                      </m:sSub>
                      <m:r>
                        <m:rPr>
                          <m:sty m:val="bi"/>
                        </m:rPr>
                        <a:rPr lang="en-US" altLang="zh-CN" sz="2400" b="1" i="1" kern="100">
                          <a:effectLst/>
                          <a:latin typeface="Cambria Math" panose="02040503050406030204" pitchFamily="18" charset="0"/>
                          <a:ea typeface="黑体" panose="02010609060101010101" charset="-122"/>
                        </a:rPr>
                        <m:t>&gt;</m:t>
                      </m:r>
                      <m:r>
                        <m:rPr>
                          <m:sty m:val="bi"/>
                        </m:rPr>
                        <a:rPr lang="en-US" altLang="zh-CN" sz="2400" b="1" i="1" kern="100">
                          <a:effectLst/>
                          <a:latin typeface="Cambria Math" panose="02040503050406030204" pitchFamily="18" charset="0"/>
                          <a:ea typeface="黑体" panose="02010609060101010101" charset="-122"/>
                        </a:rPr>
                        <m:t>𝟎</m:t>
                      </m:r>
                    </m:oMath>
                  </m:oMathPara>
                </a14:m>
                <a:r>
                  <a:rPr lang="zh-CN" altLang="zh-CN" sz="2400" b="1" kern="100">
                    <a:effectLst/>
                    <a:latin typeface="Times New Roman" panose="02020603050405020304" charset="0"/>
                    <a:ea typeface="黑体" panose="02010609060101010101" charset="-122"/>
                  </a:rPr>
                  <a:t>即</a:t>
                </a:r>
                <a14:m>
                  <m:oMathPara>
                    <m:oMathParaPr>
                      <m:jc/>
                    </m:oMathParaPr>
                    <m:oMath>
                      <m:r>
                        <m:rPr>
                          <m:sty m:val="bi"/>
                        </m:rPr>
                        <a:rPr lang="en-US" altLang="zh-CN" sz="2400" b="1" i="1" kern="100">
                          <a:effectLst/>
                          <a:latin typeface="Cambria Math" panose="02040503050406030204" pitchFamily="18" charset="0"/>
                          <a:ea typeface="黑体" panose="02010609060101010101" charset="-122"/>
                        </a:rPr>
                        <m:t>𝝁</m:t>
                      </m:r>
                      <m:r>
                        <m:rPr>
                          <m:sty m:val="bi"/>
                        </m:rPr>
                        <a:rPr lang="en-US" altLang="zh-CN" sz="2400" b="1" i="1" kern="100">
                          <a:effectLst/>
                          <a:latin typeface="Cambria Math" panose="02040503050406030204" pitchFamily="18" charset="0"/>
                          <a:ea typeface="黑体" panose="02010609060101010101" charset="-122"/>
                        </a:rPr>
                        <m:t>&lt;</m:t>
                      </m:r>
                      <m:r>
                        <m:rPr>
                          <m:sty m:val="bi"/>
                        </m:rPr>
                        <a:rPr lang="en-US" altLang="zh-CN" sz="2400" b="1" i="1" kern="100">
                          <a:effectLst/>
                          <a:latin typeface="Cambria Math" panose="02040503050406030204" pitchFamily="18" charset="0"/>
                          <a:ea typeface="黑体" panose="02010609060101010101" charset="-122"/>
                        </a:rPr>
                        <m:t>𝒕𝒂𝒏</m:t>
                      </m:r>
                      <m:r>
                        <m:rPr>
                          <m:sty m:val="bi"/>
                        </m:rPr>
                        <a:rPr lang="en-US" altLang="zh-CN" sz="2400" b="1" i="1" kern="100">
                          <a:effectLst/>
                          <a:latin typeface="Cambria Math" panose="02040503050406030204" pitchFamily="18" charset="0"/>
                          <a:ea typeface="黑体" panose="02010609060101010101" charset="-122"/>
                        </a:rPr>
                        <m:t>𝜽</m:t>
                      </m:r>
                    </m:oMath>
                  </m:oMathPara>
                </a14:m>
                <a:r>
                  <a:rPr lang="zh-CN" altLang="zh-CN" sz="2400" b="1" kern="100">
                    <a:effectLst/>
                    <a:latin typeface="Times New Roman" panose="02020603050405020304" charset="0"/>
                    <a:ea typeface="黑体" panose="02010609060101010101" charset="-122"/>
                  </a:rPr>
                  <a:t>故选</a:t>
                </a:r>
                <a:r>
                  <a:rPr lang="en-US" altLang="zh-CN" sz="2400" b="1" kern="100">
                    <a:effectLst/>
                    <a:latin typeface="Times New Roman" panose="02020603050405020304" charset="0"/>
                    <a:ea typeface="黑体" panose="02010609060101010101" charset="-122"/>
                  </a:rPr>
                  <a:t>A</a:t>
                </a:r>
                <a:r>
                  <a:rPr lang="zh-CN" altLang="zh-CN" sz="2400" b="1" kern="100">
                    <a:effectLst/>
                    <a:latin typeface="Times New Roman" panose="02020603050405020304" charset="0"/>
                    <a:ea typeface="黑体" panose="02010609060101010101" charset="-122"/>
                  </a:rPr>
                  <a:t>。</a:t>
                </a:r>
                <a:endParaRPr lang="zh-CN" altLang="zh-CN" sz="2400" kern="100">
                  <a:effectLst/>
                  <a:latin typeface="Times New Roman" panose="02020603050405020304" charset="0"/>
                  <a:ea typeface="宋体" panose="02010600030101010101" pitchFamily="2" charset="-122"/>
                </a:endParaRPr>
              </a:p>
            </p:txBody>
          </p:sp>
        </mc:Choice>
        <mc:Fallback>
          <p:sp>
            <p:nvSpPr>
              <p:cNvPr id="3" name="文本框 2"/>
              <p:cNvSpPr txBox="1">
                <a:spLocks noRot="1" noChangeAspect="1" noMove="1" noResize="1" noEditPoints="1" noAdjustHandles="1" noChangeArrowheads="1" noChangeShapeType="1" noTextEdit="1"/>
              </p:cNvSpPr>
              <p:nvPr>
                <p:custDataLst>
                  <p:tags r:id="rId4"/>
                </p:custDataLst>
              </p:nvPr>
            </p:nvSpPr>
            <p:spPr>
              <a:xfrm>
                <a:off x="419100" y="393065"/>
                <a:ext cx="11456670" cy="4024630"/>
              </a:xfrm>
              <a:prstGeom prst="rect">
                <a:avLst/>
              </a:prstGeom>
              <a:blipFill rotWithShape="1">
                <a:blip r:embed="rId5"/>
                <a:stretch>
                  <a:fillRect/>
                </a:stretch>
              </a:blipFill>
            </p:spPr>
            <p:txBody>
              <a:bodyPr/>
              <a:lstStyle/>
              <a:p>
                <a:r>
                  <a:rPr lang="zh-CN" altLang="en-US">
                    <a:noFill/>
                  </a:rPr>
                  <a:t> </a:t>
                </a:r>
              </a:p>
            </p:txBody>
          </p:sp>
        </mc:Fallback>
      </mc:AlternateContent>
    </p:spTree>
    <p:custDataLst>
      <p:tags r:id="rId6"/>
    </p:custDataLst>
  </p:cSld>
  <p:clrMapOvr>
    <a:masterClrMapping/>
  </p:clrMapOvr>
  <p:transition/>
  <p:timing/>
</p:sld>
</file>

<file path=ppt/slides/slide3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5" name="文本框 4" title=""/>
          <p:cNvSpPr txBox="1"/>
          <p:nvPr>
            <p:custDataLst>
              <p:tags r:id="rId3"/>
            </p:custDataLst>
          </p:nvPr>
        </p:nvSpPr>
        <p:spPr>
          <a:xfrm>
            <a:off x="414655" y="421005"/>
            <a:ext cx="11298555" cy="2817495"/>
          </a:xfrm>
          <a:prstGeom prst="rect">
            <a:avLst/>
          </a:prstGeom>
          <a:noFill/>
        </p:spPr>
        <p:txBody>
          <a:bodyPr wrap="square">
            <a:noAutofit/>
          </a:bodyPr>
          <a:lstStyle/>
          <a:p>
            <a:pPr algn="l">
              <a:lnSpc>
                <a:spcPct val="150000"/>
              </a:lnSpc>
            </a:pPr>
            <a:r>
              <a:rPr lang="en-US" altLang="zh-CN" sz="2800" b="1" kern="100">
                <a:effectLst/>
                <a:latin typeface="Times New Roman" panose="02020603050405020304" charset="0"/>
                <a:ea typeface="黑体" panose="02010609060101010101" charset="-122"/>
              </a:rPr>
              <a:t>4</a:t>
            </a:r>
            <a:r>
              <a:rPr lang="zh-CN" altLang="zh-CN" sz="2800" b="1" kern="100">
                <a:effectLst/>
                <a:latin typeface="Times New Roman" panose="02020603050405020304" charset="0"/>
                <a:ea typeface="黑体" panose="02010609060101010101" charset="-122"/>
              </a:rPr>
              <a:t>．光滑水平面上停放着质量</a:t>
            </a:r>
            <a:r>
              <a:rPr lang="en-US" altLang="zh-CN" sz="2800" b="1" i="1" kern="100">
                <a:effectLst/>
                <a:latin typeface="Times New Roman" panose="02020603050405020304" charset="0"/>
                <a:ea typeface="黑体" panose="02010609060101010101" charset="-122"/>
              </a:rPr>
              <a:t>M</a:t>
            </a:r>
            <a:r>
              <a:rPr lang="en-US" altLang="zh-CN" sz="2800" b="1" kern="100">
                <a:effectLst/>
                <a:latin typeface="Times New Roman" panose="02020603050405020304" charset="0"/>
                <a:ea typeface="黑体" panose="02010609060101010101" charset="-122"/>
              </a:rPr>
              <a:t>=2kg</a:t>
            </a:r>
            <a:r>
              <a:rPr lang="zh-CN" altLang="zh-CN" sz="2800" b="1" kern="100">
                <a:effectLst/>
                <a:latin typeface="Times New Roman" panose="02020603050405020304" charset="0"/>
                <a:ea typeface="黑体" panose="02010609060101010101" charset="-122"/>
              </a:rPr>
              <a:t>的平板小车，一个质量为</a:t>
            </a:r>
            <a:r>
              <a:rPr lang="en-US" altLang="zh-CN" sz="2800" b="1" i="1" kern="100">
                <a:effectLst/>
                <a:latin typeface="Times New Roman" panose="02020603050405020304" charset="0"/>
                <a:ea typeface="黑体" panose="02010609060101010101" charset="-122"/>
              </a:rPr>
              <a:t>m</a:t>
            </a:r>
            <a:r>
              <a:rPr lang="en-US" altLang="zh-CN" sz="2800" b="1" kern="100">
                <a:effectLst/>
                <a:latin typeface="Times New Roman" panose="02020603050405020304" charset="0"/>
                <a:ea typeface="黑体" panose="02010609060101010101" charset="-122"/>
              </a:rPr>
              <a:t>=1kg</a:t>
            </a:r>
            <a:r>
              <a:rPr lang="zh-CN" altLang="zh-CN" sz="2800" b="1" kern="100">
                <a:effectLst/>
                <a:latin typeface="Times New Roman" panose="02020603050405020304" charset="0"/>
                <a:ea typeface="黑体" panose="02010609060101010101" charset="-122"/>
              </a:rPr>
              <a:t>的小滑块（视为质点）以</a:t>
            </a:r>
            <a:r>
              <a:rPr lang="en-US" altLang="zh-CN" sz="2800" b="1" i="1" kern="100">
                <a:effectLst/>
                <a:latin typeface="Times New Roman" panose="02020603050405020304" charset="0"/>
                <a:ea typeface="黑体" panose="02010609060101010101" charset="-122"/>
              </a:rPr>
              <a:t>v</a:t>
            </a:r>
            <a:r>
              <a:rPr lang="en-US" altLang="zh-CN" sz="2800" b="1" i="1" kern="100" baseline="-25000">
                <a:effectLst/>
                <a:latin typeface="Times New Roman" panose="02020603050405020304" charset="0"/>
                <a:ea typeface="黑体" panose="02010609060101010101" charset="-122"/>
              </a:rPr>
              <a:t>0</a:t>
            </a:r>
            <a:r>
              <a:rPr lang="en-US" altLang="zh-CN" sz="2800" b="1" kern="100">
                <a:effectLst/>
                <a:latin typeface="Times New Roman" panose="02020603050405020304" charset="0"/>
                <a:ea typeface="黑体" panose="02010609060101010101" charset="-122"/>
              </a:rPr>
              <a:t>=3m/s</a:t>
            </a:r>
            <a:r>
              <a:rPr lang="zh-CN" altLang="zh-CN" sz="2800" b="1" kern="100">
                <a:effectLst/>
                <a:latin typeface="Times New Roman" panose="02020603050405020304" charset="0"/>
                <a:ea typeface="黑体" panose="02010609060101010101" charset="-122"/>
              </a:rPr>
              <a:t>的初速度从</a:t>
            </a:r>
            <a:r>
              <a:rPr lang="en-US" altLang="zh-CN" sz="2800" b="1" i="1" kern="100">
                <a:effectLst/>
                <a:latin typeface="Times New Roman" panose="02020603050405020304" charset="0"/>
                <a:ea typeface="黑体" panose="02010609060101010101" charset="-122"/>
              </a:rPr>
              <a:t>A</a:t>
            </a:r>
            <a:r>
              <a:rPr lang="zh-CN" altLang="zh-CN" sz="2800" b="1" kern="100">
                <a:effectLst/>
                <a:latin typeface="Times New Roman" panose="02020603050405020304" charset="0"/>
                <a:ea typeface="黑体" panose="02010609060101010101" charset="-122"/>
              </a:rPr>
              <a:t>端滑上小车，如图所示。小车长</a:t>
            </a:r>
            <a:r>
              <a:rPr lang="en-US" altLang="zh-CN" sz="2800" b="1" i="1" kern="100">
                <a:effectLst/>
                <a:latin typeface="Times New Roman" panose="02020603050405020304" charset="0"/>
                <a:ea typeface="黑体" panose="02010609060101010101" charset="-122"/>
              </a:rPr>
              <a:t>l</a:t>
            </a:r>
            <a:r>
              <a:rPr lang="en-US" altLang="zh-CN" sz="2800" b="1" kern="100">
                <a:effectLst/>
                <a:latin typeface="Times New Roman" panose="02020603050405020304" charset="0"/>
                <a:ea typeface="黑体" panose="02010609060101010101" charset="-122"/>
              </a:rPr>
              <a:t>=1m</a:t>
            </a:r>
            <a:r>
              <a:rPr lang="zh-CN" altLang="zh-CN" sz="2800" b="1" kern="100">
                <a:effectLst/>
                <a:latin typeface="Times New Roman" panose="02020603050405020304" charset="0"/>
                <a:ea typeface="黑体" panose="02010609060101010101" charset="-122"/>
              </a:rPr>
              <a:t>，小滑块与小车间的动摩擦因数为</a:t>
            </a:r>
            <a:r>
              <a:rPr lang="en-US" altLang="zh-CN" sz="2800" b="1" i="1" kern="100">
                <a:effectLst/>
                <a:latin typeface="Times New Roman" panose="02020603050405020304" charset="0"/>
                <a:ea typeface="黑体" panose="02010609060101010101" charset="-122"/>
              </a:rPr>
              <a:t>μ</a:t>
            </a:r>
            <a:r>
              <a:rPr lang="en-US" altLang="zh-CN" sz="2800" b="1" kern="100">
                <a:effectLst/>
                <a:latin typeface="Times New Roman" panose="02020603050405020304" charset="0"/>
                <a:ea typeface="黑体" panose="02010609060101010101" charset="-122"/>
              </a:rPr>
              <a:t>=0.4</a:t>
            </a:r>
            <a:r>
              <a:rPr lang="zh-CN" altLang="zh-CN" sz="2800" b="1" kern="100">
                <a:effectLst/>
                <a:latin typeface="Times New Roman" panose="02020603050405020304" charset="0"/>
                <a:ea typeface="黑体" panose="02010609060101010101" charset="-122"/>
              </a:rPr>
              <a:t>，</a:t>
            </a:r>
            <a:r>
              <a:rPr lang="en-US" altLang="zh-CN" sz="2800" b="1" i="1" kern="100">
                <a:effectLst/>
                <a:latin typeface="Times New Roman" panose="02020603050405020304" charset="0"/>
                <a:ea typeface="黑体" panose="02010609060101010101" charset="-122"/>
              </a:rPr>
              <a:t>g</a:t>
            </a:r>
            <a:r>
              <a:rPr lang="zh-CN" altLang="zh-CN" sz="2800" b="1" kern="100">
                <a:effectLst/>
                <a:latin typeface="Times New Roman" panose="02020603050405020304" charset="0"/>
                <a:ea typeface="黑体" panose="02010609060101010101" charset="-122"/>
              </a:rPr>
              <a:t>取</a:t>
            </a:r>
            <a:r>
              <a:rPr lang="en-US" altLang="zh-CN" sz="2800" b="1" kern="100">
                <a:effectLst/>
                <a:latin typeface="Times New Roman" panose="02020603050405020304" charset="0"/>
                <a:ea typeface="黑体" panose="02010609060101010101" charset="-122"/>
              </a:rPr>
              <a:t>10m/s</a:t>
            </a:r>
            <a:r>
              <a:rPr lang="en-US" altLang="zh-CN" sz="2800" b="1" kern="100" baseline="30000">
                <a:effectLst/>
                <a:latin typeface="Times New Roman" panose="02020603050405020304" charset="0"/>
                <a:ea typeface="黑体" panose="02010609060101010101" charset="-122"/>
              </a:rPr>
              <a:t>2</a:t>
            </a:r>
            <a:r>
              <a:rPr lang="zh-CN" altLang="zh-CN" sz="2800" b="1" kern="100">
                <a:effectLst/>
                <a:latin typeface="Times New Roman" panose="02020603050405020304" charset="0"/>
                <a:ea typeface="黑体" panose="02010609060101010101" charset="-122"/>
              </a:rPr>
              <a:t>，从小滑块滑上小车开始计时，</a:t>
            </a:r>
            <a:r>
              <a:rPr lang="en-US" altLang="zh-CN" sz="2800" b="1" kern="100">
                <a:effectLst/>
                <a:latin typeface="Times New Roman" panose="02020603050405020304" charset="0"/>
                <a:ea typeface="黑体" panose="02010609060101010101" charset="-122"/>
              </a:rPr>
              <a:t>2s</a:t>
            </a:r>
            <a:r>
              <a:rPr lang="zh-CN" altLang="zh-CN" sz="2800" b="1" kern="100">
                <a:effectLst/>
                <a:latin typeface="Times New Roman" panose="02020603050405020304" charset="0"/>
                <a:ea typeface="黑体" panose="02010609060101010101" charset="-122"/>
              </a:rPr>
              <a:t>末小滑块与小车</a:t>
            </a:r>
            <a:r>
              <a:rPr lang="en-US" altLang="zh-CN" sz="2800" b="1" i="1" kern="100">
                <a:effectLst/>
                <a:latin typeface="Times New Roman" panose="02020603050405020304" charset="0"/>
                <a:ea typeface="黑体" panose="02010609060101010101" charset="-122"/>
              </a:rPr>
              <a:t>B</a:t>
            </a:r>
            <a:r>
              <a:rPr lang="zh-CN" altLang="zh-CN" sz="2800" b="1" kern="100">
                <a:effectLst/>
                <a:latin typeface="Times New Roman" panose="02020603050405020304" charset="0"/>
                <a:ea typeface="黑体" panose="02010609060101010101" charset="-122"/>
              </a:rPr>
              <a:t>端的距离为（</a:t>
            </a:r>
            <a:r>
              <a:rPr lang="en-US" altLang="zh-CN" sz="2800" b="1" kern="0">
                <a:effectLst/>
                <a:latin typeface="Times New Roman" panose="02020603050405020304" charset="0"/>
                <a:ea typeface="黑体" panose="02010609060101010101" charset="-122"/>
              </a:rPr>
              <a:t>    </a:t>
            </a:r>
            <a:r>
              <a:rPr lang="zh-CN" altLang="zh-CN" sz="2800" b="1" kern="100">
                <a:effectLst/>
                <a:latin typeface="Times New Roman" panose="02020603050405020304" charset="0"/>
                <a:ea typeface="黑体" panose="02010609060101010101" charset="-122"/>
              </a:rPr>
              <a:t>）</a:t>
            </a:r>
            <a:r>
              <a:rPr lang="en-US" altLang="zh-CN" sz="2800" b="1" kern="0">
                <a:effectLst/>
                <a:latin typeface="Times New Roman" panose="02020603050405020304" charset="0"/>
                <a:ea typeface="黑体" panose="02010609060101010101" charset="-122"/>
              </a:rPr>
              <a:t>  </a:t>
            </a:r>
            <a:endParaRPr lang="zh-CN" altLang="zh-CN" sz="2800" kern="100">
              <a:effectLst/>
              <a:latin typeface="Times New Roman" panose="02020603050405020304" charset="0"/>
              <a:ea typeface="宋体" panose="02010600030101010101" pitchFamily="2" charset="-122"/>
            </a:endParaRPr>
          </a:p>
          <a:p>
            <a:pPr marL="190500" algn="l">
              <a:lnSpc>
                <a:spcPct val="150000"/>
              </a:lnSpc>
              <a:tabLst>
                <a:tab pos="1319530"/>
                <a:tab pos="2639060"/>
                <a:tab pos="3958590"/>
              </a:tabLst>
            </a:pPr>
            <a:r>
              <a:rPr lang="en-US" altLang="zh-CN" sz="2800" b="1" kern="100">
                <a:effectLst/>
                <a:latin typeface="Times New Roman" panose="02020603050405020304" charset="0"/>
                <a:ea typeface="黑体" panose="02010609060101010101" charset="-122"/>
              </a:rPr>
              <a:t>A</a:t>
            </a:r>
            <a:r>
              <a:rPr lang="zh-CN" altLang="zh-CN" sz="2800" b="1" kern="100">
                <a:effectLst/>
                <a:latin typeface="Times New Roman" panose="02020603050405020304" charset="0"/>
                <a:ea typeface="黑体" panose="02010609060101010101" charset="-122"/>
              </a:rPr>
              <a:t>．</a:t>
            </a:r>
            <a:r>
              <a:rPr lang="en-US" altLang="zh-CN" sz="2800" b="1" kern="100">
                <a:effectLst/>
                <a:latin typeface="Times New Roman" panose="02020603050405020304" charset="0"/>
                <a:ea typeface="黑体" panose="02010609060101010101" charset="-122"/>
              </a:rPr>
              <a:t>1m	</a:t>
            </a:r>
            <a:endParaRPr lang="en-US" altLang="zh-CN" sz="2800" b="1" kern="100">
              <a:effectLst/>
              <a:latin typeface="Times New Roman" panose="02020603050405020304" charset="0"/>
              <a:ea typeface="黑体" panose="02010609060101010101" charset="-122"/>
            </a:endParaRPr>
          </a:p>
          <a:p>
            <a:pPr marL="190500" algn="l">
              <a:lnSpc>
                <a:spcPct val="150000"/>
              </a:lnSpc>
              <a:tabLst>
                <a:tab pos="1319530"/>
                <a:tab pos="2639060"/>
                <a:tab pos="3958590"/>
              </a:tabLst>
            </a:pPr>
            <a:r>
              <a:rPr lang="en-US" altLang="zh-CN" sz="2800" b="1" kern="100">
                <a:effectLst/>
                <a:latin typeface="Times New Roman" panose="02020603050405020304" charset="0"/>
                <a:ea typeface="黑体" panose="02010609060101010101" charset="-122"/>
              </a:rPr>
              <a:t>B</a:t>
            </a:r>
            <a:r>
              <a:rPr lang="zh-CN" altLang="zh-CN" sz="2800" b="1" kern="100">
                <a:effectLst/>
                <a:latin typeface="Times New Roman" panose="02020603050405020304" charset="0"/>
                <a:ea typeface="黑体" panose="02010609060101010101" charset="-122"/>
              </a:rPr>
              <a:t>．</a:t>
            </a:r>
            <a:r>
              <a:rPr lang="en-US" altLang="zh-CN" sz="2800" b="1" kern="100">
                <a:effectLst/>
                <a:latin typeface="Times New Roman" panose="02020603050405020304" charset="0"/>
                <a:ea typeface="黑体" panose="02010609060101010101" charset="-122"/>
              </a:rPr>
              <a:t>0	</a:t>
            </a:r>
            <a:endParaRPr lang="en-US" altLang="zh-CN" sz="2800" b="1" kern="100">
              <a:effectLst/>
              <a:latin typeface="Times New Roman" panose="02020603050405020304" charset="0"/>
              <a:ea typeface="黑体" panose="02010609060101010101" charset="-122"/>
            </a:endParaRPr>
          </a:p>
          <a:p>
            <a:pPr marL="190500" algn="l">
              <a:lnSpc>
                <a:spcPct val="150000"/>
              </a:lnSpc>
              <a:tabLst>
                <a:tab pos="1319530"/>
                <a:tab pos="2639060"/>
                <a:tab pos="3958590"/>
              </a:tabLst>
            </a:pPr>
            <a:r>
              <a:rPr lang="en-US" altLang="zh-CN" sz="2800" b="1" kern="100">
                <a:effectLst/>
                <a:latin typeface="Times New Roman" panose="02020603050405020304" charset="0"/>
                <a:ea typeface="黑体" panose="02010609060101010101" charset="-122"/>
              </a:rPr>
              <a:t>C</a:t>
            </a:r>
            <a:r>
              <a:rPr lang="zh-CN" altLang="zh-CN" sz="2800" b="1" kern="100">
                <a:effectLst/>
                <a:latin typeface="Times New Roman" panose="02020603050405020304" charset="0"/>
                <a:ea typeface="黑体" panose="02010609060101010101" charset="-122"/>
              </a:rPr>
              <a:t>．</a:t>
            </a:r>
            <a:r>
              <a:rPr lang="en-US" altLang="zh-CN" sz="2800" b="1" kern="100">
                <a:effectLst/>
                <a:latin typeface="Times New Roman" panose="02020603050405020304" charset="0"/>
                <a:ea typeface="黑体" panose="02010609060101010101" charset="-122"/>
              </a:rPr>
              <a:t>0.25m	</a:t>
            </a:r>
            <a:endParaRPr lang="en-US" altLang="zh-CN" sz="2800" b="1" kern="100">
              <a:effectLst/>
              <a:latin typeface="Times New Roman" panose="02020603050405020304" charset="0"/>
              <a:ea typeface="黑体" panose="02010609060101010101" charset="-122"/>
            </a:endParaRPr>
          </a:p>
          <a:p>
            <a:pPr marL="190500" algn="l">
              <a:lnSpc>
                <a:spcPct val="150000"/>
              </a:lnSpc>
              <a:tabLst>
                <a:tab pos="1319530"/>
                <a:tab pos="2639060"/>
                <a:tab pos="3958590"/>
              </a:tabLst>
            </a:pPr>
            <a:r>
              <a:rPr lang="en-US" altLang="zh-CN" sz="2800" b="1" kern="100">
                <a:effectLst/>
                <a:latin typeface="Times New Roman" panose="02020603050405020304" charset="0"/>
                <a:ea typeface="黑体" panose="02010609060101010101" charset="-122"/>
              </a:rPr>
              <a:t>D</a:t>
            </a:r>
            <a:r>
              <a:rPr lang="zh-CN" altLang="zh-CN" sz="2800" b="1" kern="100">
                <a:effectLst/>
                <a:latin typeface="Times New Roman" panose="02020603050405020304" charset="0"/>
                <a:ea typeface="黑体" panose="02010609060101010101" charset="-122"/>
              </a:rPr>
              <a:t>．</a:t>
            </a:r>
            <a:r>
              <a:rPr lang="en-US" altLang="zh-CN" sz="2800" b="1" kern="100">
                <a:effectLst/>
                <a:latin typeface="Times New Roman" panose="02020603050405020304" charset="0"/>
                <a:ea typeface="黑体" panose="02010609060101010101" charset="-122"/>
              </a:rPr>
              <a:t>0.75m</a:t>
            </a:r>
            <a:endParaRPr lang="zh-CN" altLang="zh-CN" sz="2800" kern="100">
              <a:effectLst/>
              <a:latin typeface="Times New Roman" panose="02020603050405020304" charset="0"/>
              <a:ea typeface="宋体" panose="02010600030101010101" pitchFamily="2" charset="-122"/>
            </a:endParaRPr>
          </a:p>
        </p:txBody>
      </p:sp>
      <p:sp>
        <p:nvSpPr>
          <p:cNvPr id="3" name="文本框 2" title=""/>
          <p:cNvSpPr txBox="1"/>
          <p:nvPr>
            <p:custDataLst>
              <p:tags r:id="rId4"/>
            </p:custDataLst>
          </p:nvPr>
        </p:nvSpPr>
        <p:spPr>
          <a:xfrm>
            <a:off x="8999220" y="2502852"/>
            <a:ext cx="1042670" cy="507365"/>
          </a:xfrm>
          <a:prstGeom prst="rect">
            <a:avLst/>
          </a:prstGeom>
          <a:noFill/>
        </p:spPr>
        <p:txBody>
          <a:bodyPr wrap="square" rtlCol="0">
            <a:noAutofit/>
          </a:bodyPr>
          <a:lstStyle/>
          <a:p>
            <a:pPr algn="ctr"/>
            <a:r>
              <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rPr>
              <a:t>C</a:t>
            </a:r>
            <a:endPar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endParaRPr>
          </a:p>
        </p:txBody>
      </p:sp>
      <p:pic>
        <p:nvPicPr>
          <p:cNvPr id="2" name="图片 1" title=""/>
          <p:cNvPicPr>
            <a:picLocks noChangeAspect="1"/>
          </p:cNvPicPr>
          <p:nvPr>
            <p:custDataLst>
              <p:tags r:id="rId6"/>
            </p:custDataLst>
          </p:nvPr>
        </p:nvPicPr>
        <p:blipFill>
          <a:blip r:embed="rId5"/>
          <a:stretch>
            <a:fillRect/>
          </a:stretch>
        </p:blipFill>
        <p:spPr>
          <a:xfrm>
            <a:off x="6779895" y="3552190"/>
            <a:ext cx="4802505" cy="1320800"/>
          </a:xfrm>
          <a:prstGeom prst="rect">
            <a:avLst/>
          </a:prstGeom>
        </p:spPr>
      </p:pic>
    </p:spTree>
    <p:custDataLst>
      <p:tags r:id="rId7"/>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mc:AlternateContent>
        <mc:Choice Requires="a14">
          <p:sp>
            <p:nvSpPr>
              <p:cNvPr id="3" name="文本框 2" title=""/>
              <p:cNvSpPr txBox="1"/>
              <p:nvPr>
                <p:custDataLst>
                  <p:tags r:id="rId3"/>
                </p:custDataLst>
              </p:nvPr>
            </p:nvSpPr>
            <p:spPr>
              <a:xfrm>
                <a:off x="419100" y="436245"/>
                <a:ext cx="11355705" cy="3806190"/>
              </a:xfrm>
              <a:prstGeom prst="rect">
                <a:avLst/>
              </a:prstGeom>
              <a:noFill/>
            </p:spPr>
            <p:txBody>
              <a:bodyPr wrap="square">
                <a:noAutofit/>
              </a:bodyPr>
              <a:lstStyle/>
              <a:p>
                <a:pPr algn="l">
                  <a:lnSpc>
                    <a:spcPct val="150000"/>
                  </a:lnSpc>
                </a:pPr>
                <a:r>
                  <a:rPr lang="zh-CN" altLang="zh-CN" sz="2400" b="1" kern="100">
                    <a:effectLst/>
                    <a:latin typeface="Times New Roman" panose="02020603050405020304" charset="0"/>
                    <a:ea typeface="黑体" panose="02010609060101010101" charset="-122"/>
                  </a:rPr>
                  <a:t>【答案】</a:t>
                </a:r>
                <a:r>
                  <a:rPr lang="en-US" altLang="zh-CN" sz="2400" b="1" kern="100">
                    <a:effectLst/>
                    <a:latin typeface="Times New Roman" panose="02020603050405020304" charset="0"/>
                    <a:ea typeface="黑体" panose="02010609060101010101" charset="-122"/>
                  </a:rPr>
                  <a:t>C</a:t>
                </a:r>
                <a:endParaRPr lang="zh-CN" altLang="zh-CN" sz="2400" kern="100">
                  <a:effectLst/>
                  <a:latin typeface="Times New Roman" panose="02020603050405020304" charset="0"/>
                  <a:ea typeface="宋体" panose="02010600030101010101" pitchFamily="2" charset="-122"/>
                </a:endParaRPr>
              </a:p>
              <a:p>
                <a:pPr algn="l">
                  <a:lnSpc>
                    <a:spcPct val="150000"/>
                  </a:lnSpc>
                </a:pPr>
                <a:r>
                  <a:rPr lang="zh-CN" altLang="zh-CN" sz="2400" b="1" kern="100">
                    <a:effectLst/>
                    <a:latin typeface="Times New Roman" panose="02020603050405020304" charset="0"/>
                    <a:ea typeface="黑体" panose="02010609060101010101" charset="-122"/>
                  </a:rPr>
                  <a:t>【详解】对小滑块，由牛顿第二定律有</a:t>
                </a:r>
                <a14:m>
                  <m:oMathPara>
                    <m:oMathParaPr>
                      <m:jc/>
                    </m:oMathParaPr>
                    <m:oMath>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𝒂</m:t>
                          </m:r>
                        </m:e>
                        <m:sub>
                          <m:r>
                            <m:rPr>
                              <m:sty m:val="bi"/>
                            </m:rPr>
                            <a:rPr lang="en-US" altLang="zh-CN" sz="2400" b="1" i="1" kern="100">
                              <a:effectLst/>
                              <a:latin typeface="Cambria Math" panose="02040503050406030204" pitchFamily="18" charset="0"/>
                              <a:ea typeface="黑体" panose="02010609060101010101" charset="-122"/>
                            </a:rPr>
                            <m:t>𝟏</m:t>
                          </m:r>
                        </m:sub>
                      </m:sSub>
                      <m:r>
                        <m:rPr>
                          <m:sty m:val="bi"/>
                        </m:rPr>
                        <a:rPr lang="en-US" altLang="zh-CN" sz="2400" b="1" i="1" kern="100">
                          <a:effectLst/>
                          <a:latin typeface="Cambria Math" panose="02040503050406030204" pitchFamily="18" charset="0"/>
                          <a:ea typeface="黑体" panose="02010609060101010101" charset="-122"/>
                        </a:rPr>
                        <m:t>=</m:t>
                      </m:r>
                      <m:f>
                        <m:fPr>
                          <m:type m:val="bar"/>
                          <m:ctrlPr>
                            <a:rPr lang="zh-CN" altLang="zh-CN" sz="2400" b="1" i="1" kern="100">
                              <a:effectLst/>
                              <a:latin typeface="Cambria Math" panose="02040503050406030204" pitchFamily="18" charset="0"/>
                              <a:ea typeface="Cambria Math" panose="02040503050406030204" pitchFamily="18" charset="0"/>
                            </a:rPr>
                          </m:ctrlPr>
                        </m:fPr>
                        <m:num>
                          <m:r>
                            <m:rPr>
                              <m:sty m:val="bi"/>
                            </m:rPr>
                            <a:rPr lang="en-US" altLang="zh-CN" sz="2400" b="1" i="1" kern="100">
                              <a:effectLst/>
                              <a:latin typeface="Cambria Math" panose="02040503050406030204" pitchFamily="18" charset="0"/>
                              <a:ea typeface="黑体" panose="02010609060101010101" charset="-122"/>
                            </a:rPr>
                            <m:t>𝝁</m:t>
                          </m:r>
                          <m:r>
                            <m:rPr>
                              <m:sty m:val="bi"/>
                            </m:rPr>
                            <a:rPr lang="en-US" altLang="zh-CN" sz="2400" b="1" i="1" kern="100">
                              <a:effectLst/>
                              <a:latin typeface="Cambria Math" panose="02040503050406030204" pitchFamily="18" charset="0"/>
                              <a:ea typeface="黑体" panose="02010609060101010101" charset="-122"/>
                            </a:rPr>
                            <m:t>𝒎𝒈</m:t>
                          </m:r>
                        </m:num>
                        <m:den>
                          <m:r>
                            <m:rPr>
                              <m:sty m:val="bi"/>
                            </m:rPr>
                            <a:rPr lang="en-US" altLang="zh-CN" sz="2400" b="1" i="1" kern="100">
                              <a:effectLst/>
                              <a:latin typeface="Cambria Math" panose="02040503050406030204" pitchFamily="18" charset="0"/>
                              <a:ea typeface="黑体" panose="02010609060101010101" charset="-122"/>
                            </a:rPr>
                            <m:t>𝒎</m:t>
                          </m:r>
                        </m:den>
                      </m:f>
                      <m:r>
                        <m:rPr>
                          <m:sty m:val="bi"/>
                        </m:rPr>
                        <a:rPr lang="en-US" altLang="zh-CN" sz="2400" b="1" i="1" kern="100">
                          <a:effectLst/>
                          <a:latin typeface="Cambria Math" panose="02040503050406030204" pitchFamily="18" charset="0"/>
                          <a:ea typeface="黑体" panose="02010609060101010101" charset="-122"/>
                        </a:rPr>
                        <m:t>=</m:t>
                      </m:r>
                      <m:r>
                        <m:rPr>
                          <m:sty m:val="bi"/>
                        </m:rPr>
                        <a:rPr lang="en-US" altLang="zh-CN" sz="2400" b="1" i="1" kern="100">
                          <a:effectLst/>
                          <a:latin typeface="Cambria Math" panose="02040503050406030204" pitchFamily="18" charset="0"/>
                          <a:ea typeface="黑体" panose="02010609060101010101" charset="-122"/>
                        </a:rPr>
                        <m:t>𝝁</m:t>
                      </m:r>
                      <m:r>
                        <m:rPr>
                          <m:sty m:val="bi"/>
                        </m:rPr>
                        <a:rPr lang="en-US" altLang="zh-CN" sz="2400" b="1" i="1" kern="100">
                          <a:effectLst/>
                          <a:latin typeface="Cambria Math" panose="02040503050406030204" pitchFamily="18" charset="0"/>
                          <a:ea typeface="黑体" panose="02010609060101010101" charset="-122"/>
                        </a:rPr>
                        <m:t>𝒈</m:t>
                      </m:r>
                      <m:r>
                        <m:rPr>
                          <m:sty m:val="bi"/>
                        </m:rPr>
                        <a:rPr lang="en-US" altLang="zh-CN" sz="2400" b="1" i="1" kern="100">
                          <a:effectLst/>
                          <a:latin typeface="Cambria Math" panose="02040503050406030204" pitchFamily="18" charset="0"/>
                          <a:ea typeface="黑体" panose="02010609060101010101" charset="-122"/>
                        </a:rPr>
                        <m:t>=</m:t>
                      </m:r>
                      <m:r>
                        <m:rPr>
                          <m:sty m:val="bi"/>
                        </m:rPr>
                        <a:rPr lang="en-US" altLang="zh-CN" sz="2400" b="1" i="1" kern="100">
                          <a:effectLst/>
                          <a:latin typeface="Cambria Math" panose="02040503050406030204" pitchFamily="18" charset="0"/>
                          <a:ea typeface="黑体" panose="02010609060101010101" charset="-122"/>
                        </a:rPr>
                        <m:t>𝟒</m:t>
                      </m:r>
                      <m:sSup>
                        <m:sSupPr>
                          <m:ctrlPr>
                            <a:rPr lang="zh-CN" altLang="zh-CN" sz="2400" b="1" i="1" kern="100">
                              <a:effectLst/>
                              <a:latin typeface="Cambria Math" panose="02040503050406030204" pitchFamily="18" charset="0"/>
                              <a:ea typeface="Cambria Math" panose="02040503050406030204" pitchFamily="18" charset="0"/>
                            </a:rPr>
                          </m:ctrlPr>
                        </m:sSupPr>
                        <m:e>
                          <m:r>
                            <m:rPr>
                              <m:sty m:val="b"/>
                            </m:rPr>
                            <a:rPr lang="en-US" altLang="zh-CN" sz="2400" b="1" kern="100">
                              <a:effectLst/>
                              <a:latin typeface="Cambria Math" panose="02040503050406030204" pitchFamily="18" charset="0"/>
                              <a:ea typeface="黑体" panose="02010609060101010101" charset="-122"/>
                            </a:rPr>
                            <m:t>𝐦</m:t>
                          </m:r>
                          <m:r>
                            <m:rPr>
                              <m:sty m:val="b"/>
                            </m:rPr>
                            <a:rPr lang="en-US" altLang="zh-CN" sz="2400" b="1" kern="100">
                              <a:effectLst/>
                              <a:latin typeface="Cambria Math" panose="02040503050406030204" pitchFamily="18" charset="0"/>
                              <a:ea typeface="黑体" panose="02010609060101010101" charset="-122"/>
                            </a:rPr>
                            <m:t>/</m:t>
                          </m:r>
                          <m:r>
                            <m:rPr>
                              <m:sty m:val="b"/>
                            </m:rPr>
                            <a:rPr lang="en-US" altLang="zh-CN" sz="2400" b="1" kern="100">
                              <a:effectLst/>
                              <a:latin typeface="Cambria Math" panose="02040503050406030204" pitchFamily="18" charset="0"/>
                              <a:ea typeface="黑体" panose="02010609060101010101" charset="-122"/>
                            </a:rPr>
                            <m:t>𝐬</m:t>
                          </m:r>
                        </m:e>
                        <m:sup>
                          <m:r>
                            <m:rPr>
                              <m:sty m:val="bi"/>
                            </m:rPr>
                            <a:rPr lang="en-US" altLang="zh-CN" sz="2400" b="1" i="1" kern="100">
                              <a:effectLst/>
                              <a:latin typeface="Cambria Math" panose="02040503050406030204" pitchFamily="18" charset="0"/>
                              <a:ea typeface="黑体" panose="02010609060101010101" charset="-122"/>
                            </a:rPr>
                            <m:t>𝟐</m:t>
                          </m:r>
                        </m:sup>
                      </m:sSup>
                    </m:oMath>
                  </m:oMathPara>
                </a14:m>
                <a:r>
                  <a:rPr lang="zh-CN" altLang="zh-CN" sz="2400" b="1" kern="100">
                    <a:effectLst/>
                    <a:latin typeface="Times New Roman" panose="02020603050405020304" charset="0"/>
                    <a:ea typeface="黑体" panose="02010609060101010101" charset="-122"/>
                  </a:rPr>
                  <a:t>对小车由牛顿第二定律有</a:t>
                </a:r>
                <a14:m>
                  <m:oMathPara>
                    <m:oMathParaPr>
                      <m:jc/>
                    </m:oMathParaPr>
                    <m:oMath>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𝒂</m:t>
                          </m:r>
                        </m:e>
                        <m:sub>
                          <m:r>
                            <m:rPr>
                              <m:sty m:val="bi"/>
                            </m:rPr>
                            <a:rPr lang="en-US" altLang="zh-CN" sz="2400" b="1" i="1" kern="100">
                              <a:effectLst/>
                              <a:latin typeface="Cambria Math" panose="02040503050406030204" pitchFamily="18" charset="0"/>
                              <a:ea typeface="黑体" panose="02010609060101010101" charset="-122"/>
                            </a:rPr>
                            <m:t>𝟐</m:t>
                          </m:r>
                        </m:sub>
                      </m:sSub>
                      <m:r>
                        <m:rPr>
                          <m:sty m:val="bi"/>
                        </m:rPr>
                        <a:rPr lang="en-US" altLang="zh-CN" sz="2400" b="1" i="1" kern="100">
                          <a:effectLst/>
                          <a:latin typeface="Cambria Math" panose="02040503050406030204" pitchFamily="18" charset="0"/>
                          <a:ea typeface="黑体" panose="02010609060101010101" charset="-122"/>
                        </a:rPr>
                        <m:t>=</m:t>
                      </m:r>
                      <m:f>
                        <m:fPr>
                          <m:type m:val="bar"/>
                          <m:ctrlPr>
                            <a:rPr lang="zh-CN" altLang="zh-CN" sz="2400" b="1" i="1" kern="100">
                              <a:effectLst/>
                              <a:latin typeface="Cambria Math" panose="02040503050406030204" pitchFamily="18" charset="0"/>
                              <a:ea typeface="Cambria Math" panose="02040503050406030204" pitchFamily="18" charset="0"/>
                            </a:rPr>
                          </m:ctrlPr>
                        </m:fPr>
                        <m:num>
                          <m:r>
                            <m:rPr>
                              <m:sty m:val="bi"/>
                            </m:rPr>
                            <a:rPr lang="en-US" altLang="zh-CN" sz="2400" b="1" i="1" kern="100">
                              <a:effectLst/>
                              <a:latin typeface="Cambria Math" panose="02040503050406030204" pitchFamily="18" charset="0"/>
                              <a:ea typeface="黑体" panose="02010609060101010101" charset="-122"/>
                            </a:rPr>
                            <m:t>𝝁</m:t>
                          </m:r>
                          <m:r>
                            <m:rPr>
                              <m:sty m:val="bi"/>
                            </m:rPr>
                            <a:rPr lang="en-US" altLang="zh-CN" sz="2400" b="1" i="1" kern="100">
                              <a:effectLst/>
                              <a:latin typeface="Cambria Math" panose="02040503050406030204" pitchFamily="18" charset="0"/>
                              <a:ea typeface="黑体" panose="02010609060101010101" charset="-122"/>
                            </a:rPr>
                            <m:t>𝒎𝒈</m:t>
                          </m:r>
                        </m:num>
                        <m:den>
                          <m:r>
                            <m:rPr>
                              <m:sty m:val="bi"/>
                            </m:rPr>
                            <a:rPr lang="en-US" altLang="zh-CN" sz="2400" b="1" i="1" kern="100">
                              <a:effectLst/>
                              <a:latin typeface="Cambria Math" panose="02040503050406030204" pitchFamily="18" charset="0"/>
                              <a:ea typeface="黑体" panose="02010609060101010101" charset="-122"/>
                            </a:rPr>
                            <m:t>𝑴</m:t>
                          </m:r>
                        </m:den>
                      </m:f>
                      <m:r>
                        <m:rPr>
                          <m:sty m:val="bi"/>
                        </m:rPr>
                        <a:rPr lang="en-US" altLang="zh-CN" sz="2400" b="1" i="1" kern="100">
                          <a:effectLst/>
                          <a:latin typeface="Cambria Math" panose="02040503050406030204" pitchFamily="18" charset="0"/>
                          <a:ea typeface="黑体" panose="02010609060101010101" charset="-122"/>
                        </a:rPr>
                        <m:t>=</m:t>
                      </m:r>
                      <m:r>
                        <m:rPr>
                          <m:sty m:val="bi"/>
                        </m:rPr>
                        <a:rPr lang="en-US" altLang="zh-CN" sz="2400" b="1" i="1" kern="100">
                          <a:effectLst/>
                          <a:latin typeface="Cambria Math" panose="02040503050406030204" pitchFamily="18" charset="0"/>
                          <a:ea typeface="黑体" panose="02010609060101010101" charset="-122"/>
                        </a:rPr>
                        <m:t>𝟐</m:t>
                      </m:r>
                      <m:sSup>
                        <m:sSupPr>
                          <m:ctrlPr>
                            <a:rPr lang="zh-CN" altLang="zh-CN" sz="2400" b="1" i="1" kern="100">
                              <a:effectLst/>
                              <a:latin typeface="Cambria Math" panose="02040503050406030204" pitchFamily="18" charset="0"/>
                              <a:ea typeface="Cambria Math" panose="02040503050406030204" pitchFamily="18" charset="0"/>
                            </a:rPr>
                          </m:ctrlPr>
                        </m:sSupPr>
                        <m:e>
                          <m:r>
                            <m:rPr>
                              <m:sty m:val="b"/>
                            </m:rPr>
                            <a:rPr lang="en-US" altLang="zh-CN" sz="2400" b="1" kern="100">
                              <a:effectLst/>
                              <a:latin typeface="Cambria Math" panose="02040503050406030204" pitchFamily="18" charset="0"/>
                              <a:ea typeface="黑体" panose="02010609060101010101" charset="-122"/>
                            </a:rPr>
                            <m:t>𝐦</m:t>
                          </m:r>
                          <m:r>
                            <m:rPr>
                              <m:sty m:val="b"/>
                            </m:rPr>
                            <a:rPr lang="en-US" altLang="zh-CN" sz="2400" b="1" kern="100">
                              <a:effectLst/>
                              <a:latin typeface="Cambria Math" panose="02040503050406030204" pitchFamily="18" charset="0"/>
                              <a:ea typeface="黑体" panose="02010609060101010101" charset="-122"/>
                            </a:rPr>
                            <m:t>/</m:t>
                          </m:r>
                          <m:r>
                            <m:rPr>
                              <m:sty m:val="b"/>
                            </m:rPr>
                            <a:rPr lang="en-US" altLang="zh-CN" sz="2400" b="1" kern="100">
                              <a:effectLst/>
                              <a:latin typeface="Cambria Math" panose="02040503050406030204" pitchFamily="18" charset="0"/>
                              <a:ea typeface="黑体" panose="02010609060101010101" charset="-122"/>
                            </a:rPr>
                            <m:t>𝐬</m:t>
                          </m:r>
                        </m:e>
                        <m:sup>
                          <m:r>
                            <m:rPr>
                              <m:sty m:val="bi"/>
                            </m:rPr>
                            <a:rPr lang="en-US" altLang="zh-CN" sz="2400" b="1" i="1" kern="100">
                              <a:effectLst/>
                              <a:latin typeface="Cambria Math" panose="02040503050406030204" pitchFamily="18" charset="0"/>
                              <a:ea typeface="黑体" panose="02010609060101010101" charset="-122"/>
                            </a:rPr>
                            <m:t>𝟐</m:t>
                          </m:r>
                        </m:sup>
                      </m:sSup>
                    </m:oMath>
                  </m:oMathPara>
                </a14:m>
                <a:r>
                  <a:rPr lang="zh-CN" altLang="zh-CN" sz="2400" b="1" kern="100">
                    <a:effectLst/>
                    <a:latin typeface="Times New Roman" panose="02020603050405020304" charset="0"/>
                    <a:ea typeface="黑体" panose="02010609060101010101" charset="-122"/>
                  </a:rPr>
                  <a:t>设经时间</a:t>
                </a:r>
                <a:r>
                  <a:rPr lang="en-US" altLang="zh-CN" sz="2400" b="1" i="1" kern="100">
                    <a:effectLst/>
                    <a:latin typeface="Times New Roman" panose="02020603050405020304" charset="0"/>
                    <a:ea typeface="黑体" panose="02010609060101010101" charset="-122"/>
                  </a:rPr>
                  <a:t>t</a:t>
                </a:r>
                <a:r>
                  <a:rPr lang="zh-CN" altLang="zh-CN" sz="2400" b="1" kern="100">
                    <a:effectLst/>
                    <a:latin typeface="Times New Roman" panose="02020603050405020304" charset="0"/>
                    <a:ea typeface="黑体" panose="02010609060101010101" charset="-122"/>
                  </a:rPr>
                  <a:t>两者共速，有</a:t>
                </a:r>
                <a14:m>
                  <m:oMathPara>
                    <m:oMathParaPr>
                      <m:jc/>
                    </m:oMathParaPr>
                    <m:oMath>
                      <m:r>
                        <m:rPr>
                          <m:sty m:val="bi"/>
                        </m:rPr>
                        <a:rPr lang="en-US" altLang="zh-CN" sz="2400" b="1" i="1" kern="100">
                          <a:effectLst/>
                          <a:latin typeface="Cambria Math" panose="02040503050406030204" pitchFamily="18" charset="0"/>
                          <a:ea typeface="黑体" panose="02010609060101010101" charset="-122"/>
                        </a:rPr>
                        <m:t>𝒗</m:t>
                      </m:r>
                      <m:r>
                        <m:rPr>
                          <m:sty m:val="bi"/>
                        </m:rPr>
                        <a:rPr lang="en-US" altLang="zh-CN" sz="2400" b="1" i="1" kern="100">
                          <a:effectLst/>
                          <a:latin typeface="Cambria Math" panose="02040503050406030204" pitchFamily="18" charset="0"/>
                          <a:ea typeface="黑体" panose="02010609060101010101" charset="-122"/>
                        </a:rPr>
                        <m:t>=</m:t>
                      </m:r>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𝒗</m:t>
                          </m:r>
                        </m:e>
                        <m:sub>
                          <m:r>
                            <m:rPr>
                              <m:sty m:val="bi"/>
                            </m:rPr>
                            <a:rPr lang="en-US" altLang="zh-CN" sz="2400" b="1" i="1" kern="100">
                              <a:effectLst/>
                              <a:latin typeface="Cambria Math" panose="02040503050406030204" pitchFamily="18" charset="0"/>
                              <a:ea typeface="黑体" panose="02010609060101010101" charset="-122"/>
                            </a:rPr>
                            <m:t>𝟎</m:t>
                          </m:r>
                        </m:sub>
                      </m:sSub>
                      <m:r>
                        <m:rPr>
                          <m:sty m:val="bi"/>
                        </m:rPr>
                        <a:rPr lang="en-US" altLang="zh-CN" sz="2400" b="1" i="1" kern="100">
                          <a:effectLst/>
                          <a:latin typeface="Cambria Math" panose="02040503050406030204" pitchFamily="18" charset="0"/>
                          <a:ea typeface="黑体" panose="02010609060101010101" charset="-122"/>
                        </a:rPr>
                        <m:t>−</m:t>
                      </m:r>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𝒂</m:t>
                          </m:r>
                        </m:e>
                        <m:sub>
                          <m:r>
                            <m:rPr>
                              <m:sty m:val="bi"/>
                            </m:rPr>
                            <a:rPr lang="en-US" altLang="zh-CN" sz="2400" b="1" i="1" kern="100">
                              <a:effectLst/>
                              <a:latin typeface="Cambria Math" panose="02040503050406030204" pitchFamily="18" charset="0"/>
                              <a:ea typeface="黑体" panose="02010609060101010101" charset="-122"/>
                            </a:rPr>
                            <m:t>𝟏</m:t>
                          </m:r>
                        </m:sub>
                      </m:sSub>
                      <m:r>
                        <m:rPr>
                          <m:sty m:val="bi"/>
                        </m:rPr>
                        <a:rPr lang="en-US" altLang="zh-CN" sz="2400" b="1" i="1" kern="100">
                          <a:effectLst/>
                          <a:latin typeface="Cambria Math" panose="02040503050406030204" pitchFamily="18" charset="0"/>
                          <a:ea typeface="黑体" panose="02010609060101010101" charset="-122"/>
                        </a:rPr>
                        <m:t>𝒕</m:t>
                      </m:r>
                      <m:r>
                        <m:rPr>
                          <m:sty m:val="bi"/>
                        </m:rPr>
                        <a:rPr lang="en-US" altLang="zh-CN" sz="2400" b="1" i="1" kern="100">
                          <a:effectLst/>
                          <a:latin typeface="Cambria Math" panose="02040503050406030204" pitchFamily="18" charset="0"/>
                          <a:ea typeface="黑体" panose="02010609060101010101" charset="-122"/>
                        </a:rPr>
                        <m:t>=</m:t>
                      </m:r>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𝒂</m:t>
                          </m:r>
                        </m:e>
                        <m:sub>
                          <m:r>
                            <m:rPr>
                              <m:sty m:val="bi"/>
                            </m:rPr>
                            <a:rPr lang="en-US" altLang="zh-CN" sz="2400" b="1" i="1" kern="100">
                              <a:effectLst/>
                              <a:latin typeface="Cambria Math" panose="02040503050406030204" pitchFamily="18" charset="0"/>
                              <a:ea typeface="黑体" panose="02010609060101010101" charset="-122"/>
                            </a:rPr>
                            <m:t>𝟐</m:t>
                          </m:r>
                        </m:sub>
                      </m:sSub>
                      <m:r>
                        <m:rPr>
                          <m:sty m:val="bi"/>
                        </m:rPr>
                        <a:rPr lang="en-US" altLang="zh-CN" sz="2400" b="1" i="1" kern="100">
                          <a:effectLst/>
                          <a:latin typeface="Cambria Math" panose="02040503050406030204" pitchFamily="18" charset="0"/>
                          <a:ea typeface="黑体" panose="02010609060101010101" charset="-122"/>
                        </a:rPr>
                        <m:t>𝒕</m:t>
                      </m:r>
                    </m:oMath>
                  </m:oMathPara>
                </a14:m>
                <a:r>
                  <a:rPr lang="zh-CN" altLang="zh-CN" sz="2400" b="1" kern="100">
                    <a:effectLst/>
                    <a:latin typeface="Times New Roman" panose="02020603050405020304" charset="0"/>
                    <a:ea typeface="黑体" panose="02010609060101010101" charset="-122"/>
                  </a:rPr>
                  <a:t>解得</a:t>
                </a:r>
                <a14:m>
                  <m:oMathPara>
                    <m:oMathParaPr>
                      <m:jc/>
                    </m:oMathParaPr>
                    <m:oMath>
                      <m:r>
                        <m:rPr>
                          <m:sty m:val="bi"/>
                        </m:rPr>
                        <a:rPr lang="en-US" altLang="zh-CN" sz="2400" b="1" i="1" kern="100">
                          <a:effectLst/>
                          <a:latin typeface="Cambria Math" panose="02040503050406030204" pitchFamily="18" charset="0"/>
                          <a:ea typeface="黑体" panose="02010609060101010101" charset="-122"/>
                        </a:rPr>
                        <m:t>𝒕</m:t>
                      </m:r>
                      <m:r>
                        <m:rPr>
                          <m:sty m:val="bi"/>
                        </m:rPr>
                        <a:rPr lang="en-US" altLang="zh-CN" sz="2400" b="1" i="1" kern="100">
                          <a:effectLst/>
                          <a:latin typeface="Cambria Math" panose="02040503050406030204" pitchFamily="18" charset="0"/>
                          <a:ea typeface="黑体" panose="02010609060101010101" charset="-122"/>
                        </a:rPr>
                        <m:t>=</m:t>
                      </m:r>
                      <m:f>
                        <m:fPr>
                          <m:type m:val="bar"/>
                          <m:ctrlPr>
                            <a:rPr lang="zh-CN" altLang="zh-CN" sz="2400" b="1" i="1" kern="100">
                              <a:effectLst/>
                              <a:latin typeface="Cambria Math" panose="02040503050406030204" pitchFamily="18" charset="0"/>
                              <a:ea typeface="Cambria Math" panose="02040503050406030204" pitchFamily="18" charset="0"/>
                            </a:rPr>
                          </m:ctrlPr>
                        </m:fPr>
                        <m:num>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𝒗</m:t>
                              </m:r>
                            </m:e>
                            <m:sub>
                              <m:r>
                                <m:rPr>
                                  <m:sty m:val="bi"/>
                                </m:rPr>
                                <a:rPr lang="en-US" altLang="zh-CN" sz="2400" b="1" i="1" kern="100">
                                  <a:effectLst/>
                                  <a:latin typeface="Cambria Math" panose="02040503050406030204" pitchFamily="18" charset="0"/>
                                  <a:ea typeface="黑体" panose="02010609060101010101" charset="-122"/>
                                </a:rPr>
                                <m:t>𝟎</m:t>
                              </m:r>
                            </m:sub>
                          </m:sSub>
                        </m:num>
                        <m:den>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𝒂</m:t>
                              </m:r>
                            </m:e>
                            <m:sub>
                              <m:r>
                                <m:rPr>
                                  <m:sty m:val="bi"/>
                                </m:rPr>
                                <a:rPr lang="en-US" altLang="zh-CN" sz="2400" b="1" i="1" kern="100">
                                  <a:effectLst/>
                                  <a:latin typeface="Cambria Math" panose="02040503050406030204" pitchFamily="18" charset="0"/>
                                  <a:ea typeface="黑体" panose="02010609060101010101" charset="-122"/>
                                </a:rPr>
                                <m:t>𝟏</m:t>
                              </m:r>
                            </m:sub>
                          </m:sSub>
                          <m:r>
                            <m:rPr>
                              <m:sty m:val="bi"/>
                            </m:rPr>
                            <a:rPr lang="en-US" altLang="zh-CN" sz="2400" b="1" i="1" kern="100">
                              <a:effectLst/>
                              <a:latin typeface="Cambria Math" panose="02040503050406030204" pitchFamily="18" charset="0"/>
                              <a:ea typeface="黑体" panose="02010609060101010101" charset="-122"/>
                            </a:rPr>
                            <m:t>+</m:t>
                          </m:r>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𝒂</m:t>
                              </m:r>
                            </m:e>
                            <m:sub>
                              <m:r>
                                <m:rPr>
                                  <m:sty m:val="bi"/>
                                </m:rPr>
                                <a:rPr lang="en-US" altLang="zh-CN" sz="2400" b="1" i="1" kern="100">
                                  <a:effectLst/>
                                  <a:latin typeface="Cambria Math" panose="02040503050406030204" pitchFamily="18" charset="0"/>
                                  <a:ea typeface="黑体" panose="02010609060101010101" charset="-122"/>
                                </a:rPr>
                                <m:t>𝟐</m:t>
                              </m:r>
                            </m:sub>
                          </m:sSub>
                        </m:den>
                      </m:f>
                      <m:r>
                        <m:rPr>
                          <m:sty m:val="bi"/>
                        </m:rPr>
                        <a:rPr lang="en-US" altLang="zh-CN" sz="2400" b="1" i="1" kern="100">
                          <a:effectLst/>
                          <a:latin typeface="Cambria Math" panose="02040503050406030204" pitchFamily="18" charset="0"/>
                          <a:ea typeface="黑体" panose="02010609060101010101" charset="-122"/>
                        </a:rPr>
                        <m:t>=</m:t>
                      </m:r>
                      <m:r>
                        <m:rPr>
                          <m:sty m:val="bi"/>
                        </m:rPr>
                        <a:rPr lang="en-US" altLang="zh-CN" sz="2400" b="1" i="1" kern="100">
                          <a:effectLst/>
                          <a:latin typeface="Cambria Math" panose="02040503050406030204" pitchFamily="18" charset="0"/>
                          <a:ea typeface="黑体" panose="02010609060101010101" charset="-122"/>
                        </a:rPr>
                        <m:t>𝟎</m:t>
                      </m:r>
                      <m:r>
                        <m:rPr>
                          <m:sty m:val="bi"/>
                        </m:rPr>
                        <a:rPr lang="en-US" altLang="zh-CN" sz="2400" b="1" i="1" kern="100">
                          <a:effectLst/>
                          <a:latin typeface="Cambria Math" panose="02040503050406030204" pitchFamily="18" charset="0"/>
                          <a:ea typeface="黑体" panose="02010609060101010101" charset="-122"/>
                        </a:rPr>
                        <m:t>.</m:t>
                      </m:r>
                      <m:r>
                        <m:rPr>
                          <m:sty m:val="bi"/>
                        </m:rPr>
                        <a:rPr lang="en-US" altLang="zh-CN" sz="2400" b="1" i="1" kern="100">
                          <a:effectLst/>
                          <a:latin typeface="Cambria Math" panose="02040503050406030204" pitchFamily="18" charset="0"/>
                          <a:ea typeface="黑体" panose="02010609060101010101" charset="-122"/>
                        </a:rPr>
                        <m:t>𝟓</m:t>
                      </m:r>
                      <m:r>
                        <m:rPr>
                          <m:sty m:val="b"/>
                        </m:rPr>
                        <a:rPr lang="en-US" altLang="zh-CN" sz="2400" b="1" kern="100">
                          <a:effectLst/>
                          <a:latin typeface="Cambria Math" panose="02040503050406030204" pitchFamily="18" charset="0"/>
                          <a:ea typeface="黑体" panose="02010609060101010101" charset="-122"/>
                        </a:rPr>
                        <m:t>𝐬</m:t>
                      </m:r>
                    </m:oMath>
                  </m:oMathPara>
                </a14:m>
                <a:r>
                  <a:rPr lang="zh-CN" altLang="zh-CN" sz="2400" b="1" kern="100">
                    <a:effectLst/>
                    <a:latin typeface="Times New Roman" panose="02020603050405020304" charset="0"/>
                    <a:ea typeface="黑体" panose="02010609060101010101" charset="-122"/>
                  </a:rPr>
                  <a:t>，</a:t>
                </a:r>
                <a14:m>
                  <m:oMathPara>
                    <m:oMathParaPr>
                      <m:jc/>
                    </m:oMathParaPr>
                    <m:oMath>
                      <m:r>
                        <m:rPr>
                          <m:sty m:val="bi"/>
                        </m:rPr>
                        <a:rPr lang="en-US" altLang="zh-CN" sz="2400" b="1" i="1" kern="100">
                          <a:effectLst/>
                          <a:latin typeface="Cambria Math" panose="02040503050406030204" pitchFamily="18" charset="0"/>
                          <a:ea typeface="黑体" panose="02010609060101010101" charset="-122"/>
                        </a:rPr>
                        <m:t>𝒗</m:t>
                      </m:r>
                      <m:r>
                        <m:rPr>
                          <m:sty m:val="bi"/>
                        </m:rPr>
                        <a:rPr lang="en-US" altLang="zh-CN" sz="2400" b="1" i="1" kern="100">
                          <a:effectLst/>
                          <a:latin typeface="Cambria Math" panose="02040503050406030204" pitchFamily="18" charset="0"/>
                          <a:ea typeface="黑体" panose="02010609060101010101" charset="-122"/>
                        </a:rPr>
                        <m:t>=</m:t>
                      </m:r>
                      <m:r>
                        <m:rPr>
                          <m:sty m:val="bi"/>
                        </m:rPr>
                        <a:rPr lang="en-US" altLang="zh-CN" sz="2400" b="1" i="1" kern="100">
                          <a:effectLst/>
                          <a:latin typeface="Cambria Math" panose="02040503050406030204" pitchFamily="18" charset="0"/>
                          <a:ea typeface="黑体" panose="02010609060101010101" charset="-122"/>
                        </a:rPr>
                        <m:t>𝟏</m:t>
                      </m:r>
                      <m:r>
                        <m:rPr>
                          <m:sty m:val="b"/>
                        </m:rPr>
                        <a:rPr lang="en-US" altLang="zh-CN" sz="2400" b="1" kern="100">
                          <a:effectLst/>
                          <a:latin typeface="Cambria Math" panose="02040503050406030204" pitchFamily="18" charset="0"/>
                          <a:ea typeface="黑体" panose="02010609060101010101" charset="-122"/>
                        </a:rPr>
                        <m:t>𝐦</m:t>
                      </m:r>
                      <m:r>
                        <m:rPr>
                          <m:sty m:val="b"/>
                        </m:rPr>
                        <a:rPr lang="en-US" altLang="zh-CN" sz="2400" b="1" kern="100">
                          <a:effectLst/>
                          <a:latin typeface="Cambria Math" panose="02040503050406030204" pitchFamily="18" charset="0"/>
                          <a:ea typeface="黑体" panose="02010609060101010101" charset="-122"/>
                        </a:rPr>
                        <m:t>/</m:t>
                      </m:r>
                      <m:r>
                        <m:rPr>
                          <m:sty m:val="b"/>
                        </m:rPr>
                        <a:rPr lang="en-US" altLang="zh-CN" sz="2400" b="1" kern="100">
                          <a:effectLst/>
                          <a:latin typeface="Cambria Math" panose="02040503050406030204" pitchFamily="18" charset="0"/>
                          <a:ea typeface="黑体" panose="02010609060101010101" charset="-122"/>
                        </a:rPr>
                        <m:t>𝐬</m:t>
                      </m:r>
                    </m:oMath>
                  </m:oMathPara>
                </a14:m>
                <a:r>
                  <a:rPr lang="zh-CN" altLang="zh-CN" sz="2400" b="1" kern="100">
                    <a:effectLst/>
                    <a:latin typeface="Times New Roman" panose="02020603050405020304" charset="0"/>
                    <a:ea typeface="黑体" panose="02010609060101010101" charset="-122"/>
                  </a:rPr>
                  <a:t>对小滑块有</a:t>
                </a:r>
                <a14:m>
                  <m:oMathPara>
                    <m:oMathParaPr>
                      <m:jc/>
                    </m:oMathParaPr>
                    <m:oMath>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𝒙</m:t>
                          </m:r>
                        </m:e>
                        <m:sub>
                          <m:r>
                            <m:rPr>
                              <m:sty m:val="bi"/>
                            </m:rPr>
                            <a:rPr lang="en-US" altLang="zh-CN" sz="2400" b="1" i="1" kern="100">
                              <a:effectLst/>
                              <a:latin typeface="Cambria Math" panose="02040503050406030204" pitchFamily="18" charset="0"/>
                              <a:ea typeface="黑体" panose="02010609060101010101" charset="-122"/>
                            </a:rPr>
                            <m:t>𝟏</m:t>
                          </m:r>
                        </m:sub>
                      </m:sSub>
                      <m:r>
                        <m:rPr>
                          <m:sty m:val="bi"/>
                        </m:rPr>
                        <a:rPr lang="en-US" altLang="zh-CN" sz="2400" b="1" i="1" kern="100">
                          <a:effectLst/>
                          <a:latin typeface="Cambria Math" panose="02040503050406030204" pitchFamily="18" charset="0"/>
                          <a:ea typeface="黑体" panose="02010609060101010101" charset="-122"/>
                        </a:rPr>
                        <m:t>=</m:t>
                      </m:r>
                      <m:f>
                        <m:fPr>
                          <m:type m:val="bar"/>
                          <m:ctrlPr>
                            <a:rPr lang="zh-CN" altLang="zh-CN" sz="2400" b="1" i="1" kern="100">
                              <a:effectLst/>
                              <a:latin typeface="Cambria Math" panose="02040503050406030204" pitchFamily="18" charset="0"/>
                              <a:ea typeface="Cambria Math" panose="02040503050406030204" pitchFamily="18" charset="0"/>
                            </a:rPr>
                          </m:ctrlPr>
                        </m:fPr>
                        <m:num>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𝒗</m:t>
                              </m:r>
                            </m:e>
                            <m:sub>
                              <m:r>
                                <m:rPr>
                                  <m:sty m:val="bi"/>
                                </m:rPr>
                                <a:rPr lang="en-US" altLang="zh-CN" sz="2400" b="1" i="1" kern="100">
                                  <a:effectLst/>
                                  <a:latin typeface="Cambria Math" panose="02040503050406030204" pitchFamily="18" charset="0"/>
                                  <a:ea typeface="黑体" panose="02010609060101010101" charset="-122"/>
                                </a:rPr>
                                <m:t>𝟎</m:t>
                              </m:r>
                            </m:sub>
                          </m:sSub>
                          <m:r>
                            <m:rPr>
                              <m:sty m:val="bi"/>
                            </m:rPr>
                            <a:rPr lang="en-US" altLang="zh-CN" sz="2400" b="1" i="1" kern="100">
                              <a:effectLst/>
                              <a:latin typeface="Cambria Math" panose="02040503050406030204" pitchFamily="18" charset="0"/>
                              <a:ea typeface="黑体" panose="02010609060101010101" charset="-122"/>
                            </a:rPr>
                            <m:t>+</m:t>
                          </m:r>
                          <m:r>
                            <m:rPr>
                              <m:sty m:val="bi"/>
                            </m:rPr>
                            <a:rPr lang="en-US" altLang="zh-CN" sz="2400" b="1" i="1" kern="100">
                              <a:effectLst/>
                              <a:latin typeface="Cambria Math" panose="02040503050406030204" pitchFamily="18" charset="0"/>
                              <a:ea typeface="黑体" panose="02010609060101010101" charset="-122"/>
                            </a:rPr>
                            <m:t>𝒗</m:t>
                          </m:r>
                        </m:num>
                        <m:den>
                          <m:r>
                            <m:rPr>
                              <m:sty m:val="bi"/>
                            </m:rPr>
                            <a:rPr lang="en-US" altLang="zh-CN" sz="2400" b="1" i="1" kern="100">
                              <a:effectLst/>
                              <a:latin typeface="Cambria Math" panose="02040503050406030204" pitchFamily="18" charset="0"/>
                              <a:ea typeface="黑体" panose="02010609060101010101" charset="-122"/>
                            </a:rPr>
                            <m:t>𝟐</m:t>
                          </m:r>
                        </m:den>
                      </m:f>
                      <m:r>
                        <m:rPr>
                          <m:sty m:val="bi"/>
                        </m:rPr>
                        <a:rPr lang="en-US" altLang="zh-CN" sz="2400" b="1" i="1" kern="100">
                          <a:effectLst/>
                          <a:latin typeface="Cambria Math" panose="02040503050406030204" pitchFamily="18" charset="0"/>
                          <a:ea typeface="黑体" panose="02010609060101010101" charset="-122"/>
                        </a:rPr>
                        <m:t>𝒕</m:t>
                      </m:r>
                      <m:r>
                        <m:rPr>
                          <m:sty m:val="bi"/>
                        </m:rPr>
                        <a:rPr lang="en-US" altLang="zh-CN" sz="2400" b="1" i="1" kern="100">
                          <a:effectLst/>
                          <a:latin typeface="Cambria Math" panose="02040503050406030204" pitchFamily="18" charset="0"/>
                          <a:ea typeface="黑体" panose="02010609060101010101" charset="-122"/>
                        </a:rPr>
                        <m:t>=</m:t>
                      </m:r>
                      <m:r>
                        <m:rPr>
                          <m:sty m:val="bi"/>
                        </m:rPr>
                        <a:rPr lang="en-US" altLang="zh-CN" sz="2400" b="1" i="1" kern="100">
                          <a:effectLst/>
                          <a:latin typeface="Cambria Math" panose="02040503050406030204" pitchFamily="18" charset="0"/>
                          <a:ea typeface="黑体" panose="02010609060101010101" charset="-122"/>
                        </a:rPr>
                        <m:t>𝟏</m:t>
                      </m:r>
                      <m:r>
                        <m:rPr>
                          <m:sty m:val="b"/>
                        </m:rPr>
                        <a:rPr lang="en-US" altLang="zh-CN" sz="2400" b="1" kern="100">
                          <a:effectLst/>
                          <a:latin typeface="Cambria Math" panose="02040503050406030204" pitchFamily="18" charset="0"/>
                          <a:ea typeface="黑体" panose="02010609060101010101" charset="-122"/>
                        </a:rPr>
                        <m:t>𝐦</m:t>
                      </m:r>
                    </m:oMath>
                  </m:oMathPara>
                </a14:m>
                <a:r>
                  <a:rPr lang="zh-CN" altLang="zh-CN" sz="2400" b="1" kern="100">
                    <a:effectLst/>
                    <a:latin typeface="Times New Roman" panose="02020603050405020304" charset="0"/>
                    <a:ea typeface="黑体" panose="02010609060101010101" charset="-122"/>
                  </a:rPr>
                  <a:t>对车</a:t>
                </a:r>
                <a14:m>
                  <m:oMathPara>
                    <m:oMathParaPr>
                      <m:jc/>
                    </m:oMathParaPr>
                    <m:oMath>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𝒙</m:t>
                          </m:r>
                        </m:e>
                        <m:sub>
                          <m:r>
                            <m:rPr>
                              <m:sty m:val="bi"/>
                            </m:rPr>
                            <a:rPr lang="en-US" altLang="zh-CN" sz="2400" b="1" i="1" kern="100">
                              <a:effectLst/>
                              <a:latin typeface="Cambria Math" panose="02040503050406030204" pitchFamily="18" charset="0"/>
                              <a:ea typeface="黑体" panose="02010609060101010101" charset="-122"/>
                            </a:rPr>
                            <m:t>𝟐</m:t>
                          </m:r>
                        </m:sub>
                      </m:sSub>
                      <m:r>
                        <m:rPr>
                          <m:sty m:val="bi"/>
                        </m:rPr>
                        <a:rPr lang="en-US" altLang="zh-CN" sz="2400" b="1" i="1" kern="100">
                          <a:effectLst/>
                          <a:latin typeface="Cambria Math" panose="02040503050406030204" pitchFamily="18" charset="0"/>
                          <a:ea typeface="黑体" panose="02010609060101010101" charset="-122"/>
                        </a:rPr>
                        <m:t>=</m:t>
                      </m:r>
                      <m:f>
                        <m:fPr>
                          <m:type m:val="bar"/>
                          <m:ctrlPr>
                            <a:rPr lang="zh-CN" altLang="zh-CN" sz="2400" b="1" i="1" kern="100">
                              <a:effectLst/>
                              <a:latin typeface="Cambria Math" panose="02040503050406030204" pitchFamily="18" charset="0"/>
                              <a:ea typeface="Cambria Math" panose="02040503050406030204" pitchFamily="18" charset="0"/>
                            </a:rPr>
                          </m:ctrlPr>
                        </m:fPr>
                        <m:num>
                          <m:r>
                            <m:rPr>
                              <m:sty m:val="bi"/>
                            </m:rPr>
                            <a:rPr lang="en-US" altLang="zh-CN" sz="2400" b="1" i="1" kern="100">
                              <a:effectLst/>
                              <a:latin typeface="Cambria Math" panose="02040503050406030204" pitchFamily="18" charset="0"/>
                              <a:ea typeface="黑体" panose="02010609060101010101" charset="-122"/>
                            </a:rPr>
                            <m:t>𝒗</m:t>
                          </m:r>
                        </m:num>
                        <m:den>
                          <m:r>
                            <m:rPr>
                              <m:sty m:val="bi"/>
                            </m:rPr>
                            <a:rPr lang="en-US" altLang="zh-CN" sz="2400" b="1" i="1" kern="100">
                              <a:effectLst/>
                              <a:latin typeface="Cambria Math" panose="02040503050406030204" pitchFamily="18" charset="0"/>
                              <a:ea typeface="黑体" panose="02010609060101010101" charset="-122"/>
                            </a:rPr>
                            <m:t>𝟐</m:t>
                          </m:r>
                        </m:den>
                      </m:f>
                      <m:r>
                        <m:rPr>
                          <m:sty m:val="bi"/>
                        </m:rPr>
                        <a:rPr lang="en-US" altLang="zh-CN" sz="2400" b="1" i="1" kern="100">
                          <a:effectLst/>
                          <a:latin typeface="Cambria Math" panose="02040503050406030204" pitchFamily="18" charset="0"/>
                          <a:ea typeface="黑体" panose="02010609060101010101" charset="-122"/>
                        </a:rPr>
                        <m:t>𝒕</m:t>
                      </m:r>
                      <m:r>
                        <m:rPr>
                          <m:sty m:val="bi"/>
                        </m:rPr>
                        <a:rPr lang="en-US" altLang="zh-CN" sz="2400" b="1" i="1" kern="100">
                          <a:effectLst/>
                          <a:latin typeface="Cambria Math" panose="02040503050406030204" pitchFamily="18" charset="0"/>
                          <a:ea typeface="黑体" panose="02010609060101010101" charset="-122"/>
                        </a:rPr>
                        <m:t>=</m:t>
                      </m:r>
                      <m:r>
                        <m:rPr>
                          <m:sty m:val="bi"/>
                        </m:rPr>
                        <a:rPr lang="en-US" altLang="zh-CN" sz="2400" b="1" i="1" kern="100">
                          <a:effectLst/>
                          <a:latin typeface="Cambria Math" panose="02040503050406030204" pitchFamily="18" charset="0"/>
                          <a:ea typeface="黑体" panose="02010609060101010101" charset="-122"/>
                        </a:rPr>
                        <m:t>𝟎</m:t>
                      </m:r>
                      <m:r>
                        <m:rPr>
                          <m:sty m:val="bi"/>
                        </m:rPr>
                        <a:rPr lang="en-US" altLang="zh-CN" sz="2400" b="1" i="1" kern="100">
                          <a:effectLst/>
                          <a:latin typeface="Cambria Math" panose="02040503050406030204" pitchFamily="18" charset="0"/>
                          <a:ea typeface="黑体" panose="02010609060101010101" charset="-122"/>
                        </a:rPr>
                        <m:t>.</m:t>
                      </m:r>
                      <m:r>
                        <m:rPr>
                          <m:sty m:val="bi"/>
                        </m:rPr>
                        <a:rPr lang="en-US" altLang="zh-CN" sz="2400" b="1" i="1" kern="100">
                          <a:effectLst/>
                          <a:latin typeface="Cambria Math" panose="02040503050406030204" pitchFamily="18" charset="0"/>
                          <a:ea typeface="黑体" panose="02010609060101010101" charset="-122"/>
                        </a:rPr>
                        <m:t>𝟐𝟓</m:t>
                      </m:r>
                      <m:r>
                        <m:rPr>
                          <m:sty m:val="b"/>
                        </m:rPr>
                        <a:rPr lang="en-US" altLang="zh-CN" sz="2400" b="1" kern="100">
                          <a:effectLst/>
                          <a:latin typeface="Cambria Math" panose="02040503050406030204" pitchFamily="18" charset="0"/>
                          <a:ea typeface="黑体" panose="02010609060101010101" charset="-122"/>
                        </a:rPr>
                        <m:t>𝐦</m:t>
                      </m:r>
                    </m:oMath>
                  </m:oMathPara>
                </a14:m>
                <a:r>
                  <a:rPr lang="zh-CN" altLang="zh-CN" sz="2400" b="1" kern="100">
                    <a:effectLst/>
                    <a:latin typeface="Times New Roman" panose="02020603050405020304" charset="0"/>
                    <a:ea typeface="黑体" panose="02010609060101010101" charset="-122"/>
                  </a:rPr>
                  <a:t>小滑块相对小车向右滑行的距离为</a:t>
                </a:r>
                <a14:m>
                  <m:oMathPara>
                    <m:oMathParaPr>
                      <m:jc/>
                    </m:oMathParaPr>
                    <m:oMath>
                      <m:r>
                        <m:rPr>
                          <m:sty m:val="bi"/>
                        </m:rPr>
                        <a:rPr lang="en-US" altLang="zh-CN" sz="2400" b="1" i="1" kern="100">
                          <a:effectLst/>
                          <a:latin typeface="Cambria Math" panose="02040503050406030204" pitchFamily="18" charset="0"/>
                          <a:ea typeface="黑体" panose="02010609060101010101" charset="-122"/>
                        </a:rPr>
                        <m:t>𝜟</m:t>
                      </m:r>
                      <m:r>
                        <m:rPr>
                          <m:sty m:val="bi"/>
                        </m:rPr>
                        <a:rPr lang="en-US" altLang="zh-CN" sz="2400" b="1" i="1" kern="100">
                          <a:effectLst/>
                          <a:latin typeface="Cambria Math" panose="02040503050406030204" pitchFamily="18" charset="0"/>
                          <a:ea typeface="黑体" panose="02010609060101010101" charset="-122"/>
                        </a:rPr>
                        <m:t>𝒙</m:t>
                      </m:r>
                      <m:r>
                        <m:rPr>
                          <m:sty m:val="bi"/>
                        </m:rPr>
                        <a:rPr lang="en-US" altLang="zh-CN" sz="2400" b="1" i="1" kern="100">
                          <a:effectLst/>
                          <a:latin typeface="Cambria Math" panose="02040503050406030204" pitchFamily="18" charset="0"/>
                          <a:ea typeface="黑体" panose="02010609060101010101" charset="-122"/>
                        </a:rPr>
                        <m:t>=</m:t>
                      </m:r>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𝒙</m:t>
                          </m:r>
                        </m:e>
                        <m:sub>
                          <m:r>
                            <m:rPr>
                              <m:sty m:val="bi"/>
                            </m:rPr>
                            <a:rPr lang="en-US" altLang="zh-CN" sz="2400" b="1" i="1" kern="100">
                              <a:effectLst/>
                              <a:latin typeface="Cambria Math" panose="02040503050406030204" pitchFamily="18" charset="0"/>
                              <a:ea typeface="黑体" panose="02010609060101010101" charset="-122"/>
                            </a:rPr>
                            <m:t>𝟏</m:t>
                          </m:r>
                        </m:sub>
                      </m:sSub>
                      <m:r>
                        <m:rPr>
                          <m:sty m:val="bi"/>
                        </m:rPr>
                        <a:rPr lang="en-US" altLang="zh-CN" sz="2400" b="1" i="1" kern="100">
                          <a:effectLst/>
                          <a:latin typeface="Cambria Math" panose="02040503050406030204" pitchFamily="18" charset="0"/>
                          <a:ea typeface="黑体" panose="02010609060101010101" charset="-122"/>
                        </a:rPr>
                        <m:t>−</m:t>
                      </m:r>
                      <m:sSub>
                        <m:sSubPr>
                          <m:ctrlPr>
                            <a:rPr lang="zh-CN" altLang="zh-CN" sz="2400" b="1" i="1" kern="100">
                              <a:effectLst/>
                              <a:latin typeface="Cambria Math" panose="02040503050406030204" pitchFamily="18" charset="0"/>
                              <a:ea typeface="Cambria Math" panose="02040503050406030204" pitchFamily="18" charset="0"/>
                            </a:rPr>
                          </m:ctrlPr>
                        </m:sSubPr>
                        <m:e>
                          <m:r>
                            <m:rPr>
                              <m:sty m:val="bi"/>
                            </m:rPr>
                            <a:rPr lang="en-US" altLang="zh-CN" sz="2400" b="1" i="1" kern="100">
                              <a:effectLst/>
                              <a:latin typeface="Cambria Math" panose="02040503050406030204" pitchFamily="18" charset="0"/>
                              <a:ea typeface="黑体" panose="02010609060101010101" charset="-122"/>
                            </a:rPr>
                            <m:t>𝒙</m:t>
                          </m:r>
                        </m:e>
                        <m:sub>
                          <m:r>
                            <m:rPr>
                              <m:sty m:val="bi"/>
                            </m:rPr>
                            <a:rPr lang="en-US" altLang="zh-CN" sz="2400" b="1" i="1" kern="100">
                              <a:effectLst/>
                              <a:latin typeface="Cambria Math" panose="02040503050406030204" pitchFamily="18" charset="0"/>
                              <a:ea typeface="黑体" panose="02010609060101010101" charset="-122"/>
                            </a:rPr>
                            <m:t>𝟐</m:t>
                          </m:r>
                        </m:sub>
                      </m:sSub>
                      <m:r>
                        <m:rPr>
                          <m:sty m:val="bi"/>
                        </m:rPr>
                        <a:rPr lang="en-US" altLang="zh-CN" sz="2400" b="1" i="1" kern="100">
                          <a:effectLst/>
                          <a:latin typeface="Cambria Math" panose="02040503050406030204" pitchFamily="18" charset="0"/>
                          <a:ea typeface="黑体" panose="02010609060101010101" charset="-122"/>
                        </a:rPr>
                        <m:t>=</m:t>
                      </m:r>
                      <m:r>
                        <m:rPr>
                          <m:sty m:val="bi"/>
                        </m:rPr>
                        <a:rPr lang="en-US" altLang="zh-CN" sz="2400" b="1" i="1" kern="100">
                          <a:effectLst/>
                          <a:latin typeface="Cambria Math" panose="02040503050406030204" pitchFamily="18" charset="0"/>
                          <a:ea typeface="黑体" panose="02010609060101010101" charset="-122"/>
                        </a:rPr>
                        <m:t>𝟎</m:t>
                      </m:r>
                      <m:r>
                        <m:rPr>
                          <m:sty m:val="bi"/>
                        </m:rPr>
                        <a:rPr lang="en-US" altLang="zh-CN" sz="2400" b="1" i="1" kern="100">
                          <a:effectLst/>
                          <a:latin typeface="Cambria Math" panose="02040503050406030204" pitchFamily="18" charset="0"/>
                          <a:ea typeface="黑体" panose="02010609060101010101" charset="-122"/>
                        </a:rPr>
                        <m:t>.</m:t>
                      </m:r>
                      <m:r>
                        <m:rPr>
                          <m:sty m:val="bi"/>
                        </m:rPr>
                        <a:rPr lang="en-US" altLang="zh-CN" sz="2400" b="1" i="1" kern="100">
                          <a:effectLst/>
                          <a:latin typeface="Cambria Math" panose="02040503050406030204" pitchFamily="18" charset="0"/>
                          <a:ea typeface="黑体" panose="02010609060101010101" charset="-122"/>
                        </a:rPr>
                        <m:t>𝟕𝟓</m:t>
                      </m:r>
                      <m:r>
                        <m:rPr>
                          <m:sty m:val="b"/>
                        </m:rPr>
                        <a:rPr lang="en-US" altLang="zh-CN" sz="2400" b="1" kern="100">
                          <a:effectLst/>
                          <a:latin typeface="Cambria Math" panose="02040503050406030204" pitchFamily="18" charset="0"/>
                          <a:ea typeface="黑体" panose="02010609060101010101" charset="-122"/>
                        </a:rPr>
                        <m:t>𝐦</m:t>
                      </m:r>
                    </m:oMath>
                  </m:oMathPara>
                </a14:m>
                <a:r>
                  <a:rPr lang="zh-CN" altLang="zh-CN" sz="2400" b="1" kern="100">
                    <a:effectLst/>
                    <a:latin typeface="Times New Roman" panose="02020603050405020304" charset="0"/>
                    <a:ea typeface="黑体" panose="02010609060101010101" charset="-122"/>
                  </a:rPr>
                  <a:t>共速后小滑块与车一起向右做匀速直线运动，</a:t>
                </a:r>
                <a:r>
                  <a:rPr lang="en-US" altLang="zh-CN" sz="2400" b="1" kern="100">
                    <a:effectLst/>
                    <a:latin typeface="Times New Roman" panose="02020603050405020304" charset="0"/>
                    <a:ea typeface="黑体" panose="02010609060101010101" charset="-122"/>
                  </a:rPr>
                  <a:t>2s</a:t>
                </a:r>
                <a:r>
                  <a:rPr lang="zh-CN" altLang="zh-CN" sz="2400" b="1" kern="100">
                    <a:effectLst/>
                    <a:latin typeface="Times New Roman" panose="02020603050405020304" charset="0"/>
                    <a:ea typeface="黑体" panose="02010609060101010101" charset="-122"/>
                  </a:rPr>
                  <a:t>末小滑块与小车</a:t>
                </a:r>
                <a:r>
                  <a:rPr lang="en-US" altLang="zh-CN" sz="2400" b="1" i="1" kern="100">
                    <a:effectLst/>
                    <a:latin typeface="Times New Roman" panose="02020603050405020304" charset="0"/>
                    <a:ea typeface="黑体" panose="02010609060101010101" charset="-122"/>
                  </a:rPr>
                  <a:t>B</a:t>
                </a:r>
                <a:r>
                  <a:rPr lang="zh-CN" altLang="zh-CN" sz="2400" b="1" kern="100">
                    <a:effectLst/>
                    <a:latin typeface="Times New Roman" panose="02020603050405020304" charset="0"/>
                    <a:ea typeface="黑体" panose="02010609060101010101" charset="-122"/>
                  </a:rPr>
                  <a:t>端的距离为</a:t>
                </a:r>
                <a14:m>
                  <m:oMathPara>
                    <m:oMathParaPr>
                      <m:jc/>
                    </m:oMathParaPr>
                    <m:oMath>
                      <m:r>
                        <m:rPr>
                          <m:sty m:val="bi"/>
                        </m:rPr>
                        <a:rPr lang="en-US" altLang="zh-CN" sz="2400" b="1" i="1" kern="100">
                          <a:effectLst/>
                          <a:latin typeface="Cambria Math" panose="02040503050406030204" pitchFamily="18" charset="0"/>
                          <a:ea typeface="黑体" panose="02010609060101010101" charset="-122"/>
                        </a:rPr>
                        <m:t>𝒅</m:t>
                      </m:r>
                      <m:r>
                        <m:rPr>
                          <m:sty m:val="bi"/>
                        </m:rPr>
                        <a:rPr lang="en-US" altLang="zh-CN" sz="2400" b="1" i="1" kern="100">
                          <a:effectLst/>
                          <a:latin typeface="Cambria Math" panose="02040503050406030204" pitchFamily="18" charset="0"/>
                          <a:ea typeface="黑体" panose="02010609060101010101" charset="-122"/>
                        </a:rPr>
                        <m:t>=</m:t>
                      </m:r>
                      <m:r>
                        <m:rPr>
                          <m:sty m:val="bi"/>
                        </m:rPr>
                        <a:rPr lang="en-US" altLang="zh-CN" sz="2400" b="1" i="1" kern="100">
                          <a:effectLst/>
                          <a:latin typeface="Cambria Math" panose="02040503050406030204" pitchFamily="18" charset="0"/>
                          <a:ea typeface="黑体" panose="02010609060101010101" charset="-122"/>
                        </a:rPr>
                        <m:t>𝒍</m:t>
                      </m:r>
                      <m:r>
                        <m:rPr>
                          <m:sty m:val="bi"/>
                        </m:rPr>
                        <a:rPr lang="en-US" altLang="zh-CN" sz="2400" b="1" i="1" kern="100">
                          <a:effectLst/>
                          <a:latin typeface="Cambria Math" panose="02040503050406030204" pitchFamily="18" charset="0"/>
                          <a:ea typeface="黑体" panose="02010609060101010101" charset="-122"/>
                        </a:rPr>
                        <m:t>−</m:t>
                      </m:r>
                      <m:r>
                        <m:rPr>
                          <m:sty m:val="bi"/>
                        </m:rPr>
                        <a:rPr lang="en-US" altLang="zh-CN" sz="2400" b="1" i="1" kern="100">
                          <a:effectLst/>
                          <a:latin typeface="Cambria Math" panose="02040503050406030204" pitchFamily="18" charset="0"/>
                          <a:ea typeface="黑体" panose="02010609060101010101" charset="-122"/>
                        </a:rPr>
                        <m:t>𝜟</m:t>
                      </m:r>
                      <m:r>
                        <m:rPr>
                          <m:sty m:val="bi"/>
                        </m:rPr>
                        <a:rPr lang="en-US" altLang="zh-CN" sz="2400" b="1" i="1" kern="100">
                          <a:effectLst/>
                          <a:latin typeface="Cambria Math" panose="02040503050406030204" pitchFamily="18" charset="0"/>
                          <a:ea typeface="黑体" panose="02010609060101010101" charset="-122"/>
                        </a:rPr>
                        <m:t>𝒙</m:t>
                      </m:r>
                      <m:r>
                        <m:rPr>
                          <m:sty m:val="bi"/>
                        </m:rPr>
                        <a:rPr lang="en-US" altLang="zh-CN" sz="2400" b="1" i="1" kern="100">
                          <a:effectLst/>
                          <a:latin typeface="Cambria Math" panose="02040503050406030204" pitchFamily="18" charset="0"/>
                          <a:ea typeface="黑体" panose="02010609060101010101" charset="-122"/>
                        </a:rPr>
                        <m:t>=</m:t>
                      </m:r>
                      <m:r>
                        <m:rPr>
                          <m:sty m:val="bi"/>
                        </m:rPr>
                        <a:rPr lang="en-US" altLang="zh-CN" sz="2400" b="1" i="1" kern="100">
                          <a:effectLst/>
                          <a:latin typeface="Cambria Math" panose="02040503050406030204" pitchFamily="18" charset="0"/>
                          <a:ea typeface="黑体" panose="02010609060101010101" charset="-122"/>
                        </a:rPr>
                        <m:t>𝟎</m:t>
                      </m:r>
                      <m:r>
                        <m:rPr>
                          <m:sty m:val="bi"/>
                        </m:rPr>
                        <a:rPr lang="en-US" altLang="zh-CN" sz="2400" b="1" i="1" kern="100">
                          <a:effectLst/>
                          <a:latin typeface="Cambria Math" panose="02040503050406030204" pitchFamily="18" charset="0"/>
                          <a:ea typeface="黑体" panose="02010609060101010101" charset="-122"/>
                        </a:rPr>
                        <m:t>.</m:t>
                      </m:r>
                      <m:r>
                        <m:rPr>
                          <m:sty m:val="bi"/>
                        </m:rPr>
                        <a:rPr lang="en-US" altLang="zh-CN" sz="2400" b="1" i="1" kern="100">
                          <a:effectLst/>
                          <a:latin typeface="Cambria Math" panose="02040503050406030204" pitchFamily="18" charset="0"/>
                          <a:ea typeface="黑体" panose="02010609060101010101" charset="-122"/>
                        </a:rPr>
                        <m:t>𝟐𝟓</m:t>
                      </m:r>
                      <m:r>
                        <m:rPr>
                          <m:sty m:val="b"/>
                        </m:rPr>
                        <a:rPr lang="en-US" altLang="zh-CN" sz="2400" b="1" kern="100">
                          <a:effectLst/>
                          <a:latin typeface="Cambria Math" panose="02040503050406030204" pitchFamily="18" charset="0"/>
                          <a:ea typeface="黑体" panose="02010609060101010101" charset="-122"/>
                        </a:rPr>
                        <m:t>𝐦</m:t>
                      </m:r>
                    </m:oMath>
                  </m:oMathPara>
                </a14:m>
                <a:r>
                  <a:rPr lang="zh-CN" altLang="zh-CN" sz="2400" b="1" kern="100">
                    <a:effectLst/>
                    <a:latin typeface="Times New Roman" panose="02020603050405020304" charset="0"/>
                    <a:ea typeface="黑体" panose="02010609060101010101" charset="-122"/>
                  </a:rPr>
                  <a:t>故选</a:t>
                </a:r>
                <a:r>
                  <a:rPr lang="en-US" altLang="zh-CN" sz="2400" b="1" kern="100">
                    <a:effectLst/>
                    <a:latin typeface="Times New Roman" panose="02020603050405020304" charset="0"/>
                    <a:ea typeface="黑体" panose="02010609060101010101" charset="-122"/>
                  </a:rPr>
                  <a:t>C</a:t>
                </a:r>
                <a:r>
                  <a:rPr lang="zh-CN" altLang="zh-CN" sz="2400" b="1" kern="100">
                    <a:effectLst/>
                    <a:latin typeface="Times New Roman" panose="02020603050405020304" charset="0"/>
                    <a:ea typeface="黑体" panose="02010609060101010101" charset="-122"/>
                  </a:rPr>
                  <a:t>。</a:t>
                </a:r>
                <a:endParaRPr lang="zh-CN" altLang="zh-CN" sz="2400" kern="100">
                  <a:effectLst/>
                  <a:latin typeface="Times New Roman" panose="02020603050405020304" charset="0"/>
                  <a:ea typeface="宋体" panose="02010600030101010101" pitchFamily="2" charset="-122"/>
                </a:endParaRPr>
              </a:p>
            </p:txBody>
          </p:sp>
        </mc:Choice>
        <mc:Fallback>
          <p:sp>
            <p:nvSpPr>
              <p:cNvPr id="3" name="文本框 2"/>
              <p:cNvSpPr txBox="1">
                <a:spLocks noRot="1" noChangeAspect="1" noMove="1" noResize="1" noEditPoints="1" noAdjustHandles="1" noChangeArrowheads="1" noChangeShapeType="1" noTextEdit="1"/>
              </p:cNvSpPr>
              <p:nvPr>
                <p:custDataLst>
                  <p:tags r:id="rId4"/>
                </p:custDataLst>
              </p:nvPr>
            </p:nvSpPr>
            <p:spPr>
              <a:xfrm>
                <a:off x="419100" y="436245"/>
                <a:ext cx="11355705" cy="3806190"/>
              </a:xfrm>
              <a:prstGeom prst="rect">
                <a:avLst/>
              </a:prstGeom>
              <a:blipFill rotWithShape="1">
                <a:blip r:embed="rId5"/>
                <a:stretch>
                  <a:fillRect b="-5422"/>
                </a:stretch>
              </a:blipFill>
            </p:spPr>
            <p:txBody>
              <a:bodyPr/>
              <a:lstStyle/>
              <a:p>
                <a:r>
                  <a:rPr lang="zh-CN" altLang="en-US">
                    <a:noFill/>
                  </a:rPr>
                  <a:t> </a:t>
                </a:r>
              </a:p>
            </p:txBody>
          </p:sp>
        </mc:Fallback>
      </mc:AlternateContent>
    </p:spTree>
    <p:custDataLst>
      <p:tags r:id="rId6"/>
    </p:custDataLst>
  </p:cSld>
  <p:clrMapOvr>
    <a:masterClrMapping/>
  </p:clrMapOvr>
  <p:transition/>
  <p:timing/>
</p:sld>
</file>

<file path=ppt/slides/slide3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mc:AlternateContent>
        <mc:Choice Requires="a14">
          <p:sp>
            <p:nvSpPr>
              <p:cNvPr id="5" name="文本框 4" title=""/>
              <p:cNvSpPr txBox="1"/>
              <p:nvPr>
                <p:custDataLst>
                  <p:tags r:id="rId3"/>
                </p:custDataLst>
              </p:nvPr>
            </p:nvSpPr>
            <p:spPr>
              <a:xfrm>
                <a:off x="351790" y="367665"/>
                <a:ext cx="11400790" cy="3729990"/>
              </a:xfrm>
              <a:prstGeom prst="rect">
                <a:avLst/>
              </a:prstGeom>
              <a:noFill/>
            </p:spPr>
            <p:txBody>
              <a:bodyPr wrap="square">
                <a:noAutofit/>
              </a:bodyPr>
              <a:lstStyle/>
              <a:p>
                <a:pPr algn="l">
                  <a:lnSpc>
                    <a:spcPct val="150000"/>
                  </a:lnSpc>
                </a:pPr>
                <a:r>
                  <a:rPr lang="en-US" altLang="zh-CN" sz="2800" b="1" kern="100">
                    <a:effectLst/>
                    <a:latin typeface="Times New Roman" panose="02020603050405020304" charset="0"/>
                    <a:ea typeface="黑体" panose="02010609060101010101" charset="-122"/>
                  </a:rPr>
                  <a:t>5</a:t>
                </a:r>
                <a:r>
                  <a:rPr lang="zh-CN" altLang="zh-CN" sz="2800" b="1" kern="100">
                    <a:effectLst/>
                    <a:latin typeface="Times New Roman" panose="02020603050405020304" charset="0"/>
                    <a:ea typeface="黑体" panose="02010609060101010101" charset="-122"/>
                  </a:rPr>
                  <a:t>．如图所示，质量为</a:t>
                </a:r>
                <a:r>
                  <a:rPr lang="en-US" altLang="zh-CN" sz="2800" b="1" i="1" kern="100">
                    <a:effectLst/>
                    <a:latin typeface="Times New Roman" panose="02020603050405020304" charset="0"/>
                    <a:ea typeface="黑体" panose="02010609060101010101" charset="-122"/>
                  </a:rPr>
                  <a:t>m</a:t>
                </a:r>
                <a:r>
                  <a:rPr lang="zh-CN" altLang="zh-CN" sz="2800" b="1" kern="100">
                    <a:effectLst/>
                    <a:latin typeface="Times New Roman" panose="02020603050405020304" charset="0"/>
                    <a:ea typeface="黑体" panose="02010609060101010101" charset="-122"/>
                  </a:rPr>
                  <a:t>的木板</a:t>
                </a:r>
                <a:r>
                  <a:rPr lang="en-US" altLang="zh-CN" sz="2800" b="1" kern="100">
                    <a:effectLst/>
                    <a:latin typeface="Times New Roman" panose="02020603050405020304" charset="0"/>
                    <a:ea typeface="黑体" panose="02010609060101010101" charset="-122"/>
                  </a:rPr>
                  <a:t>B</a:t>
                </a:r>
                <a:r>
                  <a:rPr lang="zh-CN" altLang="zh-CN" sz="2800" b="1" kern="100">
                    <a:effectLst/>
                    <a:latin typeface="Times New Roman" panose="02020603050405020304" charset="0"/>
                    <a:ea typeface="黑体" panose="02010609060101010101" charset="-122"/>
                  </a:rPr>
                  <a:t>放在水平桌面上，质量为</a:t>
                </a:r>
                <a:r>
                  <a:rPr lang="en-US" altLang="zh-CN" sz="2800" b="1" kern="100">
                    <a:effectLst/>
                    <a:latin typeface="Times New Roman" panose="02020603050405020304" charset="0"/>
                    <a:ea typeface="黑体" panose="02010609060101010101" charset="-122"/>
                  </a:rPr>
                  <a:t>2</a:t>
                </a:r>
                <a:r>
                  <a:rPr lang="en-US" altLang="zh-CN" sz="2800" b="1" i="1" kern="100">
                    <a:effectLst/>
                    <a:latin typeface="Times New Roman" panose="02020603050405020304" charset="0"/>
                    <a:ea typeface="黑体" panose="02010609060101010101" charset="-122"/>
                  </a:rPr>
                  <a:t>m</a:t>
                </a:r>
                <a:r>
                  <a:rPr lang="zh-CN" altLang="zh-CN" sz="2800" b="1" kern="100">
                    <a:effectLst/>
                    <a:latin typeface="Times New Roman" panose="02020603050405020304" charset="0"/>
                    <a:ea typeface="黑体" panose="02010609060101010101" charset="-122"/>
                  </a:rPr>
                  <a:t>的物块</a:t>
                </a:r>
                <a:r>
                  <a:rPr lang="en-US" altLang="zh-CN" sz="2800" b="1" kern="100">
                    <a:effectLst/>
                    <a:latin typeface="Times New Roman" panose="02020603050405020304" charset="0"/>
                    <a:ea typeface="黑体" panose="02010609060101010101" charset="-122"/>
                  </a:rPr>
                  <a:t>A</a:t>
                </a:r>
                <a:r>
                  <a:rPr lang="zh-CN" altLang="zh-CN" sz="2800" b="1" kern="100">
                    <a:effectLst/>
                    <a:latin typeface="Times New Roman" panose="02020603050405020304" charset="0"/>
                    <a:ea typeface="黑体" panose="02010609060101010101" charset="-122"/>
                  </a:rPr>
                  <a:t>放在</a:t>
                </a:r>
                <a:r>
                  <a:rPr lang="en-US" altLang="zh-CN" sz="2800" b="1" kern="100">
                    <a:effectLst/>
                    <a:latin typeface="Times New Roman" panose="02020603050405020304" charset="0"/>
                    <a:ea typeface="黑体" panose="02010609060101010101" charset="-122"/>
                  </a:rPr>
                  <a:t>B</a:t>
                </a:r>
                <a:r>
                  <a:rPr lang="zh-CN" altLang="zh-CN" sz="2800" b="1" kern="100">
                    <a:effectLst/>
                    <a:latin typeface="Times New Roman" panose="02020603050405020304" charset="0"/>
                    <a:ea typeface="黑体" panose="02010609060101010101" charset="-122"/>
                  </a:rPr>
                  <a:t>上，</a:t>
                </a:r>
                <a:r>
                  <a:rPr lang="en-US" altLang="zh-CN" sz="2800" b="1" kern="100">
                    <a:effectLst/>
                    <a:latin typeface="Times New Roman" panose="02020603050405020304" charset="0"/>
                    <a:ea typeface="黑体" panose="02010609060101010101" charset="-122"/>
                  </a:rPr>
                  <a:t>A</a:t>
                </a:r>
                <a:r>
                  <a:rPr lang="zh-CN" altLang="zh-CN" sz="2800" b="1" kern="100">
                    <a:effectLst/>
                    <a:latin typeface="Times New Roman" panose="02020603050405020304" charset="0"/>
                    <a:ea typeface="黑体" panose="02010609060101010101" charset="-122"/>
                  </a:rPr>
                  <a:t>受到水平向右的拉力</a:t>
                </a:r>
                <a:r>
                  <a:rPr lang="en-US" altLang="zh-CN" sz="2800" b="1" i="1" kern="100">
                    <a:effectLst/>
                    <a:latin typeface="Times New Roman" panose="02020603050405020304" charset="0"/>
                    <a:ea typeface="黑体" panose="02010609060101010101" charset="-122"/>
                  </a:rPr>
                  <a:t>F</a:t>
                </a:r>
                <a:r>
                  <a:rPr lang="zh-CN" altLang="zh-CN" sz="2800" b="1" kern="100">
                    <a:effectLst/>
                    <a:latin typeface="Times New Roman" panose="02020603050405020304" charset="0"/>
                    <a:ea typeface="黑体" panose="02010609060101010101" charset="-122"/>
                  </a:rPr>
                  <a:t>的作用，已知</a:t>
                </a:r>
                <a:r>
                  <a:rPr lang="en-US" altLang="zh-CN" sz="2800" b="1" kern="100">
                    <a:effectLst/>
                    <a:latin typeface="Times New Roman" panose="02020603050405020304" charset="0"/>
                    <a:ea typeface="黑体" panose="02010609060101010101" charset="-122"/>
                  </a:rPr>
                  <a:t>A</a:t>
                </a:r>
                <a:r>
                  <a:rPr lang="zh-CN" altLang="zh-CN" sz="2800" b="1" kern="100">
                    <a:effectLst/>
                    <a:latin typeface="Times New Roman" panose="02020603050405020304" charset="0"/>
                    <a:ea typeface="黑体" panose="02010609060101010101" charset="-122"/>
                  </a:rPr>
                  <a:t>与</a:t>
                </a:r>
                <a:r>
                  <a:rPr lang="en-US" altLang="zh-CN" sz="2800" b="1" kern="100">
                    <a:effectLst/>
                    <a:latin typeface="Times New Roman" panose="02020603050405020304" charset="0"/>
                    <a:ea typeface="黑体" panose="02010609060101010101" charset="-122"/>
                  </a:rPr>
                  <a:t>B</a:t>
                </a:r>
                <a:r>
                  <a:rPr lang="zh-CN" altLang="zh-CN" sz="2800" b="1" kern="100">
                    <a:effectLst/>
                    <a:latin typeface="Times New Roman" panose="02020603050405020304" charset="0"/>
                    <a:ea typeface="黑体" panose="02010609060101010101" charset="-122"/>
                  </a:rPr>
                  <a:t>间的动摩擦因数为</a:t>
                </a:r>
                <a14:m>
                  <m:oMathPara>
                    <m:oMathParaPr>
                      <m:jc/>
                    </m:oMathParaPr>
                    <m:oMath>
                      <m:r>
                        <m:rPr>
                          <m:sty m:val="bi"/>
                        </m:rPr>
                        <a:rPr lang="en-US" altLang="zh-CN" sz="2800" b="1" i="1" kern="100">
                          <a:effectLst/>
                          <a:latin typeface="Cambria Math" panose="02040503050406030204" pitchFamily="18" charset="0"/>
                          <a:ea typeface="黑体" panose="02010609060101010101" charset="-122"/>
                        </a:rPr>
                        <m:t>𝝁</m:t>
                      </m:r>
                    </m:oMath>
                  </m:oMathPara>
                </a14:m>
                <a:r>
                  <a:rPr lang="zh-CN" altLang="zh-CN" sz="2800" b="1" kern="100">
                    <a:effectLst/>
                    <a:latin typeface="Times New Roman" panose="02020603050405020304" charset="0"/>
                    <a:ea typeface="黑体" panose="02010609060101010101" charset="-122"/>
                  </a:rPr>
                  <a:t>，</a:t>
                </a:r>
                <a:r>
                  <a:rPr lang="en-US" altLang="zh-CN" sz="2800" b="1" kern="100">
                    <a:effectLst/>
                    <a:latin typeface="Times New Roman" panose="02020603050405020304" charset="0"/>
                    <a:ea typeface="黑体" panose="02010609060101010101" charset="-122"/>
                  </a:rPr>
                  <a:t>B</a:t>
                </a:r>
                <a:r>
                  <a:rPr lang="zh-CN" altLang="zh-CN" sz="2800" b="1" kern="100">
                    <a:effectLst/>
                    <a:latin typeface="Times New Roman" panose="02020603050405020304" charset="0"/>
                    <a:ea typeface="黑体" panose="02010609060101010101" charset="-122"/>
                  </a:rPr>
                  <a:t>与地面间的动摩擦因数为</a:t>
                </a:r>
                <a14:m>
                  <m:oMathPara>
                    <m:oMathParaPr>
                      <m:jc/>
                    </m:oMathParaPr>
                    <m:oMath>
                      <m:f>
                        <m:fPr>
                          <m:type m:val="bar"/>
                          <m:ctrlPr>
                            <a:rPr lang="zh-CN" altLang="zh-CN" sz="2800" b="1" i="1" kern="100">
                              <a:effectLst/>
                              <a:latin typeface="Cambria Math" panose="02040503050406030204" pitchFamily="18" charset="0"/>
                              <a:ea typeface="Cambria Math" panose="02040503050406030204" pitchFamily="18" charset="0"/>
                            </a:rPr>
                          </m:ctrlPr>
                        </m:fPr>
                        <m:num>
                          <m:r>
                            <m:rPr>
                              <m:sty m:val="bi"/>
                            </m:rPr>
                            <a:rPr lang="en-US" altLang="zh-CN" sz="2800" b="1" i="1" kern="100">
                              <a:effectLst/>
                              <a:latin typeface="Cambria Math" panose="02040503050406030204" pitchFamily="18" charset="0"/>
                              <a:ea typeface="黑体" panose="02010609060101010101" charset="-122"/>
                            </a:rPr>
                            <m:t>𝟏</m:t>
                          </m:r>
                        </m:num>
                        <m:den>
                          <m:r>
                            <m:rPr>
                              <m:sty m:val="bi"/>
                            </m:rPr>
                            <a:rPr lang="en-US" altLang="zh-CN" sz="2800" b="1" i="1" kern="100">
                              <a:effectLst/>
                              <a:latin typeface="Cambria Math" panose="02040503050406030204" pitchFamily="18" charset="0"/>
                              <a:ea typeface="黑体" panose="02010609060101010101" charset="-122"/>
                            </a:rPr>
                            <m:t>𝟐</m:t>
                          </m:r>
                        </m:den>
                      </m:f>
                      <m:r>
                        <m:rPr>
                          <m:sty m:val="bi"/>
                        </m:rPr>
                        <a:rPr lang="en-US" altLang="zh-CN" sz="2800" b="1" i="1" kern="100">
                          <a:effectLst/>
                          <a:latin typeface="Cambria Math" panose="02040503050406030204" pitchFamily="18" charset="0"/>
                          <a:ea typeface="黑体" panose="02010609060101010101" charset="-122"/>
                        </a:rPr>
                        <m:t>𝝁</m:t>
                      </m:r>
                    </m:oMath>
                  </m:oMathPara>
                </a14:m>
                <a:r>
                  <a:rPr lang="zh-CN" altLang="zh-CN" sz="2800" b="1" kern="100">
                    <a:effectLst/>
                    <a:latin typeface="Times New Roman" panose="02020603050405020304" charset="0"/>
                    <a:ea typeface="黑体" panose="02010609060101010101" charset="-122"/>
                  </a:rPr>
                  <a:t>，重力加速度为</a:t>
                </a:r>
                <a:r>
                  <a:rPr lang="en-US" altLang="zh-CN" sz="2800" b="1" i="1" kern="100">
                    <a:effectLst/>
                    <a:latin typeface="Times New Roman" panose="02020603050405020304" charset="0"/>
                    <a:ea typeface="黑体" panose="02010609060101010101" charset="-122"/>
                  </a:rPr>
                  <a:t>g</a:t>
                </a:r>
                <a:r>
                  <a:rPr lang="zh-CN" altLang="zh-CN" sz="2800" b="1" kern="100">
                    <a:effectLst/>
                    <a:latin typeface="Times New Roman" panose="02020603050405020304" charset="0"/>
                    <a:ea typeface="黑体" panose="02010609060101010101" charset="-122"/>
                  </a:rPr>
                  <a:t>，则下列选项正确的是（　　）</a:t>
                </a:r>
                <a:endParaRPr lang="zh-CN" altLang="zh-CN" sz="2800" kern="100">
                  <a:effectLst/>
                  <a:latin typeface="Times New Roman" panose="02020603050405020304" charset="0"/>
                  <a:ea typeface="宋体" panose="02010600030101010101" pitchFamily="2" charset="-122"/>
                </a:endParaRPr>
              </a:p>
              <a:p>
                <a:pPr marL="190500" algn="l">
                  <a:lnSpc>
                    <a:spcPct val="150000"/>
                  </a:lnSpc>
                </a:pPr>
                <a:r>
                  <a:rPr lang="en-US" altLang="zh-CN" sz="2800" b="1" kern="100">
                    <a:effectLst/>
                    <a:latin typeface="Times New Roman" panose="02020603050405020304" charset="0"/>
                    <a:ea typeface="黑体" panose="02010609060101010101" charset="-122"/>
                  </a:rPr>
                  <a:t>A</a:t>
                </a:r>
                <a:r>
                  <a:rPr lang="zh-CN" altLang="zh-CN" sz="2800" b="1" kern="100">
                    <a:effectLst/>
                    <a:latin typeface="Times New Roman" panose="02020603050405020304" charset="0"/>
                    <a:ea typeface="黑体" panose="02010609060101010101" charset="-122"/>
                  </a:rPr>
                  <a:t>．当</a:t>
                </a:r>
                <a14:m>
                  <m:oMathPara>
                    <m:oMathParaPr>
                      <m:jc/>
                    </m:oMathParaPr>
                    <m:oMath>
                      <m:r>
                        <m:rPr>
                          <m:sty m:val="bi"/>
                        </m:rPr>
                        <a:rPr lang="en-US" altLang="zh-CN" sz="2800" b="1" i="1" kern="100">
                          <a:effectLst/>
                          <a:latin typeface="Cambria Math" panose="02040503050406030204" pitchFamily="18" charset="0"/>
                          <a:ea typeface="黑体" panose="02010609060101010101" charset="-122"/>
                        </a:rPr>
                        <m:t>𝑭</m:t>
                      </m:r>
                      <m:r>
                        <m:rPr>
                          <m:sty m:val="bi"/>
                        </m:rPr>
                        <a:rPr lang="en-US" altLang="zh-CN" sz="2800" b="1" i="1" kern="100">
                          <a:effectLst/>
                          <a:latin typeface="Cambria Math" panose="02040503050406030204" pitchFamily="18" charset="0"/>
                          <a:ea typeface="黑体" panose="02010609060101010101" charset="-122"/>
                        </a:rPr>
                        <m:t>&lt;</m:t>
                      </m:r>
                      <m:r>
                        <m:rPr>
                          <m:sty m:val="bi"/>
                        </m:rPr>
                        <a:rPr lang="en-US" altLang="zh-CN" sz="2800" b="1" i="1" kern="100">
                          <a:effectLst/>
                          <a:latin typeface="Cambria Math" panose="02040503050406030204" pitchFamily="18" charset="0"/>
                          <a:ea typeface="黑体" panose="02010609060101010101" charset="-122"/>
                        </a:rPr>
                        <m:t>𝟐</m:t>
                      </m:r>
                      <m:r>
                        <m:rPr>
                          <m:sty m:val="bi"/>
                        </m:rPr>
                        <a:rPr lang="en-US" altLang="zh-CN" sz="2800" b="1" i="1" kern="100">
                          <a:effectLst/>
                          <a:latin typeface="Cambria Math" panose="02040503050406030204" pitchFamily="18" charset="0"/>
                          <a:ea typeface="黑体" panose="02010609060101010101" charset="-122"/>
                        </a:rPr>
                        <m:t>𝝁</m:t>
                      </m:r>
                      <m:r>
                        <m:rPr>
                          <m:sty m:val="bi"/>
                        </m:rPr>
                        <a:rPr lang="en-US" altLang="zh-CN" sz="2800" b="1" i="1" kern="100">
                          <a:effectLst/>
                          <a:latin typeface="Cambria Math" panose="02040503050406030204" pitchFamily="18" charset="0"/>
                          <a:ea typeface="黑体" panose="02010609060101010101" charset="-122"/>
                        </a:rPr>
                        <m:t>𝒎𝒈</m:t>
                      </m:r>
                    </m:oMath>
                  </m:oMathPara>
                </a14:m>
                <a:r>
                  <a:rPr lang="zh-CN" altLang="zh-CN" sz="2800" b="1" kern="100">
                    <a:effectLst/>
                    <a:latin typeface="Times New Roman" panose="02020603050405020304" charset="0"/>
                    <a:ea typeface="黑体" panose="02010609060101010101" charset="-122"/>
                  </a:rPr>
                  <a:t>时，</a:t>
                </a:r>
                <a:r>
                  <a:rPr lang="en-US" altLang="zh-CN" sz="2800" b="1" kern="100">
                    <a:effectLst/>
                    <a:latin typeface="Times New Roman" panose="02020603050405020304" charset="0"/>
                    <a:ea typeface="黑体" panose="02010609060101010101" charset="-122"/>
                  </a:rPr>
                  <a:t>A</a:t>
                </a:r>
                <a:r>
                  <a:rPr lang="zh-CN" altLang="zh-CN" sz="2800" b="1" kern="100">
                    <a:effectLst/>
                    <a:latin typeface="Times New Roman" panose="02020603050405020304" charset="0"/>
                    <a:ea typeface="黑体" panose="02010609060101010101" charset="-122"/>
                  </a:rPr>
                  <a:t>、</a:t>
                </a:r>
                <a:r>
                  <a:rPr lang="en-US" altLang="zh-CN" sz="2800" b="1" kern="100">
                    <a:effectLst/>
                    <a:latin typeface="Times New Roman" panose="02020603050405020304" charset="0"/>
                    <a:ea typeface="黑体" panose="02010609060101010101" charset="-122"/>
                  </a:rPr>
                  <a:t>B</a:t>
                </a:r>
                <a:r>
                  <a:rPr lang="zh-CN" altLang="zh-CN" sz="2800" b="1" kern="100">
                    <a:effectLst/>
                    <a:latin typeface="Times New Roman" panose="02020603050405020304" charset="0"/>
                    <a:ea typeface="黑体" panose="02010609060101010101" charset="-122"/>
                  </a:rPr>
                  <a:t>都相对地面静止</a:t>
                </a:r>
                <a:endParaRPr lang="zh-CN" altLang="zh-CN" sz="2800" kern="100">
                  <a:effectLst/>
                  <a:latin typeface="Times New Roman" panose="02020603050405020304" charset="0"/>
                  <a:ea typeface="宋体" panose="02010600030101010101" pitchFamily="2" charset="-122"/>
                </a:endParaRPr>
              </a:p>
              <a:p>
                <a:pPr marL="190500" algn="l">
                  <a:lnSpc>
                    <a:spcPct val="150000"/>
                  </a:lnSpc>
                </a:pPr>
                <a:r>
                  <a:rPr lang="en-US" altLang="zh-CN" sz="2800" b="1" kern="100">
                    <a:effectLst/>
                    <a:latin typeface="Times New Roman" panose="02020603050405020304" charset="0"/>
                    <a:ea typeface="黑体" panose="02010609060101010101" charset="-122"/>
                  </a:rPr>
                  <a:t>B</a:t>
                </a:r>
                <a:r>
                  <a:rPr lang="zh-CN" altLang="zh-CN" sz="2800" b="1" kern="100">
                    <a:effectLst/>
                    <a:latin typeface="Times New Roman" panose="02020603050405020304" charset="0"/>
                    <a:ea typeface="黑体" panose="02010609060101010101" charset="-122"/>
                  </a:rPr>
                  <a:t>．</a:t>
                </a:r>
                <a:r>
                  <a:rPr lang="en-US" altLang="zh-CN" sz="2800" b="1" i="1" kern="100">
                    <a:effectLst/>
                    <a:latin typeface="Times New Roman" panose="02020603050405020304" charset="0"/>
                    <a:ea typeface="黑体" panose="02010609060101010101" charset="-122"/>
                  </a:rPr>
                  <a:t>F</a:t>
                </a:r>
                <a:r>
                  <a:rPr lang="zh-CN" altLang="zh-CN" sz="2800" b="1" kern="100">
                    <a:effectLst/>
                    <a:latin typeface="Times New Roman" panose="02020603050405020304" charset="0"/>
                    <a:ea typeface="黑体" panose="02010609060101010101" charset="-122"/>
                  </a:rPr>
                  <a:t>为某值，</a:t>
                </a:r>
                <a:r>
                  <a:rPr lang="en-US" altLang="zh-CN" sz="2800" b="1" kern="100">
                    <a:effectLst/>
                    <a:latin typeface="Times New Roman" panose="02020603050405020304" charset="0"/>
                    <a:ea typeface="黑体" panose="02010609060101010101" charset="-122"/>
                  </a:rPr>
                  <a:t>B</a:t>
                </a:r>
                <a:r>
                  <a:rPr lang="zh-CN" altLang="zh-CN" sz="2800" b="1" kern="100">
                    <a:effectLst/>
                    <a:latin typeface="Times New Roman" panose="02020603050405020304" charset="0"/>
                    <a:ea typeface="黑体" panose="02010609060101010101" charset="-122"/>
                  </a:rPr>
                  <a:t>的加速度可能会超过</a:t>
                </a:r>
                <a14:m>
                  <m:oMathPara>
                    <m:oMathParaPr>
                      <m:jc/>
                    </m:oMathParaPr>
                    <m:oMath>
                      <m:f>
                        <m:fPr>
                          <m:type m:val="bar"/>
                          <m:ctrlPr>
                            <a:rPr lang="zh-CN" altLang="zh-CN" sz="2800" b="1" i="1" kern="100">
                              <a:effectLst/>
                              <a:latin typeface="Cambria Math" panose="02040503050406030204" pitchFamily="18" charset="0"/>
                              <a:ea typeface="Cambria Math" panose="02040503050406030204" pitchFamily="18" charset="0"/>
                            </a:rPr>
                          </m:ctrlPr>
                        </m:fPr>
                        <m:num>
                          <m:r>
                            <m:rPr>
                              <m:sty m:val="bi"/>
                            </m:rPr>
                            <a:rPr lang="en-US" altLang="zh-CN" sz="2800" b="1" i="1" kern="100">
                              <a:effectLst/>
                              <a:latin typeface="Cambria Math" panose="02040503050406030204" pitchFamily="18" charset="0"/>
                              <a:ea typeface="黑体" panose="02010609060101010101" charset="-122"/>
                            </a:rPr>
                            <m:t>𝟏</m:t>
                          </m:r>
                        </m:num>
                        <m:den>
                          <m:r>
                            <m:rPr>
                              <m:sty m:val="bi"/>
                            </m:rPr>
                            <a:rPr lang="en-US" altLang="zh-CN" sz="2800" b="1" i="1" kern="100">
                              <a:effectLst/>
                              <a:latin typeface="Cambria Math" panose="02040503050406030204" pitchFamily="18" charset="0"/>
                              <a:ea typeface="黑体" panose="02010609060101010101" charset="-122"/>
                            </a:rPr>
                            <m:t>𝟐</m:t>
                          </m:r>
                        </m:den>
                      </m:f>
                      <m:r>
                        <m:rPr>
                          <m:sty m:val="bi"/>
                        </m:rPr>
                        <a:rPr lang="en-US" altLang="zh-CN" sz="2800" b="1" i="1" kern="100">
                          <a:effectLst/>
                          <a:latin typeface="Cambria Math" panose="02040503050406030204" pitchFamily="18" charset="0"/>
                          <a:ea typeface="黑体" panose="02010609060101010101" charset="-122"/>
                        </a:rPr>
                        <m:t>𝝁</m:t>
                      </m:r>
                      <m:r>
                        <m:rPr>
                          <m:sty m:val="bi"/>
                        </m:rPr>
                        <a:rPr lang="en-US" altLang="zh-CN" sz="2800" b="1" i="1" kern="100">
                          <a:effectLst/>
                          <a:latin typeface="Cambria Math" panose="02040503050406030204" pitchFamily="18" charset="0"/>
                          <a:ea typeface="黑体" panose="02010609060101010101" charset="-122"/>
                        </a:rPr>
                        <m:t>𝒈</m:t>
                      </m:r>
                    </m:oMath>
                  </m:oMathPara>
                </a14:m>
                <a:endParaRPr lang="zh-CN" altLang="zh-CN" sz="2800" kern="100">
                  <a:effectLst/>
                  <a:latin typeface="Times New Roman" panose="02020603050405020304" charset="0"/>
                  <a:ea typeface="宋体" panose="02010600030101010101" pitchFamily="2" charset="-122"/>
                </a:endParaRPr>
              </a:p>
              <a:p>
                <a:pPr marL="190500" algn="l">
                  <a:lnSpc>
                    <a:spcPct val="150000"/>
                  </a:lnSpc>
                </a:pPr>
                <a:r>
                  <a:rPr lang="en-US" altLang="zh-CN" sz="2800" b="1" kern="100">
                    <a:effectLst/>
                    <a:latin typeface="Times New Roman" panose="02020603050405020304" charset="0"/>
                    <a:ea typeface="黑体" panose="02010609060101010101" charset="-122"/>
                  </a:rPr>
                  <a:t>C</a:t>
                </a:r>
                <a:r>
                  <a:rPr lang="zh-CN" altLang="zh-CN" sz="2800" b="1" kern="100">
                    <a:effectLst/>
                    <a:latin typeface="Times New Roman" panose="02020603050405020304" charset="0"/>
                    <a:ea typeface="黑体" panose="02010609060101010101" charset="-122"/>
                  </a:rPr>
                  <a:t>．无论</a:t>
                </a:r>
                <a:r>
                  <a:rPr lang="en-US" altLang="zh-CN" sz="2800" b="1" i="1" kern="100">
                    <a:effectLst/>
                    <a:latin typeface="Times New Roman" panose="02020603050405020304" charset="0"/>
                    <a:ea typeface="黑体" panose="02010609060101010101" charset="-122"/>
                  </a:rPr>
                  <a:t>F</a:t>
                </a:r>
                <a:r>
                  <a:rPr lang="zh-CN" altLang="zh-CN" sz="2800" b="1" kern="100">
                    <a:effectLst/>
                    <a:latin typeface="Times New Roman" panose="02020603050405020304" charset="0"/>
                    <a:ea typeface="黑体" panose="02010609060101010101" charset="-122"/>
                  </a:rPr>
                  <a:t>为何值，</a:t>
                </a:r>
                <a:r>
                  <a:rPr lang="en-US" altLang="zh-CN" sz="2800" b="1" kern="100">
                    <a:effectLst/>
                    <a:latin typeface="Times New Roman" panose="02020603050405020304" charset="0"/>
                    <a:ea typeface="黑体" panose="02010609060101010101" charset="-122"/>
                  </a:rPr>
                  <a:t>A</a:t>
                </a:r>
                <a:r>
                  <a:rPr lang="zh-CN" altLang="zh-CN" sz="2800" b="1" kern="100">
                    <a:effectLst/>
                    <a:latin typeface="Times New Roman" panose="02020603050405020304" charset="0"/>
                    <a:ea typeface="黑体" panose="02010609060101010101" charset="-122"/>
                  </a:rPr>
                  <a:t>都不可能相对</a:t>
                </a:r>
                <a:r>
                  <a:rPr lang="en-US" altLang="zh-CN" sz="2800" b="1" kern="100">
                    <a:effectLst/>
                    <a:latin typeface="Times New Roman" panose="02020603050405020304" charset="0"/>
                    <a:ea typeface="黑体" panose="02010609060101010101" charset="-122"/>
                  </a:rPr>
                  <a:t>B</a:t>
                </a:r>
                <a:r>
                  <a:rPr lang="zh-CN" altLang="zh-CN" sz="2800" b="1" kern="100">
                    <a:effectLst/>
                    <a:latin typeface="Times New Roman" panose="02020603050405020304" charset="0"/>
                    <a:ea typeface="黑体" panose="02010609060101010101" charset="-122"/>
                  </a:rPr>
                  <a:t>滑动</a:t>
                </a:r>
                <a:endParaRPr lang="zh-CN" altLang="zh-CN" sz="2800" kern="100">
                  <a:effectLst/>
                  <a:latin typeface="Times New Roman" panose="02020603050405020304" charset="0"/>
                  <a:ea typeface="宋体" panose="02010600030101010101" pitchFamily="2" charset="-122"/>
                </a:endParaRPr>
              </a:p>
              <a:p>
                <a:pPr marL="190500" algn="l">
                  <a:lnSpc>
                    <a:spcPct val="150000"/>
                  </a:lnSpc>
                </a:pPr>
                <a:r>
                  <a:rPr lang="en-US" altLang="zh-CN" sz="2800" b="1" kern="100">
                    <a:effectLst/>
                    <a:latin typeface="Times New Roman" panose="02020603050405020304" charset="0"/>
                    <a:ea typeface="黑体" panose="02010609060101010101" charset="-122"/>
                  </a:rPr>
                  <a:t>D</a:t>
                </a:r>
                <a:r>
                  <a:rPr lang="zh-CN" altLang="zh-CN" sz="2800" b="1" kern="100">
                    <a:effectLst/>
                    <a:latin typeface="Times New Roman" panose="02020603050405020304" charset="0"/>
                    <a:ea typeface="黑体" panose="02010609060101010101" charset="-122"/>
                  </a:rPr>
                  <a:t>．当</a:t>
                </a:r>
                <a14:m>
                  <m:oMathPara>
                    <m:oMathParaPr>
                      <m:jc/>
                    </m:oMathParaPr>
                    <m:oMath>
                      <m:r>
                        <m:rPr>
                          <m:sty m:val="bi"/>
                        </m:rPr>
                        <a:rPr lang="en-US" altLang="zh-CN" sz="2800" b="1" i="1" kern="100">
                          <a:effectLst/>
                          <a:latin typeface="Cambria Math" panose="02040503050406030204" pitchFamily="18" charset="0"/>
                          <a:ea typeface="黑体" panose="02010609060101010101" charset="-122"/>
                        </a:rPr>
                        <m:t>𝑭</m:t>
                      </m:r>
                      <m:r>
                        <m:rPr>
                          <m:sty m:val="bi"/>
                        </m:rPr>
                        <a:rPr lang="en-US" altLang="zh-CN" sz="2800" b="1" i="1" kern="100">
                          <a:effectLst/>
                          <a:latin typeface="Cambria Math" panose="02040503050406030204" pitchFamily="18" charset="0"/>
                          <a:ea typeface="黑体" panose="02010609060101010101" charset="-122"/>
                        </a:rPr>
                        <m:t>=</m:t>
                      </m:r>
                      <m:f>
                        <m:fPr>
                          <m:type m:val="bar"/>
                          <m:ctrlPr>
                            <a:rPr lang="zh-CN" altLang="zh-CN" sz="2800" b="1" i="1" kern="100">
                              <a:effectLst/>
                              <a:latin typeface="Cambria Math" panose="02040503050406030204" pitchFamily="18" charset="0"/>
                              <a:ea typeface="Cambria Math" panose="02040503050406030204" pitchFamily="18" charset="0"/>
                            </a:rPr>
                          </m:ctrlPr>
                        </m:fPr>
                        <m:num>
                          <m:r>
                            <m:rPr>
                              <m:sty m:val="bi"/>
                            </m:rPr>
                            <a:rPr lang="en-US" altLang="zh-CN" sz="2800" b="1" i="1" kern="100">
                              <a:effectLst/>
                              <a:latin typeface="Cambria Math" panose="02040503050406030204" pitchFamily="18" charset="0"/>
                              <a:ea typeface="黑体" panose="02010609060101010101" charset="-122"/>
                            </a:rPr>
                            <m:t>𝟓</m:t>
                          </m:r>
                        </m:num>
                        <m:den>
                          <m:r>
                            <m:rPr>
                              <m:sty m:val="bi"/>
                            </m:rPr>
                            <a:rPr lang="en-US" altLang="zh-CN" sz="2800" b="1" i="1" kern="100">
                              <a:effectLst/>
                              <a:latin typeface="Cambria Math" panose="02040503050406030204" pitchFamily="18" charset="0"/>
                              <a:ea typeface="黑体" panose="02010609060101010101" charset="-122"/>
                            </a:rPr>
                            <m:t>𝟐</m:t>
                          </m:r>
                        </m:den>
                      </m:f>
                      <m:r>
                        <m:rPr>
                          <m:sty m:val="bi"/>
                        </m:rPr>
                        <a:rPr lang="en-US" altLang="zh-CN" sz="2800" b="1" i="1" kern="100">
                          <a:effectLst/>
                          <a:latin typeface="Cambria Math" panose="02040503050406030204" pitchFamily="18" charset="0"/>
                          <a:ea typeface="黑体" panose="02010609060101010101" charset="-122"/>
                        </a:rPr>
                        <m:t>𝝁</m:t>
                      </m:r>
                      <m:r>
                        <m:rPr>
                          <m:sty m:val="bi"/>
                        </m:rPr>
                        <a:rPr lang="en-US" altLang="zh-CN" sz="2800" b="1" i="1" kern="100">
                          <a:effectLst/>
                          <a:latin typeface="Cambria Math" panose="02040503050406030204" pitchFamily="18" charset="0"/>
                          <a:ea typeface="黑体" panose="02010609060101010101" charset="-122"/>
                        </a:rPr>
                        <m:t>𝒎𝒈</m:t>
                      </m:r>
                    </m:oMath>
                  </m:oMathPara>
                </a14:m>
                <a:r>
                  <a:rPr lang="zh-CN" altLang="zh-CN" sz="2800" b="1" kern="100">
                    <a:effectLst/>
                    <a:latin typeface="Times New Roman" panose="02020603050405020304" charset="0"/>
                    <a:ea typeface="黑体" panose="02010609060101010101" charset="-122"/>
                  </a:rPr>
                  <a:t>时，</a:t>
                </a:r>
                <a:r>
                  <a:rPr lang="en-US" altLang="zh-CN" sz="2800" b="1" kern="100">
                    <a:effectLst/>
                    <a:latin typeface="Times New Roman" panose="02020603050405020304" charset="0"/>
                    <a:ea typeface="黑体" panose="02010609060101010101" charset="-122"/>
                  </a:rPr>
                  <a:t>A</a:t>
                </a:r>
                <a:r>
                  <a:rPr lang="zh-CN" altLang="zh-CN" sz="2800" b="1" kern="100">
                    <a:effectLst/>
                    <a:latin typeface="Times New Roman" panose="02020603050405020304" charset="0"/>
                    <a:ea typeface="黑体" panose="02010609060101010101" charset="-122"/>
                  </a:rPr>
                  <a:t>、</a:t>
                </a:r>
                <a:r>
                  <a:rPr lang="en-US" altLang="zh-CN" sz="2800" b="1" kern="100">
                    <a:effectLst/>
                    <a:latin typeface="Times New Roman" panose="02020603050405020304" charset="0"/>
                    <a:ea typeface="黑体" panose="02010609060101010101" charset="-122"/>
                  </a:rPr>
                  <a:t>B</a:t>
                </a:r>
                <a:r>
                  <a:rPr lang="zh-CN" altLang="zh-CN" sz="2800" b="1" kern="100">
                    <a:effectLst/>
                    <a:latin typeface="Times New Roman" panose="02020603050405020304" charset="0"/>
                    <a:ea typeface="黑体" panose="02010609060101010101" charset="-122"/>
                  </a:rPr>
                  <a:t>间的摩擦力为</a:t>
                </a:r>
                <a14:m>
                  <m:oMathPara>
                    <m:oMathParaPr>
                      <m:jc/>
                    </m:oMathParaPr>
                    <m:oMath>
                      <m:f>
                        <m:fPr>
                          <m:type m:val="bar"/>
                          <m:ctrlPr>
                            <a:rPr lang="zh-CN" altLang="zh-CN" sz="2800" b="1" i="1" kern="100">
                              <a:effectLst/>
                              <a:latin typeface="Cambria Math" panose="02040503050406030204" pitchFamily="18" charset="0"/>
                              <a:ea typeface="Cambria Math" panose="02040503050406030204" pitchFamily="18" charset="0"/>
                            </a:rPr>
                          </m:ctrlPr>
                        </m:fPr>
                        <m:num>
                          <m:r>
                            <m:rPr>
                              <m:sty m:val="bi"/>
                            </m:rPr>
                            <a:rPr lang="en-US" altLang="zh-CN" sz="2800" b="1" i="1" kern="100">
                              <a:effectLst/>
                              <a:latin typeface="Cambria Math" panose="02040503050406030204" pitchFamily="18" charset="0"/>
                              <a:ea typeface="黑体" panose="02010609060101010101" charset="-122"/>
                            </a:rPr>
                            <m:t>𝟏𝟏</m:t>
                          </m:r>
                        </m:num>
                        <m:den>
                          <m:r>
                            <m:rPr>
                              <m:sty m:val="bi"/>
                            </m:rPr>
                            <a:rPr lang="en-US" altLang="zh-CN" sz="2800" b="1" i="1" kern="100">
                              <a:effectLst/>
                              <a:latin typeface="Cambria Math" panose="02040503050406030204" pitchFamily="18" charset="0"/>
                              <a:ea typeface="黑体" panose="02010609060101010101" charset="-122"/>
                            </a:rPr>
                            <m:t>𝟔</m:t>
                          </m:r>
                        </m:den>
                      </m:f>
                      <m:r>
                        <m:rPr>
                          <m:sty m:val="bi"/>
                        </m:rPr>
                        <a:rPr lang="en-US" altLang="zh-CN" sz="2800" b="1" i="1" kern="100">
                          <a:effectLst/>
                          <a:latin typeface="Cambria Math" panose="02040503050406030204" pitchFamily="18" charset="0"/>
                          <a:ea typeface="黑体" panose="02010609060101010101" charset="-122"/>
                        </a:rPr>
                        <m:t>𝝁</m:t>
                      </m:r>
                      <m:r>
                        <m:rPr>
                          <m:sty m:val="bi"/>
                        </m:rPr>
                        <a:rPr lang="en-US" altLang="zh-CN" sz="2800" b="1" i="1" kern="100">
                          <a:effectLst/>
                          <a:latin typeface="Cambria Math" panose="02040503050406030204" pitchFamily="18" charset="0"/>
                          <a:ea typeface="黑体" panose="02010609060101010101" charset="-122"/>
                        </a:rPr>
                        <m:t>𝒎𝒈</m:t>
                      </m:r>
                    </m:oMath>
                  </m:oMathPara>
                </a14:m>
                <a:endParaRPr lang="zh-CN" altLang="zh-CN" sz="2800" kern="100">
                  <a:effectLst/>
                  <a:latin typeface="Times New Roman" panose="02020603050405020304" charset="0"/>
                  <a:ea typeface="宋体" panose="02010600030101010101" pitchFamily="2" charset="-122"/>
                </a:endParaRPr>
              </a:p>
            </p:txBody>
          </p:sp>
        </mc:Choice>
        <mc:Fallback>
          <p:sp>
            <p:nvSpPr>
              <p:cNvPr id="5" name="文本框 4"/>
              <p:cNvSpPr txBox="1">
                <a:spLocks noRot="1" noChangeAspect="1" noMove="1" noResize="1" noEditPoints="1" noAdjustHandles="1" noChangeArrowheads="1" noChangeShapeType="1" noTextEdit="1"/>
              </p:cNvSpPr>
              <p:nvPr>
                <p:custDataLst>
                  <p:tags r:id="rId4"/>
                </p:custDataLst>
              </p:nvPr>
            </p:nvSpPr>
            <p:spPr>
              <a:xfrm>
                <a:off x="351790" y="367665"/>
                <a:ext cx="11400790" cy="3729990"/>
              </a:xfrm>
              <a:prstGeom prst="rect">
                <a:avLst/>
              </a:prstGeom>
              <a:blipFill rotWithShape="1">
                <a:blip r:embed="rId5"/>
                <a:stretch>
                  <a:fillRect r="-1337" b="-62853"/>
                </a:stretch>
              </a:blipFill>
            </p:spPr>
            <p:txBody>
              <a:bodyPr/>
              <a:lstStyle/>
              <a:p>
                <a:r>
                  <a:rPr lang="zh-CN" altLang="en-US">
                    <a:noFill/>
                  </a:rPr>
                  <a:t> </a:t>
                </a:r>
              </a:p>
            </p:txBody>
          </p:sp>
        </mc:Fallback>
      </mc:AlternateContent>
      <p:sp>
        <p:nvSpPr>
          <p:cNvPr id="3" name="文本框 2" title=""/>
          <p:cNvSpPr txBox="1"/>
          <p:nvPr>
            <p:custDataLst>
              <p:tags r:id="rId6"/>
            </p:custDataLst>
          </p:nvPr>
        </p:nvSpPr>
        <p:spPr>
          <a:xfrm>
            <a:off x="621188" y="2720900"/>
            <a:ext cx="1042670" cy="507365"/>
          </a:xfrm>
          <a:prstGeom prst="rect">
            <a:avLst/>
          </a:prstGeom>
          <a:noFill/>
        </p:spPr>
        <p:txBody>
          <a:bodyPr wrap="square" rtlCol="0">
            <a:noAutofit/>
          </a:bodyPr>
          <a:lstStyle/>
          <a:p>
            <a:pPr algn="ctr"/>
            <a:r>
              <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rPr>
              <a:t>D</a:t>
            </a:r>
            <a:endParaRPr lang="en-US" altLang="zh-CN" sz="2800" b="1">
              <a:solidFill>
                <a:srgbClr val="FF0000"/>
              </a:solidFill>
              <a:latin typeface="Times New Roman" panose="02020603050405020304" charset="0"/>
              <a:ea typeface="思源黑体 CN Light" panose="020b0400000000000000" pitchFamily="34" charset="-122"/>
              <a:cs typeface="Times New Roman" panose="02020603050405020304" charset="0"/>
            </a:endParaRPr>
          </a:p>
        </p:txBody>
      </p:sp>
      <p:pic>
        <p:nvPicPr>
          <p:cNvPr id="2" name="图片 1" title=""/>
          <p:cNvPicPr>
            <a:picLocks noChangeAspect="1"/>
          </p:cNvPicPr>
          <p:nvPr>
            <p:custDataLst>
              <p:tags r:id="rId8"/>
            </p:custDataLst>
          </p:nvPr>
        </p:nvPicPr>
        <p:blipFill>
          <a:blip r:embed="rId7"/>
          <a:stretch>
            <a:fillRect/>
          </a:stretch>
        </p:blipFill>
        <p:spPr>
          <a:xfrm>
            <a:off x="7874000" y="3749675"/>
            <a:ext cx="3736340" cy="1530350"/>
          </a:xfrm>
          <a:prstGeom prst="rect">
            <a:avLst/>
          </a:prstGeom>
        </p:spPr>
      </p:pic>
    </p:spTree>
    <p:custDataLst>
      <p:tags r:id="rId9"/>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mc:AlternateContent>
        <mc:Choice Requires="a14">
          <p:sp>
            <p:nvSpPr>
              <p:cNvPr id="3" name="文本框 2" title=""/>
              <p:cNvSpPr txBox="1"/>
              <p:nvPr>
                <p:custDataLst>
                  <p:tags r:id="rId3"/>
                </p:custDataLst>
              </p:nvPr>
            </p:nvSpPr>
            <p:spPr>
              <a:xfrm>
                <a:off x="408940" y="326390"/>
                <a:ext cx="11455400" cy="5557520"/>
              </a:xfrm>
              <a:prstGeom prst="rect">
                <a:avLst/>
              </a:prstGeom>
              <a:noFill/>
            </p:spPr>
            <p:txBody>
              <a:bodyPr wrap="square">
                <a:noAutofit/>
              </a:bodyPr>
              <a:lstStyle/>
              <a:p>
                <a:pPr algn="l">
                  <a:lnSpc>
                    <a:spcPct val="150000"/>
                  </a:lnSpc>
                </a:pPr>
                <a:r>
                  <a:rPr lang="zh-CN" altLang="zh-CN" sz="1800" b="1" kern="100">
                    <a:effectLst/>
                    <a:latin typeface="Times New Roman" panose="02020603050405020304" charset="0"/>
                    <a:ea typeface="黑体" panose="02010609060101010101" charset="-122"/>
                  </a:rPr>
                  <a:t>【答案】</a:t>
                </a:r>
                <a:r>
                  <a:rPr lang="en-US" altLang="zh-CN" sz="1800" b="1" kern="100">
                    <a:effectLst/>
                    <a:latin typeface="Times New Roman" panose="02020603050405020304" charset="0"/>
                    <a:ea typeface="黑体" panose="02010609060101010101" charset="-122"/>
                  </a:rPr>
                  <a:t>D</a:t>
                </a:r>
                <a:endParaRPr lang="zh-CN" altLang="zh-CN" sz="1800" kern="100">
                  <a:effectLst/>
                  <a:latin typeface="Times New Roman" panose="02020603050405020304" charset="0"/>
                  <a:ea typeface="宋体" panose="02010600030101010101" pitchFamily="2" charset="-122"/>
                </a:endParaRPr>
              </a:p>
              <a:p>
                <a:pPr algn="l">
                  <a:lnSpc>
                    <a:spcPct val="150000"/>
                  </a:lnSpc>
                </a:pPr>
                <a:r>
                  <a:rPr lang="zh-CN" altLang="zh-CN" sz="1800" b="1" kern="100">
                    <a:effectLst/>
                    <a:latin typeface="Times New Roman" panose="02020603050405020304" charset="0"/>
                    <a:ea typeface="黑体" panose="02010609060101010101" charset="-122"/>
                  </a:rPr>
                  <a:t>【详解】</a:t>
                </a:r>
                <a:r>
                  <a:rPr lang="en-US" altLang="zh-CN" sz="1800" b="1" kern="100">
                    <a:effectLst/>
                    <a:latin typeface="Times New Roman" panose="02020603050405020304" charset="0"/>
                    <a:ea typeface="黑体" panose="02010609060101010101" charset="-122"/>
                  </a:rPr>
                  <a:t>A</a:t>
                </a:r>
                <a:r>
                  <a:rPr lang="zh-CN" altLang="zh-CN" sz="1800" b="1" kern="100">
                    <a:effectLst/>
                    <a:latin typeface="Times New Roman" panose="02020603050405020304" charset="0"/>
                    <a:ea typeface="黑体" panose="02010609060101010101" charset="-122"/>
                  </a:rPr>
                  <a:t>．</a:t>
                </a:r>
                <a:r>
                  <a:rPr lang="en-US" altLang="zh-CN" sz="1800" b="1" kern="100">
                    <a:effectLst/>
                    <a:latin typeface="Times New Roman" panose="02020603050405020304" charset="0"/>
                    <a:ea typeface="黑体" panose="02010609060101010101" charset="-122"/>
                  </a:rPr>
                  <a:t>A</a:t>
                </a:r>
                <a:r>
                  <a:rPr lang="zh-CN" altLang="zh-CN" sz="1800" b="1" kern="100">
                    <a:effectLst/>
                    <a:latin typeface="Times New Roman" panose="02020603050405020304" charset="0"/>
                    <a:ea typeface="黑体" panose="02010609060101010101" charset="-122"/>
                  </a:rPr>
                  <a:t>与</a:t>
                </a:r>
                <a:r>
                  <a:rPr lang="en-US" altLang="zh-CN" sz="1800" b="1" kern="100">
                    <a:effectLst/>
                    <a:latin typeface="Times New Roman" panose="02020603050405020304" charset="0"/>
                    <a:ea typeface="黑体" panose="02010609060101010101" charset="-122"/>
                  </a:rPr>
                  <a:t>B</a:t>
                </a:r>
                <a:r>
                  <a:rPr lang="zh-CN" altLang="zh-CN" sz="1800" b="1" kern="100">
                    <a:effectLst/>
                    <a:latin typeface="Times New Roman" panose="02020603050405020304" charset="0"/>
                    <a:ea typeface="黑体" panose="02010609060101010101" charset="-122"/>
                  </a:rPr>
                  <a:t>之间的最大静摩擦力为</a:t>
                </a:r>
                <a14:m>
                  <m:oMathPara>
                    <m:oMathParaPr>
                      <m:jc/>
                    </m:oMathParaPr>
                    <m:oMath>
                      <m:r>
                        <m:rPr>
                          <m:sty m:val="bi"/>
                        </m:rPr>
                        <a:rPr lang="en-US" altLang="zh-CN" sz="1800" b="1" i="1" kern="100">
                          <a:effectLst/>
                          <a:latin typeface="Cambria Math" panose="02040503050406030204" pitchFamily="18" charset="0"/>
                          <a:ea typeface="黑体" panose="02010609060101010101" charset="-122"/>
                        </a:rPr>
                        <m:t>𝟐</m:t>
                      </m:r>
                      <m:r>
                        <m:rPr>
                          <m:sty m:val="bi"/>
                        </m:rPr>
                        <a:rPr lang="en-US" altLang="zh-CN" sz="1800" b="1" i="1" kern="100">
                          <a:effectLst/>
                          <a:latin typeface="Cambria Math" panose="02040503050406030204" pitchFamily="18" charset="0"/>
                          <a:ea typeface="黑体" panose="02010609060101010101" charset="-122"/>
                        </a:rPr>
                        <m:t>𝝁</m:t>
                      </m:r>
                      <m:r>
                        <m:rPr>
                          <m:sty m:val="bi"/>
                        </m:rPr>
                        <a:rPr lang="en-US" altLang="zh-CN" sz="1800" b="1" i="1" kern="100">
                          <a:effectLst/>
                          <a:latin typeface="Cambria Math" panose="02040503050406030204" pitchFamily="18" charset="0"/>
                          <a:ea typeface="黑体" panose="02010609060101010101" charset="-122"/>
                        </a:rPr>
                        <m:t>𝒎𝒈</m:t>
                      </m:r>
                    </m:oMath>
                  </m:oMathPara>
                </a14:m>
                <a:r>
                  <a:rPr lang="zh-CN" altLang="zh-CN" sz="1800" b="1" kern="100">
                    <a:effectLst/>
                    <a:latin typeface="Times New Roman" panose="02020603050405020304" charset="0"/>
                    <a:ea typeface="黑体" panose="02010609060101010101" charset="-122"/>
                  </a:rPr>
                  <a:t>，</a:t>
                </a:r>
                <a:r>
                  <a:rPr lang="en-US" altLang="zh-CN" sz="1800" b="1" kern="100">
                    <a:effectLst/>
                    <a:latin typeface="Times New Roman" panose="02020603050405020304" charset="0"/>
                    <a:ea typeface="黑体" panose="02010609060101010101" charset="-122"/>
                  </a:rPr>
                  <a:t>B</a:t>
                </a:r>
                <a:r>
                  <a:rPr lang="zh-CN" altLang="zh-CN" sz="1800" b="1" kern="100">
                    <a:effectLst/>
                    <a:latin typeface="Times New Roman" panose="02020603050405020304" charset="0"/>
                    <a:ea typeface="黑体" panose="02010609060101010101" charset="-122"/>
                  </a:rPr>
                  <a:t>与地面之间的摩擦力最大值为</a:t>
                </a:r>
                <a14:m>
                  <m:oMathPara>
                    <m:oMathParaPr>
                      <m:jc/>
                    </m:oMathParaPr>
                    <m:oMath>
                      <m:f>
                        <m:fPr>
                          <m:type m:val="bar"/>
                          <m:ctrlPr>
                            <a:rPr lang="zh-CN" altLang="zh-CN" sz="1800" b="1" i="1" kern="100">
                              <a:effectLst/>
                              <a:latin typeface="Cambria Math" panose="02040503050406030204" pitchFamily="18" charset="0"/>
                              <a:ea typeface="Cambria Math" panose="02040503050406030204" pitchFamily="18" charset="0"/>
                            </a:rPr>
                          </m:ctrlPr>
                        </m:fPr>
                        <m:num>
                          <m:r>
                            <m:rPr>
                              <m:sty m:val="bi"/>
                            </m:rPr>
                            <a:rPr lang="en-US" altLang="zh-CN" sz="1800" b="1" i="1" kern="100">
                              <a:effectLst/>
                              <a:latin typeface="Cambria Math" panose="02040503050406030204" pitchFamily="18" charset="0"/>
                              <a:ea typeface="黑体" panose="02010609060101010101" charset="-122"/>
                            </a:rPr>
                            <m:t>𝟏</m:t>
                          </m:r>
                        </m:num>
                        <m:den>
                          <m:r>
                            <m:rPr>
                              <m:sty m:val="bi"/>
                            </m:rPr>
                            <a:rPr lang="en-US" altLang="zh-CN" sz="1800" b="1" i="1" kern="100">
                              <a:effectLst/>
                              <a:latin typeface="Cambria Math" panose="02040503050406030204" pitchFamily="18" charset="0"/>
                              <a:ea typeface="黑体" panose="02010609060101010101" charset="-122"/>
                            </a:rPr>
                            <m:t>𝟐</m:t>
                          </m:r>
                        </m:den>
                      </m:f>
                      <m:r>
                        <m:rPr>
                          <m:sty m:val="bi"/>
                        </m:rPr>
                        <a:rPr lang="en-US" altLang="zh-CN" sz="1800" b="1" i="1" kern="100">
                          <a:effectLst/>
                          <a:latin typeface="Cambria Math" panose="02040503050406030204" pitchFamily="18" charset="0"/>
                          <a:ea typeface="黑体" panose="02010609060101010101" charset="-122"/>
                        </a:rPr>
                        <m:t>𝝁</m:t>
                      </m:r>
                      <m:r>
                        <m:rPr>
                          <m:sty m:val="b"/>
                        </m:rPr>
                        <a:rPr lang="zh-CN" altLang="zh-CN" sz="1800" b="1" kern="100">
                          <a:effectLst/>
                          <a:latin typeface="Cambria Math" panose="02040503050406030204" pitchFamily="18" charset="0"/>
                          <a:ea typeface="黑体" panose="02010609060101010101" charset="-122"/>
                        </a:rPr>
                        <m:t>（</m:t>
                      </m:r>
                      <m:r>
                        <m:rPr>
                          <m:sty m:val="bi"/>
                        </m:rPr>
                        <a:rPr lang="en-US" altLang="zh-CN" sz="1800" b="1" i="1" kern="100">
                          <a:effectLst/>
                          <a:latin typeface="Cambria Math" panose="02040503050406030204" pitchFamily="18" charset="0"/>
                          <a:ea typeface="黑体" panose="02010609060101010101" charset="-122"/>
                        </a:rPr>
                        <m:t>𝟐</m:t>
                      </m:r>
                      <m:r>
                        <m:rPr>
                          <m:sty m:val="bi"/>
                        </m:rPr>
                        <a:rPr lang="en-US" altLang="zh-CN" sz="1800" b="1" i="1" kern="100">
                          <a:effectLst/>
                          <a:latin typeface="Cambria Math" panose="02040503050406030204" pitchFamily="18" charset="0"/>
                          <a:ea typeface="黑体" panose="02010609060101010101" charset="-122"/>
                        </a:rPr>
                        <m:t>𝒎</m:t>
                      </m:r>
                      <m:r>
                        <m:rPr>
                          <m:sty m:val="bi"/>
                        </m:rPr>
                        <a:rPr lang="en-US" altLang="zh-CN" sz="1800" b="1" i="1" kern="100">
                          <a:effectLst/>
                          <a:latin typeface="Cambria Math" panose="02040503050406030204" pitchFamily="18" charset="0"/>
                          <a:ea typeface="黑体" panose="02010609060101010101" charset="-122"/>
                        </a:rPr>
                        <m:t>+</m:t>
                      </m:r>
                      <m:r>
                        <m:rPr>
                          <m:sty m:val="bi"/>
                        </m:rPr>
                        <a:rPr lang="en-US" altLang="zh-CN" sz="1800" b="1" i="1" kern="100">
                          <a:effectLst/>
                          <a:latin typeface="Cambria Math" panose="02040503050406030204" pitchFamily="18" charset="0"/>
                          <a:ea typeface="黑体" panose="02010609060101010101" charset="-122"/>
                        </a:rPr>
                        <m:t>𝒎</m:t>
                      </m:r>
                      <m:r>
                        <m:rPr>
                          <m:sty m:val="b"/>
                        </m:rPr>
                        <a:rPr lang="zh-CN" altLang="zh-CN" sz="1800" b="1" kern="100">
                          <a:effectLst/>
                          <a:latin typeface="Cambria Math" panose="02040503050406030204" pitchFamily="18" charset="0"/>
                          <a:ea typeface="黑体" panose="02010609060101010101" charset="-122"/>
                        </a:rPr>
                        <m:t>）</m:t>
                      </m:r>
                      <m:r>
                        <m:rPr>
                          <m:sty m:val="bi"/>
                        </m:rPr>
                        <a:rPr lang="en-US" altLang="zh-CN" sz="1800" b="1" i="1" kern="100">
                          <a:effectLst/>
                          <a:latin typeface="Cambria Math" panose="02040503050406030204" pitchFamily="18" charset="0"/>
                          <a:ea typeface="黑体" panose="02010609060101010101" charset="-122"/>
                        </a:rPr>
                        <m:t>𝒈</m:t>
                      </m:r>
                      <m:r>
                        <m:rPr>
                          <m:sty m:val="bi"/>
                        </m:rPr>
                        <a:rPr lang="en-US" altLang="zh-CN" sz="1800" b="1" i="1" kern="100">
                          <a:effectLst/>
                          <a:latin typeface="Cambria Math" panose="02040503050406030204" pitchFamily="18" charset="0"/>
                          <a:ea typeface="黑体" panose="02010609060101010101" charset="-122"/>
                        </a:rPr>
                        <m:t>=</m:t>
                      </m:r>
                      <m:f>
                        <m:fPr>
                          <m:type m:val="bar"/>
                          <m:ctrlPr>
                            <a:rPr lang="zh-CN" altLang="zh-CN" sz="1800" b="1" i="1" kern="100">
                              <a:effectLst/>
                              <a:latin typeface="Cambria Math" panose="02040503050406030204" pitchFamily="18" charset="0"/>
                              <a:ea typeface="Cambria Math" panose="02040503050406030204" pitchFamily="18" charset="0"/>
                            </a:rPr>
                          </m:ctrlPr>
                        </m:fPr>
                        <m:num>
                          <m:r>
                            <m:rPr>
                              <m:sty m:val="bi"/>
                            </m:rPr>
                            <a:rPr lang="en-US" altLang="zh-CN" sz="1800" b="1" i="1" kern="100">
                              <a:effectLst/>
                              <a:latin typeface="Cambria Math" panose="02040503050406030204" pitchFamily="18" charset="0"/>
                              <a:ea typeface="黑体" panose="02010609060101010101" charset="-122"/>
                            </a:rPr>
                            <m:t>𝟑</m:t>
                          </m:r>
                        </m:num>
                        <m:den>
                          <m:r>
                            <m:rPr>
                              <m:sty m:val="bi"/>
                            </m:rPr>
                            <a:rPr lang="en-US" altLang="zh-CN" sz="1800" b="1" i="1" kern="100">
                              <a:effectLst/>
                              <a:latin typeface="Cambria Math" panose="02040503050406030204" pitchFamily="18" charset="0"/>
                              <a:ea typeface="黑体" panose="02010609060101010101" charset="-122"/>
                            </a:rPr>
                            <m:t>𝟐</m:t>
                          </m:r>
                        </m:den>
                      </m:f>
                      <m:r>
                        <m:rPr>
                          <m:sty m:val="bi"/>
                        </m:rPr>
                        <a:rPr lang="en-US" altLang="zh-CN" sz="1800" b="1" i="1" kern="100">
                          <a:effectLst/>
                          <a:latin typeface="Cambria Math" panose="02040503050406030204" pitchFamily="18" charset="0"/>
                          <a:ea typeface="黑体" panose="02010609060101010101" charset="-122"/>
                        </a:rPr>
                        <m:t>𝝁</m:t>
                      </m:r>
                      <m:r>
                        <m:rPr>
                          <m:sty m:val="bi"/>
                        </m:rPr>
                        <a:rPr lang="en-US" altLang="zh-CN" sz="1800" b="1" i="1" kern="100">
                          <a:effectLst/>
                          <a:latin typeface="Cambria Math" panose="02040503050406030204" pitchFamily="18" charset="0"/>
                          <a:ea typeface="黑体" panose="02010609060101010101" charset="-122"/>
                        </a:rPr>
                        <m:t>𝒎𝒈</m:t>
                      </m:r>
                    </m:oMath>
                  </m:oMathPara>
                </a14:m>
                <a:r>
                  <a:rPr lang="zh-CN" altLang="zh-CN" sz="1800" b="1" kern="100">
                    <a:effectLst/>
                    <a:latin typeface="Times New Roman" panose="02020603050405020304" charset="0"/>
                    <a:ea typeface="黑体" panose="02010609060101010101" charset="-122"/>
                  </a:rPr>
                  <a:t>当</a:t>
                </a:r>
                <a14:m>
                  <m:oMathPara>
                    <m:oMathParaPr>
                      <m:jc/>
                    </m:oMathParaPr>
                    <m:oMath>
                      <m:f>
                        <m:fPr>
                          <m:type m:val="bar"/>
                          <m:ctrlPr>
                            <a:rPr lang="zh-CN" altLang="zh-CN" sz="1800" b="1" i="1" kern="100">
                              <a:effectLst/>
                              <a:latin typeface="Cambria Math" panose="02040503050406030204" pitchFamily="18" charset="0"/>
                              <a:ea typeface="Cambria Math" panose="02040503050406030204" pitchFamily="18" charset="0"/>
                            </a:rPr>
                          </m:ctrlPr>
                        </m:fPr>
                        <m:num>
                          <m:r>
                            <m:rPr>
                              <m:sty m:val="bi"/>
                            </m:rPr>
                            <a:rPr lang="en-US" altLang="zh-CN" sz="1800" b="1" i="1" kern="100">
                              <a:effectLst/>
                              <a:latin typeface="Cambria Math" panose="02040503050406030204" pitchFamily="18" charset="0"/>
                              <a:ea typeface="黑体" panose="02010609060101010101" charset="-122"/>
                            </a:rPr>
                            <m:t>𝟑</m:t>
                          </m:r>
                        </m:num>
                        <m:den>
                          <m:r>
                            <m:rPr>
                              <m:sty m:val="bi"/>
                            </m:rPr>
                            <a:rPr lang="en-US" altLang="zh-CN" sz="1800" b="1" i="1" kern="100">
                              <a:effectLst/>
                              <a:latin typeface="Cambria Math" panose="02040503050406030204" pitchFamily="18" charset="0"/>
                              <a:ea typeface="黑体" panose="02010609060101010101" charset="-122"/>
                            </a:rPr>
                            <m:t>𝟐</m:t>
                          </m:r>
                        </m:den>
                      </m:f>
                      <m:r>
                        <m:rPr>
                          <m:sty m:val="bi"/>
                        </m:rPr>
                        <a:rPr lang="en-US" altLang="zh-CN" sz="1800" b="1" i="1" kern="100">
                          <a:effectLst/>
                          <a:latin typeface="Cambria Math" panose="02040503050406030204" pitchFamily="18" charset="0"/>
                          <a:ea typeface="黑体" panose="02010609060101010101" charset="-122"/>
                        </a:rPr>
                        <m:t>𝝁</m:t>
                      </m:r>
                      <m:r>
                        <m:rPr>
                          <m:sty m:val="bi"/>
                        </m:rPr>
                        <a:rPr lang="en-US" altLang="zh-CN" sz="1800" b="1" i="1" kern="100">
                          <a:effectLst/>
                          <a:latin typeface="Cambria Math" panose="02040503050406030204" pitchFamily="18" charset="0"/>
                          <a:ea typeface="黑体" panose="02010609060101010101" charset="-122"/>
                        </a:rPr>
                        <m:t>𝒎𝒈</m:t>
                      </m:r>
                      <m:r>
                        <m:rPr>
                          <m:sty m:val="bi"/>
                        </m:rPr>
                        <a:rPr lang="en-US" altLang="zh-CN" sz="1800" b="1" i="1" kern="100">
                          <a:effectLst/>
                          <a:latin typeface="Cambria Math" panose="02040503050406030204" pitchFamily="18" charset="0"/>
                          <a:ea typeface="黑体" panose="02010609060101010101" charset="-122"/>
                        </a:rPr>
                        <m:t>&lt;</m:t>
                      </m:r>
                      <m:r>
                        <m:rPr>
                          <m:sty m:val="bi"/>
                        </m:rPr>
                        <a:rPr lang="en-US" altLang="zh-CN" sz="1800" b="1" i="1" kern="100">
                          <a:effectLst/>
                          <a:latin typeface="Cambria Math" panose="02040503050406030204" pitchFamily="18" charset="0"/>
                          <a:ea typeface="黑体" panose="02010609060101010101" charset="-122"/>
                        </a:rPr>
                        <m:t>𝑭</m:t>
                      </m:r>
                      <m:r>
                        <m:rPr>
                          <m:sty m:val="bi"/>
                        </m:rPr>
                        <a:rPr lang="en-US" altLang="zh-CN" sz="1800" b="1" i="1" kern="100">
                          <a:effectLst/>
                          <a:latin typeface="Cambria Math" panose="02040503050406030204" pitchFamily="18" charset="0"/>
                          <a:ea typeface="黑体" panose="02010609060101010101" charset="-122"/>
                        </a:rPr>
                        <m:t>&lt;</m:t>
                      </m:r>
                      <m:r>
                        <m:rPr>
                          <m:sty m:val="bi"/>
                        </m:rPr>
                        <a:rPr lang="en-US" altLang="zh-CN" sz="1800" b="1" i="1" kern="100">
                          <a:effectLst/>
                          <a:latin typeface="Cambria Math" panose="02040503050406030204" pitchFamily="18" charset="0"/>
                          <a:ea typeface="黑体" panose="02010609060101010101" charset="-122"/>
                        </a:rPr>
                        <m:t>𝟐</m:t>
                      </m:r>
                      <m:r>
                        <m:rPr>
                          <m:sty m:val="bi"/>
                        </m:rPr>
                        <a:rPr lang="en-US" altLang="zh-CN" sz="1800" b="1" i="1" kern="100">
                          <a:effectLst/>
                          <a:latin typeface="Cambria Math" panose="02040503050406030204" pitchFamily="18" charset="0"/>
                          <a:ea typeface="黑体" panose="02010609060101010101" charset="-122"/>
                        </a:rPr>
                        <m:t>𝝁</m:t>
                      </m:r>
                      <m:r>
                        <m:rPr>
                          <m:sty m:val="bi"/>
                        </m:rPr>
                        <a:rPr lang="en-US" altLang="zh-CN" sz="1800" b="1" i="1" kern="100">
                          <a:effectLst/>
                          <a:latin typeface="Cambria Math" panose="02040503050406030204" pitchFamily="18" charset="0"/>
                          <a:ea typeface="黑体" panose="02010609060101010101" charset="-122"/>
                        </a:rPr>
                        <m:t>𝒎𝒈</m:t>
                      </m:r>
                    </m:oMath>
                  </m:oMathPara>
                </a14:m>
                <a:r>
                  <a:rPr lang="zh-CN" altLang="zh-CN" sz="1800" b="1" kern="100">
                    <a:effectLst/>
                    <a:latin typeface="Times New Roman" panose="02020603050405020304" charset="0"/>
                    <a:ea typeface="黑体" panose="02010609060101010101" charset="-122"/>
                  </a:rPr>
                  <a:t>时，</a:t>
                </a:r>
                <a:r>
                  <a:rPr lang="en-US" altLang="zh-CN" sz="1800" b="1" kern="100">
                    <a:effectLst/>
                    <a:latin typeface="Times New Roman" panose="02020603050405020304" charset="0"/>
                    <a:ea typeface="黑体" panose="02010609060101010101" charset="-122"/>
                  </a:rPr>
                  <a:t>A</a:t>
                </a:r>
                <a:r>
                  <a:rPr lang="zh-CN" altLang="zh-CN" sz="1800" b="1" kern="100">
                    <a:effectLst/>
                    <a:latin typeface="Times New Roman" panose="02020603050405020304" charset="0"/>
                    <a:ea typeface="黑体" panose="02010609060101010101" charset="-122"/>
                  </a:rPr>
                  <a:t>和</a:t>
                </a:r>
                <a:r>
                  <a:rPr lang="en-US" altLang="zh-CN" sz="1800" b="1" kern="100">
                    <a:effectLst/>
                    <a:latin typeface="Times New Roman" panose="02020603050405020304" charset="0"/>
                    <a:ea typeface="黑体" panose="02010609060101010101" charset="-122"/>
                  </a:rPr>
                  <a:t>B</a:t>
                </a:r>
                <a:r>
                  <a:rPr lang="zh-CN" altLang="zh-CN" sz="1800" b="1" kern="100">
                    <a:effectLst/>
                    <a:latin typeface="Times New Roman" panose="02020603050405020304" charset="0"/>
                    <a:ea typeface="黑体" panose="02010609060101010101" charset="-122"/>
                  </a:rPr>
                  <a:t>会发生滑动，故</a:t>
                </a:r>
                <a:r>
                  <a:rPr lang="en-US" altLang="zh-CN" sz="1800" b="1" kern="100">
                    <a:effectLst/>
                    <a:latin typeface="Times New Roman" panose="02020603050405020304" charset="0"/>
                    <a:ea typeface="黑体" panose="02010609060101010101" charset="-122"/>
                  </a:rPr>
                  <a:t>A</a:t>
                </a:r>
                <a:r>
                  <a:rPr lang="zh-CN" altLang="zh-CN" sz="1800" b="1" kern="100">
                    <a:effectLst/>
                    <a:latin typeface="Times New Roman" panose="02020603050405020304" charset="0"/>
                    <a:ea typeface="黑体" panose="02010609060101010101" charset="-122"/>
                  </a:rPr>
                  <a:t>错误；</a:t>
                </a:r>
                <a:endParaRPr lang="zh-CN" altLang="zh-CN" sz="1800" kern="100">
                  <a:effectLst/>
                  <a:latin typeface="Times New Roman" panose="02020603050405020304" charset="0"/>
                  <a:ea typeface="宋体" panose="02010600030101010101" pitchFamily="2" charset="-122"/>
                </a:endParaRPr>
              </a:p>
              <a:p>
                <a:pPr algn="l">
                  <a:lnSpc>
                    <a:spcPct val="150000"/>
                  </a:lnSpc>
                </a:pPr>
                <a:r>
                  <a:rPr lang="en-US" altLang="zh-CN" sz="1800" b="1" kern="100">
                    <a:effectLst/>
                    <a:latin typeface="Times New Roman" panose="02020603050405020304" charset="0"/>
                    <a:ea typeface="黑体" panose="02010609060101010101" charset="-122"/>
                  </a:rPr>
                  <a:t>B</a:t>
                </a:r>
                <a:r>
                  <a:rPr lang="zh-CN" altLang="zh-CN" sz="1800" b="1" kern="100">
                    <a:effectLst/>
                    <a:latin typeface="Times New Roman" panose="02020603050405020304" charset="0"/>
                    <a:ea typeface="黑体" panose="02010609060101010101" charset="-122"/>
                  </a:rPr>
                  <a:t>．</a:t>
                </a:r>
                <a:r>
                  <a:rPr lang="en-US" altLang="zh-CN" sz="1800" b="1" i="1" kern="100">
                    <a:effectLst/>
                    <a:latin typeface="Times New Roman" panose="02020603050405020304" charset="0"/>
                    <a:ea typeface="黑体" panose="02010609060101010101" charset="-122"/>
                  </a:rPr>
                  <a:t>F</a:t>
                </a:r>
                <a:r>
                  <a:rPr lang="zh-CN" altLang="zh-CN" sz="1800" b="1" kern="100">
                    <a:effectLst/>
                    <a:latin typeface="Times New Roman" panose="02020603050405020304" charset="0"/>
                    <a:ea typeface="黑体" panose="02010609060101010101" charset="-122"/>
                  </a:rPr>
                  <a:t>足够大时，</a:t>
                </a:r>
                <a:r>
                  <a:rPr lang="en-US" altLang="zh-CN" sz="1800" b="1" kern="100">
                    <a:effectLst/>
                    <a:latin typeface="Times New Roman" panose="02020603050405020304" charset="0"/>
                    <a:ea typeface="黑体" panose="02010609060101010101" charset="-122"/>
                  </a:rPr>
                  <a:t>A</a:t>
                </a:r>
                <a:r>
                  <a:rPr lang="zh-CN" altLang="zh-CN" sz="1800" b="1" kern="100">
                    <a:effectLst/>
                    <a:latin typeface="Times New Roman" panose="02020603050405020304" charset="0"/>
                    <a:ea typeface="黑体" panose="02010609060101010101" charset="-122"/>
                  </a:rPr>
                  <a:t>和</a:t>
                </a:r>
                <a:r>
                  <a:rPr lang="en-US" altLang="zh-CN" sz="1800" b="1" kern="100">
                    <a:effectLst/>
                    <a:latin typeface="Times New Roman" panose="02020603050405020304" charset="0"/>
                    <a:ea typeface="黑体" panose="02010609060101010101" charset="-122"/>
                  </a:rPr>
                  <a:t>B</a:t>
                </a:r>
                <a:r>
                  <a:rPr lang="zh-CN" altLang="zh-CN" sz="1800" b="1" kern="100">
                    <a:effectLst/>
                    <a:latin typeface="Times New Roman" panose="02020603050405020304" charset="0"/>
                    <a:ea typeface="黑体" panose="02010609060101010101" charset="-122"/>
                  </a:rPr>
                  <a:t>之间的摩擦力达到最大值</a:t>
                </a:r>
                <a14:m>
                  <m:oMathPara>
                    <m:oMathParaPr>
                      <m:jc/>
                    </m:oMathParaPr>
                    <m:oMath>
                      <m:r>
                        <m:rPr>
                          <m:sty m:val="bi"/>
                        </m:rPr>
                        <a:rPr lang="en-US" altLang="zh-CN" sz="1800" b="1" i="1" kern="100">
                          <a:effectLst/>
                          <a:latin typeface="Cambria Math" panose="02040503050406030204" pitchFamily="18" charset="0"/>
                          <a:ea typeface="黑体" panose="02010609060101010101" charset="-122"/>
                        </a:rPr>
                        <m:t>𝟐</m:t>
                      </m:r>
                      <m:r>
                        <m:rPr>
                          <m:sty m:val="bi"/>
                        </m:rPr>
                        <a:rPr lang="en-US" altLang="zh-CN" sz="1800" b="1" i="1" kern="100">
                          <a:effectLst/>
                          <a:latin typeface="Cambria Math" panose="02040503050406030204" pitchFamily="18" charset="0"/>
                          <a:ea typeface="黑体" panose="02010609060101010101" charset="-122"/>
                        </a:rPr>
                        <m:t>𝝁</m:t>
                      </m:r>
                      <m:r>
                        <m:rPr>
                          <m:sty m:val="bi"/>
                        </m:rPr>
                        <a:rPr lang="en-US" altLang="zh-CN" sz="1800" b="1" i="1" kern="100">
                          <a:effectLst/>
                          <a:latin typeface="Cambria Math" panose="02040503050406030204" pitchFamily="18" charset="0"/>
                          <a:ea typeface="黑体" panose="02010609060101010101" charset="-122"/>
                        </a:rPr>
                        <m:t>𝒎𝒈</m:t>
                      </m:r>
                    </m:oMath>
                  </m:oMathPara>
                </a14:m>
                <a:r>
                  <a:rPr lang="zh-CN" altLang="zh-CN" sz="1800" b="1" kern="100">
                    <a:effectLst/>
                    <a:latin typeface="Times New Roman" panose="02020603050405020304" charset="0"/>
                    <a:ea typeface="黑体" panose="02010609060101010101" charset="-122"/>
                  </a:rPr>
                  <a:t>，此时</a:t>
                </a:r>
                <a:r>
                  <a:rPr lang="en-US" altLang="zh-CN" sz="1800" b="1" kern="100">
                    <a:effectLst/>
                    <a:latin typeface="Times New Roman" panose="02020603050405020304" charset="0"/>
                    <a:ea typeface="黑体" panose="02010609060101010101" charset="-122"/>
                  </a:rPr>
                  <a:t>B</a:t>
                </a:r>
                <a:r>
                  <a:rPr lang="zh-CN" altLang="zh-CN" sz="1800" b="1" kern="100">
                    <a:effectLst/>
                    <a:latin typeface="Times New Roman" panose="02020603050405020304" charset="0"/>
                    <a:ea typeface="黑体" panose="02010609060101010101" charset="-122"/>
                  </a:rPr>
                  <a:t>的加速度为</a:t>
                </a:r>
                <a14:m>
                  <m:oMathPara>
                    <m:oMathParaPr>
                      <m:jc/>
                    </m:oMathParaPr>
                    <m:oMath>
                      <m:sSub>
                        <m:sSubPr>
                          <m:ctrlPr>
                            <a:rPr lang="zh-CN" altLang="zh-CN" sz="1800" b="1" i="1" kern="100">
                              <a:effectLst/>
                              <a:latin typeface="Cambria Math" panose="02040503050406030204" pitchFamily="18" charset="0"/>
                              <a:ea typeface="Cambria Math" panose="02040503050406030204" pitchFamily="18" charset="0"/>
                            </a:rPr>
                          </m:ctrlPr>
                        </m:sSubPr>
                        <m:e>
                          <m:r>
                            <m:rPr>
                              <m:sty m:val="bi"/>
                            </m:rPr>
                            <a:rPr lang="en-US" altLang="zh-CN" sz="1800" b="1" i="1" kern="100">
                              <a:effectLst/>
                              <a:latin typeface="Cambria Math" panose="02040503050406030204" pitchFamily="18" charset="0"/>
                              <a:ea typeface="黑体" panose="02010609060101010101" charset="-122"/>
                            </a:rPr>
                            <m:t>𝒂</m:t>
                          </m:r>
                        </m:e>
                        <m:sub>
                          <m:r>
                            <m:rPr>
                              <m:sty m:val="b"/>
                            </m:rPr>
                            <a:rPr lang="en-US" altLang="zh-CN" sz="1800" b="1" kern="100">
                              <a:effectLst/>
                              <a:latin typeface="Cambria Math" panose="02040503050406030204" pitchFamily="18" charset="0"/>
                              <a:ea typeface="黑体" panose="02010609060101010101" charset="-122"/>
                            </a:rPr>
                            <m:t>𝐁</m:t>
                          </m:r>
                        </m:sub>
                      </m:sSub>
                      <m:r>
                        <m:rPr>
                          <m:sty m:val="bi"/>
                        </m:rPr>
                        <a:rPr lang="en-US" altLang="zh-CN" sz="1800" b="1" i="1" kern="100">
                          <a:effectLst/>
                          <a:latin typeface="Cambria Math" panose="02040503050406030204" pitchFamily="18" charset="0"/>
                          <a:ea typeface="黑体" panose="02010609060101010101" charset="-122"/>
                        </a:rPr>
                        <m:t>=</m:t>
                      </m:r>
                      <m:f>
                        <m:fPr>
                          <m:type m:val="bar"/>
                          <m:ctrlPr>
                            <a:rPr lang="zh-CN" altLang="zh-CN" sz="1800" b="1" i="1" kern="100">
                              <a:effectLst/>
                              <a:latin typeface="Cambria Math" panose="02040503050406030204" pitchFamily="18" charset="0"/>
                              <a:ea typeface="Cambria Math" panose="02040503050406030204" pitchFamily="18" charset="0"/>
                            </a:rPr>
                          </m:ctrlPr>
                        </m:fPr>
                        <m:num>
                          <m:r>
                            <m:rPr>
                              <m:sty m:val="bi"/>
                            </m:rPr>
                            <a:rPr lang="en-US" altLang="zh-CN" sz="1800" b="1" i="1" kern="100">
                              <a:effectLst/>
                              <a:latin typeface="Cambria Math" panose="02040503050406030204" pitchFamily="18" charset="0"/>
                              <a:ea typeface="黑体" panose="02010609060101010101" charset="-122"/>
                            </a:rPr>
                            <m:t>𝟐</m:t>
                          </m:r>
                          <m:r>
                            <m:rPr>
                              <m:sty m:val="bi"/>
                            </m:rPr>
                            <a:rPr lang="en-US" altLang="zh-CN" sz="1800" b="1" i="1" kern="100">
                              <a:effectLst/>
                              <a:latin typeface="Cambria Math" panose="02040503050406030204" pitchFamily="18" charset="0"/>
                              <a:ea typeface="黑体" panose="02010609060101010101" charset="-122"/>
                            </a:rPr>
                            <m:t>𝝁</m:t>
                          </m:r>
                          <m:r>
                            <m:rPr>
                              <m:sty m:val="bi"/>
                            </m:rPr>
                            <a:rPr lang="en-US" altLang="zh-CN" sz="1800" b="1" i="1" kern="100">
                              <a:effectLst/>
                              <a:latin typeface="Cambria Math" panose="02040503050406030204" pitchFamily="18" charset="0"/>
                              <a:ea typeface="黑体" panose="02010609060101010101" charset="-122"/>
                            </a:rPr>
                            <m:t>𝒎𝒈</m:t>
                          </m:r>
                          <m:r>
                            <m:rPr>
                              <m:sty m:val="bi"/>
                            </m:rPr>
                            <a:rPr lang="en-US" altLang="zh-CN" sz="1800" b="1" i="1" kern="100">
                              <a:effectLst/>
                              <a:latin typeface="Cambria Math" panose="02040503050406030204" pitchFamily="18" charset="0"/>
                              <a:ea typeface="黑体" panose="02010609060101010101" charset="-122"/>
                            </a:rPr>
                            <m:t>−</m:t>
                          </m:r>
                          <m:f>
                            <m:fPr>
                              <m:type m:val="bar"/>
                              <m:ctrlPr>
                                <a:rPr lang="zh-CN" altLang="zh-CN" sz="1800" b="1" i="1" kern="100">
                                  <a:effectLst/>
                                  <a:latin typeface="Cambria Math" panose="02040503050406030204" pitchFamily="18" charset="0"/>
                                  <a:ea typeface="Cambria Math" panose="02040503050406030204" pitchFamily="18" charset="0"/>
                                </a:rPr>
                              </m:ctrlPr>
                            </m:fPr>
                            <m:num>
                              <m:r>
                                <m:rPr>
                                  <m:sty m:val="bi"/>
                                </m:rPr>
                                <a:rPr lang="en-US" altLang="zh-CN" sz="1800" b="1" i="1" kern="100">
                                  <a:effectLst/>
                                  <a:latin typeface="Cambria Math" panose="02040503050406030204" pitchFamily="18" charset="0"/>
                                  <a:ea typeface="黑体" panose="02010609060101010101" charset="-122"/>
                                </a:rPr>
                                <m:t>𝟑</m:t>
                              </m:r>
                            </m:num>
                            <m:den>
                              <m:r>
                                <m:rPr>
                                  <m:sty m:val="bi"/>
                                </m:rPr>
                                <a:rPr lang="en-US" altLang="zh-CN" sz="1800" b="1" i="1" kern="100">
                                  <a:effectLst/>
                                  <a:latin typeface="Cambria Math" panose="02040503050406030204" pitchFamily="18" charset="0"/>
                                  <a:ea typeface="黑体" panose="02010609060101010101" charset="-122"/>
                                </a:rPr>
                                <m:t>𝟐</m:t>
                              </m:r>
                            </m:den>
                          </m:f>
                          <m:r>
                            <m:rPr>
                              <m:sty m:val="bi"/>
                            </m:rPr>
                            <a:rPr lang="en-US" altLang="zh-CN" sz="1800" b="1" i="1" kern="100">
                              <a:effectLst/>
                              <a:latin typeface="Cambria Math" panose="02040503050406030204" pitchFamily="18" charset="0"/>
                              <a:ea typeface="黑体" panose="02010609060101010101" charset="-122"/>
                            </a:rPr>
                            <m:t>𝝁</m:t>
                          </m:r>
                          <m:r>
                            <m:rPr>
                              <m:sty m:val="bi"/>
                            </m:rPr>
                            <a:rPr lang="en-US" altLang="zh-CN" sz="1800" b="1" i="1" kern="100">
                              <a:effectLst/>
                              <a:latin typeface="Cambria Math" panose="02040503050406030204" pitchFamily="18" charset="0"/>
                              <a:ea typeface="黑体" panose="02010609060101010101" charset="-122"/>
                            </a:rPr>
                            <m:t>𝒎𝒈</m:t>
                          </m:r>
                        </m:num>
                        <m:den>
                          <m:r>
                            <m:rPr>
                              <m:sty m:val="bi"/>
                            </m:rPr>
                            <a:rPr lang="en-US" altLang="zh-CN" sz="1800" b="1" i="1" kern="100">
                              <a:effectLst/>
                              <a:latin typeface="Cambria Math" panose="02040503050406030204" pitchFamily="18" charset="0"/>
                              <a:ea typeface="黑体" panose="02010609060101010101" charset="-122"/>
                            </a:rPr>
                            <m:t>𝒎</m:t>
                          </m:r>
                        </m:den>
                      </m:f>
                      <m:r>
                        <m:rPr>
                          <m:sty m:val="bi"/>
                        </m:rPr>
                        <a:rPr lang="en-US" altLang="zh-CN" sz="1800" b="1" i="1" kern="100">
                          <a:effectLst/>
                          <a:latin typeface="Cambria Math" panose="02040503050406030204" pitchFamily="18" charset="0"/>
                          <a:ea typeface="黑体" panose="02010609060101010101" charset="-122"/>
                        </a:rPr>
                        <m:t>=</m:t>
                      </m:r>
                      <m:f>
                        <m:fPr>
                          <m:type m:val="bar"/>
                          <m:ctrlPr>
                            <a:rPr lang="zh-CN" altLang="zh-CN" sz="1800" b="1" i="1" kern="100">
                              <a:effectLst/>
                              <a:latin typeface="Cambria Math" panose="02040503050406030204" pitchFamily="18" charset="0"/>
                              <a:ea typeface="Cambria Math" panose="02040503050406030204" pitchFamily="18" charset="0"/>
                            </a:rPr>
                          </m:ctrlPr>
                        </m:fPr>
                        <m:num>
                          <m:r>
                            <m:rPr>
                              <m:sty m:val="bi"/>
                            </m:rPr>
                            <a:rPr lang="en-US" altLang="zh-CN" sz="1800" b="1" i="1" kern="100">
                              <a:effectLst/>
                              <a:latin typeface="Cambria Math" panose="02040503050406030204" pitchFamily="18" charset="0"/>
                              <a:ea typeface="黑体" panose="02010609060101010101" charset="-122"/>
                            </a:rPr>
                            <m:t>𝟏</m:t>
                          </m:r>
                        </m:num>
                        <m:den>
                          <m:r>
                            <m:rPr>
                              <m:sty m:val="bi"/>
                            </m:rPr>
                            <a:rPr lang="en-US" altLang="zh-CN" sz="1800" b="1" i="1" kern="100">
                              <a:effectLst/>
                              <a:latin typeface="Cambria Math" panose="02040503050406030204" pitchFamily="18" charset="0"/>
                              <a:ea typeface="黑体" panose="02010609060101010101" charset="-122"/>
                            </a:rPr>
                            <m:t>𝟐</m:t>
                          </m:r>
                        </m:den>
                      </m:f>
                      <m:r>
                        <m:rPr>
                          <m:sty m:val="bi"/>
                        </m:rPr>
                        <a:rPr lang="en-US" altLang="zh-CN" sz="1800" b="1" i="1" kern="100">
                          <a:effectLst/>
                          <a:latin typeface="Cambria Math" panose="02040503050406030204" pitchFamily="18" charset="0"/>
                          <a:ea typeface="黑体" panose="02010609060101010101" charset="-122"/>
                        </a:rPr>
                        <m:t>𝝁</m:t>
                      </m:r>
                      <m:r>
                        <m:rPr>
                          <m:sty m:val="bi"/>
                        </m:rPr>
                        <a:rPr lang="en-US" altLang="zh-CN" sz="1800" b="1" i="1" kern="100">
                          <a:effectLst/>
                          <a:latin typeface="Cambria Math" panose="02040503050406030204" pitchFamily="18" charset="0"/>
                          <a:ea typeface="黑体" panose="02010609060101010101" charset="-122"/>
                        </a:rPr>
                        <m:t>𝒈</m:t>
                      </m:r>
                    </m:oMath>
                  </m:oMathPara>
                </a14:m>
                <a:r>
                  <a:rPr lang="zh-CN" altLang="zh-CN" sz="1800" b="1" kern="100">
                    <a:effectLst/>
                    <a:latin typeface="Times New Roman" panose="02020603050405020304" charset="0"/>
                    <a:ea typeface="黑体" panose="02010609060101010101" charset="-122"/>
                  </a:rPr>
                  <a:t>因此</a:t>
                </a:r>
                <a:r>
                  <a:rPr lang="en-US" altLang="zh-CN" sz="1800" b="1" kern="100">
                    <a:effectLst/>
                    <a:latin typeface="Times New Roman" panose="02020603050405020304" charset="0"/>
                    <a:ea typeface="黑体" panose="02010609060101010101" charset="-122"/>
                  </a:rPr>
                  <a:t>B</a:t>
                </a:r>
                <a:r>
                  <a:rPr lang="zh-CN" altLang="zh-CN" sz="1800" b="1" kern="100">
                    <a:effectLst/>
                    <a:latin typeface="Times New Roman" panose="02020603050405020304" charset="0"/>
                    <a:ea typeface="黑体" panose="02010609060101010101" charset="-122"/>
                  </a:rPr>
                  <a:t>的加速度不会超过</a:t>
                </a:r>
                <a14:m>
                  <m:oMathPara>
                    <m:oMathParaPr>
                      <m:jc/>
                    </m:oMathParaPr>
                    <m:oMath>
                      <m:f>
                        <m:fPr>
                          <m:type m:val="bar"/>
                          <m:ctrlPr>
                            <a:rPr lang="zh-CN" altLang="zh-CN" sz="1800" b="1" i="1" kern="100">
                              <a:effectLst/>
                              <a:latin typeface="Cambria Math" panose="02040503050406030204" pitchFamily="18" charset="0"/>
                              <a:ea typeface="Cambria Math" panose="02040503050406030204" pitchFamily="18" charset="0"/>
                            </a:rPr>
                          </m:ctrlPr>
                        </m:fPr>
                        <m:num>
                          <m:r>
                            <m:rPr>
                              <m:sty m:val="bi"/>
                            </m:rPr>
                            <a:rPr lang="en-US" altLang="zh-CN" sz="1800" b="1" i="1" kern="100">
                              <a:effectLst/>
                              <a:latin typeface="Cambria Math" panose="02040503050406030204" pitchFamily="18" charset="0"/>
                              <a:ea typeface="黑体" panose="02010609060101010101" charset="-122"/>
                            </a:rPr>
                            <m:t>𝟏</m:t>
                          </m:r>
                        </m:num>
                        <m:den>
                          <m:r>
                            <m:rPr>
                              <m:sty m:val="bi"/>
                            </m:rPr>
                            <a:rPr lang="en-US" altLang="zh-CN" sz="1800" b="1" i="1" kern="100">
                              <a:effectLst/>
                              <a:latin typeface="Cambria Math" panose="02040503050406030204" pitchFamily="18" charset="0"/>
                              <a:ea typeface="黑体" panose="02010609060101010101" charset="-122"/>
                            </a:rPr>
                            <m:t>𝟐</m:t>
                          </m:r>
                        </m:den>
                      </m:f>
                      <m:r>
                        <m:rPr>
                          <m:sty m:val="bi"/>
                        </m:rPr>
                        <a:rPr lang="en-US" altLang="zh-CN" sz="1800" b="1" i="1" kern="100">
                          <a:effectLst/>
                          <a:latin typeface="Cambria Math" panose="02040503050406030204" pitchFamily="18" charset="0"/>
                          <a:ea typeface="黑体" panose="02010609060101010101" charset="-122"/>
                        </a:rPr>
                        <m:t>𝝁</m:t>
                      </m:r>
                      <m:r>
                        <m:rPr>
                          <m:sty m:val="bi"/>
                        </m:rPr>
                        <a:rPr lang="en-US" altLang="zh-CN" sz="1800" b="1" i="1" kern="100">
                          <a:effectLst/>
                          <a:latin typeface="Cambria Math" panose="02040503050406030204" pitchFamily="18" charset="0"/>
                          <a:ea typeface="黑体" panose="02010609060101010101" charset="-122"/>
                        </a:rPr>
                        <m:t>𝒈</m:t>
                      </m:r>
                    </m:oMath>
                  </m:oMathPara>
                </a14:m>
                <a:r>
                  <a:rPr lang="zh-CN" altLang="zh-CN" sz="1800" b="1" kern="100">
                    <a:effectLst/>
                    <a:latin typeface="Times New Roman" panose="02020603050405020304" charset="0"/>
                    <a:ea typeface="黑体" panose="02010609060101010101" charset="-122"/>
                  </a:rPr>
                  <a:t>，故</a:t>
                </a:r>
                <a:r>
                  <a:rPr lang="en-US" altLang="zh-CN" sz="1800" b="1" kern="100">
                    <a:effectLst/>
                    <a:latin typeface="Times New Roman" panose="02020603050405020304" charset="0"/>
                    <a:ea typeface="黑体" panose="02010609060101010101" charset="-122"/>
                  </a:rPr>
                  <a:t>B</a:t>
                </a:r>
                <a:r>
                  <a:rPr lang="zh-CN" altLang="zh-CN" sz="1800" b="1" kern="100">
                    <a:effectLst/>
                    <a:latin typeface="Times New Roman" panose="02020603050405020304" charset="0"/>
                    <a:ea typeface="黑体" panose="02010609060101010101" charset="-122"/>
                  </a:rPr>
                  <a:t>错误；</a:t>
                </a:r>
                <a:endParaRPr lang="zh-CN" altLang="zh-CN" sz="1800" kern="100">
                  <a:effectLst/>
                  <a:latin typeface="Times New Roman" panose="02020603050405020304" charset="0"/>
                  <a:ea typeface="宋体" panose="02010600030101010101" pitchFamily="2" charset="-122"/>
                </a:endParaRPr>
              </a:p>
              <a:p>
                <a:pPr algn="l">
                  <a:lnSpc>
                    <a:spcPct val="150000"/>
                  </a:lnSpc>
                </a:pPr>
                <a:r>
                  <a:rPr lang="en-US" altLang="zh-CN" sz="1800" b="1" kern="100">
                    <a:effectLst/>
                    <a:latin typeface="Times New Roman" panose="02020603050405020304" charset="0"/>
                    <a:ea typeface="黑体" panose="02010609060101010101" charset="-122"/>
                  </a:rPr>
                  <a:t>C</a:t>
                </a:r>
                <a:r>
                  <a:rPr lang="zh-CN" altLang="zh-CN" sz="1800" b="1" kern="100">
                    <a:effectLst/>
                    <a:latin typeface="Times New Roman" panose="02020603050405020304" charset="0"/>
                    <a:ea typeface="黑体" panose="02010609060101010101" charset="-122"/>
                  </a:rPr>
                  <a:t>．</a:t>
                </a:r>
                <a:r>
                  <a:rPr lang="en-US" altLang="zh-CN" sz="1800" b="1" i="1" kern="100">
                    <a:effectLst/>
                    <a:latin typeface="Times New Roman" panose="02020603050405020304" charset="0"/>
                    <a:ea typeface="黑体" panose="02010609060101010101" charset="-122"/>
                  </a:rPr>
                  <a:t>F</a:t>
                </a:r>
                <a:r>
                  <a:rPr lang="zh-CN" altLang="zh-CN" sz="1800" b="1" kern="100">
                    <a:effectLst/>
                    <a:latin typeface="Times New Roman" panose="02020603050405020304" charset="0"/>
                    <a:ea typeface="黑体" panose="02010609060101010101" charset="-122"/>
                  </a:rPr>
                  <a:t>足够大时，</a:t>
                </a:r>
                <a:r>
                  <a:rPr lang="en-US" altLang="zh-CN" sz="1800" b="1" kern="100">
                    <a:effectLst/>
                    <a:latin typeface="Times New Roman" panose="02020603050405020304" charset="0"/>
                    <a:ea typeface="黑体" panose="02010609060101010101" charset="-122"/>
                  </a:rPr>
                  <a:t>A</a:t>
                </a:r>
                <a:r>
                  <a:rPr lang="zh-CN" altLang="zh-CN" sz="1800" b="1" kern="100">
                    <a:effectLst/>
                    <a:latin typeface="Times New Roman" panose="02020603050405020304" charset="0"/>
                    <a:ea typeface="黑体" panose="02010609060101010101" charset="-122"/>
                  </a:rPr>
                  <a:t>和</a:t>
                </a:r>
                <a:r>
                  <a:rPr lang="en-US" altLang="zh-CN" sz="1800" b="1" kern="100">
                    <a:effectLst/>
                    <a:latin typeface="Times New Roman" panose="02020603050405020304" charset="0"/>
                    <a:ea typeface="黑体" panose="02010609060101010101" charset="-122"/>
                  </a:rPr>
                  <a:t>B</a:t>
                </a:r>
                <a:r>
                  <a:rPr lang="zh-CN" altLang="zh-CN" sz="1800" b="1" kern="100">
                    <a:effectLst/>
                    <a:latin typeface="Times New Roman" panose="02020603050405020304" charset="0"/>
                    <a:ea typeface="黑体" panose="02010609060101010101" charset="-122"/>
                  </a:rPr>
                  <a:t>之间的摩擦力达到最大值</a:t>
                </a:r>
                <a14:m>
                  <m:oMathPara>
                    <m:oMathParaPr>
                      <m:jc/>
                    </m:oMathParaPr>
                    <m:oMath>
                      <m:r>
                        <m:rPr>
                          <m:sty m:val="bi"/>
                        </m:rPr>
                        <a:rPr lang="en-US" altLang="zh-CN" sz="1800" b="1" i="1" kern="100">
                          <a:effectLst/>
                          <a:latin typeface="Cambria Math" panose="02040503050406030204" pitchFamily="18" charset="0"/>
                          <a:ea typeface="黑体" panose="02010609060101010101" charset="-122"/>
                        </a:rPr>
                        <m:t>𝟐</m:t>
                      </m:r>
                      <m:r>
                        <m:rPr>
                          <m:sty m:val="bi"/>
                        </m:rPr>
                        <a:rPr lang="en-US" altLang="zh-CN" sz="1800" b="1" i="1" kern="100">
                          <a:effectLst/>
                          <a:latin typeface="Cambria Math" panose="02040503050406030204" pitchFamily="18" charset="0"/>
                          <a:ea typeface="黑体" panose="02010609060101010101" charset="-122"/>
                        </a:rPr>
                        <m:t>𝝁</m:t>
                      </m:r>
                      <m:r>
                        <m:rPr>
                          <m:sty m:val="bi"/>
                        </m:rPr>
                        <a:rPr lang="en-US" altLang="zh-CN" sz="1800" b="1" i="1" kern="100">
                          <a:effectLst/>
                          <a:latin typeface="Cambria Math" panose="02040503050406030204" pitchFamily="18" charset="0"/>
                          <a:ea typeface="黑体" panose="02010609060101010101" charset="-122"/>
                        </a:rPr>
                        <m:t>𝒎𝒈</m:t>
                      </m:r>
                    </m:oMath>
                  </m:oMathPara>
                </a14:m>
                <a:r>
                  <a:rPr lang="zh-CN" altLang="zh-CN" sz="1800" b="1" kern="100">
                    <a:effectLst/>
                    <a:latin typeface="Times New Roman" panose="02020603050405020304" charset="0"/>
                    <a:ea typeface="黑体" panose="02010609060101010101" charset="-122"/>
                  </a:rPr>
                  <a:t>，此时</a:t>
                </a:r>
                <a:r>
                  <a:rPr lang="en-US" altLang="zh-CN" sz="1800" b="1" kern="100">
                    <a:effectLst/>
                    <a:latin typeface="Times New Roman" panose="02020603050405020304" charset="0"/>
                    <a:ea typeface="黑体" panose="02010609060101010101" charset="-122"/>
                  </a:rPr>
                  <a:t>A</a:t>
                </a:r>
                <a:r>
                  <a:rPr lang="zh-CN" altLang="zh-CN" sz="1800" b="1" kern="100">
                    <a:effectLst/>
                    <a:latin typeface="Times New Roman" panose="02020603050405020304" charset="0"/>
                    <a:ea typeface="黑体" panose="02010609060101010101" charset="-122"/>
                  </a:rPr>
                  <a:t>的加速为</a:t>
                </a:r>
                <a14:m>
                  <m:oMathPara>
                    <m:oMathParaPr>
                      <m:jc/>
                    </m:oMathParaPr>
                    <m:oMath>
                      <m:sSub>
                        <m:sSubPr>
                          <m:ctrlPr>
                            <a:rPr lang="zh-CN" altLang="zh-CN" sz="1800" b="1" i="1" kern="100">
                              <a:effectLst/>
                              <a:latin typeface="Cambria Math" panose="02040503050406030204" pitchFamily="18" charset="0"/>
                              <a:ea typeface="Cambria Math" panose="02040503050406030204" pitchFamily="18" charset="0"/>
                            </a:rPr>
                          </m:ctrlPr>
                        </m:sSubPr>
                        <m:e>
                          <m:r>
                            <m:rPr>
                              <m:sty m:val="bi"/>
                            </m:rPr>
                            <a:rPr lang="en-US" altLang="zh-CN" sz="1800" b="1" i="1" kern="100">
                              <a:effectLst/>
                              <a:latin typeface="Cambria Math" panose="02040503050406030204" pitchFamily="18" charset="0"/>
                              <a:ea typeface="黑体" panose="02010609060101010101" charset="-122"/>
                            </a:rPr>
                            <m:t>𝒂</m:t>
                          </m:r>
                        </m:e>
                        <m:sub>
                          <m:r>
                            <m:rPr>
                              <m:sty m:val="b"/>
                            </m:rPr>
                            <a:rPr lang="en-US" altLang="zh-CN" sz="1800" b="1" kern="100">
                              <a:effectLst/>
                              <a:latin typeface="Cambria Math" panose="02040503050406030204" pitchFamily="18" charset="0"/>
                              <a:ea typeface="黑体" panose="02010609060101010101" charset="-122"/>
                            </a:rPr>
                            <m:t>��</m:t>
                          </m:r>
                        </m:sub>
                      </m:sSub>
                      <m:r>
                        <m:rPr>
                          <m:sty m:val="bi"/>
                        </m:rPr>
                        <a:rPr lang="en-US" altLang="zh-CN" sz="1800" b="1" i="1" kern="100">
                          <a:effectLst/>
                          <a:latin typeface="Cambria Math" panose="02040503050406030204" pitchFamily="18" charset="0"/>
                          <a:ea typeface="黑体" panose="02010609060101010101" charset="-122"/>
                        </a:rPr>
                        <m:t>=</m:t>
                      </m:r>
                      <m:f>
                        <m:fPr>
                          <m:type m:val="bar"/>
                          <m:ctrlPr>
                            <a:rPr lang="zh-CN" altLang="zh-CN" sz="1800" b="1" i="1" kern="100">
                              <a:effectLst/>
                              <a:latin typeface="Cambria Math" panose="02040503050406030204" pitchFamily="18" charset="0"/>
                              <a:ea typeface="Cambria Math" panose="02040503050406030204" pitchFamily="18" charset="0"/>
                            </a:rPr>
                          </m:ctrlPr>
                        </m:fPr>
                        <m:num>
                          <m:r>
                            <m:rPr>
                              <m:sty m:val="bi"/>
                            </m:rPr>
                            <a:rPr lang="en-US" altLang="zh-CN" sz="1800" b="1" i="1" kern="100">
                              <a:effectLst/>
                              <a:latin typeface="Cambria Math" panose="02040503050406030204" pitchFamily="18" charset="0"/>
                              <a:ea typeface="黑体" panose="02010609060101010101" charset="-122"/>
                            </a:rPr>
                            <m:t>𝑭</m:t>
                          </m:r>
                          <m:r>
                            <m:rPr>
                              <m:sty m:val="bi"/>
                            </m:rPr>
                            <a:rPr lang="en-US" altLang="zh-CN" sz="1800" b="1" i="1" kern="100">
                              <a:effectLst/>
                              <a:latin typeface="Cambria Math" panose="02040503050406030204" pitchFamily="18" charset="0"/>
                              <a:ea typeface="黑体" panose="02010609060101010101" charset="-122"/>
                            </a:rPr>
                            <m:t>−</m:t>
                          </m:r>
                          <m:r>
                            <m:rPr>
                              <m:sty m:val="bi"/>
                            </m:rPr>
                            <a:rPr lang="en-US" altLang="zh-CN" sz="1800" b="1" i="1" kern="100">
                              <a:effectLst/>
                              <a:latin typeface="Cambria Math" panose="02040503050406030204" pitchFamily="18" charset="0"/>
                              <a:ea typeface="黑体" panose="02010609060101010101" charset="-122"/>
                            </a:rPr>
                            <m:t>𝟐</m:t>
                          </m:r>
                          <m:r>
                            <m:rPr>
                              <m:sty m:val="bi"/>
                            </m:rPr>
                            <a:rPr lang="en-US" altLang="zh-CN" sz="1800" b="1" i="1" kern="100">
                              <a:effectLst/>
                              <a:latin typeface="Cambria Math" panose="02040503050406030204" pitchFamily="18" charset="0"/>
                              <a:ea typeface="黑体" panose="02010609060101010101" charset="-122"/>
                            </a:rPr>
                            <m:t>𝝁</m:t>
                          </m:r>
                          <m:r>
                            <m:rPr>
                              <m:sty m:val="bi"/>
                            </m:rPr>
                            <a:rPr lang="en-US" altLang="zh-CN" sz="1800" b="1" i="1" kern="100">
                              <a:effectLst/>
                              <a:latin typeface="Cambria Math" panose="02040503050406030204" pitchFamily="18" charset="0"/>
                              <a:ea typeface="黑体" panose="02010609060101010101" charset="-122"/>
                            </a:rPr>
                            <m:t>𝒎𝒈</m:t>
                          </m:r>
                        </m:num>
                        <m:den>
                          <m:r>
                            <m:rPr>
                              <m:sty m:val="bi"/>
                            </m:rPr>
                            <a:rPr lang="en-US" altLang="zh-CN" sz="1800" b="1" i="1" kern="100">
                              <a:effectLst/>
                              <a:latin typeface="Cambria Math" panose="02040503050406030204" pitchFamily="18" charset="0"/>
                              <a:ea typeface="黑体" panose="02010609060101010101" charset="-122"/>
                            </a:rPr>
                            <m:t>𝟐</m:t>
                          </m:r>
                          <m:r>
                            <m:rPr>
                              <m:sty m:val="bi"/>
                            </m:rPr>
                            <a:rPr lang="en-US" altLang="zh-CN" sz="1800" b="1" i="1" kern="100">
                              <a:effectLst/>
                              <a:latin typeface="Cambria Math" panose="02040503050406030204" pitchFamily="18" charset="0"/>
                              <a:ea typeface="黑体" panose="02010609060101010101" charset="-122"/>
                            </a:rPr>
                            <m:t>𝒎</m:t>
                          </m:r>
                        </m:den>
                      </m:f>
                    </m:oMath>
                  </m:oMathPara>
                </a14:m>
                <a:r>
                  <a:rPr lang="zh-CN" altLang="zh-CN" sz="1800" b="1" kern="100">
                    <a:effectLst/>
                    <a:latin typeface="Times New Roman" panose="02020603050405020304" charset="0"/>
                    <a:ea typeface="黑体" panose="02010609060101010101" charset="-122"/>
                  </a:rPr>
                  <a:t>当这个加速度大于</a:t>
                </a:r>
                <a:r>
                  <a:rPr lang="en-US" altLang="zh-CN" sz="1800" b="1" kern="100">
                    <a:effectLst/>
                    <a:latin typeface="Times New Roman" panose="02020603050405020304" charset="0"/>
                    <a:ea typeface="黑体" panose="02010609060101010101" charset="-122"/>
                  </a:rPr>
                  <a:t>B</a:t>
                </a:r>
                <a:r>
                  <a:rPr lang="zh-CN" altLang="zh-CN" sz="1800" b="1" kern="100">
                    <a:effectLst/>
                    <a:latin typeface="Times New Roman" panose="02020603050405020304" charset="0"/>
                    <a:ea typeface="黑体" panose="02010609060101010101" charset="-122"/>
                  </a:rPr>
                  <a:t>的最大加速度</a:t>
                </a:r>
                <a14:m>
                  <m:oMathPara>
                    <m:oMathParaPr>
                      <m:jc/>
                    </m:oMathParaPr>
                    <m:oMath>
                      <m:f>
                        <m:fPr>
                          <m:type m:val="bar"/>
                          <m:ctrlPr>
                            <a:rPr lang="zh-CN" altLang="zh-CN" sz="1800" b="1" i="1" kern="100">
                              <a:effectLst/>
                              <a:latin typeface="Cambria Math" panose="02040503050406030204" pitchFamily="18" charset="0"/>
                              <a:ea typeface="Cambria Math" panose="02040503050406030204" pitchFamily="18" charset="0"/>
                            </a:rPr>
                          </m:ctrlPr>
                        </m:fPr>
                        <m:num>
                          <m:r>
                            <m:rPr>
                              <m:sty m:val="bi"/>
                            </m:rPr>
                            <a:rPr lang="en-US" altLang="zh-CN" sz="1800" b="1" i="1" kern="100">
                              <a:effectLst/>
                              <a:latin typeface="Cambria Math" panose="02040503050406030204" pitchFamily="18" charset="0"/>
                              <a:ea typeface="黑体" panose="02010609060101010101" charset="-122"/>
                            </a:rPr>
                            <m:t>𝟏</m:t>
                          </m:r>
                        </m:num>
                        <m:den>
                          <m:r>
                            <m:rPr>
                              <m:sty m:val="bi"/>
                            </m:rPr>
                            <a:rPr lang="en-US" altLang="zh-CN" sz="1800" b="1" i="1" kern="100">
                              <a:effectLst/>
                              <a:latin typeface="Cambria Math" panose="02040503050406030204" pitchFamily="18" charset="0"/>
                              <a:ea typeface="黑体" panose="02010609060101010101" charset="-122"/>
                            </a:rPr>
                            <m:t>𝟐</m:t>
                          </m:r>
                        </m:den>
                      </m:f>
                      <m:r>
                        <m:rPr>
                          <m:sty m:val="bi"/>
                        </m:rPr>
                        <a:rPr lang="en-US" altLang="zh-CN" sz="1800" b="1" i="1" kern="100">
                          <a:effectLst/>
                          <a:latin typeface="Cambria Math" panose="02040503050406030204" pitchFamily="18" charset="0"/>
                          <a:ea typeface="黑体" panose="02010609060101010101" charset="-122"/>
                        </a:rPr>
                        <m:t>𝝁</m:t>
                      </m:r>
                      <m:r>
                        <m:rPr>
                          <m:sty m:val="bi"/>
                        </m:rPr>
                        <a:rPr lang="en-US" altLang="zh-CN" sz="1800" b="1" i="1" kern="100">
                          <a:effectLst/>
                          <a:latin typeface="Cambria Math" panose="02040503050406030204" pitchFamily="18" charset="0"/>
                          <a:ea typeface="黑体" panose="02010609060101010101" charset="-122"/>
                        </a:rPr>
                        <m:t>𝒈</m:t>
                      </m:r>
                    </m:oMath>
                  </m:oMathPara>
                </a14:m>
                <a:r>
                  <a:rPr lang="zh-CN" altLang="zh-CN" sz="1800" b="1" kern="100">
                    <a:effectLst/>
                    <a:latin typeface="Times New Roman" panose="02020603050405020304" charset="0"/>
                    <a:ea typeface="黑体" panose="02010609060101010101" charset="-122"/>
                  </a:rPr>
                  <a:t>时，</a:t>
                </a:r>
                <a:r>
                  <a:rPr lang="en-US" altLang="zh-CN" sz="1800" b="1" kern="100">
                    <a:effectLst/>
                    <a:latin typeface="Times New Roman" panose="02020603050405020304" charset="0"/>
                    <a:ea typeface="黑体" panose="02010609060101010101" charset="-122"/>
                  </a:rPr>
                  <a:t>A</a:t>
                </a:r>
                <a:r>
                  <a:rPr lang="zh-CN" altLang="zh-CN" sz="1800" b="1" kern="100">
                    <a:effectLst/>
                    <a:latin typeface="Times New Roman" panose="02020603050405020304" charset="0"/>
                    <a:ea typeface="黑体" panose="02010609060101010101" charset="-122"/>
                  </a:rPr>
                  <a:t>就会相对</a:t>
                </a:r>
                <a:r>
                  <a:rPr lang="en-US" altLang="zh-CN" sz="1800" b="1" kern="100">
                    <a:effectLst/>
                    <a:latin typeface="Times New Roman" panose="02020603050405020304" charset="0"/>
                    <a:ea typeface="黑体" panose="02010609060101010101" charset="-122"/>
                  </a:rPr>
                  <a:t>B</a:t>
                </a:r>
                <a:r>
                  <a:rPr lang="zh-CN" altLang="zh-CN" sz="1800" b="1" kern="100">
                    <a:effectLst/>
                    <a:latin typeface="Times New Roman" panose="02020603050405020304" charset="0"/>
                    <a:ea typeface="黑体" panose="02010609060101010101" charset="-122"/>
                  </a:rPr>
                  <a:t>滑动，故</a:t>
                </a:r>
                <a:r>
                  <a:rPr lang="en-US" altLang="zh-CN" sz="1800" b="1" kern="100">
                    <a:effectLst/>
                    <a:latin typeface="Times New Roman" panose="02020603050405020304" charset="0"/>
                    <a:ea typeface="黑体" panose="02010609060101010101" charset="-122"/>
                  </a:rPr>
                  <a:t>C</a:t>
                </a:r>
                <a:r>
                  <a:rPr lang="zh-CN" altLang="zh-CN" sz="1800" b="1" kern="100">
                    <a:effectLst/>
                    <a:latin typeface="Times New Roman" panose="02020603050405020304" charset="0"/>
                    <a:ea typeface="黑体" panose="02010609060101010101" charset="-122"/>
                  </a:rPr>
                  <a:t>错误；</a:t>
                </a:r>
                <a:r>
                  <a:rPr lang="en-US" altLang="zh-CN" sz="1800" b="1" kern="100">
                    <a:effectLst/>
                    <a:latin typeface="Times New Roman" panose="02020603050405020304" charset="0"/>
                    <a:ea typeface="黑体" panose="02010609060101010101" charset="-122"/>
                  </a:rPr>
                  <a:t>D</a:t>
                </a:r>
                <a:r>
                  <a:rPr lang="zh-CN" altLang="zh-CN" sz="1800" b="1" kern="100">
                    <a:effectLst/>
                    <a:latin typeface="Times New Roman" panose="02020603050405020304" charset="0"/>
                    <a:ea typeface="黑体" panose="02010609060101010101" charset="-122"/>
                  </a:rPr>
                  <a:t>．当</a:t>
                </a:r>
                <a14:m>
                  <m:oMathPara>
                    <m:oMathParaPr>
                      <m:jc/>
                    </m:oMathParaPr>
                    <m:oMath>
                      <m:r>
                        <m:rPr>
                          <m:sty m:val="bi"/>
                        </m:rPr>
                        <a:rPr lang="en-US" altLang="zh-CN" sz="1800" b="1" i="1" kern="100">
                          <a:effectLst/>
                          <a:latin typeface="Cambria Math" panose="02040503050406030204" pitchFamily="18" charset="0"/>
                          <a:ea typeface="黑体" panose="02010609060101010101" charset="-122"/>
                        </a:rPr>
                        <m:t>𝑭</m:t>
                      </m:r>
                      <m:r>
                        <m:rPr>
                          <m:sty m:val="bi"/>
                        </m:rPr>
                        <a:rPr lang="en-US" altLang="zh-CN" sz="1800" b="1" i="1" kern="100">
                          <a:effectLst/>
                          <a:latin typeface="Cambria Math" panose="02040503050406030204" pitchFamily="18" charset="0"/>
                          <a:ea typeface="黑体" panose="02010609060101010101" charset="-122"/>
                        </a:rPr>
                        <m:t>=</m:t>
                      </m:r>
                      <m:f>
                        <m:fPr>
                          <m:type m:val="bar"/>
                          <m:ctrlPr>
                            <a:rPr lang="zh-CN" altLang="zh-CN" sz="1800" b="1" i="1" kern="100">
                              <a:effectLst/>
                              <a:latin typeface="Cambria Math" panose="02040503050406030204" pitchFamily="18" charset="0"/>
                              <a:ea typeface="Cambria Math" panose="02040503050406030204" pitchFamily="18" charset="0"/>
                            </a:rPr>
                          </m:ctrlPr>
                        </m:fPr>
                        <m:num>
                          <m:r>
                            <m:rPr>
                              <m:sty m:val="bi"/>
                            </m:rPr>
                            <a:rPr lang="en-US" altLang="zh-CN" sz="1800" b="1" i="1" kern="100">
                              <a:effectLst/>
                              <a:latin typeface="Cambria Math" panose="02040503050406030204" pitchFamily="18" charset="0"/>
                              <a:ea typeface="黑体" panose="02010609060101010101" charset="-122"/>
                            </a:rPr>
                            <m:t>𝟓</m:t>
                          </m:r>
                        </m:num>
                        <m:den>
                          <m:r>
                            <m:rPr>
                              <m:sty m:val="bi"/>
                            </m:rPr>
                            <a:rPr lang="en-US" altLang="zh-CN" sz="1800" b="1" i="1" kern="100">
                              <a:effectLst/>
                              <a:latin typeface="Cambria Math" panose="02040503050406030204" pitchFamily="18" charset="0"/>
                              <a:ea typeface="黑体" panose="02010609060101010101" charset="-122"/>
                            </a:rPr>
                            <m:t>𝟐</m:t>
                          </m:r>
                        </m:den>
                      </m:f>
                      <m:r>
                        <m:rPr>
                          <m:sty m:val="bi"/>
                        </m:rPr>
                        <a:rPr lang="en-US" altLang="zh-CN" sz="1800" b="1" i="1" kern="100">
                          <a:effectLst/>
                          <a:latin typeface="Cambria Math" panose="02040503050406030204" pitchFamily="18" charset="0"/>
                          <a:ea typeface="黑体" panose="02010609060101010101" charset="-122"/>
                        </a:rPr>
                        <m:t>𝝁</m:t>
                      </m:r>
                      <m:r>
                        <m:rPr>
                          <m:sty m:val="bi"/>
                        </m:rPr>
                        <a:rPr lang="en-US" altLang="zh-CN" sz="1800" b="1" i="1" kern="100">
                          <a:effectLst/>
                          <a:latin typeface="Cambria Math" panose="02040503050406030204" pitchFamily="18" charset="0"/>
                          <a:ea typeface="黑体" panose="02010609060101010101" charset="-122"/>
                        </a:rPr>
                        <m:t>𝒎𝒈</m:t>
                      </m:r>
                    </m:oMath>
                  </m:oMathPara>
                </a14:m>
                <a:r>
                  <a:rPr lang="zh-CN" altLang="zh-CN" sz="1800" b="1" kern="100">
                    <a:effectLst/>
                    <a:latin typeface="Times New Roman" panose="02020603050405020304" charset="0"/>
                    <a:ea typeface="黑体" panose="02010609060101010101" charset="-122"/>
                  </a:rPr>
                  <a:t>时，</a:t>
                </a:r>
                <a:r>
                  <a:rPr lang="en-US" altLang="zh-CN" sz="1800" b="1" kern="100">
                    <a:effectLst/>
                    <a:latin typeface="Times New Roman" panose="02020603050405020304" charset="0"/>
                    <a:ea typeface="黑体" panose="02010609060101010101" charset="-122"/>
                  </a:rPr>
                  <a:t>A</a:t>
                </a:r>
                <a:r>
                  <a:rPr lang="zh-CN" altLang="zh-CN" sz="1800" b="1" kern="100">
                    <a:effectLst/>
                    <a:latin typeface="Times New Roman" panose="02020603050405020304" charset="0"/>
                    <a:ea typeface="黑体" panose="02010609060101010101" charset="-122"/>
                  </a:rPr>
                  <a:t>和</a:t>
                </a:r>
                <a:r>
                  <a:rPr lang="en-US" altLang="zh-CN" sz="1800" b="1" kern="100">
                    <a:effectLst/>
                    <a:latin typeface="Times New Roman" panose="02020603050405020304" charset="0"/>
                    <a:ea typeface="黑体" panose="02010609060101010101" charset="-122"/>
                  </a:rPr>
                  <a:t>B</a:t>
                </a:r>
                <a:r>
                  <a:rPr lang="zh-CN" altLang="zh-CN" sz="1800" b="1" kern="100">
                    <a:effectLst/>
                    <a:latin typeface="Times New Roman" panose="02020603050405020304" charset="0"/>
                    <a:ea typeface="黑体" panose="02010609060101010101" charset="-122"/>
                  </a:rPr>
                  <a:t>一起运动，对</a:t>
                </a:r>
                <a:r>
                  <a:rPr lang="en-US" altLang="zh-CN" sz="1800" b="1" kern="100">
                    <a:effectLst/>
                    <a:latin typeface="Times New Roman" panose="02020603050405020304" charset="0"/>
                    <a:ea typeface="黑体" panose="02010609060101010101" charset="-122"/>
                  </a:rPr>
                  <a:t>AB</a:t>
                </a:r>
                <a:r>
                  <a:rPr lang="zh-CN" altLang="zh-CN" sz="1800" b="1" kern="100">
                    <a:effectLst/>
                    <a:latin typeface="Times New Roman" panose="02020603050405020304" charset="0"/>
                    <a:ea typeface="黑体" panose="02010609060101010101" charset="-122"/>
                  </a:rPr>
                  <a:t>用牛顿第二定律有</a:t>
                </a:r>
                <a14:m>
                  <m:oMathPara>
                    <m:oMathParaPr>
                      <m:jc/>
                    </m:oMathParaPr>
                    <m:oMath>
                      <m:r>
                        <m:rPr>
                          <m:sty m:val="bi"/>
                        </m:rPr>
                        <a:rPr lang="en-US" altLang="zh-CN" sz="1800" b="1" i="1" kern="100">
                          <a:effectLst/>
                          <a:latin typeface="Cambria Math" panose="02040503050406030204" pitchFamily="18" charset="0"/>
                          <a:ea typeface="黑体" panose="02010609060101010101" charset="-122"/>
                        </a:rPr>
                        <m:t>𝑭</m:t>
                      </m:r>
                      <m:r>
                        <m:rPr>
                          <m:sty m:val="bi"/>
                        </m:rPr>
                        <a:rPr lang="en-US" altLang="zh-CN" sz="1800" b="1" i="1" kern="100">
                          <a:effectLst/>
                          <a:latin typeface="Cambria Math" panose="02040503050406030204" pitchFamily="18" charset="0"/>
                          <a:ea typeface="黑体" panose="02010609060101010101" charset="-122"/>
                        </a:rPr>
                        <m:t>−</m:t>
                      </m:r>
                      <m:f>
                        <m:fPr>
                          <m:type m:val="bar"/>
                          <m:ctrlPr>
                            <a:rPr lang="zh-CN" altLang="zh-CN" sz="1800" b="1" i="1" kern="100">
                              <a:effectLst/>
                              <a:latin typeface="Cambria Math" panose="02040503050406030204" pitchFamily="18" charset="0"/>
                              <a:ea typeface="Cambria Math" panose="02040503050406030204" pitchFamily="18" charset="0"/>
                            </a:rPr>
                          </m:ctrlPr>
                        </m:fPr>
                        <m:num>
                          <m:r>
                            <m:rPr>
                              <m:sty m:val="bi"/>
                            </m:rPr>
                            <a:rPr lang="en-US" altLang="zh-CN" sz="1800" b="1" i="1" kern="100">
                              <a:effectLst/>
                              <a:latin typeface="Cambria Math" panose="02040503050406030204" pitchFamily="18" charset="0"/>
                              <a:ea typeface="黑体" panose="02010609060101010101" charset="-122"/>
                            </a:rPr>
                            <m:t>𝟑</m:t>
                          </m:r>
                        </m:num>
                        <m:den>
                          <m:r>
                            <m:rPr>
                              <m:sty m:val="bi"/>
                            </m:rPr>
                            <a:rPr lang="en-US" altLang="zh-CN" sz="1800" b="1" i="1" kern="100">
                              <a:effectLst/>
                              <a:latin typeface="Cambria Math" panose="02040503050406030204" pitchFamily="18" charset="0"/>
                              <a:ea typeface="黑体" panose="02010609060101010101" charset="-122"/>
                            </a:rPr>
                            <m:t>𝟐</m:t>
                          </m:r>
                        </m:den>
                      </m:f>
                      <m:r>
                        <m:rPr>
                          <m:sty m:val="bi"/>
                        </m:rPr>
                        <a:rPr lang="en-US" altLang="zh-CN" sz="1800" b="1" i="1" kern="100">
                          <a:effectLst/>
                          <a:latin typeface="Cambria Math" panose="02040503050406030204" pitchFamily="18" charset="0"/>
                          <a:ea typeface="黑体" panose="02010609060101010101" charset="-122"/>
                        </a:rPr>
                        <m:t>𝝁</m:t>
                      </m:r>
                      <m:r>
                        <m:rPr>
                          <m:sty m:val="bi"/>
                        </m:rPr>
                        <a:rPr lang="en-US" altLang="zh-CN" sz="1800" b="1" i="1" kern="100">
                          <a:effectLst/>
                          <a:latin typeface="Cambria Math" panose="02040503050406030204" pitchFamily="18" charset="0"/>
                          <a:ea typeface="黑体" panose="02010609060101010101" charset="-122"/>
                        </a:rPr>
                        <m:t>𝒎𝒈</m:t>
                      </m:r>
                      <m:r>
                        <m:rPr>
                          <m:sty m:val="bi"/>
                        </m:rPr>
                        <a:rPr lang="en-US" altLang="zh-CN" sz="1800" b="1" i="1" kern="100">
                          <a:effectLst/>
                          <a:latin typeface="Cambria Math" panose="02040503050406030204" pitchFamily="18" charset="0"/>
                          <a:ea typeface="黑体" panose="02010609060101010101" charset="-122"/>
                        </a:rPr>
                        <m:t>=</m:t>
                      </m:r>
                      <m:r>
                        <m:rPr>
                          <m:sty m:val="bi"/>
                        </m:rPr>
                        <a:rPr lang="en-US" altLang="zh-CN" sz="1800" b="1" i="1" kern="100">
                          <a:effectLst/>
                          <a:latin typeface="Cambria Math" panose="02040503050406030204" pitchFamily="18" charset="0"/>
                          <a:ea typeface="黑体" panose="02010609060101010101" charset="-122"/>
                        </a:rPr>
                        <m:t>𝟑</m:t>
                      </m:r>
                      <m:r>
                        <m:rPr>
                          <m:sty m:val="bi"/>
                        </m:rPr>
                        <a:rPr lang="en-US" altLang="zh-CN" sz="1800" b="1" i="1" kern="100">
                          <a:effectLst/>
                          <a:latin typeface="Cambria Math" panose="02040503050406030204" pitchFamily="18" charset="0"/>
                          <a:ea typeface="黑体" panose="02010609060101010101" charset="-122"/>
                        </a:rPr>
                        <m:t>𝒎𝒂</m:t>
                      </m:r>
                    </m:oMath>
                  </m:oMathPara>
                </a14:m>
                <a:r>
                  <a:rPr lang="zh-CN" altLang="zh-CN" sz="1800" b="1" kern="100">
                    <a:effectLst/>
                    <a:latin typeface="Times New Roman" panose="02020603050405020304" charset="0"/>
                    <a:ea typeface="黑体" panose="02010609060101010101" charset="-122"/>
                  </a:rPr>
                  <a:t>对</a:t>
                </a:r>
                <a:r>
                  <a:rPr lang="en-US" altLang="zh-CN" sz="1800" b="1" kern="100">
                    <a:effectLst/>
                    <a:latin typeface="Times New Roman" panose="02020603050405020304" charset="0"/>
                    <a:ea typeface="黑体" panose="02010609060101010101" charset="-122"/>
                  </a:rPr>
                  <a:t>A</a:t>
                </a:r>
                <a:r>
                  <a:rPr lang="zh-CN" altLang="zh-CN" sz="1800" b="1" kern="100">
                    <a:effectLst/>
                    <a:latin typeface="Times New Roman" panose="02020603050405020304" charset="0"/>
                    <a:ea typeface="黑体" panose="02010609060101010101" charset="-122"/>
                  </a:rPr>
                  <a:t>由牛顿第二定律得</a:t>
                </a:r>
                <a14:m>
                  <m:oMathPara>
                    <m:oMathParaPr>
                      <m:jc/>
                    </m:oMathParaPr>
                    <m:oMath>
                      <m:r>
                        <m:rPr>
                          <m:sty m:val="bi"/>
                        </m:rPr>
                        <a:rPr lang="en-US" altLang="zh-CN" sz="1800" b="1" i="1" kern="100">
                          <a:effectLst/>
                          <a:latin typeface="Cambria Math" panose="02040503050406030204" pitchFamily="18" charset="0"/>
                          <a:ea typeface="黑体" panose="02010609060101010101" charset="-122"/>
                        </a:rPr>
                        <m:t>𝑭</m:t>
                      </m:r>
                      <m:r>
                        <m:rPr>
                          <m:sty m:val="bi"/>
                        </m:rPr>
                        <a:rPr lang="en-US" altLang="zh-CN" sz="1800" b="1" i="1" kern="100">
                          <a:effectLst/>
                          <a:latin typeface="Cambria Math" panose="02040503050406030204" pitchFamily="18" charset="0"/>
                          <a:ea typeface="黑体" panose="02010609060101010101" charset="-122"/>
                        </a:rPr>
                        <m:t>−</m:t>
                      </m:r>
                      <m:r>
                        <m:rPr>
                          <m:sty m:val="bi"/>
                        </m:rPr>
                        <a:rPr lang="en-US" altLang="zh-CN" sz="1800" b="1" i="1" kern="100">
                          <a:effectLst/>
                          <a:latin typeface="Cambria Math" panose="02040503050406030204" pitchFamily="18" charset="0"/>
                          <a:ea typeface="黑体" panose="02010609060101010101" charset="-122"/>
                        </a:rPr>
                        <m:t>𝟐</m:t>
                      </m:r>
                      <m:r>
                        <m:rPr>
                          <m:sty m:val="bi"/>
                        </m:rPr>
                        <a:rPr lang="en-US" altLang="zh-CN" sz="1800" b="1" i="1" kern="100">
                          <a:effectLst/>
                          <a:latin typeface="Cambria Math" panose="02040503050406030204" pitchFamily="18" charset="0"/>
                          <a:ea typeface="黑体" panose="02010609060101010101" charset="-122"/>
                        </a:rPr>
                        <m:t>𝝁</m:t>
                      </m:r>
                      <m:r>
                        <m:rPr>
                          <m:sty m:val="bi"/>
                        </m:rPr>
                        <a:rPr lang="en-US" altLang="zh-CN" sz="1800" b="1" i="1" kern="100">
                          <a:effectLst/>
                          <a:latin typeface="Cambria Math" panose="02040503050406030204" pitchFamily="18" charset="0"/>
                          <a:ea typeface="黑体" panose="02010609060101010101" charset="-122"/>
                        </a:rPr>
                        <m:t>𝒎𝒈</m:t>
                      </m:r>
                      <m:r>
                        <m:rPr>
                          <m:sty m:val="bi"/>
                        </m:rPr>
                        <a:rPr lang="en-US" altLang="zh-CN" sz="1800" b="1" i="1" kern="100">
                          <a:effectLst/>
                          <a:latin typeface="Cambria Math" panose="02040503050406030204" pitchFamily="18" charset="0"/>
                          <a:ea typeface="黑体" panose="02010609060101010101" charset="-122"/>
                        </a:rPr>
                        <m:t>=</m:t>
                      </m:r>
                      <m:r>
                        <m:rPr>
                          <m:sty m:val="bi"/>
                        </m:rPr>
                        <a:rPr lang="en-US" altLang="zh-CN" sz="1800" b="1" i="1" kern="100">
                          <a:effectLst/>
                          <a:latin typeface="Cambria Math" panose="02040503050406030204" pitchFamily="18" charset="0"/>
                          <a:ea typeface="黑体" panose="02010609060101010101" charset="-122"/>
                        </a:rPr>
                        <m:t>𝟐</m:t>
                      </m:r>
                      <m:r>
                        <m:rPr>
                          <m:sty m:val="bi"/>
                        </m:rPr>
                        <a:rPr lang="en-US" altLang="zh-CN" sz="1800" b="1" i="1" kern="100">
                          <a:effectLst/>
                          <a:latin typeface="Cambria Math" panose="02040503050406030204" pitchFamily="18" charset="0"/>
                          <a:ea typeface="黑体" panose="02010609060101010101" charset="-122"/>
                        </a:rPr>
                        <m:t>𝒎𝒂</m:t>
                      </m:r>
                    </m:oMath>
                  </m:oMathPara>
                </a14:m>
                <a:r>
                  <a:rPr lang="zh-CN" altLang="zh-CN" sz="1800" b="1" kern="100">
                    <a:effectLst/>
                    <a:latin typeface="Times New Roman" panose="02020603050405020304" charset="0"/>
                    <a:ea typeface="黑体" panose="02010609060101010101" charset="-122"/>
                  </a:rPr>
                  <a:t>此时</a:t>
                </a:r>
                <a:r>
                  <a:rPr lang="en-US" altLang="zh-CN" sz="1800" b="1" kern="100">
                    <a:effectLst/>
                    <a:latin typeface="Times New Roman" panose="02020603050405020304" charset="0"/>
                    <a:ea typeface="黑体" panose="02010609060101010101" charset="-122"/>
                  </a:rPr>
                  <a:t>AB</a:t>
                </a:r>
                <a:r>
                  <a:rPr lang="zh-CN" altLang="zh-CN" sz="1800" b="1" kern="100">
                    <a:effectLst/>
                    <a:latin typeface="Times New Roman" panose="02020603050405020304" charset="0"/>
                    <a:ea typeface="黑体" panose="02010609060101010101" charset="-122"/>
                  </a:rPr>
                  <a:t>之间摩擦力达到最大值，</a:t>
                </a:r>
                <a:r>
                  <a:rPr lang="en-US" altLang="zh-CN" sz="1800" b="1" i="1" kern="100">
                    <a:effectLst/>
                    <a:latin typeface="Times New Roman" panose="02020603050405020304" charset="0"/>
                    <a:ea typeface="黑体" panose="02010609060101010101" charset="-122"/>
                  </a:rPr>
                  <a:t>F</a:t>
                </a:r>
                <a:r>
                  <a:rPr lang="zh-CN" altLang="zh-CN" sz="1800" b="1" kern="100">
                    <a:effectLst/>
                    <a:latin typeface="Times New Roman" panose="02020603050405020304" charset="0"/>
                    <a:ea typeface="黑体" panose="02010609060101010101" charset="-122"/>
                  </a:rPr>
                  <a:t>也是</a:t>
                </a:r>
                <a:r>
                  <a:rPr lang="en-US" altLang="zh-CN" sz="1800" b="1" kern="100">
                    <a:effectLst/>
                    <a:latin typeface="Times New Roman" panose="02020603050405020304" charset="0"/>
                    <a:ea typeface="黑体" panose="02010609060101010101" charset="-122"/>
                  </a:rPr>
                  <a:t>AB</a:t>
                </a:r>
                <a:r>
                  <a:rPr lang="zh-CN" altLang="zh-CN" sz="1800" b="1" kern="100">
                    <a:effectLst/>
                    <a:latin typeface="Times New Roman" panose="02020603050405020304" charset="0"/>
                    <a:ea typeface="黑体" panose="02010609060101010101" charset="-122"/>
                  </a:rPr>
                  <a:t>一起运动的最大值，解得</a:t>
                </a:r>
                <a14:m>
                  <m:oMathPara>
                    <m:oMathParaPr>
                      <m:jc/>
                    </m:oMathParaPr>
                    <m:oMath>
                      <m:r>
                        <m:rPr>
                          <m:sty m:val="bi"/>
                        </m:rPr>
                        <a:rPr lang="en-US" altLang="zh-CN" sz="1800" b="1" i="1" kern="100">
                          <a:effectLst/>
                          <a:latin typeface="Cambria Math" panose="02040503050406030204" pitchFamily="18" charset="0"/>
                          <a:ea typeface="黑体" panose="02010609060101010101" charset="-122"/>
                        </a:rPr>
                        <m:t>𝑭</m:t>
                      </m:r>
                      <m:r>
                        <m:rPr>
                          <m:sty m:val="bi"/>
                        </m:rPr>
                        <a:rPr lang="en-US" altLang="zh-CN" sz="1800" b="1" i="1" kern="100">
                          <a:effectLst/>
                          <a:latin typeface="Cambria Math" panose="02040503050406030204" pitchFamily="18" charset="0"/>
                          <a:ea typeface="黑体" panose="02010609060101010101" charset="-122"/>
                        </a:rPr>
                        <m:t>=</m:t>
                      </m:r>
                      <m:r>
                        <m:rPr>
                          <m:sty m:val="bi"/>
                        </m:rPr>
                        <a:rPr lang="en-US" altLang="zh-CN" sz="1800" b="1" i="1" kern="100">
                          <a:effectLst/>
                          <a:latin typeface="Cambria Math" panose="02040503050406030204" pitchFamily="18" charset="0"/>
                          <a:ea typeface="黑体" panose="02010609060101010101" charset="-122"/>
                        </a:rPr>
                        <m:t>𝟑</m:t>
                      </m:r>
                      <m:r>
                        <m:rPr>
                          <m:sty m:val="bi"/>
                        </m:rPr>
                        <a:rPr lang="en-US" altLang="zh-CN" sz="1800" b="1" i="1" kern="100">
                          <a:effectLst/>
                          <a:latin typeface="Cambria Math" panose="02040503050406030204" pitchFamily="18" charset="0"/>
                          <a:ea typeface="黑体" panose="02010609060101010101" charset="-122"/>
                        </a:rPr>
                        <m:t>𝝁</m:t>
                      </m:r>
                      <m:r>
                        <m:rPr>
                          <m:sty m:val="bi"/>
                        </m:rPr>
                        <a:rPr lang="en-US" altLang="zh-CN" sz="1800" b="1" i="1" kern="100">
                          <a:effectLst/>
                          <a:latin typeface="Cambria Math" panose="02040503050406030204" pitchFamily="18" charset="0"/>
                          <a:ea typeface="黑体" panose="02010609060101010101" charset="-122"/>
                        </a:rPr>
                        <m:t>𝒎𝒈</m:t>
                      </m:r>
                    </m:oMath>
                  </m:oMathPara>
                </a14:m>
                <a:r>
                  <a:rPr lang="zh-CN" altLang="zh-CN" sz="1800" b="1" kern="100">
                    <a:effectLst/>
                    <a:latin typeface="Times New Roman" panose="02020603050405020304" charset="0"/>
                    <a:ea typeface="黑体" panose="02010609060101010101" charset="-122"/>
                  </a:rPr>
                  <a:t>当</a:t>
                </a:r>
                <a14:m>
                  <m:oMathPara>
                    <m:oMathParaPr>
                      <m:jc/>
                    </m:oMathParaPr>
                    <m:oMath>
                      <m:r>
                        <m:rPr>
                          <m:sty m:val="bi"/>
                        </m:rPr>
                        <a:rPr lang="en-US" altLang="zh-CN" sz="1800" b="1" i="1" kern="100">
                          <a:effectLst/>
                          <a:latin typeface="Cambria Math" panose="02040503050406030204" pitchFamily="18" charset="0"/>
                          <a:ea typeface="黑体" panose="02010609060101010101" charset="-122"/>
                        </a:rPr>
                        <m:t>𝑭</m:t>
                      </m:r>
                      <m:r>
                        <m:rPr>
                          <m:sty m:val="bi"/>
                        </m:rPr>
                        <a:rPr lang="en-US" altLang="zh-CN" sz="1800" b="1" i="1" kern="100">
                          <a:effectLst/>
                          <a:latin typeface="Cambria Math" panose="02040503050406030204" pitchFamily="18" charset="0"/>
                          <a:ea typeface="黑体" panose="02010609060101010101" charset="-122"/>
                        </a:rPr>
                        <m:t>&lt;</m:t>
                      </m:r>
                      <m:r>
                        <m:rPr>
                          <m:sty m:val="bi"/>
                        </m:rPr>
                        <a:rPr lang="en-US" altLang="zh-CN" sz="1800" b="1" i="1" kern="100">
                          <a:effectLst/>
                          <a:latin typeface="Cambria Math" panose="02040503050406030204" pitchFamily="18" charset="0"/>
                          <a:ea typeface="黑体" panose="02010609060101010101" charset="-122"/>
                        </a:rPr>
                        <m:t>𝟑</m:t>
                      </m:r>
                      <m:r>
                        <m:rPr>
                          <m:sty m:val="bi"/>
                        </m:rPr>
                        <a:rPr lang="en-US" altLang="zh-CN" sz="1800" b="1" i="1" kern="100">
                          <a:effectLst/>
                          <a:latin typeface="Cambria Math" panose="02040503050406030204" pitchFamily="18" charset="0"/>
                          <a:ea typeface="黑体" panose="02010609060101010101" charset="-122"/>
                        </a:rPr>
                        <m:t>𝝁</m:t>
                      </m:r>
                      <m:r>
                        <m:rPr>
                          <m:sty m:val="bi"/>
                        </m:rPr>
                        <a:rPr lang="en-US" altLang="zh-CN" sz="1800" b="1" i="1" kern="100">
                          <a:effectLst/>
                          <a:latin typeface="Cambria Math" panose="02040503050406030204" pitchFamily="18" charset="0"/>
                          <a:ea typeface="黑体" panose="02010609060101010101" charset="-122"/>
                        </a:rPr>
                        <m:t>𝒎𝒈</m:t>
                      </m:r>
                    </m:oMath>
                  </m:oMathPara>
                </a14:m>
                <a:r>
                  <a:rPr lang="zh-CN" altLang="zh-CN" sz="1800" b="1" kern="100">
                    <a:effectLst/>
                    <a:latin typeface="Times New Roman" panose="02020603050405020304" charset="0"/>
                    <a:ea typeface="黑体" panose="02010609060101010101" charset="-122"/>
                  </a:rPr>
                  <a:t>时</a:t>
                </a:r>
                <a:r>
                  <a:rPr lang="en-US" altLang="zh-CN" sz="1800" b="1" kern="100">
                    <a:effectLst/>
                    <a:latin typeface="Times New Roman" panose="02020603050405020304" charset="0"/>
                    <a:ea typeface="黑体" panose="02010609060101010101" charset="-122"/>
                  </a:rPr>
                  <a:t>AB</a:t>
                </a:r>
                <a:r>
                  <a:rPr lang="zh-CN" altLang="zh-CN" sz="1800" b="1" kern="100">
                    <a:effectLst/>
                    <a:latin typeface="Times New Roman" panose="02020603050405020304" charset="0"/>
                    <a:ea typeface="黑体" panose="02010609060101010101" charset="-122"/>
                  </a:rPr>
                  <a:t>一起运动，对</a:t>
                </a:r>
                <a:r>
                  <a:rPr lang="en-US" altLang="zh-CN" sz="1800" b="1" kern="100">
                    <a:effectLst/>
                    <a:latin typeface="Times New Roman" panose="02020603050405020304" charset="0"/>
                    <a:ea typeface="黑体" panose="02010609060101010101" charset="-122"/>
                  </a:rPr>
                  <a:t>AB</a:t>
                </a:r>
                <a:r>
                  <a:rPr lang="zh-CN" altLang="zh-CN" sz="1800" b="1" kern="100">
                    <a:effectLst/>
                    <a:latin typeface="Times New Roman" panose="02020603050405020304" charset="0"/>
                    <a:ea typeface="黑体" panose="02010609060101010101" charset="-122"/>
                  </a:rPr>
                  <a:t>用牛顿第二定律有</a:t>
                </a:r>
                <a14:m>
                  <m:oMathPara>
                    <m:oMathParaPr>
                      <m:jc/>
                    </m:oMathParaPr>
                    <m:oMath>
                      <m:f>
                        <m:fPr>
                          <m:type m:val="bar"/>
                          <m:ctrlPr>
                            <a:rPr lang="zh-CN" altLang="zh-CN" sz="1800" b="1" i="1" kern="100">
                              <a:effectLst/>
                              <a:latin typeface="Cambria Math" panose="02040503050406030204" pitchFamily="18" charset="0"/>
                              <a:ea typeface="Cambria Math" panose="02040503050406030204" pitchFamily="18" charset="0"/>
                            </a:rPr>
                          </m:ctrlPr>
                        </m:fPr>
                        <m:num>
                          <m:r>
                            <m:rPr>
                              <m:sty m:val="bi"/>
                            </m:rPr>
                            <a:rPr lang="en-US" altLang="zh-CN" sz="1800" b="1" i="1" kern="100">
                              <a:effectLst/>
                              <a:latin typeface="Cambria Math" panose="02040503050406030204" pitchFamily="18" charset="0"/>
                              <a:ea typeface="黑体" panose="02010609060101010101" charset="-122"/>
                            </a:rPr>
                            <m:t>𝟓</m:t>
                          </m:r>
                        </m:num>
                        <m:den>
                          <m:r>
                            <m:rPr>
                              <m:sty m:val="bi"/>
                            </m:rPr>
                            <a:rPr lang="en-US" altLang="zh-CN" sz="1800" b="1" i="1" kern="100">
                              <a:effectLst/>
                              <a:latin typeface="Cambria Math" panose="02040503050406030204" pitchFamily="18" charset="0"/>
                              <a:ea typeface="黑体" panose="02010609060101010101" charset="-122"/>
                            </a:rPr>
                            <m:t>𝟐</m:t>
                          </m:r>
                        </m:den>
                      </m:f>
                      <m:r>
                        <m:rPr>
                          <m:sty m:val="bi"/>
                        </m:rPr>
                        <a:rPr lang="en-US" altLang="zh-CN" sz="1800" b="1" i="1" kern="100">
                          <a:effectLst/>
                          <a:latin typeface="Cambria Math" panose="02040503050406030204" pitchFamily="18" charset="0"/>
                          <a:ea typeface="黑体" panose="02010609060101010101" charset="-122"/>
                        </a:rPr>
                        <m:t>𝝁</m:t>
                      </m:r>
                      <m:r>
                        <m:rPr>
                          <m:sty m:val="bi"/>
                        </m:rPr>
                        <a:rPr lang="en-US" altLang="zh-CN" sz="1800" b="1" i="1" kern="100">
                          <a:effectLst/>
                          <a:latin typeface="Cambria Math" panose="02040503050406030204" pitchFamily="18" charset="0"/>
                          <a:ea typeface="黑体" panose="02010609060101010101" charset="-122"/>
                        </a:rPr>
                        <m:t>𝒎𝒈</m:t>
                      </m:r>
                      <m:r>
                        <m:rPr>
                          <m:sty m:val="bi"/>
                        </m:rPr>
                        <a:rPr lang="en-US" altLang="zh-CN" sz="1800" b="1" i="1" kern="100">
                          <a:effectLst/>
                          <a:latin typeface="Cambria Math" panose="02040503050406030204" pitchFamily="18" charset="0"/>
                          <a:ea typeface="黑体" panose="02010609060101010101" charset="-122"/>
                        </a:rPr>
                        <m:t>−</m:t>
                      </m:r>
                      <m:f>
                        <m:fPr>
                          <m:type m:val="bar"/>
                          <m:ctrlPr>
                            <a:rPr lang="zh-CN" altLang="zh-CN" sz="1800" b="1" i="1" kern="100">
                              <a:effectLst/>
                              <a:latin typeface="Cambria Math" panose="02040503050406030204" pitchFamily="18" charset="0"/>
                              <a:ea typeface="Cambria Math" panose="02040503050406030204" pitchFamily="18" charset="0"/>
                            </a:rPr>
                          </m:ctrlPr>
                        </m:fPr>
                        <m:num>
                          <m:r>
                            <m:rPr>
                              <m:sty m:val="bi"/>
                            </m:rPr>
                            <a:rPr lang="en-US" altLang="zh-CN" sz="1800" b="1" i="1" kern="100">
                              <a:effectLst/>
                              <a:latin typeface="Cambria Math" panose="02040503050406030204" pitchFamily="18" charset="0"/>
                              <a:ea typeface="黑体" panose="02010609060101010101" charset="-122"/>
                            </a:rPr>
                            <m:t>𝟑</m:t>
                          </m:r>
                        </m:num>
                        <m:den>
                          <m:r>
                            <m:rPr>
                              <m:sty m:val="bi"/>
                            </m:rPr>
                            <a:rPr lang="en-US" altLang="zh-CN" sz="1800" b="1" i="1" kern="100">
                              <a:effectLst/>
                              <a:latin typeface="Cambria Math" panose="02040503050406030204" pitchFamily="18" charset="0"/>
                              <a:ea typeface="黑体" panose="02010609060101010101" charset="-122"/>
                            </a:rPr>
                            <m:t>𝟐</m:t>
                          </m:r>
                        </m:den>
                      </m:f>
                      <m:r>
                        <m:rPr>
                          <m:sty m:val="bi"/>
                        </m:rPr>
                        <a:rPr lang="en-US" altLang="zh-CN" sz="1800" b="1" i="1" kern="100">
                          <a:effectLst/>
                          <a:latin typeface="Cambria Math" panose="02040503050406030204" pitchFamily="18" charset="0"/>
                          <a:ea typeface="黑体" panose="02010609060101010101" charset="-122"/>
                        </a:rPr>
                        <m:t>𝝁</m:t>
                      </m:r>
                      <m:r>
                        <m:rPr>
                          <m:sty m:val="bi"/>
                        </m:rPr>
                        <a:rPr lang="en-US" altLang="zh-CN" sz="1800" b="1" i="1" kern="100">
                          <a:effectLst/>
                          <a:latin typeface="Cambria Math" panose="02040503050406030204" pitchFamily="18" charset="0"/>
                          <a:ea typeface="黑体" panose="02010609060101010101" charset="-122"/>
                        </a:rPr>
                        <m:t>𝒎𝒈</m:t>
                      </m:r>
                      <m:r>
                        <m:rPr>
                          <m:sty m:val="bi"/>
                        </m:rPr>
                        <a:rPr lang="en-US" altLang="zh-CN" sz="1800" b="1" i="1" kern="100">
                          <a:effectLst/>
                          <a:latin typeface="Cambria Math" panose="02040503050406030204" pitchFamily="18" charset="0"/>
                          <a:ea typeface="黑体" panose="02010609060101010101" charset="-122"/>
                        </a:rPr>
                        <m:t>=</m:t>
                      </m:r>
                      <m:r>
                        <m:rPr>
                          <m:sty m:val="bi"/>
                        </m:rPr>
                        <a:rPr lang="en-US" altLang="zh-CN" sz="1800" b="1" i="1" kern="100">
                          <a:effectLst/>
                          <a:latin typeface="Cambria Math" panose="02040503050406030204" pitchFamily="18" charset="0"/>
                          <a:ea typeface="黑体" panose="02010609060101010101" charset="-122"/>
                        </a:rPr>
                        <m:t>𝟑</m:t>
                      </m:r>
                      <m:r>
                        <m:rPr>
                          <m:sty m:val="bi"/>
                        </m:rPr>
                        <a:rPr lang="en-US" altLang="zh-CN" sz="1800" b="1" i="1" kern="100">
                          <a:effectLst/>
                          <a:latin typeface="Cambria Math" panose="02040503050406030204" pitchFamily="18" charset="0"/>
                          <a:ea typeface="黑体" panose="02010609060101010101" charset="-122"/>
                        </a:rPr>
                        <m:t>𝒎𝒂</m:t>
                      </m:r>
                    </m:oMath>
                  </m:oMathPara>
                </a14:m>
                <a:r>
                  <a:rPr lang="zh-CN" altLang="zh-CN" sz="1800" b="1" kern="100">
                    <a:effectLst/>
                    <a:latin typeface="Times New Roman" panose="02020603050405020304" charset="0"/>
                    <a:ea typeface="黑体" panose="02010609060101010101" charset="-122"/>
                  </a:rPr>
                  <a:t>对</a:t>
                </a:r>
                <a:r>
                  <a:rPr lang="en-US" altLang="zh-CN" sz="1800" b="1" kern="100">
                    <a:effectLst/>
                    <a:latin typeface="Times New Roman" panose="02020603050405020304" charset="0"/>
                    <a:ea typeface="黑体" panose="02010609060101010101" charset="-122"/>
                  </a:rPr>
                  <a:t>A</a:t>
                </a:r>
                <a:r>
                  <a:rPr lang="zh-CN" altLang="zh-CN" sz="1800" b="1" kern="100">
                    <a:effectLst/>
                    <a:latin typeface="Times New Roman" panose="02020603050405020304" charset="0"/>
                    <a:ea typeface="黑体" panose="02010609060101010101" charset="-122"/>
                  </a:rPr>
                  <a:t>用牛顿第二定律有</a:t>
                </a:r>
                <a14:m>
                  <m:oMathPara>
                    <m:oMathParaPr>
                      <m:jc/>
                    </m:oMathParaPr>
                    <m:oMath>
                      <m:f>
                        <m:fPr>
                          <m:type m:val="bar"/>
                          <m:ctrlPr>
                            <a:rPr lang="zh-CN" altLang="zh-CN" sz="1800" b="1" i="1" kern="100">
                              <a:effectLst/>
                              <a:latin typeface="Cambria Math" panose="02040503050406030204" pitchFamily="18" charset="0"/>
                              <a:ea typeface="Cambria Math" panose="02040503050406030204" pitchFamily="18" charset="0"/>
                            </a:rPr>
                          </m:ctrlPr>
                        </m:fPr>
                        <m:num>
                          <m:r>
                            <m:rPr>
                              <m:sty m:val="bi"/>
                            </m:rPr>
                            <a:rPr lang="en-US" altLang="zh-CN" sz="1800" b="1" i="1" kern="100">
                              <a:effectLst/>
                              <a:latin typeface="Cambria Math" panose="02040503050406030204" pitchFamily="18" charset="0"/>
                              <a:ea typeface="黑体" panose="02010609060101010101" charset="-122"/>
                            </a:rPr>
                            <m:t>𝟓</m:t>
                          </m:r>
                        </m:num>
                        <m:den>
                          <m:r>
                            <m:rPr>
                              <m:sty m:val="bi"/>
                            </m:rPr>
                            <a:rPr lang="en-US" altLang="zh-CN" sz="1800" b="1" i="1" kern="100">
                              <a:effectLst/>
                              <a:latin typeface="Cambria Math" panose="02040503050406030204" pitchFamily="18" charset="0"/>
                              <a:ea typeface="黑体" panose="02010609060101010101" charset="-122"/>
                            </a:rPr>
                            <m:t>𝟐</m:t>
                          </m:r>
                        </m:den>
                      </m:f>
                      <m:r>
                        <m:rPr>
                          <m:sty m:val="bi"/>
                        </m:rPr>
                        <a:rPr lang="en-US" altLang="zh-CN" sz="1800" b="1" i="1" kern="100">
                          <a:effectLst/>
                          <a:latin typeface="Cambria Math" panose="02040503050406030204" pitchFamily="18" charset="0"/>
                          <a:ea typeface="黑体" panose="02010609060101010101" charset="-122"/>
                        </a:rPr>
                        <m:t>𝝁</m:t>
                      </m:r>
                      <m:r>
                        <m:rPr>
                          <m:sty m:val="bi"/>
                        </m:rPr>
                        <a:rPr lang="en-US" altLang="zh-CN" sz="1800" b="1" i="1" kern="100">
                          <a:effectLst/>
                          <a:latin typeface="Cambria Math" panose="02040503050406030204" pitchFamily="18" charset="0"/>
                          <a:ea typeface="黑体" panose="02010609060101010101" charset="-122"/>
                        </a:rPr>
                        <m:t>𝒎𝒈</m:t>
                      </m:r>
                      <m:r>
                        <m:rPr>
                          <m:sty m:val="bi"/>
                        </m:rPr>
                        <a:rPr lang="en-US" altLang="zh-CN" sz="1800" b="1" i="1" kern="100">
                          <a:effectLst/>
                          <a:latin typeface="Cambria Math" panose="02040503050406030204" pitchFamily="18" charset="0"/>
                          <a:ea typeface="黑体" panose="02010609060101010101" charset="-122"/>
                        </a:rPr>
                        <m:t>−</m:t>
                      </m:r>
                      <m:r>
                        <m:rPr>
                          <m:sty m:val="bi"/>
                        </m:rPr>
                        <a:rPr lang="en-US" altLang="zh-CN" sz="1800" b="1" i="1" kern="100">
                          <a:effectLst/>
                          <a:latin typeface="Cambria Math" panose="02040503050406030204" pitchFamily="18" charset="0"/>
                          <a:ea typeface="黑体" panose="02010609060101010101" charset="-122"/>
                        </a:rPr>
                        <m:t>𝒇</m:t>
                      </m:r>
                      <m:r>
                        <m:rPr>
                          <m:sty m:val="bi"/>
                        </m:rPr>
                        <a:rPr lang="en-US" altLang="zh-CN" sz="1800" b="1" i="1" kern="100">
                          <a:effectLst/>
                          <a:latin typeface="Cambria Math" panose="02040503050406030204" pitchFamily="18" charset="0"/>
                          <a:ea typeface="黑体" panose="02010609060101010101" charset="-122"/>
                        </a:rPr>
                        <m:t>=</m:t>
                      </m:r>
                      <m:r>
                        <m:rPr>
                          <m:sty m:val="bi"/>
                        </m:rPr>
                        <a:rPr lang="en-US" altLang="zh-CN" sz="1800" b="1" i="1" kern="100">
                          <a:effectLst/>
                          <a:latin typeface="Cambria Math" panose="02040503050406030204" pitchFamily="18" charset="0"/>
                          <a:ea typeface="黑体" panose="02010609060101010101" charset="-122"/>
                        </a:rPr>
                        <m:t>𝟐</m:t>
                      </m:r>
                      <m:r>
                        <m:rPr>
                          <m:sty m:val="bi"/>
                        </m:rPr>
                        <a:rPr lang="en-US" altLang="zh-CN" sz="1800" b="1" i="1" kern="100">
                          <a:effectLst/>
                          <a:latin typeface="Cambria Math" panose="02040503050406030204" pitchFamily="18" charset="0"/>
                          <a:ea typeface="黑体" panose="02010609060101010101" charset="-122"/>
                        </a:rPr>
                        <m:t>𝒎𝒂</m:t>
                      </m:r>
                    </m:oMath>
                  </m:oMathPara>
                </a14:m>
                <a:r>
                  <a:rPr lang="zh-CN" altLang="zh-CN" sz="1800" b="1" kern="100">
                    <a:effectLst/>
                    <a:latin typeface="Times New Roman" panose="02020603050405020304" charset="0"/>
                    <a:ea typeface="黑体" panose="02010609060101010101" charset="-122"/>
                  </a:rPr>
                  <a:t>联立解得</a:t>
                </a:r>
                <a14:m>
                  <m:oMathPara>
                    <m:oMathParaPr>
                      <m:jc/>
                    </m:oMathParaPr>
                    <m:oMath>
                      <m:r>
                        <m:rPr>
                          <m:sty m:val="bi"/>
                        </m:rPr>
                        <a:rPr lang="en-US" altLang="zh-CN" sz="1800" b="1" i="1" kern="100">
                          <a:effectLst/>
                          <a:latin typeface="Cambria Math" panose="02040503050406030204" pitchFamily="18" charset="0"/>
                          <a:ea typeface="黑体" panose="02010609060101010101" charset="-122"/>
                        </a:rPr>
                        <m:t>𝒇</m:t>
                      </m:r>
                      <m:r>
                        <m:rPr>
                          <m:sty m:val="bi"/>
                        </m:rPr>
                        <a:rPr lang="en-US" altLang="zh-CN" sz="1800" b="1" i="1" kern="100">
                          <a:effectLst/>
                          <a:latin typeface="Cambria Math" panose="02040503050406030204" pitchFamily="18" charset="0"/>
                          <a:ea typeface="黑体" panose="02010609060101010101" charset="-122"/>
                        </a:rPr>
                        <m:t>=</m:t>
                      </m:r>
                      <m:f>
                        <m:fPr>
                          <m:type m:val="bar"/>
                          <m:ctrlPr>
                            <a:rPr lang="zh-CN" altLang="zh-CN" sz="1800" b="1" i="1" kern="100">
                              <a:effectLst/>
                              <a:latin typeface="Cambria Math" panose="02040503050406030204" pitchFamily="18" charset="0"/>
                              <a:ea typeface="Cambria Math" panose="02040503050406030204" pitchFamily="18" charset="0"/>
                            </a:rPr>
                          </m:ctrlPr>
                        </m:fPr>
                        <m:num>
                          <m:r>
                            <m:rPr>
                              <m:sty m:val="bi"/>
                            </m:rPr>
                            <a:rPr lang="en-US" altLang="zh-CN" sz="1800" b="1" i="1" kern="100">
                              <a:effectLst/>
                              <a:latin typeface="Cambria Math" panose="02040503050406030204" pitchFamily="18" charset="0"/>
                              <a:ea typeface="黑体" panose="02010609060101010101" charset="-122"/>
                            </a:rPr>
                            <m:t>𝟏𝟏</m:t>
                          </m:r>
                        </m:num>
                        <m:den>
                          <m:r>
                            <m:rPr>
                              <m:sty m:val="bi"/>
                            </m:rPr>
                            <a:rPr lang="en-US" altLang="zh-CN" sz="1800" b="1" i="1" kern="100">
                              <a:effectLst/>
                              <a:latin typeface="Cambria Math" panose="02040503050406030204" pitchFamily="18" charset="0"/>
                              <a:ea typeface="黑体" panose="02010609060101010101" charset="-122"/>
                            </a:rPr>
                            <m:t>��</m:t>
                          </m:r>
                        </m:den>
                      </m:f>
                      <m:r>
                        <m:rPr>
                          <m:sty m:val="bi"/>
                        </m:rPr>
                        <a:rPr lang="en-US" altLang="zh-CN" sz="1800" b="1" i="1" kern="100">
                          <a:effectLst/>
                          <a:latin typeface="Cambria Math" panose="02040503050406030204" pitchFamily="18" charset="0"/>
                          <a:ea typeface="黑体" panose="02010609060101010101" charset="-122"/>
                        </a:rPr>
                        <m:t>𝝁</m:t>
                      </m:r>
                      <m:r>
                        <m:rPr>
                          <m:sty m:val="bi"/>
                        </m:rPr>
                        <a:rPr lang="en-US" altLang="zh-CN" sz="1800" b="1" i="1" kern="100">
                          <a:effectLst/>
                          <a:latin typeface="Cambria Math" panose="02040503050406030204" pitchFamily="18" charset="0"/>
                          <a:ea typeface="黑体" panose="02010609060101010101" charset="-122"/>
                        </a:rPr>
                        <m:t>𝒎𝒈</m:t>
                      </m:r>
                    </m:oMath>
                  </m:oMathPara>
                </a14:m>
                <a:r>
                  <a:rPr lang="zh-CN" altLang="zh-CN" sz="1800" b="1" kern="100">
                    <a:effectLst/>
                    <a:latin typeface="Times New Roman" panose="02020603050405020304" charset="0"/>
                    <a:ea typeface="黑体" panose="02010609060101010101" charset="-122"/>
                  </a:rPr>
                  <a:t>故</a:t>
                </a:r>
                <a:r>
                  <a:rPr lang="en-US" altLang="zh-CN" sz="1800" b="1" kern="100">
                    <a:effectLst/>
                    <a:latin typeface="Times New Roman" panose="02020603050405020304" charset="0"/>
                    <a:ea typeface="黑体" panose="02010609060101010101" charset="-122"/>
                  </a:rPr>
                  <a:t>D</a:t>
                </a:r>
                <a:r>
                  <a:rPr lang="zh-CN" altLang="zh-CN" sz="1800" b="1" kern="100">
                    <a:effectLst/>
                    <a:latin typeface="Times New Roman" panose="02020603050405020304" charset="0"/>
                    <a:ea typeface="黑体" panose="02010609060101010101" charset="-122"/>
                  </a:rPr>
                  <a:t>正确。故选</a:t>
                </a:r>
                <a:r>
                  <a:rPr lang="en-US" altLang="zh-CN" sz="1800" b="1" kern="100">
                    <a:effectLst/>
                    <a:latin typeface="Times New Roman" panose="02020603050405020304" charset="0"/>
                    <a:ea typeface="黑体" panose="02010609060101010101" charset="-122"/>
                  </a:rPr>
                  <a:t>D</a:t>
                </a:r>
                <a:r>
                  <a:rPr lang="zh-CN" altLang="zh-CN" sz="1800" b="1" kern="100">
                    <a:effectLst/>
                    <a:latin typeface="Times New Roman" panose="02020603050405020304" charset="0"/>
                    <a:ea typeface="黑体" panose="02010609060101010101" charset="-122"/>
                  </a:rPr>
                  <a:t>。</a:t>
                </a:r>
                <a:endParaRPr lang="zh-CN" altLang="zh-CN" sz="1800" kern="100">
                  <a:effectLst/>
                  <a:latin typeface="Times New Roman" panose="02020603050405020304" charset="0"/>
                  <a:ea typeface="宋体" panose="02010600030101010101" pitchFamily="2" charset="-122"/>
                </a:endParaRPr>
              </a:p>
            </p:txBody>
          </p:sp>
        </mc:Choice>
        <mc:Fallback>
          <p:sp>
            <p:nvSpPr>
              <p:cNvPr id="3" name="文本框 2"/>
              <p:cNvSpPr txBox="1">
                <a:spLocks noRot="1" noChangeAspect="1" noMove="1" noResize="1" noEditPoints="1" noAdjustHandles="1" noChangeArrowheads="1" noChangeShapeType="1" noTextEdit="1"/>
              </p:cNvSpPr>
              <p:nvPr>
                <p:custDataLst>
                  <p:tags r:id="rId4"/>
                </p:custDataLst>
              </p:nvPr>
            </p:nvSpPr>
            <p:spPr>
              <a:xfrm>
                <a:off x="408940" y="326390"/>
                <a:ext cx="11455400" cy="5557520"/>
              </a:xfrm>
              <a:prstGeom prst="rect">
                <a:avLst/>
              </a:prstGeom>
              <a:blipFill rotWithShape="1">
                <a:blip r:embed="rId5"/>
                <a:stretch>
                  <a:fillRect b="-7450"/>
                </a:stretch>
              </a:blipFill>
            </p:spPr>
            <p:txBody>
              <a:bodyPr/>
              <a:lstStyle/>
              <a:p>
                <a:r>
                  <a:rPr lang="zh-CN" altLang="en-US">
                    <a:noFill/>
                  </a:rPr>
                  <a:t> </a:t>
                </a:r>
              </a:p>
            </p:txBody>
          </p:sp>
        </mc:Fallback>
      </mc:AlternateContent>
    </p:spTree>
    <p:custDataLst>
      <p:tags r:id="rId6"/>
    </p:custDataLst>
  </p:cSld>
  <p:clrMapOvr>
    <a:masterClrMapping/>
  </p:clrMapOvr>
  <p:transition/>
  <p:timing/>
</p:sld>
</file>

<file path=ppt/slides/slide4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custDataLst>
            <p:tags r:id="rId2"/>
          </p:custDataLst>
        </p:nvPr>
      </p:nvGrpSpPr>
      <p:grpSpPr>
        <a:xfrm>
          <a:off x="0" y="0"/>
          <a:ext cx="0" cy="0"/>
        </a:xfrm>
      </p:grpSpPr>
      <p:sp>
        <p:nvSpPr>
          <p:cNvPr id="13" name="文本框 12" title=""/>
          <p:cNvSpPr txBox="1"/>
          <p:nvPr>
            <p:custDataLst>
              <p:tags r:id="rId3"/>
            </p:custDataLst>
          </p:nvPr>
        </p:nvSpPr>
        <p:spPr>
          <a:xfrm>
            <a:off x="2823845" y="2679065"/>
            <a:ext cx="7023100" cy="1079500"/>
          </a:xfrm>
          <a:prstGeom prst="rect">
            <a:avLst/>
          </a:prstGeom>
          <a:noFill/>
        </p:spPr>
        <p:txBody>
          <a:bodyPr wrap="square" rtlCol="0">
            <a:noAutofit/>
          </a:bodyPr>
          <a:lstStyle/>
          <a:p>
            <a:pPr indent="0" algn="ctr" fontAlgn="auto"/>
            <a:r>
              <a:rPr lang="zh-CN" altLang="en-US" sz="6000">
                <a:solidFill>
                  <a:schemeClr val="tx1">
                    <a:lumMod val="75000"/>
                    <a:lumOff val="25000"/>
                  </a:schemeClr>
                </a:solidFill>
                <a:latin typeface="黑体" panose="02010609060101010101" charset="-122"/>
                <a:ea typeface="黑体" panose="02010609060101010101" charset="-122"/>
                <a:cs typeface="黑体" panose="02010609060101010101" charset="-122"/>
                <a:sym typeface="汉仪宋韵朗黑W"/>
              </a:rPr>
              <a:t>本节结束</a:t>
            </a:r>
            <a:r>
              <a:rPr lang="en-US" altLang="zh-CN" sz="6000">
                <a:solidFill>
                  <a:schemeClr val="tx1">
                    <a:lumMod val="75000"/>
                    <a:lumOff val="25000"/>
                  </a:schemeClr>
                </a:solidFill>
                <a:latin typeface="黑体" panose="02010609060101010101" charset="-122"/>
                <a:ea typeface="黑体" panose="02010609060101010101" charset="-122"/>
                <a:cs typeface="黑体" panose="02010609060101010101" charset="-122"/>
                <a:sym typeface="汉仪宋韵朗黑W"/>
              </a:rPr>
              <a:t> </a:t>
            </a:r>
            <a:r>
              <a:rPr lang="zh-CN" altLang="en-US" sz="6000">
                <a:solidFill>
                  <a:schemeClr val="tx1">
                    <a:lumMod val="75000"/>
                    <a:lumOff val="25000"/>
                  </a:schemeClr>
                </a:solidFill>
                <a:latin typeface="黑体" panose="02010609060101010101" charset="-122"/>
                <a:ea typeface="黑体" panose="02010609060101010101" charset="-122"/>
                <a:cs typeface="黑体" panose="02010609060101010101" charset="-122"/>
                <a:sym typeface="汉仪宋韵朗黑W"/>
              </a:rPr>
              <a:t>谢谢观看</a:t>
            </a:r>
            <a:endParaRPr lang="zh-CN" altLang="en-US" sz="6000">
              <a:solidFill>
                <a:schemeClr val="tx1">
                  <a:lumMod val="75000"/>
                  <a:lumOff val="25000"/>
                </a:schemeClr>
              </a:solidFill>
              <a:latin typeface="黑体" panose="02010609060101010101" charset="-122"/>
              <a:ea typeface="黑体" panose="02010609060101010101" charset="-122"/>
              <a:cs typeface="黑体" panose="02010609060101010101" charset="-122"/>
              <a:sym typeface="汉仪宋韵朗黑W"/>
            </a:endParaRPr>
          </a:p>
        </p:txBody>
      </p:sp>
    </p:spTree>
    <p:custDataLst>
      <p:tags r:id="rId4"/>
    </p:custDataLst>
  </p:cSld>
  <p:clrMapOvr>
    <a:masterClrMapping/>
  </p:clrMapOvr>
  <p:transition/>
  <p:timing/>
</p:sld>
</file>

<file path=ppt/tags/tag1.xml><?xml version="1.0" encoding="utf-8"?>
<p:tagLst xmlns:p="http://schemas.openxmlformats.org/presentationml/2006/main">
  <p:tag name="AS_UNIQUEID" val="1489"/>
</p:tagLst>
</file>

<file path=ppt/tags/tag2.xml><?xml version="1.0" encoding="utf-8"?>
<p:tagLst xmlns:p="http://schemas.openxmlformats.org/presentationml/2006/main">
  <p:tag name="AS_UNIQUEID" val="1490"/>
</p:tagLst>
</file>

<file path=ppt/tags/tag3.xml><?xml version="1.0" encoding="utf-8"?>
<p:tagLst xmlns:p="http://schemas.openxmlformats.org/presentationml/2006/main">
  <p:tag name="AS_UNIQUEID" val="1491"/>
</p:tagLst>
</file>

<file path=ppt/tags/tag4.xml><?xml version="1.0" encoding="utf-8"?>
<p:tagLst xmlns:p="http://schemas.openxmlformats.org/presentationml/2006/main">
  <p:tag name="AS_UNIQUEID" val="1492"/>
</p:tagLst>
</file>

<file path=ppt/tags/tag5.xml><?xml version="1.0" encoding="utf-8"?>
<p:tagLst xmlns:p="http://schemas.openxmlformats.org/presentationml/2006/main">
  <p:tag name="AS_UNIQUEID" val="1493"/>
</p:tagLst>
</file>

<file path=ppt/tags/tag6.xml><?xml version="1.0" encoding="utf-8"?>
<p:tagLst xmlns:p="http://schemas.openxmlformats.org/presentationml/2006/main">
  <p:tag name="AS_UNIQUEID" val="1494"/>
</p:tagLst>
</file>

<file path=ppt/tags/tag7.xml><?xml version="1.0" encoding="utf-8"?>
<p:tagLst xmlns:p="http://schemas.openxmlformats.org/presentationml/2006/main">
  <p:tag name="AS_UNIQUEID" val="1495"/>
</p:tagLst>
</file>

<file path=ppt/tags/tag8.xml><?xml version="1.0" encoding="utf-8"?>
<p:tagLst xmlns:p="http://schemas.openxmlformats.org/presentationml/2006/main">
  <p:tag name="AS_UNIQUEID" val="1496"/>
</p:tagLst>
</file>

<file path=ppt/tags/tag9.xml><?xml version="1.0" encoding="utf-8"?>
<p:tagLst xmlns:p="http://schemas.openxmlformats.org/presentationml/2006/main">
  <p:tag name="AS_UNIQUEID" val="1497"/>
</p:tagLst>
</file>

<file path=ppt/tags/tag10.xml><?xml version="1.0" encoding="utf-8"?>
<p:tagLst xmlns:p="http://schemas.openxmlformats.org/presentationml/2006/main">
  <p:tag name="AS_UNIQUEID" val="1498"/>
</p:tagLst>
</file>

<file path=ppt/tags/tag11.xml><?xml version="1.0" encoding="utf-8"?>
<p:tagLst xmlns:p="http://schemas.openxmlformats.org/presentationml/2006/main">
  <p:tag name="AS_UNIQUEID" val="1499"/>
</p:tagLst>
</file>

<file path=ppt/tags/tag12.xml><?xml version="1.0" encoding="utf-8"?>
<p:tagLst xmlns:p="http://schemas.openxmlformats.org/presentationml/2006/main">
  <p:tag name="AS_UNIQUEID" val="1500"/>
</p:tagLst>
</file>

<file path=ppt/tags/tag13.xml><?xml version="1.0" encoding="utf-8"?>
<p:tagLst xmlns:p="http://schemas.openxmlformats.org/presentationml/2006/main">
  <p:tag name="AS_UNIQUEID" val="1501"/>
</p:tagLst>
</file>

<file path=ppt/tags/tag14.xml><?xml version="1.0" encoding="utf-8"?>
<p:tagLst xmlns:p="http://schemas.openxmlformats.org/presentationml/2006/main">
  <p:tag name="AS_UNIQUEID" val="1502"/>
</p:tagLst>
</file>

<file path=ppt/tags/tag15.xml><?xml version="1.0" encoding="utf-8"?>
<p:tagLst xmlns:p="http://schemas.openxmlformats.org/presentationml/2006/main">
  <p:tag name="AS_UNIQUEID" val="1503"/>
</p:tagLst>
</file>

<file path=ppt/tags/tag16.xml><?xml version="1.0" encoding="utf-8"?>
<p:tagLst xmlns:p="http://schemas.openxmlformats.org/presentationml/2006/main">
  <p:tag name="AS_UNIQUEID" val="1504"/>
</p:tagLst>
</file>

<file path=ppt/tags/tag17.xml><?xml version="1.0" encoding="utf-8"?>
<p:tagLst xmlns:p="http://schemas.openxmlformats.org/presentationml/2006/main">
  <p:tag name="AS_UNIQUEID" val="1505"/>
</p:tagLst>
</file>

<file path=ppt/tags/tag18.xml><?xml version="1.0" encoding="utf-8"?>
<p:tagLst xmlns:p="http://schemas.openxmlformats.org/presentationml/2006/main">
  <p:tag name="AS_UNIQUEID" val="1506"/>
</p:tagLst>
</file>

<file path=ppt/tags/tag19.xml><?xml version="1.0" encoding="utf-8"?>
<p:tagLst xmlns:p="http://schemas.openxmlformats.org/presentationml/2006/main">
  <p:tag name="AS_UNIQUEID" val="1507"/>
</p:tagLst>
</file>

<file path=ppt/tags/tag20.xml><?xml version="1.0" encoding="utf-8"?>
<p:tagLst xmlns:p="http://schemas.openxmlformats.org/presentationml/2006/main">
  <p:tag name="AS_UNIQUEID" val="1508"/>
</p:tagLst>
</file>

<file path=ppt/tags/tag21.xml><?xml version="1.0" encoding="utf-8"?>
<p:tagLst xmlns:p="http://schemas.openxmlformats.org/presentationml/2006/main">
  <p:tag name="AS_UNIQUEID" val="1509"/>
</p:tagLst>
</file>

<file path=ppt/tags/tag22.xml><?xml version="1.0" encoding="utf-8"?>
<p:tagLst xmlns:p="http://schemas.openxmlformats.org/presentationml/2006/main">
  <p:tag name="AS_UNIQUEID" val="1510"/>
</p:tagLst>
</file>

<file path=ppt/tags/tag23.xml><?xml version="1.0" encoding="utf-8"?>
<p:tagLst xmlns:p="http://schemas.openxmlformats.org/presentationml/2006/main">
  <p:tag name="AS_UNIQUEID" val="1511"/>
</p:tagLst>
</file>

<file path=ppt/tags/tag24.xml><?xml version="1.0" encoding="utf-8"?>
<p:tagLst xmlns:p="http://schemas.openxmlformats.org/presentationml/2006/main">
  <p:tag name="AS_UNIQUEID" val="1512"/>
</p:tagLst>
</file>

<file path=ppt/tags/tag25.xml><?xml version="1.0" encoding="utf-8"?>
<p:tagLst xmlns:p="http://schemas.openxmlformats.org/presentationml/2006/main">
  <p:tag name="AS_UNIQUEID" val="1513"/>
</p:tagLst>
</file>

<file path=ppt/tags/tag26.xml><?xml version="1.0" encoding="utf-8"?>
<p:tagLst xmlns:p="http://schemas.openxmlformats.org/presentationml/2006/main">
  <p:tag name="AS_UNIQUEID" val="1514"/>
</p:tagLst>
</file>

<file path=ppt/tags/tag27.xml><?xml version="1.0" encoding="utf-8"?>
<p:tagLst xmlns:p="http://schemas.openxmlformats.org/presentationml/2006/main">
  <p:tag name="AS_UNIQUEID" val="1515"/>
</p:tagLst>
</file>

<file path=ppt/tags/tag28.xml><?xml version="1.0" encoding="utf-8"?>
<p:tagLst xmlns:p="http://schemas.openxmlformats.org/presentationml/2006/main">
  <p:tag name="AS_UNIQUEID" val="1516"/>
</p:tagLst>
</file>

<file path=ppt/tags/tag29.xml><?xml version="1.0" encoding="utf-8"?>
<p:tagLst xmlns:p="http://schemas.openxmlformats.org/presentationml/2006/main">
  <p:tag name="AS_UNIQUEID" val="1517"/>
</p:tagLst>
</file>

<file path=ppt/tags/tag30.xml><?xml version="1.0" encoding="utf-8"?>
<p:tagLst xmlns:p="http://schemas.openxmlformats.org/presentationml/2006/main">
  <p:tag name="AS_UNIQUEID" val="1518"/>
</p:tagLst>
</file>

<file path=ppt/tags/tag31.xml><?xml version="1.0" encoding="utf-8"?>
<p:tagLst xmlns:p="http://schemas.openxmlformats.org/presentationml/2006/main">
  <p:tag name="AS_UNIQUEID" val="1519"/>
</p:tagLst>
</file>

<file path=ppt/tags/tag32.xml><?xml version="1.0" encoding="utf-8"?>
<p:tagLst xmlns:p="http://schemas.openxmlformats.org/presentationml/2006/main">
  <p:tag name="AS_UNIQUEID" val="1520"/>
</p:tagLst>
</file>

<file path=ppt/tags/tag33.xml><?xml version="1.0" encoding="utf-8"?>
<p:tagLst xmlns:p="http://schemas.openxmlformats.org/presentationml/2006/main">
  <p:tag name="AS_UNIQUEID" val="1521"/>
</p:tagLst>
</file>

<file path=ppt/tags/tag34.xml><?xml version="1.0" encoding="utf-8"?>
<p:tagLst xmlns:p="http://schemas.openxmlformats.org/presentationml/2006/main">
  <p:tag name="AS_UNIQUEID" val="1522"/>
</p:tagLst>
</file>

<file path=ppt/tags/tag35.xml><?xml version="1.0" encoding="utf-8"?>
<p:tagLst xmlns:p="http://schemas.openxmlformats.org/presentationml/2006/main">
  <p:tag name="AS_UNIQUEID" val="1523"/>
</p:tagLst>
</file>

<file path=ppt/tags/tag36.xml><?xml version="1.0" encoding="utf-8"?>
<p:tagLst xmlns:p="http://schemas.openxmlformats.org/presentationml/2006/main">
  <p:tag name="AS_UNIQUEID" val="1524"/>
</p:tagLst>
</file>

<file path=ppt/tags/tag37.xml><?xml version="1.0" encoding="utf-8"?>
<p:tagLst xmlns:p="http://schemas.openxmlformats.org/presentationml/2006/main">
  <p:tag name="AS_UNIQUEID" val="1525"/>
</p:tagLst>
</file>

<file path=ppt/tags/tag38.xml><?xml version="1.0" encoding="utf-8"?>
<p:tagLst xmlns:p="http://schemas.openxmlformats.org/presentationml/2006/main">
  <p:tag name="AS_UNIQUEID" val="1526"/>
</p:tagLst>
</file>

<file path=ppt/tags/tag39.xml><?xml version="1.0" encoding="utf-8"?>
<p:tagLst xmlns:p="http://schemas.openxmlformats.org/presentationml/2006/main">
  <p:tag name="AS_UNIQUEID" val="1527"/>
</p:tagLst>
</file>

<file path=ppt/tags/tag40.xml><?xml version="1.0" encoding="utf-8"?>
<p:tagLst xmlns:p="http://schemas.openxmlformats.org/presentationml/2006/main">
  <p:tag name="AS_UNIQUEID" val="1528"/>
</p:tagLst>
</file>

<file path=ppt/tags/tag41.xml><?xml version="1.0" encoding="utf-8"?>
<p:tagLst xmlns:p="http://schemas.openxmlformats.org/presentationml/2006/main">
  <p:tag name="AS_UNIQUEID" val="1529"/>
</p:tagLst>
</file>

<file path=ppt/tags/tag42.xml><?xml version="1.0" encoding="utf-8"?>
<p:tagLst xmlns:p="http://schemas.openxmlformats.org/presentationml/2006/main">
  <p:tag name="AS_UNIQUEID" val="1530"/>
</p:tagLst>
</file>

<file path=ppt/tags/tag43.xml><?xml version="1.0" encoding="utf-8"?>
<p:tagLst xmlns:p="http://schemas.openxmlformats.org/presentationml/2006/main">
  <p:tag name="AS_UNIQUEID" val="1531"/>
</p:tagLst>
</file>

<file path=ppt/tags/tag44.xml><?xml version="1.0" encoding="utf-8"?>
<p:tagLst xmlns:p="http://schemas.openxmlformats.org/presentationml/2006/main">
  <p:tag name="AS_UNIQUEID" val="1532"/>
</p:tagLst>
</file>

<file path=ppt/tags/tag45.xml><?xml version="1.0" encoding="utf-8"?>
<p:tagLst xmlns:p="http://schemas.openxmlformats.org/presentationml/2006/main">
  <p:tag name="AS_UNIQUEID" val="1533"/>
</p:tagLst>
</file>

<file path=ppt/tags/tag46.xml><?xml version="1.0" encoding="utf-8"?>
<p:tagLst xmlns:p="http://schemas.openxmlformats.org/presentationml/2006/main">
  <p:tag name="AS_UNIQUEID" val="1534"/>
</p:tagLst>
</file>

<file path=ppt/tags/tag47.xml><?xml version="1.0" encoding="utf-8"?>
<p:tagLst xmlns:p="http://schemas.openxmlformats.org/presentationml/2006/main">
  <p:tag name="AS_UNIQUEID" val="1535"/>
</p:tagLst>
</file>

<file path=ppt/tags/tag48.xml><?xml version="1.0" encoding="utf-8"?>
<p:tagLst xmlns:p="http://schemas.openxmlformats.org/presentationml/2006/main">
  <p:tag name="KSO_WM_BEAUTIFY_FLAG" val="#wm#"/>
  <p:tag name="KSO_WM_TAG_VERSION" val="1.0"/>
  <p:tag name="KSO_WM_TEMPLATE_CATEGORY" val="custom"/>
  <p:tag name="KSO_WM_TEMPLATE_COLOR_TYPE" val="1"/>
  <p:tag name="KSO_WM_TEMPLATE_INDEX" val="20205176"/>
  <p:tag name="KSO_WM_TEMPLATE_MASTER_TYPE" val="0"/>
  <p:tag name="KSO_WM_TEMPLATE_SUBCATEGORY" val="19"/>
  <p:tag name="KSO_WM_TEMPLATE_THUMBS_INDEX" val="1、4、7、12、13、14、15、16、17、18、20、24、25、28、33、36、40、43、44"/>
  <p:tag name="KSO_WM_UNIT_SHOW_EDIT_AREA_INDICATION" val="1"/>
</p:tagLst>
</file>

<file path=ppt/tags/tag49.xml><?xml version="1.0" encoding="utf-8"?>
<p:tagLst xmlns:p="http://schemas.openxmlformats.org/presentationml/2006/main">
  <p:tag name="AS_UNIQUEID" val="1536"/>
</p:tagLst>
</file>

<file path=ppt/tags/tag50.xml><?xml version="1.0" encoding="utf-8"?>
<p:tagLst xmlns:p="http://schemas.openxmlformats.org/presentationml/2006/main">
  <p:tag name="AS_UNIQUEID" val="1537"/>
</p:tagLst>
</file>

<file path=ppt/tags/tag51.xml><?xml version="1.0" encoding="utf-8"?>
<p:tagLst xmlns:p="http://schemas.openxmlformats.org/presentationml/2006/main">
  <p:tag name="AS_UNIQUEID" val="1538"/>
</p:tagLst>
</file>

<file path=ppt/tags/tag52.xml><?xml version="1.0" encoding="utf-8"?>
<p:tagLst xmlns:p="http://schemas.openxmlformats.org/presentationml/2006/main">
  <p:tag name="AS_UNIQUEID" val="1539"/>
</p:tagLst>
</file>

<file path=ppt/tags/tag53.xml><?xml version="1.0" encoding="utf-8"?>
<p:tagLst xmlns:p="http://schemas.openxmlformats.org/presentationml/2006/main">
  <p:tag name="AS_UNIQUEID" val="1540"/>
</p:tagLst>
</file>

<file path=ppt/tags/tag54.xml><?xml version="1.0" encoding="utf-8"?>
<p:tagLst xmlns:p="http://schemas.openxmlformats.org/presentationml/2006/main">
  <p:tag name="AS_UNIQUEID" val="1541"/>
</p:tagLst>
</file>

<file path=ppt/tags/tag55.xml><?xml version="1.0" encoding="utf-8"?>
<p:tagLst xmlns:p="http://schemas.openxmlformats.org/presentationml/2006/main">
  <p:tag name="AS_UNIQUEID" val="1542"/>
</p:tagLst>
</file>

<file path=ppt/tags/tag56.xml><?xml version="1.0" encoding="utf-8"?>
<p:tagLst xmlns:p="http://schemas.openxmlformats.org/presentationml/2006/main">
  <p:tag name="AS_UNIQUEID" val="1543"/>
</p:tagLst>
</file>

<file path=ppt/tags/tag57.xml><?xml version="1.0" encoding="utf-8"?>
<p:tagLst xmlns:p="http://schemas.openxmlformats.org/presentationml/2006/main">
  <p:tag name="AS_UNIQUEID" val="1544"/>
</p:tagLst>
</file>

<file path=ppt/tags/tag58.xml><?xml version="1.0" encoding="utf-8"?>
<p:tagLst xmlns:p="http://schemas.openxmlformats.org/presentationml/2006/main">
  <p:tag name="AS_UNIQUEID" val="1545"/>
</p:tagLst>
</file>

<file path=ppt/tags/tag59.xml><?xml version="1.0" encoding="utf-8"?>
<p:tagLst xmlns:p="http://schemas.openxmlformats.org/presentationml/2006/main">
  <p:tag name="AS_UNIQUEID" val="1546"/>
</p:tagLst>
</file>

<file path=ppt/tags/tag60.xml><?xml version="1.0" encoding="utf-8"?>
<p:tagLst xmlns:p="http://schemas.openxmlformats.org/presentationml/2006/main">
  <p:tag name="AS_UNIQUEID" val="1547"/>
</p:tagLst>
</file>

<file path=ppt/tags/tag61.xml><?xml version="1.0" encoding="utf-8"?>
<p:tagLst xmlns:p="http://schemas.openxmlformats.org/presentationml/2006/main">
  <p:tag name="AS_UNIQUEID" val="1548"/>
</p:tagLst>
</file>

<file path=ppt/tags/tag62.xml><?xml version="1.0" encoding="utf-8"?>
<p:tagLst xmlns:p="http://schemas.openxmlformats.org/presentationml/2006/main">
  <p:tag name="AS_UNIQUEID" val="1549"/>
</p:tagLst>
</file>

<file path=ppt/tags/tag63.xml><?xml version="1.0" encoding="utf-8"?>
<p:tagLst xmlns:p="http://schemas.openxmlformats.org/presentationml/2006/main">
  <p:tag name="AS_UNIQUEID" val="1550"/>
</p:tagLst>
</file>

<file path=ppt/tags/tag64.xml><?xml version="1.0" encoding="utf-8"?>
<p:tagLst xmlns:p="http://schemas.openxmlformats.org/presentationml/2006/main">
  <p:tag name="AS_UNIQUEID" val="1551"/>
</p:tagLst>
</file>

<file path=ppt/tags/tag65.xml><?xml version="1.0" encoding="utf-8"?>
<p:tagLst xmlns:p="http://schemas.openxmlformats.org/presentationml/2006/main">
  <p:tag name="AS_UNIQUEID" val="1552"/>
  <p:tag name="KSO_WM_BEAUTIFY_FLAG" val=""/>
</p:tagLst>
</file>

<file path=ppt/tags/tag66.xml><?xml version="1.0" encoding="utf-8"?>
<p:tagLst xmlns:p="http://schemas.openxmlformats.org/presentationml/2006/main">
  <p:tag name="KSO_WM_BEAUTIFY_FLAG" val="#wm#"/>
  <p:tag name="KSO_WM_SLIDE_ID" val="custom20205176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176"/>
  <p:tag name="KSO_WM_TEMPLATE_MASTER_TYPE" val="0"/>
  <p:tag name="KSO_WM_TEMPLATE_SUBCATEGORY" val="19"/>
  <p:tag name="KSO_WM_TEMPLATE_THUMBS_INDEX" val="1、4、7、12、13、14、15、16、17、18、20、24、25、28、33、36、40、43、44"/>
  <p:tag name="KSO_WM_UNIT_SHOW_EDIT_AREA_INDICATION" val="1"/>
</p:tagLst>
</file>

<file path=ppt/tags/tag67.xml><?xml version="1.0" encoding="utf-8"?>
<p:tagLst xmlns:p="http://schemas.openxmlformats.org/presentationml/2006/main">
  <p:tag name="AS_UNIQUEID" val="1553"/>
</p:tagLst>
</file>

<file path=ppt/tags/tag68.xml><?xml version="1.0" encoding="utf-8"?>
<p:tagLst xmlns:p="http://schemas.openxmlformats.org/presentationml/2006/main">
  <p:tag name="AS_UNIQUEID" val="1554"/>
</p:tagLst>
</file>

<file path=ppt/tags/tag69.xml><?xml version="1.0" encoding="utf-8"?>
<p:tagLst xmlns:p="http://schemas.openxmlformats.org/presentationml/2006/main">
  <p:tag name="AS_UNIQUEID" val="1555"/>
</p:tagLst>
</file>

<file path=ppt/tags/tag70.xml><?xml version="1.0" encoding="utf-8"?>
<p:tagLst xmlns:p="http://schemas.openxmlformats.org/presentationml/2006/main">
  <p:tag name="AS_UNIQUEID" val="1556"/>
</p:tagLst>
</file>

<file path=ppt/tags/tag71.xml><?xml version="1.0" encoding="utf-8"?>
<p:tagLst xmlns:p="http://schemas.openxmlformats.org/presentationml/2006/main">
  <p:tag name="AS_UNIQUEID" val="1557"/>
  <p:tag name="KSO_WM_DIAGRAM_VIRTUALLY_FRAME" val="{&quot;height&quot;:351.5,&quot;left&quot;:460.7,&quot;top&quot;:86.7,&quot;width&quot;:390.05}"/>
</p:tagLst>
</file>

<file path=ppt/tags/tag72.xml><?xml version="1.0" encoding="utf-8"?>
<p:tagLst xmlns:p="http://schemas.openxmlformats.org/presentationml/2006/main">
  <p:tag name="AS_UNIQUEID" val="1558"/>
  <p:tag name="KSO_WM_BEAUTIFY_FLAG" val=""/>
  <p:tag name="KSO_WM_DIAGRAM_VIRTUALLY_FRAME" val="{&quot;height&quot;:351.5,&quot;left&quot;:460.7,&quot;top&quot;:86.7,&quot;width&quot;:390.05}"/>
</p:tagLst>
</file>

<file path=ppt/tags/tag73.xml><?xml version="1.0" encoding="utf-8"?>
<p:tagLst xmlns:p="http://schemas.openxmlformats.org/presentationml/2006/main">
  <p:tag name="AS_UNIQUEID" val="1559"/>
  <p:tag name="KSO_WM_BEAUTIFY_FLAG" val=""/>
  <p:tag name="KSO_WM_DIAGRAM_VIRTUALLY_FRAME" val="{&quot;height&quot;:351.5,&quot;left&quot;:460.7,&quot;top&quot;:86.7,&quot;width&quot;:390.05}"/>
</p:tagLst>
</file>

<file path=ppt/tags/tag74.xml><?xml version="1.0" encoding="utf-8"?>
<p:tagLst xmlns:p="http://schemas.openxmlformats.org/presentationml/2006/main">
  <p:tag name="AS_UNIQUEID" val="1560"/>
  <p:tag name="KSO_WM_BEAUTIFY_FLAG" val=""/>
  <p:tag name="KSO_WM_DIAGRAM_VIRTUALLY_FRAME" val="{&quot;height&quot;:351.5,&quot;left&quot;:460.7,&quot;top&quot;:86.7,&quot;width&quot;:390.05}"/>
</p:tagLst>
</file>

<file path=ppt/tags/tag75.xml><?xml version="1.0" encoding="utf-8"?>
<p:tagLst xmlns:p="http://schemas.openxmlformats.org/presentationml/2006/main">
  <p:tag name="AS_UNIQUEID" val="1561"/>
  <p:tag name="KSO_WM_BEAUTIFY_FLAG" val=""/>
  <p:tag name="KSO_WM_DIAGRAM_VIRTUALLY_FRAME" val="{&quot;height&quot;:351.5,&quot;left&quot;:460.7,&quot;top&quot;:86.7,&quot;width&quot;:390.05}"/>
</p:tagLst>
</file>

<file path=ppt/tags/tag76.xml><?xml version="1.0" encoding="utf-8"?>
<p:tagLst xmlns:p="http://schemas.openxmlformats.org/presentationml/2006/main">
  <p:tag name="AS_UNIQUEID" val="1562"/>
  <p:tag name="KSO_WM_BEAUTIFY_FLAG" val=""/>
  <p:tag name="KSO_WM_DIAGRAM_VIRTUALLY_FRAME" val="{&quot;height&quot;:351.5,&quot;left&quot;:460.7,&quot;top&quot;:86.7,&quot;width&quot;:390.05}"/>
</p:tagLst>
</file>

<file path=ppt/tags/tag77.xml><?xml version="1.0" encoding="utf-8"?>
<p:tagLst xmlns:p="http://schemas.openxmlformats.org/presentationml/2006/main">
  <p:tag name="AS_UNIQUEID" val="1563"/>
  <p:tag name="KSO_WM_BEAUTIFY_FLAG" val=""/>
  <p:tag name="KSO_WM_DIAGRAM_VIRTUALLY_FRAME" val="{&quot;height&quot;:351.5,&quot;left&quot;:460.7,&quot;top&quot;:86.7,&quot;width&quot;:390.05}"/>
</p:tagLst>
</file>

<file path=ppt/tags/tag78.xml><?xml version="1.0" encoding="utf-8"?>
<p:tagLst xmlns:p="http://schemas.openxmlformats.org/presentationml/2006/main">
  <p:tag name="AS_UNIQUEID" val="1564"/>
  <p:tag name="KSO_WM_BEAUTIFY_FLAG" val=""/>
  <p:tag name="KSO_WM_DIAGRAM_VIRTUALLY_FRAME" val="{&quot;height&quot;:351.5,&quot;left&quot;:460.7,&quot;top&quot;:86.7,&quot;width&quot;:390.05}"/>
</p:tagLst>
</file>

<file path=ppt/tags/tag79.xml><?xml version="1.0" encoding="utf-8"?>
<p:tagLst xmlns:p="http://schemas.openxmlformats.org/presentationml/2006/main">
  <p:tag name="AS_UNIQUEID" val="1565"/>
  <p:tag name="KSO_WM_BEAUTIFY_FLAG" val=""/>
  <p:tag name="KSO_WM_DIAGRAM_VIRTUALLY_FRAME" val="{&quot;height&quot;:351.5,&quot;left&quot;:460.7,&quot;top&quot;:86.7,&quot;width&quot;:390.05}"/>
</p:tagLst>
</file>

<file path=ppt/tags/tag80.xml><?xml version="1.0" encoding="utf-8"?>
<p:tagLst xmlns:p="http://schemas.openxmlformats.org/presentationml/2006/main">
  <p:tag name="AS_UNIQUEID" val="1566"/>
  <p:tag name="KSO_WM_BEAUTIFY_FLAG" val=""/>
  <p:tag name="KSO_WM_DIAGRAM_VIRTUALLY_FRAME" val="{&quot;height&quot;:351.5,&quot;left&quot;:460.7,&quot;top&quot;:86.7,&quot;width&quot;:390.05}"/>
</p:tagLst>
</file>

<file path=ppt/tags/tag81.xml><?xml version="1.0" encoding="utf-8"?>
<p:tagLst xmlns:p="http://schemas.openxmlformats.org/presentationml/2006/main">
  <p:tag name="AS_UNIQUEID" val="1567"/>
  <p:tag name="KSO_WM_BEAUTIFY_FLAG" val=""/>
  <p:tag name="KSO_WM_DIAGRAM_VIRTUALLY_FRAME" val="{&quot;height&quot;:351.5,&quot;left&quot;:460.7,&quot;top&quot;:86.7,&quot;width&quot;:390.05}"/>
</p:tagLst>
</file>

<file path=ppt/tags/tag82.xml><?xml version="1.0" encoding="utf-8"?>
<p:tagLst xmlns:p="http://schemas.openxmlformats.org/presentationml/2006/main">
  <p:tag name="AS_UNIQUEID" val="1568"/>
  <p:tag name="KSO_WM_BEAUTIFY_FLAG" val=""/>
  <p:tag name="KSO_WM_DIAGRAM_VIRTUALLY_FRAME" val="{&quot;height&quot;:351.5,&quot;left&quot;:460.7,&quot;top&quot;:86.7,&quot;width&quot;:390.05}"/>
</p:tagLst>
</file>

<file path=ppt/tags/tag83.xml><?xml version="1.0" encoding="utf-8"?>
<p:tagLst xmlns:p="http://schemas.openxmlformats.org/presentationml/2006/main">
  <p:tag name="AS_UNIQUEID" val="1569"/>
  <p:tag name="KSO_WM_BEAUTIFY_FLAG" val=""/>
  <p:tag name="KSO_WM_DIAGRAM_VIRTUALLY_FRAME" val="{&quot;height&quot;:351.5,&quot;left&quot;:460.7,&quot;top&quot;:86.7,&quot;width&quot;:390.05}"/>
</p:tagLst>
</file>

<file path=ppt/tags/tag84.xml><?xml version="1.0" encoding="utf-8"?>
<p:tagLst xmlns:p="http://schemas.openxmlformats.org/presentationml/2006/main">
  <p:tag name="KSO_WM_BEAUTIFY_FLAG" val="#wm#"/>
  <p:tag name="KSO_WM_TEMPLATE_CATEGORY" val="custom"/>
  <p:tag name="KSO_WM_TEMPLATE_INDEX" val="20205176"/>
</p:tagLst>
</file>

<file path=ppt/tags/tag85.xml><?xml version="1.0" encoding="utf-8"?>
<p:tagLst xmlns:p="http://schemas.openxmlformats.org/presentationml/2006/main">
  <p:tag name="AS_UNIQUEID" val="1570"/>
</p:tagLst>
</file>

<file path=ppt/tags/tag86.xml><?xml version="1.0" encoding="utf-8"?>
<p:tagLst xmlns:p="http://schemas.openxmlformats.org/presentationml/2006/main">
  <p:tag name="AS_UNIQUEID" val="1571"/>
</p:tagLst>
</file>

<file path=ppt/tags/tag87.xml><?xml version="1.0" encoding="utf-8"?>
<p:tagLst xmlns:p="http://schemas.openxmlformats.org/presentationml/2006/main">
  <p:tag name="AS_UNIQUEID" val="1572"/>
</p:tagLst>
</file>

<file path=ppt/tags/tag88.xml><?xml version="1.0" encoding="utf-8"?>
<p:tagLst xmlns:p="http://schemas.openxmlformats.org/presentationml/2006/main">
  <p:tag name="AS_UNIQUEID" val="1573"/>
</p:tagLst>
</file>

<file path=ppt/tags/tag89.xml><?xml version="1.0" encoding="utf-8"?>
<p:tagLst xmlns:p="http://schemas.openxmlformats.org/presentationml/2006/main">
  <p:tag name="AS_UNIQUEID" val="1574"/>
</p:tagLst>
</file>

<file path=ppt/tags/tag90.xml><?xml version="1.0" encoding="utf-8"?>
<p:tagLst xmlns:p="http://schemas.openxmlformats.org/presentationml/2006/main">
  <p:tag name="KSO_WM_BEAUTIFY_FLAG" val="#wm#"/>
  <p:tag name="KSO_WM_TEMPLATE_CATEGORY" val="custom"/>
  <p:tag name="KSO_WM_TEMPLATE_INDEX" val="20205176"/>
</p:tagLst>
</file>

<file path=ppt/tags/tag91.xml><?xml version="1.0" encoding="utf-8"?>
<p:tagLst xmlns:p="http://schemas.openxmlformats.org/presentationml/2006/main">
  <p:tag name="AS_UNIQUEID" val="1575"/>
</p:tagLst>
</file>

<file path=ppt/tags/tag92.xml><?xml version="1.0" encoding="utf-8"?>
<p:tagLst xmlns:p="http://schemas.openxmlformats.org/presentationml/2006/main">
  <p:tag name="AS_UNIQUEID" val="1576"/>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93.xml><?xml version="1.0" encoding="utf-8"?>
<p:tagLst xmlns:p="http://schemas.openxmlformats.org/presentationml/2006/main">
  <p:tag name="AS_UNIQUEID" val="1577"/>
</p:tagLst>
</file>

<file path=ppt/tags/tag94.xml><?xml version="1.0" encoding="utf-8"?>
<p:tagLst xmlns:p="http://schemas.openxmlformats.org/presentationml/2006/main">
  <p:tag name="AS_UNIQUEID" val="1578"/>
  <p:tag name="KSO_WM_BEAUTIFY_FLAG" val=""/>
</p:tagLst>
</file>

<file path=ppt/tags/tag95.xml><?xml version="1.0" encoding="utf-8"?>
<p:tagLst xmlns:p="http://schemas.openxmlformats.org/presentationml/2006/main">
  <p:tag name="AS_UNIQUEID" val="1579"/>
</p:tagLst>
</file>

<file path=ppt/tags/tag96.xml><?xml version="1.0" encoding="utf-8"?>
<p:tagLst xmlns:p="http://schemas.openxmlformats.org/presentationml/2006/main">
  <p:tag name="AS_UNIQUEID" val="1580"/>
</p:tagLst>
</file>

<file path=ppt/tags/tag97.xml><?xml version="1.0" encoding="utf-8"?>
<p:tagLst xmlns:p="http://schemas.openxmlformats.org/presentationml/2006/main">
  <p:tag name="AS_UNIQUEID" val="1581"/>
</p:tagLst>
</file>

<file path=ppt/tags/tag98.xml><?xml version="1.0" encoding="utf-8"?>
<p:tagLst xmlns:p="http://schemas.openxmlformats.org/presentationml/2006/main">
  <p:tag name="AS_UNIQUEID" val="1582"/>
</p:tagLst>
</file>

<file path=ppt/tags/tag99.xml><?xml version="1.0" encoding="utf-8"?>
<p:tagLst xmlns:p="http://schemas.openxmlformats.org/presentationml/2006/main">
  <p:tag name="AS_UNIQUEID" val="1583"/>
</p:tagLst>
</file>

<file path=ppt/tags/tag100.xml><?xml version="1.0" encoding="utf-8"?>
<p:tagLst xmlns:p="http://schemas.openxmlformats.org/presentationml/2006/main">
  <p:tag name="KSO_WM_BEAUTIFY_FLAG" val="#wm#"/>
  <p:tag name="KSO_WM_TEMPLATE_CATEGORY" val="custom"/>
  <p:tag name="KSO_WM_TEMPLATE_INDEX" val="20205176"/>
</p:tagLst>
</file>

<file path=ppt/tags/tag101.xml><?xml version="1.0" encoding="utf-8"?>
<p:tagLst xmlns:p="http://schemas.openxmlformats.org/presentationml/2006/main">
  <p:tag name="AS_UNIQUEID" val="1584"/>
</p:tagLst>
</file>

<file path=ppt/tags/tag102.xml><?xml version="1.0" encoding="utf-8"?>
<p:tagLst xmlns:p="http://schemas.openxmlformats.org/presentationml/2006/main">
  <p:tag name="AS_UNIQUEID" val="1585"/>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103.xml><?xml version="1.0" encoding="utf-8"?>
<p:tagLst xmlns:p="http://schemas.openxmlformats.org/presentationml/2006/main">
  <p:tag name="AS_UNIQUEID" val="1488"/>
  <p:tag name="KSO_WM_BEAUTIFY_FLAG" val=""/>
</p:tagLst>
</file>

<file path=ppt/tags/tag104.xml><?xml version="1.0" encoding="utf-8"?>
<p:tagLst xmlns:p="http://schemas.openxmlformats.org/presentationml/2006/main">
  <p:tag name="AS_UNIQUEID" val="1586"/>
  <p:tag name="KSO_WM_BEAUTIFY_FLAG" val=""/>
</p:tagLst>
</file>

<file path=ppt/tags/tag105.xml><?xml version="1.0" encoding="utf-8"?>
<p:tagLst xmlns:p="http://schemas.openxmlformats.org/presentationml/2006/main">
  <p:tag name="AS_UNIQUEID" val="1587"/>
</p:tagLst>
</file>

<file path=ppt/tags/tag106.xml><?xml version="1.0" encoding="utf-8"?>
<p:tagLst xmlns:p="http://schemas.openxmlformats.org/presentationml/2006/main">
  <p:tag name="AS_UNIQUEID" val="1588"/>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107.xml><?xml version="1.0" encoding="utf-8"?>
<p:tagLst xmlns:p="http://schemas.openxmlformats.org/presentationml/2006/main">
  <p:tag name="AS_UNIQUEID" val="1488"/>
  <p:tag name="KSO_WM_BEAUTIFY_FLAG" val=""/>
</p:tagLst>
</file>

<file path=ppt/tags/tag108.xml><?xml version="1.0" encoding="utf-8"?>
<p:tagLst xmlns:p="http://schemas.openxmlformats.org/presentationml/2006/main">
  <p:tag name="AS_UNIQUEID" val="1589"/>
  <p:tag name="KSO_WM_BEAUTIFY_FLAG" val=""/>
</p:tagLst>
</file>

<file path=ppt/tags/tag109.xml><?xml version="1.0" encoding="utf-8"?>
<p:tagLst xmlns:p="http://schemas.openxmlformats.org/presentationml/2006/main">
  <p:tag name="AS_UNIQUEID" val="1590"/>
</p:tagLst>
</file>

<file path=ppt/tags/tag110.xml><?xml version="1.0" encoding="utf-8"?>
<p:tagLst xmlns:p="http://schemas.openxmlformats.org/presentationml/2006/main">
  <p:tag name="AS_UNIQUEID" val="1591"/>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111.xml><?xml version="1.0" encoding="utf-8"?>
<p:tagLst xmlns:p="http://schemas.openxmlformats.org/presentationml/2006/main">
  <p:tag name="AS_UNIQUEID" val="1488"/>
  <p:tag name="KSO_WM_BEAUTIFY_FLAG" val=""/>
</p:tagLst>
</file>

<file path=ppt/tags/tag112.xml><?xml version="1.0" encoding="utf-8"?>
<p:tagLst xmlns:p="http://schemas.openxmlformats.org/presentationml/2006/main">
  <p:tag name="AS_UNIQUEID" val="1592"/>
  <p:tag name="KSO_WM_BEAUTIFY_FLAG" val=""/>
</p:tagLst>
</file>

<file path=ppt/tags/tag113.xml><?xml version="1.0" encoding="utf-8"?>
<p:tagLst xmlns:p="http://schemas.openxmlformats.org/presentationml/2006/main">
  <p:tag name="AS_UNIQUEID" val="1593"/>
</p:tagLst>
</file>

<file path=ppt/tags/tag114.xml><?xml version="1.0" encoding="utf-8"?>
<p:tagLst xmlns:p="http://schemas.openxmlformats.org/presentationml/2006/main">
  <p:tag name="AS_UNIQUEID" val="1594"/>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115.xml><?xml version="1.0" encoding="utf-8"?>
<p:tagLst xmlns:p="http://schemas.openxmlformats.org/presentationml/2006/main">
  <p:tag name="AS_UNIQUEID" val="1488"/>
  <p:tag name="KSO_WM_BEAUTIFY_FLAG" val=""/>
</p:tagLst>
</file>

<file path=ppt/tags/tag116.xml><?xml version="1.0" encoding="utf-8"?>
<p:tagLst xmlns:p="http://schemas.openxmlformats.org/presentationml/2006/main">
  <p:tag name="AS_UNIQUEID" val="1595"/>
  <p:tag name="KSO_WM_BEAUTIFY_FLAG" val=""/>
</p:tagLst>
</file>

<file path=ppt/tags/tag117.xml><?xml version="1.0" encoding="utf-8"?>
<p:tagLst xmlns:p="http://schemas.openxmlformats.org/presentationml/2006/main">
  <p:tag name="AS_UNIQUEID" val="1596"/>
</p:tagLst>
</file>

<file path=ppt/tags/tag118.xml><?xml version="1.0" encoding="utf-8"?>
<p:tagLst xmlns:p="http://schemas.openxmlformats.org/presentationml/2006/main">
  <p:tag name="AS_UNIQUEID" val="1597"/>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119.xml><?xml version="1.0" encoding="utf-8"?>
<p:tagLst xmlns:p="http://schemas.openxmlformats.org/presentationml/2006/main">
  <p:tag name="AS_UNIQUEID" val="1488"/>
  <p:tag name="KSO_WM_BEAUTIFY_FLAG" val=""/>
</p:tagLst>
</file>

<file path=ppt/tags/tag120.xml><?xml version="1.0" encoding="utf-8"?>
<p:tagLst xmlns:p="http://schemas.openxmlformats.org/presentationml/2006/main">
  <p:tag name="AS_UNIQUEID" val="1598"/>
  <p:tag name="KSO_WM_BEAUTIFY_FLAG" val=""/>
</p:tagLst>
</file>

<file path=ppt/tags/tag121.xml><?xml version="1.0" encoding="utf-8"?>
<p:tagLst xmlns:p="http://schemas.openxmlformats.org/presentationml/2006/main">
  <p:tag name="AS_UNIQUEID" val="1724"/>
</p:tagLst>
</file>

<file path=ppt/tags/tag122.xml><?xml version="1.0" encoding="utf-8"?>
<p:tagLst xmlns:p="http://schemas.openxmlformats.org/presentationml/2006/main">
  <p:tag name="AS_UNIQUEID" val="1599"/>
</p:tagLst>
</file>

<file path=ppt/tags/tag123.xml><?xml version="1.0" encoding="utf-8"?>
<p:tagLst xmlns:p="http://schemas.openxmlformats.org/presentationml/2006/main">
  <p:tag name="AS_UNIQUEID" val="1600"/>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124.xml><?xml version="1.0" encoding="utf-8"?>
<p:tagLst xmlns:p="http://schemas.openxmlformats.org/presentationml/2006/main">
  <p:tag name="AS_UNIQUEID" val="1488"/>
  <p:tag name="KSO_WM_BEAUTIFY_FLAG" val=""/>
</p:tagLst>
</file>

<file path=ppt/tags/tag125.xml><?xml version="1.0" encoding="utf-8"?>
<p:tagLst xmlns:p="http://schemas.openxmlformats.org/presentationml/2006/main">
  <p:tag name="AS_UNIQUEID" val="1601"/>
  <p:tag name="KSO_WM_BEAUTIFY_FLAG" val=""/>
</p:tagLst>
</file>

<file path=ppt/tags/tag126.xml><?xml version="1.0" encoding="utf-8"?>
<p:tagLst xmlns:p="http://schemas.openxmlformats.org/presentationml/2006/main">
  <p:tag name="AS_UNIQUEID" val="1602"/>
</p:tagLst>
</file>

<file path=ppt/tags/tag127.xml><?xml version="1.0" encoding="utf-8"?>
<p:tagLst xmlns:p="http://schemas.openxmlformats.org/presentationml/2006/main">
  <p:tag name="AS_UNIQUEID" val="1603"/>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128.xml><?xml version="1.0" encoding="utf-8"?>
<p:tagLst xmlns:p="http://schemas.openxmlformats.org/presentationml/2006/main">
  <p:tag name="AS_UNIQUEID" val="1488"/>
  <p:tag name="KSO_WM_BEAUTIFY_FLAG" val=""/>
</p:tagLst>
</file>

<file path=ppt/tags/tag129.xml><?xml version="1.0" encoding="utf-8"?>
<p:tagLst xmlns:p="http://schemas.openxmlformats.org/presentationml/2006/main">
  <p:tag name="AS_UNIQUEID" val="1604"/>
  <p:tag name="KSO_WM_BEAUTIFY_FLAG" val=""/>
</p:tagLst>
</file>

<file path=ppt/tags/tag130.xml><?xml version="1.0" encoding="utf-8"?>
<p:tagLst xmlns:p="http://schemas.openxmlformats.org/presentationml/2006/main">
  <p:tag name="AS_UNIQUEID" val="1605"/>
</p:tagLst>
</file>

<file path=ppt/tags/tag131.xml><?xml version="1.0" encoding="utf-8"?>
<p:tagLst xmlns:p="http://schemas.openxmlformats.org/presentationml/2006/main">
  <p:tag name="AS_UNIQUEID" val="1606"/>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132.xml><?xml version="1.0" encoding="utf-8"?>
<p:tagLst xmlns:p="http://schemas.openxmlformats.org/presentationml/2006/main">
  <p:tag name="AS_UNIQUEID" val="1488"/>
  <p:tag name="KSO_WM_BEAUTIFY_FLAG" val=""/>
</p:tagLst>
</file>

<file path=ppt/tags/tag133.xml><?xml version="1.0" encoding="utf-8"?>
<p:tagLst xmlns:p="http://schemas.openxmlformats.org/presentationml/2006/main">
  <p:tag name="AS_UNIQUEID" val="1607"/>
  <p:tag name="KSO_WM_BEAUTIFY_FLAG" val=""/>
</p:tagLst>
</file>

<file path=ppt/tags/tag134.xml><?xml version="1.0" encoding="utf-8"?>
<p:tagLst xmlns:p="http://schemas.openxmlformats.org/presentationml/2006/main">
  <p:tag name="AS_UNIQUEID" val="1608"/>
</p:tagLst>
</file>

<file path=ppt/tags/tag135.xml><?xml version="1.0" encoding="utf-8"?>
<p:tagLst xmlns:p="http://schemas.openxmlformats.org/presentationml/2006/main">
  <p:tag name="AS_UNIQUEID" val="1609"/>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136.xml><?xml version="1.0" encoding="utf-8"?>
<p:tagLst xmlns:p="http://schemas.openxmlformats.org/presentationml/2006/main">
  <p:tag name="AS_UNIQUEID" val="1488"/>
  <p:tag name="KSO_WM_BEAUTIFY_FLAG" val=""/>
</p:tagLst>
</file>

<file path=ppt/tags/tag137.xml><?xml version="1.0" encoding="utf-8"?>
<p:tagLst xmlns:p="http://schemas.openxmlformats.org/presentationml/2006/main">
  <p:tag name="AS_UNIQUEID" val="1610"/>
  <p:tag name="KSO_WM_BEAUTIFY_FLAG" val=""/>
</p:tagLst>
</file>

<file path=ppt/tags/tag138.xml><?xml version="1.0" encoding="utf-8"?>
<p:tagLst xmlns:p="http://schemas.openxmlformats.org/presentationml/2006/main">
  <p:tag name="AS_UNIQUEID" val="1611"/>
</p:tagLst>
</file>

<file path=ppt/tags/tag139.xml><?xml version="1.0" encoding="utf-8"?>
<p:tagLst xmlns:p="http://schemas.openxmlformats.org/presentationml/2006/main">
  <p:tag name="AS_UNIQUEID" val="1612"/>
  <p:tag name="KSO_WM_BEAUTIFY_FLAG" val=""/>
</p:tagLst>
</file>

<file path=ppt/tags/tag140.xml><?xml version="1.0" encoding="utf-8"?>
<p:tagLst xmlns:p="http://schemas.openxmlformats.org/presentationml/2006/main">
  <p:tag name="AS_UNIQUEID" val="1613"/>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141.xml><?xml version="1.0" encoding="utf-8"?>
<p:tagLst xmlns:p="http://schemas.openxmlformats.org/presentationml/2006/main">
  <p:tag name="AS_UNIQUEID" val="1614"/>
  <p:tag name="KSO_WM_BEAUTIFY_FLAG" val=""/>
</p:tagLst>
</file>

<file path=ppt/tags/tag142.xml><?xml version="1.0" encoding="utf-8"?>
<p:tagLst xmlns:p="http://schemas.openxmlformats.org/presentationml/2006/main">
  <p:tag name="AS_UNIQUEID" val="1615"/>
</p:tagLst>
</file>

<file path=ppt/tags/tag143.xml><?xml version="1.0" encoding="utf-8"?>
<p:tagLst xmlns:p="http://schemas.openxmlformats.org/presentationml/2006/main">
  <p:tag name="AS_UNIQUEID" val="1616"/>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144.xml><?xml version="1.0" encoding="utf-8"?>
<p:tagLst xmlns:p="http://schemas.openxmlformats.org/presentationml/2006/main">
  <p:tag name="AS_UNIQUEID" val="1488"/>
  <p:tag name="KSO_WM_BEAUTIFY_FLAG" val=""/>
</p:tagLst>
</file>

<file path=ppt/tags/tag145.xml><?xml version="1.0" encoding="utf-8"?>
<p:tagLst xmlns:p="http://schemas.openxmlformats.org/presentationml/2006/main">
  <p:tag name="AS_UNIQUEID" val="1617"/>
  <p:tag name="KSO_WM_BEAUTIFY_FLAG" val=""/>
</p:tagLst>
</file>

<file path=ppt/tags/tag146.xml><?xml version="1.0" encoding="utf-8"?>
<p:tagLst xmlns:p="http://schemas.openxmlformats.org/presentationml/2006/main">
  <p:tag name="AS_UNIQUEID" val="1618"/>
</p:tagLst>
</file>

<file path=ppt/tags/tag147.xml><?xml version="1.0" encoding="utf-8"?>
<p:tagLst xmlns:p="http://schemas.openxmlformats.org/presentationml/2006/main">
  <p:tag name="AS_UNIQUEID" val="1619"/>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148.xml><?xml version="1.0" encoding="utf-8"?>
<p:tagLst xmlns:p="http://schemas.openxmlformats.org/presentationml/2006/main">
  <p:tag name="AS_UNIQUEID" val="1488"/>
  <p:tag name="KSO_WM_BEAUTIFY_FLAG" val=""/>
</p:tagLst>
</file>

<file path=ppt/tags/tag149.xml><?xml version="1.0" encoding="utf-8"?>
<p:tagLst xmlns:p="http://schemas.openxmlformats.org/presentationml/2006/main">
  <p:tag name="AS_UNIQUEID" val="1620"/>
  <p:tag name="KSO_WM_BEAUTIFY_FLAG" val=""/>
</p:tagLst>
</file>

<file path=ppt/tags/tag150.xml><?xml version="1.0" encoding="utf-8"?>
<p:tagLst xmlns:p="http://schemas.openxmlformats.org/presentationml/2006/main">
  <p:tag name="AS_UNIQUEID" val="1621"/>
</p:tagLst>
</file>

<file path=ppt/tags/tag151.xml><?xml version="1.0" encoding="utf-8"?>
<p:tagLst xmlns:p="http://schemas.openxmlformats.org/presentationml/2006/main">
  <p:tag name="AS_UNIQUEID" val="1622"/>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152.xml><?xml version="1.0" encoding="utf-8"?>
<p:tagLst xmlns:p="http://schemas.openxmlformats.org/presentationml/2006/main">
  <p:tag name="AS_UNIQUEID" val="1623"/>
  <p:tag name="KSO_WM_BEAUTIFY_FLAG" val=""/>
</p:tagLst>
</file>

<file path=ppt/tags/tag153.xml><?xml version="1.0" encoding="utf-8"?>
<p:tagLst xmlns:p="http://schemas.openxmlformats.org/presentationml/2006/main">
  <p:tag name="AS_UNIQUEID" val="1624"/>
  <p:tag name="KSO_WM_BEAUTIFY_FLAG" val=""/>
</p:tagLst>
</file>

<file path=ppt/tags/tag154.xml><?xml version="1.0" encoding="utf-8"?>
<p:tagLst xmlns:p="http://schemas.openxmlformats.org/presentationml/2006/main">
  <p:tag name="AS_UNIQUEID" val="1625"/>
</p:tagLst>
</file>

<file path=ppt/tags/tag155.xml><?xml version="1.0" encoding="utf-8"?>
<p:tagLst xmlns:p="http://schemas.openxmlformats.org/presentationml/2006/main">
  <p:tag name="AS_UNIQUEID" val="1626"/>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156.xml><?xml version="1.0" encoding="utf-8"?>
<p:tagLst xmlns:p="http://schemas.openxmlformats.org/presentationml/2006/main">
  <p:tag name="AS_UNIQUEID" val="1488"/>
  <p:tag name="KSO_WM_BEAUTIFY_FLAG" val=""/>
</p:tagLst>
</file>

<file path=ppt/tags/tag157.xml><?xml version="1.0" encoding="utf-8"?>
<p:tagLst xmlns:p="http://schemas.openxmlformats.org/presentationml/2006/main">
  <p:tag name="AS_UNIQUEID" val="1627"/>
  <p:tag name="KSO_WM_BEAUTIFY_FLAG" val=""/>
</p:tagLst>
</file>

<file path=ppt/tags/tag158.xml><?xml version="1.0" encoding="utf-8"?>
<p:tagLst xmlns:p="http://schemas.openxmlformats.org/presentationml/2006/main">
  <p:tag name="AS_UNIQUEID" val="1628"/>
</p:tagLst>
</file>

<file path=ppt/tags/tag159.xml><?xml version="1.0" encoding="utf-8"?>
<p:tagLst xmlns:p="http://schemas.openxmlformats.org/presentationml/2006/main">
  <p:tag name="AS_UNIQUEID" val="1629"/>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160.xml><?xml version="1.0" encoding="utf-8"?>
<p:tagLst xmlns:p="http://schemas.openxmlformats.org/presentationml/2006/main">
  <p:tag name="AS_UNIQUEID" val="1488"/>
  <p:tag name="KSO_WM_BEAUTIFY_FLAG" val=""/>
</p:tagLst>
</file>

<file path=ppt/tags/tag161.xml><?xml version="1.0" encoding="utf-8"?>
<p:tagLst xmlns:p="http://schemas.openxmlformats.org/presentationml/2006/main">
  <p:tag name="AS_UNIQUEID" val="1630"/>
  <p:tag name="KSO_WM_BEAUTIFY_FLAG" val=""/>
</p:tagLst>
</file>

<file path=ppt/tags/tag162.xml><?xml version="1.0" encoding="utf-8"?>
<p:tagLst xmlns:p="http://schemas.openxmlformats.org/presentationml/2006/main">
  <p:tag name="AS_UNIQUEID" val="1631"/>
</p:tagLst>
</file>

<file path=ppt/tags/tag163.xml><?xml version="1.0" encoding="utf-8"?>
<p:tagLst xmlns:p="http://schemas.openxmlformats.org/presentationml/2006/main">
  <p:tag name="AS_UNIQUEID" val="1632"/>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164.xml><?xml version="1.0" encoding="utf-8"?>
<p:tagLst xmlns:p="http://schemas.openxmlformats.org/presentationml/2006/main">
  <p:tag name="AS_UNIQUEID" val="1488"/>
  <p:tag name="KSO_WM_BEAUTIFY_FLAG" val=""/>
</p:tagLst>
</file>

<file path=ppt/tags/tag165.xml><?xml version="1.0" encoding="utf-8"?>
<p:tagLst xmlns:p="http://schemas.openxmlformats.org/presentationml/2006/main">
  <p:tag name="AS_UNIQUEID" val="1633"/>
  <p:tag name="KSO_WM_BEAUTIFY_FLAG" val=""/>
</p:tagLst>
</file>

<file path=ppt/tags/tag166.xml><?xml version="1.0" encoding="utf-8"?>
<p:tagLst xmlns:p="http://schemas.openxmlformats.org/presentationml/2006/main">
  <p:tag name="AS_UNIQUEID" val="1634"/>
</p:tagLst>
</file>

<file path=ppt/tags/tag167.xml><?xml version="1.0" encoding="utf-8"?>
<p:tagLst xmlns:p="http://schemas.openxmlformats.org/presentationml/2006/main">
  <p:tag name="AS_UNIQUEID" val="1635"/>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168.xml><?xml version="1.0" encoding="utf-8"?>
<p:tagLst xmlns:p="http://schemas.openxmlformats.org/presentationml/2006/main">
  <p:tag name="AS_UNIQUEID" val="1488"/>
  <p:tag name="KSO_WM_BEAUTIFY_FLAG" val=""/>
</p:tagLst>
</file>

<file path=ppt/tags/tag169.xml><?xml version="1.0" encoding="utf-8"?>
<p:tagLst xmlns:p="http://schemas.openxmlformats.org/presentationml/2006/main">
  <p:tag name="AS_UNIQUEID" val="1636"/>
</p:tagLst>
</file>

<file path=ppt/tags/tag170.xml><?xml version="1.0" encoding="utf-8"?>
<p:tagLst xmlns:p="http://schemas.openxmlformats.org/presentationml/2006/main">
  <p:tag name="AS_UNIQUEID" val="1637"/>
  <p:tag name="KSO_WM_DIAGRAM_VIRTUALLY_FRAME" val="{&quot;height&quot;:200.3,&quot;left&quot;:561.125,&quot;top&quot;:175.175,&quot;width&quot;:350.95}"/>
</p:tagLst>
</file>

<file path=ppt/tags/tag171.xml><?xml version="1.0" encoding="utf-8"?>
<p:tagLst xmlns:p="http://schemas.openxmlformats.org/presentationml/2006/main">
  <p:tag name="AS_UNIQUEID" val="1638"/>
  <p:tag name="KSO_WM_BEAUTIFY_FLAG" val=""/>
</p:tagLst>
</file>

<file path=ppt/tags/tag172.xml><?xml version="1.0" encoding="utf-8"?>
<p:tagLst xmlns:p="http://schemas.openxmlformats.org/presentationml/2006/main">
  <p:tag name="AS_UNIQUEID" val="1639"/>
</p:tagLst>
</file>

<file path=ppt/tags/tag173.xml><?xml version="1.0" encoding="utf-8"?>
<p:tagLst xmlns:p="http://schemas.openxmlformats.org/presentationml/2006/main">
  <p:tag name="AS_UNIQUEID" val="1640"/>
</p:tagLst>
</file>

<file path=ppt/tags/tag174.xml><?xml version="1.0" encoding="utf-8"?>
<p:tagLst xmlns:p="http://schemas.openxmlformats.org/presentationml/2006/main">
  <p:tag name="AS_UNIQUEID" val="1641"/>
  <p:tag name="KSO_WM_BEAUTIFY_FLAG" val=""/>
</p:tagLst>
</file>

<file path=ppt/tags/tag175.xml><?xml version="1.0" encoding="utf-8"?>
<p:tagLst xmlns:p="http://schemas.openxmlformats.org/presentationml/2006/main">
  <p:tag name="AS_UNIQUEID" val="1642"/>
  <p:tag name="KSO_WM_BEAUTIFY_FLAG" val=""/>
  <p:tag name="KSO_WM_DIAGRAM_VIRTUALLY_FRAME" val="{&quot;height&quot;:200.3,&quot;left&quot;:561.125,&quot;top&quot;:175.175,&quot;width&quot;:350.95}"/>
</p:tagLst>
</file>

<file path=ppt/tags/tag176.xml><?xml version="1.0" encoding="utf-8"?>
<p:tagLst xmlns:p="http://schemas.openxmlformats.org/presentationml/2006/main">
  <p:tag name="AS_UNIQUEID" val="1643"/>
  <p:tag name="KSO_WM_BEAUTIFY_FLAG" val=""/>
  <p:tag name="KSO_WM_DIAGRAM_VIRTUALLY_FRAME" val="{&quot;height&quot;:200.3,&quot;left&quot;:561.125,&quot;top&quot;:175.175,&quot;width&quot;:350.95}"/>
</p:tagLst>
</file>

<file path=ppt/tags/tag177.xml><?xml version="1.0" encoding="utf-8"?>
<p:tagLst xmlns:p="http://schemas.openxmlformats.org/presentationml/2006/main">
  <p:tag name="AS_UNIQUEID" val="1644"/>
  <p:tag name="KSO_WM_BEAUTIFY_FLAG" val=""/>
  <p:tag name="KSO_WM_DIAGRAM_VIRTUALLY_FRAME" val="{&quot;height&quot;:200.3,&quot;left&quot;:561.125,&quot;top&quot;:175.175,&quot;width&quot;:350.95}"/>
</p:tagLst>
</file>

<file path=ppt/tags/tag178.xml><?xml version="1.0" encoding="utf-8"?>
<p:tagLst xmlns:p="http://schemas.openxmlformats.org/presentationml/2006/main">
  <p:tag name="AS_UNIQUEID" val="1645"/>
  <p:tag name="KSO_WM_BEAUTIFY_FLAG" val=""/>
  <p:tag name="KSO_WM_DIAGRAM_VIRTUALLY_FRAME" val="{&quot;height&quot;:200.3,&quot;left&quot;:561.125,&quot;top&quot;:175.175,&quot;width&quot;:350.95}"/>
</p:tagLst>
</file>

<file path=ppt/tags/tag179.xml><?xml version="1.0" encoding="utf-8"?>
<p:tagLst xmlns:p="http://schemas.openxmlformats.org/presentationml/2006/main">
  <p:tag name="AS_UNIQUEID" val="1646"/>
  <p:tag name="KSO_WM_BEAUTIFY_FLAG" val=""/>
  <p:tag name="KSO_WM_DIAGRAM_VIRTUALLY_FRAME" val="{&quot;height&quot;:200.3,&quot;left&quot;:561.125,&quot;top&quot;:175.175,&quot;width&quot;:350.95}"/>
</p:tagLst>
</file>

<file path=ppt/tags/tag180.xml><?xml version="1.0" encoding="utf-8"?>
<p:tagLst xmlns:p="http://schemas.openxmlformats.org/presentationml/2006/main">
  <p:tag name="AS_UNIQUEID" val="1647"/>
  <p:tag name="KSO_WM_BEAUTIFY_FLAG" val=""/>
  <p:tag name="KSO_WM_DIAGRAM_VIRTUALLY_FRAME" val="{&quot;height&quot;:200.3,&quot;left&quot;:561.125,&quot;top&quot;:175.175,&quot;width&quot;:350.95}"/>
</p:tagLst>
</file>

<file path=ppt/tags/tag181.xml><?xml version="1.0" encoding="utf-8"?>
<p:tagLst xmlns:p="http://schemas.openxmlformats.org/presentationml/2006/main">
  <p:tag name="AS_UNIQUEID" val="1648"/>
</p:tagLst>
</file>

<file path=ppt/tags/tag182.xml><?xml version="1.0" encoding="utf-8"?>
<p:tagLst xmlns:p="http://schemas.openxmlformats.org/presentationml/2006/main">
  <p:tag name="AS_UNIQUEID" val="1649"/>
</p:tagLst>
</file>

<file path=ppt/tags/tag183.xml><?xml version="1.0" encoding="utf-8"?>
<p:tagLst xmlns:p="http://schemas.openxmlformats.org/presentationml/2006/main">
  <p:tag name="AS_UNIQUEID" val="1650"/>
</p:tagLst>
</file>

<file path=ppt/tags/tag184.xml><?xml version="1.0" encoding="utf-8"?>
<p:tagLst xmlns:p="http://schemas.openxmlformats.org/presentationml/2006/main">
  <p:tag name="AS_UNIQUEID" val="1651"/>
</p:tagLst>
</file>

<file path=ppt/tags/tag185.xml><?xml version="1.0" encoding="utf-8"?>
<p:tagLst xmlns:p="http://schemas.openxmlformats.org/presentationml/2006/main">
  <p:tag name="AS_UNIQUEID" val="1652"/>
</p:tagLst>
</file>

<file path=ppt/tags/tag186.xml><?xml version="1.0" encoding="utf-8"?>
<p:tagLst xmlns:p="http://schemas.openxmlformats.org/presentationml/2006/main">
  <p:tag name="AS_UNIQUEID" val="1653"/>
</p:tagLst>
</file>

<file path=ppt/tags/tag187.xml><?xml version="1.0" encoding="utf-8"?>
<p:tagLst xmlns:p="http://schemas.openxmlformats.org/presentationml/2006/main">
  <p:tag name="AS_UNIQUEID" val="1654"/>
</p:tagLst>
</file>

<file path=ppt/tags/tag188.xml><?xml version="1.0" encoding="utf-8"?>
<p:tagLst xmlns:p="http://schemas.openxmlformats.org/presentationml/2006/main">
  <p:tag name="AS_UNIQUEID" val="1655"/>
</p:tagLst>
</file>

<file path=ppt/tags/tag189.xml><?xml version="1.0" encoding="utf-8"?>
<p:tagLst xmlns:p="http://schemas.openxmlformats.org/presentationml/2006/main">
  <p:tag name="AS_UNIQUEID" val="1656"/>
</p:tagLst>
</file>

<file path=ppt/tags/tag190.xml><?xml version="1.0" encoding="utf-8"?>
<p:tagLst xmlns:p="http://schemas.openxmlformats.org/presentationml/2006/main">
  <p:tag name="AS_UNIQUEID" val="1657"/>
</p:tagLst>
</file>

<file path=ppt/tags/tag191.xml><?xml version="1.0" encoding="utf-8"?>
<p:tagLst xmlns:p="http://schemas.openxmlformats.org/presentationml/2006/main">
  <p:tag name="KSO_WM_BEAUTIFY_FLAG" val="#wm#"/>
  <p:tag name="KSO_WM_TEMPLATE_CATEGORY" val="custom"/>
  <p:tag name="KSO_WM_TEMPLATE_INDEX" val="20205176"/>
</p:tagLst>
</file>

<file path=ppt/tags/tag192.xml><?xml version="1.0" encoding="utf-8"?>
<p:tagLst xmlns:p="http://schemas.openxmlformats.org/presentationml/2006/main">
  <p:tag name="AS_UNIQUEID" val="1658"/>
</p:tagLst>
</file>

<file path=ppt/tags/tag193.xml><?xml version="1.0" encoding="utf-8"?>
<p:tagLst xmlns:p="http://schemas.openxmlformats.org/presentationml/2006/main">
  <p:tag name="AS_UNIQUEID" val="1659"/>
</p:tagLst>
</file>

<file path=ppt/tags/tag194.xml><?xml version="1.0" encoding="utf-8"?>
<p:tagLst xmlns:p="http://schemas.openxmlformats.org/presentationml/2006/main">
  <p:tag name="AS_UNIQUEID" val="1660"/>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195.xml><?xml version="1.0" encoding="utf-8"?>
<p:tagLst xmlns:p="http://schemas.openxmlformats.org/presentationml/2006/main">
  <p:tag name="AS_UNIQUEID" val="1661"/>
  <p:tag name="KSO_WM_BEAUTIFY_FLAG" val=""/>
</p:tagLst>
</file>

<file path=ppt/tags/tag196.xml><?xml version="1.0" encoding="utf-8"?>
<p:tagLst xmlns:p="http://schemas.openxmlformats.org/presentationml/2006/main">
  <p:tag name="AS_UNIQUEID" val="1662"/>
</p:tagLst>
</file>

<file path=ppt/tags/tag197.xml><?xml version="1.0" encoding="utf-8"?>
<p:tagLst xmlns:p="http://schemas.openxmlformats.org/presentationml/2006/main">
  <p:tag name="AS_UNIQUEID" val="1663"/>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198.xml><?xml version="1.0" encoding="utf-8"?>
<p:tagLst xmlns:p="http://schemas.openxmlformats.org/presentationml/2006/main">
  <p:tag name="AS_UNIQUEID" val="1488"/>
  <p:tag name="KSO_WM_BEAUTIFY_FLAG" val=""/>
</p:tagLst>
</file>

<file path=ppt/tags/tag199.xml><?xml version="1.0" encoding="utf-8"?>
<p:tagLst xmlns:p="http://schemas.openxmlformats.org/presentationml/2006/main">
  <p:tag name="AS_UNIQUEID" val="1664"/>
  <p:tag name="KSO_WM_BEAUTIFY_FLAG" val=""/>
</p:tagLst>
</file>

<file path=ppt/tags/tag200.xml><?xml version="1.0" encoding="utf-8"?>
<p:tagLst xmlns:p="http://schemas.openxmlformats.org/presentationml/2006/main">
  <p:tag name="AS_UNIQUEID" val="1665"/>
</p:tagLst>
</file>

<file path=ppt/tags/tag201.xml><?xml version="1.0" encoding="utf-8"?>
<p:tagLst xmlns:p="http://schemas.openxmlformats.org/presentationml/2006/main">
  <p:tag name="AS_UNIQUEID" val="1666"/>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202.xml><?xml version="1.0" encoding="utf-8"?>
<p:tagLst xmlns:p="http://schemas.openxmlformats.org/presentationml/2006/main">
  <p:tag name="AS_UNIQUEID" val="1667"/>
</p:tagLst>
</file>

<file path=ppt/tags/tag203.xml><?xml version="1.0" encoding="utf-8"?>
<p:tagLst xmlns:p="http://schemas.openxmlformats.org/presentationml/2006/main">
  <p:tag name="AS_UNIQUEID" val="1668"/>
  <p:tag name="KSO_WM_BEAUTIFY_FLAG" val=""/>
</p:tagLst>
</file>

<file path=ppt/tags/tag204.xml><?xml version="1.0" encoding="utf-8"?>
<p:tagLst xmlns:p="http://schemas.openxmlformats.org/presentationml/2006/main">
  <p:tag name="AS_UNIQUEID" val="1669"/>
</p:tagLst>
</file>

<file path=ppt/tags/tag205.xml><?xml version="1.0" encoding="utf-8"?>
<p:tagLst xmlns:p="http://schemas.openxmlformats.org/presentationml/2006/main">
  <p:tag name="AS_UNIQUEID" val="1670"/>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206.xml><?xml version="1.0" encoding="utf-8"?>
<p:tagLst xmlns:p="http://schemas.openxmlformats.org/presentationml/2006/main">
  <p:tag name="AS_UNIQUEID" val="1488"/>
  <p:tag name="KSO_WM_BEAUTIFY_FLAG" val=""/>
</p:tagLst>
</file>

<file path=ppt/tags/tag207.xml><?xml version="1.0" encoding="utf-8"?>
<p:tagLst xmlns:p="http://schemas.openxmlformats.org/presentationml/2006/main">
  <p:tag name="AS_UNIQUEID" val="1671"/>
  <p:tag name="KSO_WM_BEAUTIFY_FLAG" val=""/>
</p:tagLst>
</file>

<file path=ppt/tags/tag208.xml><?xml version="1.0" encoding="utf-8"?>
<p:tagLst xmlns:p="http://schemas.openxmlformats.org/presentationml/2006/main">
  <p:tag name="AS_UNIQUEID" val="1672"/>
</p:tagLst>
</file>

<file path=ppt/tags/tag209.xml><?xml version="1.0" encoding="utf-8"?>
<p:tagLst xmlns:p="http://schemas.openxmlformats.org/presentationml/2006/main">
  <p:tag name="AS_UNIQUEID" val="1673"/>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210.xml><?xml version="1.0" encoding="utf-8"?>
<p:tagLst xmlns:p="http://schemas.openxmlformats.org/presentationml/2006/main">
  <p:tag name="AS_UNIQUEID" val="1488"/>
  <p:tag name="KSO_WM_BEAUTIFY_FLAG" val=""/>
</p:tagLst>
</file>

<file path=ppt/tags/tag211.xml><?xml version="1.0" encoding="utf-8"?>
<p:tagLst xmlns:p="http://schemas.openxmlformats.org/presentationml/2006/main">
  <p:tag name="AS_UNIQUEID" val="1674"/>
  <p:tag name="KSO_WM_BEAUTIFY_FLAG" val=""/>
</p:tagLst>
</file>

<file path=ppt/tags/tag212.xml><?xml version="1.0" encoding="utf-8"?>
<p:tagLst xmlns:p="http://schemas.openxmlformats.org/presentationml/2006/main">
  <p:tag name="AS_UNIQUEID" val="1675"/>
</p:tagLst>
</file>

<file path=ppt/tags/tag213.xml><?xml version="1.0" encoding="utf-8"?>
<p:tagLst xmlns:p="http://schemas.openxmlformats.org/presentationml/2006/main">
  <p:tag name="AS_UNIQUEID" val="1676"/>
  <p:tag name="KSO_WM_UNIT_MEDIACOVER_BTN_POS" val="c"/>
  <p:tag name="KSO_WM_UNIT_MEDIACOVER_BTN_STATE" val="1"/>
  <p:tag name="KSO_WM_UNIT_MEDIACOVER_BTN_STYLE" val="ee0bc779c1f3d7f3e90c96344320e69a"/>
  <p:tag name="KSO_WM_UNIT_MEDIACOVER_RGB" val="000000"/>
  <p:tag name="KSO_WM_UNIT_MEDIACOVER_STYLEID" val="1"/>
  <p:tag name="KSO_WM_UNIT_MEDIACOVER_TEXT" val=""/>
  <p:tag name="KSO_WM_UNIT_MEDIACOVER_TEXTSTATE" val="0"/>
  <p:tag name="KSO_WM_UNIT_MEDIACOVER_TRANSPARENCY" val="0.5"/>
</p:tagLst>
</file>

<file path=ppt/tags/tag214.xml><?xml version="1.0" encoding="utf-8"?>
<p:tagLst xmlns:p="http://schemas.openxmlformats.org/presentationml/2006/main">
  <p:tag name="AS_UNIQUEID" val="1677"/>
  <p:tag name="KSO_WM_BEAUTIFY_FLAG" val=""/>
</p:tagLst>
</file>

<file path=ppt/tags/tag215.xml><?xml version="1.0" encoding="utf-8"?>
<p:tagLst xmlns:p="http://schemas.openxmlformats.org/presentationml/2006/main">
  <p:tag name="AS_UNIQUEID" val="1678"/>
</p:tagLst>
</file>

<file path=ppt/tags/tag216.xml><?xml version="1.0" encoding="utf-8"?>
<p:tagLst xmlns:p="http://schemas.openxmlformats.org/presentationml/2006/main">
  <p:tag name="AS_UNIQUEID" val="1679"/>
</p:tagLst>
</file>

<file path=ppt/tags/tag217.xml><?xml version="1.0" encoding="utf-8"?>
<p:tagLst xmlns:p="http://schemas.openxmlformats.org/presentationml/2006/main">
  <p:tag name="AS_UNIQUEID" val="1680"/>
</p:tagLst>
</file>

<file path=ppt/tags/tag218.xml><?xml version="1.0" encoding="utf-8"?>
<p:tagLst xmlns:p="http://schemas.openxmlformats.org/presentationml/2006/main">
  <p:tag name="AS_UNIQUEID" val="1681"/>
</p:tagLst>
</file>

<file path=ppt/tags/tag219.xml><?xml version="1.0" encoding="utf-8"?>
<p:tagLst xmlns:p="http://schemas.openxmlformats.org/presentationml/2006/main">
  <p:tag name="AS_UNIQUEID" val="1682"/>
</p:tagLst>
</file>

<file path=ppt/tags/tag220.xml><?xml version="1.0" encoding="utf-8"?>
<p:tagLst xmlns:p="http://schemas.openxmlformats.org/presentationml/2006/main">
  <p:tag name="KSO_WM_BEAUTIFY_FLAG" val="#wm#"/>
  <p:tag name="KSO_WM_TEMPLATE_CATEGORY" val="custom"/>
  <p:tag name="KSO_WM_TEMPLATE_INDEX" val="20205176"/>
</p:tagLst>
</file>

<file path=ppt/tags/tag221.xml><?xml version="1.0" encoding="utf-8"?>
<p:tagLst xmlns:p="http://schemas.openxmlformats.org/presentationml/2006/main">
  <p:tag name="AS_UNIQUEID" val="1683"/>
</p:tagLst>
</file>

<file path=ppt/tags/tag222.xml><?xml version="1.0" encoding="utf-8"?>
<p:tagLst xmlns:p="http://schemas.openxmlformats.org/presentationml/2006/main">
  <p:tag name="AS_UNIQUEID" val="1684"/>
</p:tagLst>
</file>

<file path=ppt/tags/tag223.xml><?xml version="1.0" encoding="utf-8"?>
<p:tagLst xmlns:p="http://schemas.openxmlformats.org/presentationml/2006/main">
  <p:tag name="AS_UNIQUEID" val="1685"/>
</p:tagLst>
</file>

<file path=ppt/tags/tag224.xml><?xml version="1.0" encoding="utf-8"?>
<p:tagLst xmlns:p="http://schemas.openxmlformats.org/presentationml/2006/main">
  <p:tag name="AS_UNIQUEID" val="1686"/>
  <p:tag name="KSO_WM_BEAUTIFY_FLAG" val=""/>
</p:tagLst>
</file>

<file path=ppt/tags/tag225.xml><?xml version="1.0" encoding="utf-8"?>
<p:tagLst xmlns:p="http://schemas.openxmlformats.org/presentationml/2006/main">
  <p:tag name="AS_UNIQUEID" val="1687"/>
</p:tagLst>
</file>

<file path=ppt/tags/tag226.xml><?xml version="1.0" encoding="utf-8"?>
<p:tagLst xmlns:p="http://schemas.openxmlformats.org/presentationml/2006/main">
  <p:tag name="KSO_WM_BEAUTIFY_FLAG" val="#wm#"/>
  <p:tag name="KSO_WM_TEMPLATE_CATEGORY" val="custom"/>
  <p:tag name="KSO_WM_TEMPLATE_INDEX" val="20205176"/>
</p:tagLst>
</file>

<file path=ppt/tags/tag227.xml><?xml version="1.0" encoding="utf-8"?>
<p:tagLst xmlns:p="http://schemas.openxmlformats.org/presentationml/2006/main">
  <p:tag name="AS_UNIQUEID" val="1688"/>
</p:tagLst>
</file>

<file path=ppt/tags/tag228.xml><?xml version="1.0" encoding="utf-8"?>
<p:tagLst xmlns:p="http://schemas.openxmlformats.org/presentationml/2006/main">
  <p:tag name="AS_UNIQUEID" val="1689"/>
</p:tagLst>
</file>

<file path=ppt/tags/tag229.xml><?xml version="1.0" encoding="utf-8"?>
<p:tagLst xmlns:p="http://schemas.openxmlformats.org/presentationml/2006/main">
  <p:tag name="AS_UNIQUEID" val="1690"/>
</p:tagLst>
</file>

<file path=ppt/tags/tag230.xml><?xml version="1.0" encoding="utf-8"?>
<p:tagLst xmlns:p="http://schemas.openxmlformats.org/presentationml/2006/main">
  <p:tag name="KSO_WM_BEAUTIFY_FLAG" val="#wm#"/>
  <p:tag name="KSO_WM_TEMPLATE_CATEGORY" val="custom"/>
  <p:tag name="KSO_WM_TEMPLATE_INDEX" val="20205176"/>
</p:tagLst>
</file>

<file path=ppt/tags/tag231.xml><?xml version="1.0" encoding="utf-8"?>
<p:tagLst xmlns:p="http://schemas.openxmlformats.org/presentationml/2006/main">
  <p:tag name="AS_UNIQUEID" val="1691"/>
</p:tagLst>
</file>

<file path=ppt/tags/tag232.xml><?xml version="1.0" encoding="utf-8"?>
<p:tagLst xmlns:p="http://schemas.openxmlformats.org/presentationml/2006/main">
  <p:tag name="AS_UNIQUEID" val="1692"/>
</p:tagLst>
</file>

<file path=ppt/tags/tag233.xml><?xml version="1.0" encoding="utf-8"?>
<p:tagLst xmlns:p="http://schemas.openxmlformats.org/presentationml/2006/main">
  <p:tag name="AS_UNIQUEID" val="1693"/>
</p:tagLst>
</file>

<file path=ppt/tags/tag234.xml><?xml version="1.0" encoding="utf-8"?>
<p:tagLst xmlns:p="http://schemas.openxmlformats.org/presentationml/2006/main">
  <p:tag name="AS_UNIQUEID" val="1694"/>
  <p:tag name="KSO_WM_BEAUTIFY_FLAG" val=""/>
</p:tagLst>
</file>

<file path=ppt/tags/tag235.xml><?xml version="1.0" encoding="utf-8"?>
<p:tagLst xmlns:p="http://schemas.openxmlformats.org/presentationml/2006/main">
  <p:tag name="AS_UNIQUEID" val="1695"/>
</p:tagLst>
</file>

<file path=ppt/tags/tag236.xml><?xml version="1.0" encoding="utf-8"?>
<p:tagLst xmlns:p="http://schemas.openxmlformats.org/presentationml/2006/main">
  <p:tag name="KSO_WM_BEAUTIFY_FLAG" val="#wm#"/>
  <p:tag name="KSO_WM_TEMPLATE_CATEGORY" val="custom"/>
  <p:tag name="KSO_WM_TEMPLATE_INDEX" val="20205176"/>
</p:tagLst>
</file>

<file path=ppt/tags/tag237.xml><?xml version="1.0" encoding="utf-8"?>
<p:tagLst xmlns:p="http://schemas.openxmlformats.org/presentationml/2006/main">
  <p:tag name="AS_UNIQUEID" val="1696"/>
</p:tagLst>
</file>

<file path=ppt/tags/tag238.xml><?xml version="1.0" encoding="utf-8"?>
<p:tagLst xmlns:p="http://schemas.openxmlformats.org/presentationml/2006/main">
  <p:tag name="AS_UNIQUEID" val="1697"/>
</p:tagLst>
</file>

<file path=ppt/tags/tag239.xml><?xml version="1.0" encoding="utf-8"?>
<p:tagLst xmlns:p="http://schemas.openxmlformats.org/presentationml/2006/main">
  <p:tag name="AS_UNIQUEID" val="1698"/>
</p:tagLst>
</file>

<file path=ppt/tags/tag240.xml><?xml version="1.0" encoding="utf-8"?>
<p:tagLst xmlns:p="http://schemas.openxmlformats.org/presentationml/2006/main">
  <p:tag name="KSO_WM_BEAUTIFY_FLAG" val="#wm#"/>
  <p:tag name="KSO_WM_TEMPLATE_CATEGORY" val="custom"/>
  <p:tag name="KSO_WM_TEMPLATE_INDEX" val="20205176"/>
</p:tagLst>
</file>

<file path=ppt/tags/tag241.xml><?xml version="1.0" encoding="utf-8"?>
<p:tagLst xmlns:p="http://schemas.openxmlformats.org/presentationml/2006/main">
  <p:tag name="AS_UNIQUEID" val="1699"/>
</p:tagLst>
</file>

<file path=ppt/tags/tag242.xml><?xml version="1.0" encoding="utf-8"?>
<p:tagLst xmlns:p="http://schemas.openxmlformats.org/presentationml/2006/main">
  <p:tag name="AS_UNIQUEID" val="1700"/>
</p:tagLst>
</file>

<file path=ppt/tags/tag243.xml><?xml version="1.0" encoding="utf-8"?>
<p:tagLst xmlns:p="http://schemas.openxmlformats.org/presentationml/2006/main">
  <p:tag name="AS_UNIQUEID" val="1701"/>
</p:tagLst>
</file>

<file path=ppt/tags/tag244.xml><?xml version="1.0" encoding="utf-8"?>
<p:tagLst xmlns:p="http://schemas.openxmlformats.org/presentationml/2006/main">
  <p:tag name="AS_UNIQUEID" val="1702"/>
  <p:tag name="KSO_WM_BEAUTIFY_FLAG" val=""/>
</p:tagLst>
</file>

<file path=ppt/tags/tag245.xml><?xml version="1.0" encoding="utf-8"?>
<p:tagLst xmlns:p="http://schemas.openxmlformats.org/presentationml/2006/main">
  <p:tag name="AS_UNIQUEID" val="1703"/>
</p:tagLst>
</file>

<file path=ppt/tags/tag246.xml><?xml version="1.0" encoding="utf-8"?>
<p:tagLst xmlns:p="http://schemas.openxmlformats.org/presentationml/2006/main">
  <p:tag name="KSO_WM_BEAUTIFY_FLAG" val="#wm#"/>
  <p:tag name="KSO_WM_TEMPLATE_CATEGORY" val="custom"/>
  <p:tag name="KSO_WM_TEMPLATE_INDEX" val="20205176"/>
</p:tagLst>
</file>

<file path=ppt/tags/tag247.xml><?xml version="1.0" encoding="utf-8"?>
<p:tagLst xmlns:p="http://schemas.openxmlformats.org/presentationml/2006/main">
  <p:tag name="AS_UNIQUEID" val="1704"/>
</p:tagLst>
</file>

<file path=ppt/tags/tag248.xml><?xml version="1.0" encoding="utf-8"?>
<p:tagLst xmlns:p="http://schemas.openxmlformats.org/presentationml/2006/main">
  <p:tag name="AS_UNIQUEID" val="1705"/>
</p:tagLst>
</file>

<file path=ppt/tags/tag249.xml><?xml version="1.0" encoding="utf-8"?>
<p:tagLst xmlns:p="http://schemas.openxmlformats.org/presentationml/2006/main">
  <p:tag name="AS_UNIQUEID" val="1706"/>
</p:tagLst>
</file>

<file path=ppt/tags/tag250.xml><?xml version="1.0" encoding="utf-8"?>
<p:tagLst xmlns:p="http://schemas.openxmlformats.org/presentationml/2006/main">
  <p:tag name="KSO_WM_BEAUTIFY_FLAG" val="#wm#"/>
  <p:tag name="KSO_WM_TEMPLATE_CATEGORY" val="custom"/>
  <p:tag name="KSO_WM_TEMPLATE_INDEX" val="20205176"/>
</p:tagLst>
</file>

<file path=ppt/tags/tag251.xml><?xml version="1.0" encoding="utf-8"?>
<p:tagLst xmlns:p="http://schemas.openxmlformats.org/presentationml/2006/main">
  <p:tag name="AS_UNIQUEID" val="1707"/>
</p:tagLst>
</file>

<file path=ppt/tags/tag252.xml><?xml version="1.0" encoding="utf-8"?>
<p:tagLst xmlns:p="http://schemas.openxmlformats.org/presentationml/2006/main">
  <p:tag name="AS_UNIQUEID" val="1708"/>
</p:tagLst>
</file>

<file path=ppt/tags/tag253.xml><?xml version="1.0" encoding="utf-8"?>
<p:tagLst xmlns:p="http://schemas.openxmlformats.org/presentationml/2006/main">
  <p:tag name="AS_UNIQUEID" val="1709"/>
  <p:tag name="KSO_WM_BEAUTIFY_FLAG" val=""/>
</p:tagLst>
</file>

<file path=ppt/tags/tag254.xml><?xml version="1.0" encoding="utf-8"?>
<p:tagLst xmlns:p="http://schemas.openxmlformats.org/presentationml/2006/main">
  <p:tag name="AS_UNIQUEID" val="1710"/>
</p:tagLst>
</file>

<file path=ppt/tags/tag255.xml><?xml version="1.0" encoding="utf-8"?>
<p:tagLst xmlns:p="http://schemas.openxmlformats.org/presentationml/2006/main">
  <p:tag name="KSO_WM_BEAUTIFY_FLAG" val="#wm#"/>
  <p:tag name="KSO_WM_TEMPLATE_CATEGORY" val="custom"/>
  <p:tag name="KSO_WM_TEMPLATE_INDEX" val="20205176"/>
</p:tagLst>
</file>

<file path=ppt/tags/tag256.xml><?xml version="1.0" encoding="utf-8"?>
<p:tagLst xmlns:p="http://schemas.openxmlformats.org/presentationml/2006/main">
  <p:tag name="AS_UNIQUEID" val="1711"/>
</p:tagLst>
</file>

<file path=ppt/tags/tag257.xml><?xml version="1.0" encoding="utf-8"?>
<p:tagLst xmlns:p="http://schemas.openxmlformats.org/presentationml/2006/main">
  <p:tag name="AS_UNIQUEID" val="1712"/>
</p:tagLst>
</file>

<file path=ppt/tags/tag258.xml><?xml version="1.0" encoding="utf-8"?>
<p:tagLst xmlns:p="http://schemas.openxmlformats.org/presentationml/2006/main">
  <p:tag name="AS_UNIQUEID" val="1713"/>
</p:tagLst>
</file>

<file path=ppt/tags/tag259.xml><?xml version="1.0" encoding="utf-8"?>
<p:tagLst xmlns:p="http://schemas.openxmlformats.org/presentationml/2006/main">
  <p:tag name="KSO_WM_BEAUTIFY_FLAG" val="#wm#"/>
  <p:tag name="KSO_WM_TEMPLATE_CATEGORY" val="custom"/>
  <p:tag name="KSO_WM_TEMPLATE_INDEX" val="20205176"/>
</p:tagLst>
</file>

<file path=ppt/tags/tag260.xml><?xml version="1.0" encoding="utf-8"?>
<p:tagLst xmlns:p="http://schemas.openxmlformats.org/presentationml/2006/main">
  <p:tag name="AS_UNIQUEID" val="1714"/>
</p:tagLst>
</file>

<file path=ppt/tags/tag261.xml><?xml version="1.0" encoding="utf-8"?>
<p:tagLst xmlns:p="http://schemas.openxmlformats.org/presentationml/2006/main">
  <p:tag name="AS_UNIQUEID" val="1715"/>
</p:tagLst>
</file>

<file path=ppt/tags/tag262.xml><?xml version="1.0" encoding="utf-8"?>
<p:tagLst xmlns:p="http://schemas.openxmlformats.org/presentationml/2006/main">
  <p:tag name="AS_UNIQUEID" val="1716"/>
</p:tagLst>
</file>

<file path=ppt/tags/tag263.xml><?xml version="1.0" encoding="utf-8"?>
<p:tagLst xmlns:p="http://schemas.openxmlformats.org/presentationml/2006/main">
  <p:tag name="AS_UNIQUEID" val="1717"/>
  <p:tag name="KSO_WM_BEAUTIFY_FLAG" val=""/>
</p:tagLst>
</file>

<file path=ppt/tags/tag264.xml><?xml version="1.0" encoding="utf-8"?>
<p:tagLst xmlns:p="http://schemas.openxmlformats.org/presentationml/2006/main">
  <p:tag name="AS_UNIQUEID" val="1718"/>
</p:tagLst>
</file>

<file path=ppt/tags/tag265.xml><?xml version="1.0" encoding="utf-8"?>
<p:tagLst xmlns:p="http://schemas.openxmlformats.org/presentationml/2006/main">
  <p:tag name="KSO_WM_BEAUTIFY_FLAG" val="#wm#"/>
  <p:tag name="KSO_WM_TEMPLATE_CATEGORY" val="custom"/>
  <p:tag name="KSO_WM_TEMPLATE_INDEX" val="20205176"/>
</p:tagLst>
</file>

<file path=ppt/tags/tag266.xml><?xml version="1.0" encoding="utf-8"?>
<p:tagLst xmlns:p="http://schemas.openxmlformats.org/presentationml/2006/main">
  <p:tag name="AS_UNIQUEID" val="1719"/>
</p:tagLst>
</file>

<file path=ppt/tags/tag267.xml><?xml version="1.0" encoding="utf-8"?>
<p:tagLst xmlns:p="http://schemas.openxmlformats.org/presentationml/2006/main">
  <p:tag name="AS_UNIQUEID" val="1720"/>
</p:tagLst>
</file>

<file path=ppt/tags/tag268.xml><?xml version="1.0" encoding="utf-8"?>
<p:tagLst xmlns:p="http://schemas.openxmlformats.org/presentationml/2006/main">
  <p:tag name="AS_UNIQUEID" val="1721"/>
</p:tagLst>
</file>

<file path=ppt/tags/tag269.xml><?xml version="1.0" encoding="utf-8"?>
<p:tagLst xmlns:p="http://schemas.openxmlformats.org/presentationml/2006/main">
  <p:tag name="KSO_WM_BEAUTIFY_FLAG" val="#wm#"/>
  <p:tag name="KSO_WM_TEMPLATE_CATEGORY" val="custom"/>
  <p:tag name="KSO_WM_TEMPLATE_INDEX" val="20205176"/>
</p:tagLst>
</file>

<file path=ppt/tags/tag270.xml><?xml version="1.0" encoding="utf-8"?>
<p:tagLst xmlns:p="http://schemas.openxmlformats.org/presentationml/2006/main">
  <p:tag name="AS_UNIQUEID" val="1722"/>
</p:tagLst>
</file>

<file path=ppt/tags/tag271.xml><?xml version="1.0" encoding="utf-8"?>
<p:tagLst xmlns:p="http://schemas.openxmlformats.org/presentationml/2006/main">
  <p:tag name="AS_UNIQUEID" val="1723"/>
</p:tagLst>
</file>

<file path=ppt/tags/tag272.xml><?xml version="1.0" encoding="utf-8"?>
<p:tagLst xmlns:p="http://schemas.openxmlformats.org/presentationml/2006/main">
  <p:tag name="KSO_WM_BEAUTIFY_FLAG" val="#wm#"/>
  <p:tag name="KSO_WM_SLIDE_ID" val="custom20205176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176"/>
  <p:tag name="KSO_WM_TEMPLATE_MASTER_TYPE" val="0"/>
  <p:tag name="KSO_WM_TEMPLATE_SUBCATEGORY" val="19"/>
  <p:tag name="KSO_WM_TEMPLATE_THUMBS_INDEX" val="1、4、7、12、13、14、15、16、17、18、20、24、25、28、33、36、40、43、44"/>
  <p:tag name="KSO_WM_UNIT_SHOW_EDIT_AREA_INDICATION" val="1"/>
</p:tagLst>
</file>

<file path=ppt/tags/tag273.xml><?xml version="1.0" encoding="utf-8"?>
<p:tagLst xmlns:p="http://schemas.openxmlformats.org/presentationml/2006/main">
  <p:tag name="AS_OS" val="Unix 3.10 unknown"/>
  <p:tag name="AS_RELEASE_DATE" val="2023.03.31"/>
  <p:tag name="AS_TITLE" val="Aspose.Slides for Java"/>
  <p:tag name="AS_VERSION" val="23.3"/>
  <p:tag name="COMMONDATA" val="eyJjb3VudCI6NjMsImhkaWQiOiI4ODFhMTc5NTAxODhjNmMzMThmNjczNTI0YTZlZmJmNCIsInVzZXJDb3VudCI6MX0="/>
</p:tagLst>
</file>

<file path=ppt/theme/theme1.xml><?xml version="1.0" encoding="utf-8"?>
<a:theme xmlns:r="http://schemas.openxmlformats.org/officeDocument/2006/relationships"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汉仪宋韵朗黑W"/>
        <a:ea typeface="汉仪宋韵朗黑W"/>
        <a:cs typeface="Arial"/>
      </a:majorFont>
      <a:minorFont>
        <a:latin typeface="汉仪宋韵朗黑W"/>
        <a:ea typeface="汉仪宋韵朗黑W"/>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gs>
            <a:gs pos="100000">
              <a:schemeClr val="phClr">
                <a:lumMod val="85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汉仪宋韵朗黑W"/>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宋韵朗黑W"/>
        <a:ea typeface="汉仪宋韵朗黑W"/>
        <a:cs typeface="Arial"/>
        <a:font script="Jpan" typeface="ＭＳ Ｐゴシック"/>
        <a:font script="Hang" typeface="맑은 고딕"/>
        <a:font script="Hans" typeface="汉仪宋韵朗黑W"/>
        <a:font script="Hant" typeface="新細明體"/>
        <a:font script="Arab" typeface="汉仪宋韵朗黑W"/>
        <a:font script="Hebr" typeface="汉仪宋韵朗黑W"/>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汉仪宋韵朗黑W"/>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汉仪宋韵朗黑W"/>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宋韵朗黑W"/>
        <a:ea typeface="汉仪宋韵朗黑W"/>
        <a:cs typeface="Arial"/>
        <a:font script="Jpan" typeface="ＭＳ Ｐゴシック"/>
        <a:font script="Hang" typeface="맑은 고딕"/>
        <a:font script="Hans" typeface="汉仪宋韵朗黑W"/>
        <a:font script="Hant" typeface="新細明體"/>
        <a:font script="Arab" typeface="汉仪宋韵朗黑W"/>
        <a:font script="Hebr" typeface="汉仪宋韵朗黑W"/>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汉仪宋韵朗黑W"/>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学科网</Company>
  <Paragraphs>157</Paragraphs>
  <Slides>41</Slides>
  <Notes>0</Notes>
  <TotalTime>0</TotalTime>
  <HiddenSlides>0</HiddenSlides>
  <MMClips>0</MMClips>
  <ScaleCrop>0</ScaleCrop>
  <HeadingPairs>
    <vt:vector baseType="variant" size="6">
      <vt:variant>
        <vt:lpstr>Fonts used</vt:lpstr>
      </vt:variant>
      <vt:variant>
        <vt:i4>11</vt:i4>
      </vt:variant>
      <vt:variant>
        <vt:lpstr>Theme</vt:lpstr>
      </vt:variant>
      <vt:variant>
        <vt:i4>1</vt:i4>
      </vt:variant>
      <vt:variant>
        <vt:lpstr>Slide Titles</vt:lpstr>
      </vt:variant>
      <vt:variant>
        <vt:i4>41</vt:i4>
      </vt:variant>
    </vt:vector>
  </HeadingPairs>
  <TitlesOfParts>
    <vt:vector baseType="lpstr" size="53">
      <vt:lpstr>Arial</vt:lpstr>
      <vt:lpstr>汉仪宋韵朗黑W</vt:lpstr>
      <vt:lpstr>Wingdings</vt:lpstr>
      <vt:lpstr>Calibri Light</vt:lpstr>
      <vt:lpstr>黑体</vt:lpstr>
      <vt:lpstr>Times New Roman</vt:lpstr>
      <vt:lpstr>思源黑体 CN Bold</vt:lpstr>
      <vt:lpstr>阿里巴巴普惠体 B</vt:lpstr>
      <vt:lpstr>Courier New</vt:lpstr>
      <vt:lpstr>宋体</vt:lpstr>
      <vt:lpstr>思源黑体 CN Light</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Java</Application>
  <AppVersion>23.0300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rbm.xkw.com</dc:creator>
  <cp:revision>1</cp:revision>
  <cp:lastPrinted>2024-10-11T11:49:51.168</cp:lastPrinted>
  <dcterms:created xsi:type="dcterms:W3CDTF">2024-10-11T11:49:51Z</dcterms:created>
  <dcterms:modified xsi:type="dcterms:W3CDTF">2024-10-11T03:49:51Z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